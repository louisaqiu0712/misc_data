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69" r:id="rId4"/>
    <p:sldId id="270" r:id="rId5"/>
    <p:sldId id="260" r:id="rId6"/>
    <p:sldId id="261" r:id="rId7"/>
    <p:sldId id="263" r:id="rId8"/>
    <p:sldId id="268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84"/>
    <p:restoredTop sz="94610"/>
  </p:normalViewPr>
  <p:slideViewPr>
    <p:cSldViewPr snapToGrid="0" snapToObjects="1">
      <p:cViewPr>
        <p:scale>
          <a:sx n="167" d="100"/>
          <a:sy n="167" d="100"/>
        </p:scale>
        <p:origin x="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33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1: 1L NSCLC Phase 3 Competitive Landscape — Histology × PD-L1 TPS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only | Biosimilars excluded | Source: pipeline database, ClinicalTrials.gov |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1691640" y="594360"/>
            <a:ext cx="736092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69164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 mono)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14528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1–49%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14528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59892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(&lt;1%)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59892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069848" y="603504"/>
            <a:ext cx="594360" cy="907816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69848" y="603504"/>
            <a:ext cx="594360" cy="9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(~70%)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691640" y="603504"/>
            <a:ext cx="2453640" cy="907816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145280" y="603504"/>
            <a:ext cx="2453640" cy="907816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598920" y="603504"/>
            <a:ext cx="2453640" cy="907816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(AVANZAR)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PCD'27 (FR:Jul'26)</a:t>
            </a:r>
            <a:endParaRPr lang="en-US" sz="422" dirty="0"/>
          </a:p>
        </p:txBody>
      </p:sp>
      <p:sp>
        <p:nvSpPr>
          <p:cNvPr id="17" name="Shape 15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(KANDLELIT-007)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(FR:Dec'29)</a:t>
            </a:r>
            <a:endParaRPr lang="en-US" sz="422" dirty="0"/>
          </a:p>
        </p:txBody>
      </p:sp>
      <p:sp>
        <p:nvSpPr>
          <p:cNvPr id="19" name="Shape 17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(CodeBreaK 202)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PCD'26 (FR:Jun'26)</a:t>
            </a:r>
            <a:endParaRPr lang="en-US" sz="422" dirty="0"/>
          </a:p>
        </p:txBody>
      </p:sp>
      <p:sp>
        <p:nvSpPr>
          <p:cNvPr id="21" name="Shape 19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(Krascendo 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(FR:Nov'28)</a:t>
            </a:r>
            <a:endParaRPr lang="en-US" sz="422" dirty="0"/>
          </a:p>
        </p:txBody>
      </p:sp>
      <p:sp>
        <p:nvSpPr>
          <p:cNvPr id="23" name="Shape 21"/>
          <p:cNvSpPr/>
          <p:nvPr/>
        </p:nvSpPr>
        <p:spPr>
          <a:xfrm>
            <a:off x="1719072" y="941100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1719072" y="94110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(LIVIGNO-4)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PCD'31 (FR:Jun'30)</a:t>
            </a:r>
            <a:endParaRPr lang="en-US" sz="422" dirty="0"/>
          </a:p>
        </p:txBody>
      </p:sp>
      <p:sp>
        <p:nvSpPr>
          <p:cNvPr id="25" name="Shape 23"/>
          <p:cNvSpPr/>
          <p:nvPr/>
        </p:nvSpPr>
        <p:spPr>
          <a:xfrm>
            <a:off x="1719072" y="1018642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719072" y="1018642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(ARTEMIDE-Lung03)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(FR:May'29) [TC≥1%]</a:t>
            </a:r>
            <a:endParaRPr lang="en-US" sz="422" dirty="0"/>
          </a:p>
        </p:txBody>
      </p:sp>
      <p:sp>
        <p:nvSpPr>
          <p:cNvPr id="27" name="Shape 25"/>
          <p:cNvSpPr/>
          <p:nvPr/>
        </p:nvSpPr>
        <p:spPr>
          <a:xfrm>
            <a:off x="1719072" y="1096183"/>
            <a:ext cx="485241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1719072" y="1096183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Relatlimab/Nivo FDC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(RELATIVITY1093)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PCD'30 (FR:Jul'30) [TC≥1%]</a:t>
            </a:r>
            <a:endParaRPr lang="en-US" sz="422" dirty="0"/>
          </a:p>
        </p:txBody>
      </p:sp>
      <p:sp>
        <p:nvSpPr>
          <p:cNvPr id="29" name="Shape 27"/>
          <p:cNvSpPr/>
          <p:nvPr/>
        </p:nvSpPr>
        <p:spPr>
          <a:xfrm>
            <a:off x="1719072" y="1173724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1719072" y="117372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(TROPION-Lung08)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(FR:Oct'26)</a:t>
            </a:r>
            <a:endParaRPr lang="en-US" sz="422" dirty="0"/>
          </a:p>
        </p:txBody>
      </p:sp>
      <p:sp>
        <p:nvSpPr>
          <p:cNvPr id="31" name="Shape 29"/>
          <p:cNvSpPr/>
          <p:nvPr/>
        </p:nvSpPr>
        <p:spPr>
          <a:xfrm>
            <a:off x="4172712" y="1251265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172712" y="1251265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(TROPION-Lung07)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(FR:Oct'26)</a:t>
            </a:r>
            <a:endParaRPr lang="en-US" sz="422" dirty="0"/>
          </a:p>
        </p:txBody>
      </p:sp>
      <p:sp>
        <p:nvSpPr>
          <p:cNvPr id="33" name="Shape 31"/>
          <p:cNvSpPr/>
          <p:nvPr/>
        </p:nvSpPr>
        <p:spPr>
          <a:xfrm>
            <a:off x="1719072" y="1328806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1719072" y="1328806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Dato-DXd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(TROPION-Lung10)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(FR:Apr'28) [TC≥50%]</a:t>
            </a:r>
            <a:endParaRPr lang="en-US" sz="422" dirty="0"/>
          </a:p>
        </p:txBody>
      </p:sp>
      <p:sp>
        <p:nvSpPr>
          <p:cNvPr id="35" name="Shape 33"/>
          <p:cNvSpPr/>
          <p:nvPr/>
        </p:nvSpPr>
        <p:spPr>
          <a:xfrm>
            <a:off x="1069848" y="1433779"/>
            <a:ext cx="594360" cy="3001427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1069848" y="1433779"/>
            <a:ext cx="594360" cy="300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69164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414528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659892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1719072" y="1461211"/>
            <a:ext cx="7306056" cy="7022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1719072" y="146121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 (FR:Jan'29)</a:t>
            </a:r>
            <a:endParaRPr lang="en-US" sz="422" dirty="0"/>
          </a:p>
        </p:txBody>
      </p:sp>
      <p:sp>
        <p:nvSpPr>
          <p:cNvPr id="42" name="Shape 40"/>
          <p:cNvSpPr/>
          <p:nvPr/>
        </p:nvSpPr>
        <p:spPr>
          <a:xfrm>
            <a:off x="1719072" y="1538752"/>
            <a:ext cx="7306056" cy="7022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719072" y="153875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 (FR:Jun'29)</a:t>
            </a:r>
            <a:endParaRPr lang="en-US" sz="422" dirty="0"/>
          </a:p>
        </p:txBody>
      </p:sp>
      <p:sp>
        <p:nvSpPr>
          <p:cNvPr id="44" name="Shape 42"/>
          <p:cNvSpPr/>
          <p:nvPr/>
        </p:nvSpPr>
        <p:spPr>
          <a:xfrm>
            <a:off x="1719072" y="1616293"/>
            <a:ext cx="730605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719072" y="161629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  (FR:Dec'29)</a:t>
            </a:r>
            <a:endParaRPr lang="en-US" sz="422" dirty="0"/>
          </a:p>
        </p:txBody>
      </p:sp>
      <p:sp>
        <p:nvSpPr>
          <p:cNvPr id="46" name="Shape 44"/>
          <p:cNvSpPr/>
          <p:nvPr/>
        </p:nvSpPr>
        <p:spPr>
          <a:xfrm>
            <a:off x="1719072" y="1693835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719072" y="169383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(SUNRAY-02 (Part B))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(FR:May'29)</a:t>
            </a:r>
            <a:endParaRPr lang="en-US" sz="422" dirty="0"/>
          </a:p>
        </p:txBody>
      </p:sp>
      <p:sp>
        <p:nvSpPr>
          <p:cNvPr id="48" name="Shape 46"/>
          <p:cNvSpPr/>
          <p:nvPr/>
        </p:nvSpPr>
        <p:spPr>
          <a:xfrm>
            <a:off x="1719072" y="1406347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1719072" y="140634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(KRYSTAL-4)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(FR:Sep'29)</a:t>
            </a:r>
            <a:endParaRPr lang="en-US" sz="422" dirty="0"/>
          </a:p>
        </p:txBody>
      </p:sp>
      <p:sp>
        <p:nvSpPr>
          <p:cNvPr id="50" name="Shape 48"/>
          <p:cNvSpPr/>
          <p:nvPr/>
        </p:nvSpPr>
        <p:spPr>
          <a:xfrm>
            <a:off x="1719072" y="1848917"/>
            <a:ext cx="7306056" cy="70226"/>
          </a:xfrm>
          <a:prstGeom prst="rect">
            <a:avLst/>
          </a:prstGeom>
          <a:solidFill>
            <a:srgbClr val="4B0082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719072" y="184891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(RASolve 308)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(FR:Mar'29)</a:t>
            </a:r>
            <a:endParaRPr lang="en-US" sz="422" dirty="0"/>
          </a:p>
        </p:txBody>
      </p:sp>
      <p:sp>
        <p:nvSpPr>
          <p:cNvPr id="52" name="Shape 50"/>
          <p:cNvSpPr/>
          <p:nvPr/>
        </p:nvSpPr>
        <p:spPr>
          <a:xfrm>
            <a:off x="1719072" y="1926458"/>
            <a:ext cx="7306056" cy="70226"/>
          </a:xfrm>
          <a:prstGeom prst="rect">
            <a:avLst/>
          </a:prstGeom>
          <a:solidFill>
            <a:srgbClr val="9C27B0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1719072" y="192645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  (FR:Sep'29)</a:t>
            </a:r>
            <a:endParaRPr lang="en-US" sz="422" dirty="0"/>
          </a:p>
        </p:txBody>
      </p:sp>
      <p:sp>
        <p:nvSpPr>
          <p:cNvPr id="54" name="Shape 52"/>
          <p:cNvSpPr/>
          <p:nvPr/>
        </p:nvSpPr>
        <p:spPr>
          <a:xfrm>
            <a:off x="1719072" y="2003999"/>
            <a:ext cx="7306056" cy="70226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719072" y="200399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  (FR:Dec'29)</a:t>
            </a:r>
            <a:endParaRPr lang="en-US" sz="422" dirty="0"/>
          </a:p>
        </p:txBody>
      </p:sp>
      <p:sp>
        <p:nvSpPr>
          <p:cNvPr id="56" name="Shape 54"/>
          <p:cNvSpPr/>
          <p:nvPr/>
        </p:nvSpPr>
        <p:spPr>
          <a:xfrm>
            <a:off x="1719072" y="2081540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719072" y="208154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(Symbiotic-Lung-01)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(FR:Feb'29)</a:t>
            </a:r>
            <a:endParaRPr lang="en-US" sz="422" dirty="0"/>
          </a:p>
        </p:txBody>
      </p:sp>
      <p:sp>
        <p:nvSpPr>
          <p:cNvPr id="58" name="Shape 56"/>
          <p:cNvSpPr/>
          <p:nvPr/>
        </p:nvSpPr>
        <p:spPr>
          <a:xfrm>
            <a:off x="1719072" y="2159081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719072" y="215908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(ROSETTA Lung-02 / BNT327-06)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(FR:Feb'29)</a:t>
            </a:r>
            <a:endParaRPr lang="en-US" sz="422" dirty="0"/>
          </a:p>
        </p:txBody>
      </p:sp>
      <p:sp>
        <p:nvSpPr>
          <p:cNvPr id="60" name="Shape 58"/>
          <p:cNvSpPr/>
          <p:nvPr/>
        </p:nvSpPr>
        <p:spPr>
          <a:xfrm>
            <a:off x="1719072" y="2236622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1719072" y="223662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(HARMONi-3/AK112-3003)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(FR:May'26)</a:t>
            </a:r>
            <a:endParaRPr lang="en-US" sz="422" dirty="0"/>
          </a:p>
        </p:txBody>
      </p:sp>
      <p:sp>
        <p:nvSpPr>
          <p:cNvPr id="62" name="Shape 60"/>
          <p:cNvSpPr/>
          <p:nvPr/>
        </p:nvSpPr>
        <p:spPr>
          <a:xfrm>
            <a:off x="1719072" y="2314164"/>
            <a:ext cx="239877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1719072" y="231416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(ROSETTA Lung-202)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PCD'31 (FR:Oct'31)</a:t>
            </a:r>
            <a:endParaRPr lang="en-US" sz="422" dirty="0"/>
          </a:p>
        </p:txBody>
      </p:sp>
      <p:sp>
        <p:nvSpPr>
          <p:cNvPr id="64" name="Shape 62"/>
          <p:cNvSpPr/>
          <p:nvPr/>
        </p:nvSpPr>
        <p:spPr>
          <a:xfrm>
            <a:off x="1719072" y="2391705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719072" y="239170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(ROSETTA Lung-201)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PCD'30 (FR:Sep'30)</a:t>
            </a:r>
            <a:endParaRPr lang="en-US" sz="422" dirty="0"/>
          </a:p>
        </p:txBody>
      </p:sp>
      <p:sp>
        <p:nvSpPr>
          <p:cNvPr id="66" name="Shape 64"/>
          <p:cNvSpPr/>
          <p:nvPr/>
        </p:nvSpPr>
        <p:spPr>
          <a:xfrm>
            <a:off x="1719072" y="2469246"/>
            <a:ext cx="730605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1719072" y="246924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(STAR-121)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(FR:Jun'27)</a:t>
            </a:r>
            <a:endParaRPr lang="en-US" sz="422" dirty="0"/>
          </a:p>
        </p:txBody>
      </p:sp>
      <p:sp>
        <p:nvSpPr>
          <p:cNvPr id="68" name="Shape 66"/>
          <p:cNvSpPr/>
          <p:nvPr/>
        </p:nvSpPr>
        <p:spPr>
          <a:xfrm>
            <a:off x="1719072" y="2546787"/>
            <a:ext cx="730605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1719072" y="254678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(R3767-ONC-2235)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PCD'30 (FR:Feb'29)</a:t>
            </a:r>
            <a:endParaRPr lang="en-US" sz="422" dirty="0"/>
          </a:p>
        </p:txBody>
      </p:sp>
      <p:sp>
        <p:nvSpPr>
          <p:cNvPr id="70" name="Shape 68"/>
          <p:cNvSpPr/>
          <p:nvPr/>
        </p:nvSpPr>
        <p:spPr>
          <a:xfrm>
            <a:off x="1719072" y="262432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1719072" y="262432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(MountainTAP-29)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PCD'31 (FR:Aug'31)</a:t>
            </a:r>
            <a:endParaRPr lang="en-US" sz="422" dirty="0"/>
          </a:p>
        </p:txBody>
      </p:sp>
      <p:sp>
        <p:nvSpPr>
          <p:cNvPr id="72" name="Shape 70"/>
          <p:cNvSpPr/>
          <p:nvPr/>
        </p:nvSpPr>
        <p:spPr>
          <a:xfrm>
            <a:off x="1719072" y="2701869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1719072" y="270186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(ResQ301)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(FR:Jan'29)</a:t>
            </a:r>
            <a:endParaRPr lang="en-US" sz="422" dirty="0"/>
          </a:p>
        </p:txBody>
      </p:sp>
      <p:sp>
        <p:nvSpPr>
          <p:cNvPr id="74" name="Shape 72"/>
          <p:cNvSpPr/>
          <p:nvPr/>
        </p:nvSpPr>
        <p:spPr>
          <a:xfrm>
            <a:off x="1719072" y="2779410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1719072" y="277941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INCY: Retifanlimab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(POD1UM-304)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PCD'23 (FR:Jul'24)</a:t>
            </a:r>
            <a:endParaRPr lang="en-US" sz="422" dirty="0"/>
          </a:p>
        </p:txBody>
      </p:sp>
      <p:sp>
        <p:nvSpPr>
          <p:cNvPr id="76" name="Shape 74"/>
          <p:cNvSpPr/>
          <p:nvPr/>
        </p:nvSpPr>
        <p:spPr>
          <a:xfrm>
            <a:off x="1719072" y="2856951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719072" y="285695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(PACIFIC-9)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PCD'26 (FR:Jul'26)</a:t>
            </a:r>
            <a:endParaRPr lang="en-US" sz="422" dirty="0"/>
          </a:p>
        </p:txBody>
      </p:sp>
      <p:sp>
        <p:nvSpPr>
          <p:cNvPr id="78" name="Shape 76"/>
          <p:cNvSpPr/>
          <p:nvPr/>
        </p:nvSpPr>
        <p:spPr>
          <a:xfrm>
            <a:off x="1719072" y="2934492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1719072" y="293449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(KEYLYNK-012)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PCD'26 (FR:Jul'26)</a:t>
            </a:r>
            <a:endParaRPr lang="en-US" sz="422" dirty="0"/>
          </a:p>
        </p:txBody>
      </p:sp>
      <p:sp>
        <p:nvSpPr>
          <p:cNvPr id="80" name="Shape 78"/>
          <p:cNvSpPr/>
          <p:nvPr/>
        </p:nvSpPr>
        <p:spPr>
          <a:xfrm>
            <a:off x="1719072" y="3012034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1719072" y="301203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(PACIFIC-9)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PCD'26 (FR:Jul'26)</a:t>
            </a:r>
            <a:endParaRPr lang="en-US" sz="422" dirty="0"/>
          </a:p>
        </p:txBody>
      </p:sp>
      <p:sp>
        <p:nvSpPr>
          <p:cNvPr id="82" name="Shape 80"/>
          <p:cNvSpPr/>
          <p:nvPr/>
        </p:nvSpPr>
        <p:spPr>
          <a:xfrm>
            <a:off x="1719072" y="3089575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719072" y="308957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(FR:Jun'29)</a:t>
            </a:r>
            <a:endParaRPr lang="en-US" sz="422" dirty="0"/>
          </a:p>
        </p:txBody>
      </p:sp>
      <p:sp>
        <p:nvSpPr>
          <p:cNvPr id="84" name="Shape 82"/>
          <p:cNvSpPr/>
          <p:nvPr/>
        </p:nvSpPr>
        <p:spPr>
          <a:xfrm>
            <a:off x="1719072" y="3167116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1719072" y="316711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(FR:Jun'29)</a:t>
            </a:r>
            <a:endParaRPr lang="en-US" sz="422" dirty="0"/>
          </a:p>
        </p:txBody>
      </p:sp>
      <p:sp>
        <p:nvSpPr>
          <p:cNvPr id="86" name="Shape 84"/>
          <p:cNvSpPr/>
          <p:nvPr/>
        </p:nvSpPr>
        <p:spPr>
          <a:xfrm>
            <a:off x="1719072" y="3244657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1719072" y="324465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  (FR:Jun'29)</a:t>
            </a:r>
            <a:endParaRPr lang="en-US" sz="422" dirty="0"/>
          </a:p>
        </p:txBody>
      </p:sp>
      <p:sp>
        <p:nvSpPr>
          <p:cNvPr id="88" name="Shape 86"/>
          <p:cNvSpPr/>
          <p:nvPr/>
        </p:nvSpPr>
        <p:spPr>
          <a:xfrm>
            <a:off x="1719072" y="332219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1719072" y="332219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(LUNAR-2)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(FR:Oct'28)</a:t>
            </a:r>
            <a:endParaRPr lang="en-US" sz="422" dirty="0"/>
          </a:p>
        </p:txBody>
      </p:sp>
      <p:sp>
        <p:nvSpPr>
          <p:cNvPr id="90" name="Shape 88"/>
          <p:cNvSpPr/>
          <p:nvPr/>
        </p:nvSpPr>
        <p:spPr>
          <a:xfrm>
            <a:off x="1719072" y="3399739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1" name="Text 89"/>
          <p:cNvSpPr/>
          <p:nvPr/>
        </p:nvSpPr>
        <p:spPr>
          <a:xfrm>
            <a:off x="1719072" y="3399739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GILD: Domvanalimab + durva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(PACIFIC-8)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(FR:Jun'28) [TC≥1%]</a:t>
            </a:r>
            <a:endParaRPr lang="en-US" sz="422" dirty="0"/>
          </a:p>
        </p:txBody>
      </p:sp>
      <p:sp>
        <p:nvSpPr>
          <p:cNvPr id="92" name="Shape 90"/>
          <p:cNvSpPr/>
          <p:nvPr/>
        </p:nvSpPr>
        <p:spPr>
          <a:xfrm>
            <a:off x="1719072" y="3477280"/>
            <a:ext cx="485241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3" name="Text 91"/>
          <p:cNvSpPr/>
          <p:nvPr/>
        </p:nvSpPr>
        <p:spPr>
          <a:xfrm>
            <a:off x="1719072" y="3477280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(QUILT-2.023)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PCD'26 (FR:Oct'26)</a:t>
            </a:r>
            <a:endParaRPr lang="en-US" sz="422" dirty="0"/>
          </a:p>
        </p:txBody>
      </p:sp>
      <p:sp>
        <p:nvSpPr>
          <p:cNvPr id="94" name="Shape 92"/>
          <p:cNvSpPr/>
          <p:nvPr/>
        </p:nvSpPr>
        <p:spPr>
          <a:xfrm>
            <a:off x="1719072" y="3554821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1719072" y="3554821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(EVOKE-03 / KEYNOTE‐D46)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PCD'27 (FR:Dec'26)</a:t>
            </a:r>
            <a:endParaRPr lang="en-US" sz="422" dirty="0"/>
          </a:p>
        </p:txBody>
      </p:sp>
      <p:sp>
        <p:nvSpPr>
          <p:cNvPr id="96" name="Shape 94"/>
          <p:cNvSpPr/>
          <p:nvPr/>
        </p:nvSpPr>
        <p:spPr>
          <a:xfrm>
            <a:off x="1719072" y="3632363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7" name="Text 95"/>
          <p:cNvSpPr/>
          <p:nvPr/>
        </p:nvSpPr>
        <p:spPr>
          <a:xfrm>
            <a:off x="1719072" y="3632363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(TroFuse-007)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(FR:Jan'28)</a:t>
            </a:r>
            <a:endParaRPr lang="en-US" sz="422" dirty="0"/>
          </a:p>
        </p:txBody>
      </p:sp>
      <p:sp>
        <p:nvSpPr>
          <p:cNvPr id="98" name="Shape 96"/>
          <p:cNvSpPr/>
          <p:nvPr/>
        </p:nvSpPr>
        <p:spPr>
          <a:xfrm>
            <a:off x="1719072" y="3709904"/>
            <a:ext cx="2398776" cy="7022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9" name="Text 97"/>
          <p:cNvSpPr/>
          <p:nvPr/>
        </p:nvSpPr>
        <p:spPr>
          <a:xfrm>
            <a:off x="1719072" y="370990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(BE6A LUNG-02)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(FR:Dec'27)</a:t>
            </a:r>
            <a:endParaRPr lang="en-US" sz="422" dirty="0"/>
          </a:p>
        </p:txBody>
      </p:sp>
      <p:sp>
        <p:nvSpPr>
          <p:cNvPr id="100" name="Shape 98"/>
          <p:cNvSpPr/>
          <p:nvPr/>
        </p:nvSpPr>
        <p:spPr>
          <a:xfrm>
            <a:off x="1719072" y="3787445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1719072" y="3787445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(KANDLELIT-004)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(FR:Feb'28)</a:t>
            </a:r>
            <a:endParaRPr lang="en-US" sz="422" dirty="0"/>
          </a:p>
        </p:txBody>
      </p:sp>
      <p:sp>
        <p:nvSpPr>
          <p:cNvPr id="102" name="Shape 100"/>
          <p:cNvSpPr/>
          <p:nvPr/>
        </p:nvSpPr>
        <p:spPr>
          <a:xfrm>
            <a:off x="1719072" y="3864986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1719072" y="3864986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(KRYSTAL-7 (PD-L1 ≥50%))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(FR:Jan'28)</a:t>
            </a:r>
            <a:endParaRPr lang="en-US" sz="422" dirty="0"/>
          </a:p>
        </p:txBody>
      </p:sp>
      <p:sp>
        <p:nvSpPr>
          <p:cNvPr id="104" name="Shape 102"/>
          <p:cNvSpPr/>
          <p:nvPr/>
        </p:nvSpPr>
        <p:spPr>
          <a:xfrm>
            <a:off x="4172712" y="3942527"/>
            <a:ext cx="239877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4172712" y="3942527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 (FR:Jul'29)</a:t>
            </a:r>
            <a:endParaRPr lang="en-US" sz="422" dirty="0"/>
          </a:p>
        </p:txBody>
      </p:sp>
      <p:sp>
        <p:nvSpPr>
          <p:cNvPr id="106" name="Shape 104"/>
          <p:cNvSpPr/>
          <p:nvPr/>
        </p:nvSpPr>
        <p:spPr>
          <a:xfrm>
            <a:off x="1719072" y="4020068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1719072" y="402006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(SUNRAY-01)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PCD'27 (FR:Oct'26) [multi-part]</a:t>
            </a:r>
            <a:endParaRPr lang="en-US" sz="422" dirty="0"/>
          </a:p>
        </p:txBody>
      </p:sp>
      <p:sp>
        <p:nvSpPr>
          <p:cNvPr id="108" name="Shape 106"/>
          <p:cNvSpPr/>
          <p:nvPr/>
        </p:nvSpPr>
        <p:spPr>
          <a:xfrm>
            <a:off x="1719072" y="4097609"/>
            <a:ext cx="239877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9" name="Text 107"/>
          <p:cNvSpPr/>
          <p:nvPr/>
        </p:nvSpPr>
        <p:spPr>
          <a:xfrm>
            <a:off x="1719072" y="4097609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(HARMONi-7/AK112-3007)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(FR:Apr'28)</a:t>
            </a:r>
            <a:endParaRPr lang="en-US" sz="422" dirty="0"/>
          </a:p>
        </p:txBody>
      </p:sp>
      <p:sp>
        <p:nvSpPr>
          <p:cNvPr id="110" name="Shape 108"/>
          <p:cNvSpPr/>
          <p:nvPr/>
        </p:nvSpPr>
        <p:spPr>
          <a:xfrm>
            <a:off x="1719072" y="4175150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1" name="Text 109"/>
          <p:cNvSpPr/>
          <p:nvPr/>
        </p:nvSpPr>
        <p:spPr>
          <a:xfrm>
            <a:off x="1719072" y="4175150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(ARTEMIDE-Lung04)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PCD'30 (FR:Jan'30) [TC≥50%]</a:t>
            </a:r>
            <a:endParaRPr lang="en-US" sz="422" dirty="0"/>
          </a:p>
        </p:txBody>
      </p:sp>
      <p:sp>
        <p:nvSpPr>
          <p:cNvPr id="112" name="Shape 110"/>
          <p:cNvSpPr/>
          <p:nvPr/>
        </p:nvSpPr>
        <p:spPr>
          <a:xfrm>
            <a:off x="1719072" y="4252692"/>
            <a:ext cx="239877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3" name="Text 111"/>
          <p:cNvSpPr/>
          <p:nvPr/>
        </p:nvSpPr>
        <p:spPr>
          <a:xfrm>
            <a:off x="1719072" y="4252692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(R3767-ONC-2235)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PCD'30 (FR:Feb'29)</a:t>
            </a:r>
            <a:endParaRPr lang="en-US" sz="422" dirty="0"/>
          </a:p>
        </p:txBody>
      </p:sp>
      <p:sp>
        <p:nvSpPr>
          <p:cNvPr id="114" name="Shape 112"/>
          <p:cNvSpPr/>
          <p:nvPr/>
        </p:nvSpPr>
        <p:spPr>
          <a:xfrm>
            <a:off x="4172712" y="4407774"/>
            <a:ext cx="239877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5" name="Text 113"/>
          <p:cNvSpPr/>
          <p:nvPr/>
        </p:nvSpPr>
        <p:spPr>
          <a:xfrm>
            <a:off x="4172712" y="440777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(eVOLVE-Lung02)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PCD'28 (FR:Dec'27)</a:t>
            </a:r>
            <a:endParaRPr lang="en-US" sz="422" dirty="0"/>
          </a:p>
        </p:txBody>
      </p:sp>
      <p:sp>
        <p:nvSpPr>
          <p:cNvPr id="116" name="Shape 114"/>
          <p:cNvSpPr/>
          <p:nvPr/>
        </p:nvSpPr>
        <p:spPr>
          <a:xfrm>
            <a:off x="1069848" y="4512747"/>
            <a:ext cx="594360" cy="371686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7" name="Text 115"/>
          <p:cNvSpPr/>
          <p:nvPr/>
        </p:nvSpPr>
        <p:spPr>
          <a:xfrm>
            <a:off x="1069848" y="4361983"/>
            <a:ext cx="59436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(~30%)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1691640" y="4512747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4145280" y="4512747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0" name="Shape 118"/>
          <p:cNvSpPr/>
          <p:nvPr/>
        </p:nvSpPr>
        <p:spPr>
          <a:xfrm>
            <a:off x="6598920" y="4512747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1719072" y="4586041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2" name="Text 120"/>
          <p:cNvSpPr/>
          <p:nvPr/>
        </p:nvSpPr>
        <p:spPr>
          <a:xfrm>
            <a:off x="1719072" y="458604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(TroFuse-023)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(FR:Jan'29)</a:t>
            </a:r>
            <a:endParaRPr lang="en-US" sz="422" dirty="0"/>
          </a:p>
        </p:txBody>
      </p:sp>
      <p:sp>
        <p:nvSpPr>
          <p:cNvPr id="123" name="Shape 121"/>
          <p:cNvSpPr/>
          <p:nvPr/>
        </p:nvSpPr>
        <p:spPr>
          <a:xfrm>
            <a:off x="1719072" y="4662241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4" name="Text 122"/>
          <p:cNvSpPr/>
          <p:nvPr/>
        </p:nvSpPr>
        <p:spPr>
          <a:xfrm>
            <a:off x="1719072" y="4662241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(ARTEMIDE-Lung02)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PCD'29 (FR:Feb'29) [TC≥1%]</a:t>
            </a:r>
            <a:endParaRPr lang="en-US" sz="422" dirty="0"/>
          </a:p>
        </p:txBody>
      </p:sp>
      <p:sp>
        <p:nvSpPr>
          <p:cNvPr id="125" name="Shape 123"/>
          <p:cNvSpPr/>
          <p:nvPr/>
        </p:nvSpPr>
        <p:spPr>
          <a:xfrm>
            <a:off x="45720" y="621792"/>
            <a:ext cx="960120" cy="868680"/>
          </a:xfrm>
          <a:prstGeom prst="rect">
            <a:avLst/>
          </a:prstGeom>
          <a:solidFill>
            <a:srgbClr val="F0FAFA"/>
          </a:solidFill>
          <a:ln w="19050">
            <a:solidFill>
              <a:srgbClr val="00B0B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6" name="Text 124"/>
          <p:cNvSpPr/>
          <p:nvPr/>
        </p:nvSpPr>
        <p:spPr>
          <a:xfrm>
            <a:off x="82296" y="649224"/>
            <a:ext cx="8869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Keytruda SoC: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≥50%: Pembro mono
• 1-49%: Pembro + chemo
• Neg: Pembro + chemo
• KRAS+/RAS: add targeted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~1% HER2-mut → TKI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45720" y="1545336"/>
            <a:ext cx="960120" cy="777240"/>
          </a:xfrm>
          <a:prstGeom prst="rect">
            <a:avLst/>
          </a:prstGeom>
          <a:solidFill>
            <a:srgbClr val="F5F0FF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82296" y="1572768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layering = pembro-
supportive: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KRAS on TOP of pembro/chemo. Not a displacement risk — a layering opportunity.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~13% of adv NSCLC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4244" y="4827849"/>
            <a:ext cx="9144000" cy="406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2" name="Shape 130"/>
          <p:cNvSpPr/>
          <p:nvPr/>
        </p:nvSpPr>
        <p:spPr>
          <a:xfrm>
            <a:off x="139700" y="4852741"/>
            <a:ext cx="114300" cy="88900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3" name="Text 131"/>
          <p:cNvSpPr/>
          <p:nvPr/>
        </p:nvSpPr>
        <p:spPr>
          <a:xfrm>
            <a:off x="279400" y="4852741"/>
            <a:ext cx="635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134" name="Shape 132"/>
          <p:cNvSpPr/>
          <p:nvPr/>
        </p:nvSpPr>
        <p:spPr>
          <a:xfrm>
            <a:off x="1400628" y="4852741"/>
            <a:ext cx="114300" cy="88900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5" name="Text 133"/>
          <p:cNvSpPr/>
          <p:nvPr/>
        </p:nvSpPr>
        <p:spPr>
          <a:xfrm>
            <a:off x="1540328" y="4852741"/>
            <a:ext cx="609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2636157" y="4852741"/>
            <a:ext cx="114300" cy="8890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2775857" y="4852741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3617685" y="4852741"/>
            <a:ext cx="114300" cy="8890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3757385" y="4852741"/>
            <a:ext cx="279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4523014" y="4852741"/>
            <a:ext cx="114300" cy="8890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4662714" y="4852741"/>
            <a:ext cx="914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6063342" y="4852741"/>
            <a:ext cx="114300" cy="88900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6203042" y="4852741"/>
            <a:ext cx="381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44" name="Shape 142"/>
          <p:cNvSpPr/>
          <p:nvPr/>
        </p:nvSpPr>
        <p:spPr>
          <a:xfrm>
            <a:off x="7070271" y="4852741"/>
            <a:ext cx="114300" cy="889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5" name="Text 143"/>
          <p:cNvSpPr/>
          <p:nvPr/>
        </p:nvSpPr>
        <p:spPr>
          <a:xfrm>
            <a:off x="7209971" y="4852741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146" name="Shape 144"/>
          <p:cNvSpPr/>
          <p:nvPr/>
        </p:nvSpPr>
        <p:spPr>
          <a:xfrm>
            <a:off x="8051800" y="4852741"/>
            <a:ext cx="114300" cy="889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7" name="Text 145"/>
          <p:cNvSpPr/>
          <p:nvPr/>
        </p:nvSpPr>
        <p:spPr>
          <a:xfrm>
            <a:off x="8191500" y="4852741"/>
            <a:ext cx="8255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148" name="Text 146"/>
          <p:cNvSpPr/>
          <p:nvPr/>
        </p:nvSpPr>
        <p:spPr>
          <a:xfrm>
            <a:off x="137160" y="5119441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Stage III only    ○ Stage not specified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137160" y="5043241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| Non-biosimilar | 1L NSCLC | EGFR/ALK/ROS1/NTRK excluded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April 2026</a:t>
            </a:r>
            <a:endParaRPr lang="en-US" sz="450" dirty="0"/>
          </a:p>
        </p:txBody>
      </p:sp>
      <p:sp>
        <p:nvSpPr>
          <p:cNvPr id="150" name="Shape 150"/>
          <p:cNvSpPr/>
          <p:nvPr/>
        </p:nvSpPr>
        <p:spPr>
          <a:xfrm>
            <a:off x="1719072" y="4330233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1" name="Shape 151"/>
          <p:cNvSpPr/>
          <p:nvPr/>
        </p:nvSpPr>
        <p:spPr>
          <a:xfrm>
            <a:off x="1719072" y="433023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Eikon/MRK: EIK1001 + pembro + chemo (TeLuRide-008)  [TLR7/8]  PCD'35 (FR:Dec'30)</a:t>
            </a:r>
            <a:endParaRPr lang="en-US" sz="422" dirty="0"/>
          </a:p>
        </p:txBody>
      </p:sp>
    </p:spTree>
    <p:extLst>
      <p:ext uri="{BB962C8B-B14F-4D97-AF65-F5344CB8AC3E}">
        <ns2:creationId val="96551175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2: 1L vs 2L Pipeline Density by Mechanism — 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competitive intensity greatest? Which mechanisms threaten Keytruda's different patient segments?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 (51 drugs)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5840" y="1069848"/>
            <a:ext cx="320040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288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05840" y="1271016"/>
            <a:ext cx="228600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1252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05840" y="1472184"/>
            <a:ext cx="160020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1005840" y="14538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1673352"/>
            <a:ext cx="137160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0584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288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05840" y="1874520"/>
            <a:ext cx="1371600" cy="16459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00584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288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2075688"/>
            <a:ext cx="685800" cy="16459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005840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2880" y="22585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5840" y="2276856"/>
            <a:ext cx="68580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005840" y="22585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2880" y="2459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05840" y="2478024"/>
            <a:ext cx="457200" cy="16459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005840" y="2459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868680"/>
            <a:ext cx="0" cy="320040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84632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 (29 drugs)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0" y="1069848"/>
            <a:ext cx="237744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669280" y="1051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669280" y="1271016"/>
            <a:ext cx="158496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5669280" y="1252728"/>
            <a:ext cx="158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69280" y="1472184"/>
            <a:ext cx="59436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5669280" y="1453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69280" y="1673352"/>
            <a:ext cx="39624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669280" y="1655064"/>
            <a:ext cx="39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69280" y="1874520"/>
            <a:ext cx="59436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5669280" y="18562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38981" y="2057400"/>
            <a:ext cx="884579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669280" y="2075688"/>
            <a:ext cx="198120" cy="16459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5669280" y="2057400"/>
            <a:ext cx="19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is an IO-augmentation war — KRAS G12C and TROP2 ADCs dominate non-IO categories. RAS inhibitors (pan-KRAS, G12D) add a new threat vector. 2L is ADC-dominated (TROP2, MET, PD-L1 ADCs). TIGIT and LAG3 are 1L-only bets.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biosimilars excluded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3a: Phase 3 Catalyst Timeline — Major Competitive Threats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bispecifics, KRAS/RAS, and TROP2 ADCs — the key mechanisms to watch.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033272"/>
            <a:ext cx="0" cy="3840480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15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 — pembro replacement risk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990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 rot="10800000" flipH="1" flipV="1">
            <a:off x="2067560" y="1261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(HARMONi-3/AK112-3003)  FR:May'26  [Rec]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2377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4345940" y="1360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(HARMONi-7/AK112-3007)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FR:Apr'28  [Rec]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5336540" y="1459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(Symbiotic-Lung-01)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[Rec]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5720" y="1548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943100" y="1558138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5336540" y="155813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Lung-02 / BNT327-06)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[Rec]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720" y="1647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1943100" y="1656893"/>
            <a:ext cx="4358640" cy="73152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327140" y="165689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" y="1746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943100" y="1755648"/>
            <a:ext cx="525018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7218680" y="175564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Lung-201)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FR:Sep'30  [Rec]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5720" y="1845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1943100" y="1854403"/>
            <a:ext cx="65379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7218680" y="196230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Lung-202)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FR:Oct'31  [Rec]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91440" y="1971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 Inhibitors — pembro-additive (layering on SoC)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1981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2166620" y="2108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(CodeBreaK 202)  FR:Jun'26  [Rec]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5943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2562860" y="2207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(SUNRAY-01)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[Rec]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45720" y="229697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1943100" y="2306117"/>
            <a:ext cx="20802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4048760" y="230611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(KRYSTAL-7 (PD-L1 ≥50%)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FR:Jan'28  [Rec]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5720" y="2395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943100" y="2404872"/>
            <a:ext cx="21793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4147820" y="2404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(KANDLELIT-004)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FR:Feb'28  [Rec]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45720" y="2494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1943100" y="2503627"/>
            <a:ext cx="30708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5039360" y="2503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(Krascendo 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FR:Nov'28  [Rec]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45720" y="2593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1943100" y="2602382"/>
            <a:ext cx="36652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5633720" y="2602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(SUNRAY-02 (Part B)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FR:May'29  [Rec]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5720" y="2691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1943100" y="2701138"/>
            <a:ext cx="38633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5831840" y="270113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FR:Jul'29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45720" y="2790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1943100" y="2799893"/>
            <a:ext cx="40614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6029960" y="279989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(KRYSTAL-4)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FR:Sep'29  [Rec]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45720" y="2889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1943100" y="2898648"/>
            <a:ext cx="43586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6327140" y="289864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(KANDLELIT-007)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FR:Dec'29  [Rec]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45720" y="2988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1943100" y="2997403"/>
            <a:ext cx="4358640" cy="73152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6327140" y="299740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91440" y="3114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/ Other KRAS — pan-RAS, G12D (new threat vector)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5720" y="3242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1943100" y="3251606"/>
            <a:ext cx="3467100" cy="73152"/>
          </a:xfrm>
          <a:prstGeom prst="rect">
            <a:avLst/>
          </a:prstGeom>
          <a:solidFill>
            <a:srgbClr val="9C27B0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5435600" y="3251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(RASolve 308)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FR:Mar'29  [Proj]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45720" y="3341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1943100" y="3350362"/>
            <a:ext cx="4061460" cy="73152"/>
          </a:xfrm>
          <a:prstGeom prst="rect">
            <a:avLst/>
          </a:prstGeom>
          <a:solidFill>
            <a:srgbClr val="9C27B0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6029960" y="3350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FR:Sep'29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91440" y="3467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 Combos — chemo backbone displacement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2971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2265680" y="3604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(AVANZAR)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[ANR]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562860" y="3703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[ANR]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2562860" y="3802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[Rec]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7924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2760980" y="390083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(EVOKE-03 / KEYNOTE‐D46)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FR:Dec'26  [ANR]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20802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4048760" y="399958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(TroFuse-007)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FR:Jan'28  [Rec]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45720" y="4089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1943100" y="4098341"/>
            <a:ext cx="32689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5237480" y="409834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(TroFuse-023)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FR:Jan'29  [Rec]</a:t>
            </a:r>
            <a:endParaRPr lang="en-US" sz="500" dirty="0"/>
          </a:p>
        </p:txBody>
      </p:sp>
      <p:sp>
        <p:nvSpPr>
          <p:cNvPr id="99" name="Text 97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</p:spTree>
    <p:extLst>
      <p:ext uri="{BB962C8B-B14F-4D97-AF65-F5344CB8AC3E}">
        <ns2:creationId val="144960821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3b: Phase 3 Catalyst Timeline — Emerging Mechanisms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TIGIT, ADC novel targets, and IO/novel mechanisms — mid-term competitive dynamics.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243584"/>
            <a:ext cx="0" cy="3630168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9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ADCs — novel targets (Integrin, c-MET, PD-L1)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198120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949700" y="1261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(BE6A LUNG-02)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FR:Dec'27  [Rec]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3268980" cy="73152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237480" y="1360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FR:Jan'29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76428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5732780" y="1459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91440" y="157642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 Combinations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" y="1704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1943100" y="1713586"/>
            <a:ext cx="13868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3355340" y="171358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(STAR-121)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FR:Jun'27  [ANR]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5720" y="1803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943100" y="1812341"/>
            <a:ext cx="23774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4345940" y="181234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(TROPION-Lung10)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FR:Apr'28  [Rec]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720" y="190195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GILD: Domvanalimab + durva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1943100" y="1911096"/>
            <a:ext cx="257556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4544060" y="191109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FR:Jun'28  [Rec]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45720" y="200070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943100" y="2009851"/>
            <a:ext cx="33680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5336540" y="200985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[Rec]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366522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5633720" y="2108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FR:May'29  [Rec]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445770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6426200" y="2207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FR:Jan'30  [Rec]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306117"/>
            <a:ext cx="5561118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7529618" y="230611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(TeLuRide-008)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FR:Dec'30  [NYR]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91440" y="2324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 Combinations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5720" y="2452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943100" y="2461565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5336540" y="2461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(R3767-ONC-2235)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[ANR]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5720" y="2551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1943100" y="2560320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5336540" y="2560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(R3767-ONC-2235)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[ANR]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45720" y="2649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Relatlimab/Nivo FDC + chemo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943100" y="2659075"/>
            <a:ext cx="505206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7020560" y="2659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(RELATIVITY1093)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FR:Jul'30  [Rec]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91440" y="2776118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 / Novel Mechanisms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5720" y="290413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1943100" y="2913278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2265680" y="291327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[ANR]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45720" y="300289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943100" y="3012034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2265680" y="301203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(KEYLYNK-012)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[ANR]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45720" y="310164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1943100" y="3110789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2265680" y="3110789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[ANR]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45720" y="320040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1943100" y="3209544"/>
            <a:ext cx="59436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2562860" y="320954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(QUILT-2.023)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[ANR]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45720" y="329915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1943100" y="3308299"/>
            <a:ext cx="19812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3949700" y="3308299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(eVOLVE-Lung02)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FR:Dec'27  [ANR]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45720" y="339791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943100" y="3407054"/>
            <a:ext cx="29718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4940300" y="340705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(LUNAR-2)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FR:Oct'28  [Rec]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45720" y="349666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1943100" y="3505810"/>
            <a:ext cx="32689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237480" y="350581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(ResQ302)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FR:Jan'29  [Proj]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5732780" y="3604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5732780" y="3703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5732780" y="3802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49530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6921500" y="390083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(LIVIGNO-4)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FR:Jun'30  [Rec]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63398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6911340" y="410565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(MountainTAP-29)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FR:Aug'31  [Rec]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</p:spTree>
    <p:extLst>
      <p:ext uri="{BB962C8B-B14F-4D97-AF65-F5344CB8AC3E}">
        <ns2:creationId val="73532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4: Biosimilar Threat Tracker — Keytruda Revenue Erosion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Keytruda lose exclusivity? How many biosimilars are coming? Bevacizumab erosion as a template.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 Sponsor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Stage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Threat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005840"/>
            <a:ext cx="1463040" cy="804672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1005840"/>
            <a:ext cx="1371600" cy="804672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Pembrolizumab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— $25B+ rev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005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Bioepis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069848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920240" y="1207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mAbxience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271016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92024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03520" y="1472184"/>
            <a:ext cx="68580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2024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1673352"/>
            <a:ext cx="548640" cy="73152"/>
          </a:xfrm>
          <a:prstGeom prst="rect">
            <a:avLst/>
          </a:prstGeom>
          <a:solidFill>
            <a:srgbClr val="EF9A9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457200" y="1856232"/>
            <a:ext cx="1463040" cy="1408176"/>
          </a:xfrm>
          <a:prstGeom prst="rect">
            <a:avLst/>
          </a:prstGeom>
          <a:solidFill>
            <a:srgbClr val="F8FAFC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02920" y="1856232"/>
            <a:ext cx="1371600" cy="1408176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Bevacizumab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 — genericized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832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976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1920240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920240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 (PFE)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976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2121408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920240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Sandoz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32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2322576"/>
            <a:ext cx="22860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920240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Amneal Pharma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832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976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2523744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920240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832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76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03520" y="2724912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920240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Biocon Biologics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832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976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03520" y="2926080"/>
            <a:ext cx="13716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920240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Prestige Biopharma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832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FR Mar 2026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03520" y="3127248"/>
            <a:ext cx="9144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 biosimilar risk is real and near-term — 4 Phase 3 programs with PCDs in 2026-2028. Samsung Bioepis and mAbxience are furthest along. Bevacizumab is already largely genericized. For MRK investors, the biosimilar timeline is more important than any single pipeline competitor.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5: Target × Biomarker Selection Heat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target-biomarker combinations are crowded (risk) vs. whitespace (opportunity)?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82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2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82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82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82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754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4754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754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Text 108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4" name="Text 112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6" name="Text 114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4754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Text 117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Text 119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Text 121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Text 123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754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0" name="Text 128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2" name="Text 130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4" name="Text 132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4754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4754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" name="Text 144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" name="Text 146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" name="Text 148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2" name="Text 150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754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5" name="Text 153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7" name="Text 155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9" name="Text 157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1" name="Text 159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4754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4" name="Text 162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6" name="Text 164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8" name="Text 166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0" name="Text 168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3, non-biosimilar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7: 2L NSCLC Phase 3 Competitive Landscape — Post-IO/Chemo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Columns by primary mechanism class | Pipeline database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594360" y="594360"/>
            <a:ext cx="845820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4137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Combos / Novel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4137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2331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Biomarker-selected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331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8288" y="603504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8288" y="603504"/>
            <a:ext cx="548640" cy="106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943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34137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2331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21792" y="608504"/>
            <a:ext cx="2764536" cy="12801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21792" y="60850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 [PD-L1 ADC]  (FR:Dec'29)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621792" y="741242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21792" y="74124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(TROPION-Lung17)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[TROP2]  PCD'29 (FR:Jan'29)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621792" y="873980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21792" y="87398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Teliso-V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(TeliMET NSCLC-01)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[c-MET ADC, MET+]  PCD'28 (FR:Mar'28)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621792" y="1006718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21792" y="10067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(TroFuse-004)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[TROP2]  PCD'27 (FR:May'27)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621792" y="1139456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621792" y="113945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SystImmune: Izalontamab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(IZABRIGHT-Lung01)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[EGFR/HER3 ADC]  PCD'28 (FR:Sep'28)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621792" y="1272194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21792" y="127219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(TroFuse-009)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[TROP2]  PCD'28 (FR:Sep'28)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621792" y="1404932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21792" y="140493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Teliso-adiz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(M25-713)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[c-MET ADC, MET+]  PCD'30 (FR:Sep'30)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3441192" y="608504"/>
            <a:ext cx="2764536" cy="12801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441192" y="60850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SMMT: Ivonescimab + chemo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(HARMONi)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[PD1/VEGF bsAb]  PCD'25 (FR:May'25)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3441192" y="871851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3441192" y="87185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[PD1/IL-2]  (FR:Jun'29)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3441192" y="113519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3441192" y="113519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 + doce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(DUBLIN-4)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[VDA]  PCD'29 (FR:Jun'29)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3441192" y="1398545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3441192" y="1398545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Candel: Aglatimagene + pembro  [Gene therapy]  (FR:May'29)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18288" y="1605686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8288" y="1665686"/>
            <a:ext cx="54864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943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4137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62331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621792" y="1693118"/>
            <a:ext cx="2764536" cy="12801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6217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BioAtla: Mecbotamab-V + nivo  [AXL ADC]  (FR:Jun'28)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621792" y="1537670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21792" y="153767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(Be6A Lung-01)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[Integrin β6 ADC]  PCD'26 (FR:Mar'26)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21792" y="1956465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621792" y="1956465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Fetrastobart-V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(PADL1NK-005)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[PD-L1 ADC]  PCD'28 (FR:Mar'28)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3441192" y="169311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34411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NVCR: TTFields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(METIS)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[TTFields 150 kHz]  PCD'24 (FR:Mar'24)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3441192" y="1834240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441192" y="183424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(DUBLIN-3)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[VDA]  PCD'21 (FR:Aug'21)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3441192" y="1975362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3441192" y="197536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OSE: OSE 2101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(ARTEMIA)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[Cancer vaccine]  PCD'27 (FR:Jan'28)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441192" y="2116484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3441192" y="211648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(ResQ302)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[IL-15]  (FR:Jan'29)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3441192" y="2257606"/>
            <a:ext cx="2764536" cy="128016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3441192" y="225760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ABBV: RC148 + doce  [PD1/VEGF bsAb]  (FR:Jan'29)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441192" y="2905613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3441192" y="2905613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Gotistobart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(PRESERVE-003)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[anti-CTLA4]  PCD'27 (FR:Mar'26)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441192" y="239872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3441192" y="239872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doce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(ResQ201A)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[IL-15]  PCD'28 (FR:Sep'28)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6260592" y="1693118"/>
            <a:ext cx="2764536" cy="12801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62605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 [KRAS G12C]  (FR:Dec'27)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6260592" y="1862464"/>
            <a:ext cx="2764536" cy="12801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6260592" y="186246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Daraxonrasib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(RASolve-301)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[pan-RAS]  PCD'27 (FR:Dec'27)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6260592" y="2031810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6260592" y="203181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Krystal: KB707 (inhaled)  [IL-12/IL-2]  (FR:Feb'28)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6260592" y="2201156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260592" y="220115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Tango: Vopimetostat  [PRMT5 inhib]  (FR:Jun'29)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260592" y="2370502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6260592" y="237050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(Krascendo 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[KRAS G12C]  PCD'27 (FR:Sep'26)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260592" y="2539848"/>
            <a:ext cx="2764536" cy="12801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6260592" y="253984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Astellas: Setidegrasib  [KRAS G12D]  (FR:Sep'29)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8288" y="2607869"/>
            <a:ext cx="548640" cy="365760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8288" y="26678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5943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34137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2331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21792" y="2695301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621792" y="269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Henlius: HLX43 + HLX07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(HLX43-NSCLC302)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[PD-L1 ADC]  PCD'30 (FR:Jan'30)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3441192" y="269530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3441192" y="269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IVBIY: IBI363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(MarsLight-11)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[PD1/IL-2]  PCD'28 (FR:Nov'28)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37160" y="3166781"/>
            <a:ext cx="9144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46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1280160" y="3166781"/>
            <a:ext cx="9144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1389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423160" y="3166781"/>
            <a:ext cx="914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2532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3566160" y="3166781"/>
            <a:ext cx="91440" cy="7315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3675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4709160" y="3166781"/>
            <a:ext cx="91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4818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5852160" y="3166781"/>
            <a:ext cx="914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5961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Source: | Faded bars = projected trials (no NCT registration; based on company guidance)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93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6: Company Pipeline Footprint — Who Threatens Keytruda Most (# of Phase III trials)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vs concentration of competitive bets across mechanism classes.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40233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0233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274320" y="114300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7432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(8)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90488" y="1170432"/>
            <a:ext cx="237744" cy="23774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1904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19288" y="1170432"/>
            <a:ext cx="237744" cy="23774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0192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143560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274320" y="1435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 (5)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51860" y="1467612"/>
            <a:ext cx="228600" cy="228600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451860" y="14676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46036" y="1504188"/>
            <a:ext cx="155448" cy="155448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71460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060436" y="1504188"/>
            <a:ext cx="155448" cy="155448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80604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172821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274320" y="1728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(4)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1348" y="1778508"/>
            <a:ext cx="192024" cy="192024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6413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0148" y="177850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34701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020824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274320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 (3)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84548" y="2071116"/>
            <a:ext cx="155448" cy="155448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384548" y="20711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88436" y="2089404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3488436" y="20894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2313432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7432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 (3)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23060" y="2345436"/>
            <a:ext cx="228600" cy="228600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1623060" y="23454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606040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27432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 (3)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59636" y="2674620"/>
            <a:ext cx="155448" cy="155448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59636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13348" y="2656332"/>
            <a:ext cx="192024" cy="19202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6213348" y="26563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2898648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7432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 (3)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55748" y="2948940"/>
            <a:ext cx="192024" cy="192024"/>
          </a:xfrm>
          <a:prstGeom prst="ellipse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2555748" y="29489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17236" y="2967228"/>
            <a:ext cx="155448" cy="155448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5317236" y="29672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3191256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274320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 (3)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280660" y="3223260"/>
            <a:ext cx="228600" cy="2286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5280660" y="32232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483864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Text 68"/>
          <p:cNvSpPr/>
          <p:nvPr/>
        </p:nvSpPr>
        <p:spPr>
          <a:xfrm>
            <a:off x="274320" y="34838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 (2)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127748" y="3534156"/>
            <a:ext cx="192024" cy="19202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7127748" y="35341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3776472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274320" y="3776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 (2)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042148" y="3826764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8042148" y="382676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74320" y="406908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74320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 (2)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298948" y="4119372"/>
            <a:ext cx="192024" cy="192024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298948" y="411937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74320" y="4361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274320" y="4361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 (2)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042148" y="4411980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8042148" y="44119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4320" y="465429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74320" y="4654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 (2)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470148" y="470458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3470148" y="47045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non-biosimilar, 1L NSCLC | April 2026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75980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Methodology: Inclusion / Exclusion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 clinical trials (US development stage)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First-line (1L) NSCLC — exhibits 1-6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Second-line (2L) NSCLC — exhibit 7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stages: Stage IV, ★ Stage III only, ○ Stage not specified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mechanism classes (IO, ADC, KRAS, VEGF, TIGIT, etc.)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84632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Biosimilars (tracked separately in Exhibit 4)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drugs in new trials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 inhibitors (osimertinib, firmonertinib,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ALK inhibitors (alectinib, neladalkib,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ROS1/NTRK inhibitors (repotrectinib, </a:t>
            </a:r>
            <a:r>
              <a:rPr lang="en-US" sz="9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entrectinib</a:t>
            </a: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b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0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inhibitors</a:t>
            </a: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HER2-mut targeted (Zongertinib, T-DXd mono, Sevabertinib)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EGFR-selected TROP2 ADC trials (e.g., Dato-DXd + osi)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0763E7-0970-2740-AC47-65B7A810A82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5dce395c-09b5-4626-80b7-72ffd3ef2b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3053</Words>
  <Application>Microsoft Macintosh PowerPoint</Application>
  <PresentationFormat>On-screen Show (16:9)</PresentationFormat>
  <Paragraphs>510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NSCLC Competitive Landscape Exhibits</dc:title>
  <dc:subject>PptxGenJS Presentation</dc:subject>
  <dc:creator>NSCLC Pipeline Analysis</dc:creator>
  <cp:lastModifiedBy>Louisa Qiu</cp:lastModifiedBy>
  <cp:revision>7</cp:revision>
  <dcterms:created xsi:type="dcterms:W3CDTF">2026-04-07T02:22:42Z</dcterms:created>
  <dcterms:modified xsi:type="dcterms:W3CDTF">2026-04-14T18:27:48Z</dcterms:modified>
</cp:coreProperties>
</file>