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5669280" y="-731520"/>
            <a:ext cx="4572000" cy="2743200"/>
          </a:xfrm>
          <a:prstGeom prst="rect">
            <a:avLst/>
          </a:prstGeom>
          <a:solidFill>
            <a:srgbClr val="2B4C7E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6583680" y="-365760"/>
            <a:ext cx="3657600" cy="2286000"/>
          </a:xfrm>
          <a:prstGeom prst="rect">
            <a:avLst/>
          </a:prstGeom>
          <a:solidFill>
            <a:srgbClr val="3B82F6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in Pharma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for Evaluating Impact on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Productivity &amp; Cost Efficiency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2103120" cy="292608"/>
          </a:xfrm>
          <a:prstGeom prst="roundRect">
            <a:avLst>
              <a:gd name="adj" fmla="val 12500"/>
            </a:avLst>
          </a:prstGeom>
          <a:solidFill>
            <a:srgbClr val="2B4C7E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718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Productivity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017520" y="2971800"/>
            <a:ext cx="2103120" cy="292608"/>
          </a:xfrm>
          <a:prstGeom prst="roundRect">
            <a:avLst>
              <a:gd name="adj" fmla="val 12500"/>
            </a:avLst>
          </a:prstGeom>
          <a:solidFill>
            <a:srgbClr val="2B4C7E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017520" y="29718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Discovery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94960" y="2971800"/>
            <a:ext cx="2103120" cy="292608"/>
          </a:xfrm>
          <a:prstGeom prst="roundRect">
            <a:avLst>
              <a:gd name="adj" fmla="val 12500"/>
            </a:avLst>
          </a:prstGeom>
          <a:solidFill>
            <a:srgbClr val="2B4C7E">
              <a:alpha val="6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394960" y="29718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Efficiency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3703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— For Internal Discussion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41605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Bernstein Research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Drug Lifecycle: Where AI Makes an Impact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0" y="658368"/>
            <a:ext cx="594360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2926080" y="5760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~12–15 years end-to-end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1115568" cy="475488"/>
          </a:xfrm>
          <a:prstGeom prst="roundRect">
            <a:avLst>
              <a:gd name="adj" fmla="val 5769"/>
            </a:avLst>
          </a:prstGeom>
          <a:solidFill>
            <a:srgbClr val="1A2744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22376" y="777240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A27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" y="7772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941832"/>
            <a:ext cx="1115568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 rot="5400000">
            <a:off x="1399032" y="1051560"/>
            <a:ext cx="73152" cy="109728"/>
          </a:xfrm>
          <a:prstGeom prst="triangle">
            <a:avLst/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1572768"/>
            <a:ext cx="1115568" cy="2011680"/>
          </a:xfrm>
          <a:prstGeom prst="roundRect">
            <a:avLst>
              <a:gd name="adj" fmla="val 2459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2104" y="1344168"/>
            <a:ext cx="0" cy="228600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329184" y="1627632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Applications</a:t>
            </a:r>
            <a:endParaRPr lang="en-US" sz="550" dirty="0"/>
          </a:p>
        </p:txBody>
      </p:sp>
      <p:sp>
        <p:nvSpPr>
          <p:cNvPr id="14" name="Shape 12"/>
          <p:cNvSpPr/>
          <p:nvPr/>
        </p:nvSpPr>
        <p:spPr>
          <a:xfrm>
            <a:off x="329184" y="1773936"/>
            <a:ext cx="100584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" y="1810512"/>
            <a:ext cx="1005840" cy="960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Computational target ID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Genetic validation (2.6x POS)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Multi-omics pathway analysis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329184" y="2834640"/>
            <a:ext cx="100584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" y="2871216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500" dirty="0"/>
          </a:p>
        </p:txBody>
      </p:sp>
      <p:sp>
        <p:nvSpPr>
          <p:cNvPr id="18" name="Text 16"/>
          <p:cNvSpPr/>
          <p:nvPr/>
        </p:nvSpPr>
        <p:spPr>
          <a:xfrm>
            <a:off x="329184" y="2999232"/>
            <a:ext cx="1005840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2B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Compugen: TIGIT (2009)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1481328" y="868680"/>
            <a:ext cx="1115568" cy="475488"/>
          </a:xfrm>
          <a:prstGeom prst="roundRect">
            <a:avLst>
              <a:gd name="adj" fmla="val 5769"/>
            </a:avLst>
          </a:prstGeom>
          <a:solidFill>
            <a:srgbClr val="1A2744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929384" y="777240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A27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29384" y="7772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481328" y="941832"/>
            <a:ext cx="1115568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 rot="5400000">
            <a:off x="2606040" y="1051560"/>
            <a:ext cx="73152" cy="109728"/>
          </a:xfrm>
          <a:prstGeom prst="triangle">
            <a:avLst/>
          </a:prstGeom>
          <a:solidFill>
            <a:srgbClr val="E2E8F0"/>
          </a:solidFill>
          <a:ln/>
        </p:spPr>
      </p:sp>
      <p:sp>
        <p:nvSpPr>
          <p:cNvPr id="24" name="Shape 22"/>
          <p:cNvSpPr/>
          <p:nvPr/>
        </p:nvSpPr>
        <p:spPr>
          <a:xfrm>
            <a:off x="1481328" y="1572768"/>
            <a:ext cx="1115568" cy="2011680"/>
          </a:xfrm>
          <a:prstGeom prst="roundRect">
            <a:avLst>
              <a:gd name="adj" fmla="val 2459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39112" y="1344168"/>
            <a:ext cx="0" cy="228600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1536192" y="1627632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Applications</a:t>
            </a:r>
            <a:endParaRPr lang="en-US" sz="550" dirty="0"/>
          </a:p>
        </p:txBody>
      </p:sp>
      <p:sp>
        <p:nvSpPr>
          <p:cNvPr id="27" name="Shape 25"/>
          <p:cNvSpPr/>
          <p:nvPr/>
        </p:nvSpPr>
        <p:spPr>
          <a:xfrm>
            <a:off x="1536192" y="1773936"/>
            <a:ext cx="100584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36192" y="1810512"/>
            <a:ext cx="1005840" cy="960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Physics-based design (FEP+)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Generative chemistry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ADME/tox prediction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1536192" y="2834640"/>
            <a:ext cx="100584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36192" y="2871216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500" dirty="0"/>
          </a:p>
        </p:txBody>
      </p:sp>
      <p:sp>
        <p:nvSpPr>
          <p:cNvPr id="31" name="Text 29"/>
          <p:cNvSpPr/>
          <p:nvPr/>
        </p:nvSpPr>
        <p:spPr>
          <a:xfrm>
            <a:off x="1536192" y="2999232"/>
            <a:ext cx="1005840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2B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Schrödinger: zasocitinib (Ph III)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2688336" y="868680"/>
            <a:ext cx="1115568" cy="475488"/>
          </a:xfrm>
          <a:prstGeom prst="roundRect">
            <a:avLst>
              <a:gd name="adj" fmla="val 5769"/>
            </a:avLst>
          </a:prstGeom>
          <a:solidFill>
            <a:srgbClr val="1A2744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136392" y="777240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A27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36392" y="7772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688336" y="941832"/>
            <a:ext cx="1115568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Preclinical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 rot="5400000">
            <a:off x="3813048" y="1051560"/>
            <a:ext cx="73152" cy="109728"/>
          </a:xfrm>
          <a:prstGeom prst="triangle">
            <a:avLst/>
          </a:prstGeom>
          <a:solidFill>
            <a:srgbClr val="E2E8F0"/>
          </a:solidFill>
          <a:ln/>
        </p:spPr>
      </p:sp>
      <p:sp>
        <p:nvSpPr>
          <p:cNvPr id="37" name="Shape 35"/>
          <p:cNvSpPr/>
          <p:nvPr/>
        </p:nvSpPr>
        <p:spPr>
          <a:xfrm>
            <a:off x="2688336" y="1572768"/>
            <a:ext cx="1115568" cy="2011680"/>
          </a:xfrm>
          <a:prstGeom prst="roundRect">
            <a:avLst>
              <a:gd name="adj" fmla="val 2459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46120" y="1344168"/>
            <a:ext cx="0" cy="228600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2743200" y="1627632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Applications</a:t>
            </a:r>
            <a:endParaRPr lang="en-US" sz="550" dirty="0"/>
          </a:p>
        </p:txBody>
      </p:sp>
      <p:sp>
        <p:nvSpPr>
          <p:cNvPr id="40" name="Shape 38"/>
          <p:cNvSpPr/>
          <p:nvPr/>
        </p:nvSpPr>
        <p:spPr>
          <a:xfrm>
            <a:off x="2743200" y="1773936"/>
            <a:ext cx="100584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0" y="1810512"/>
            <a:ext cx="1005840" cy="960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In silico tox screening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Animal model prediction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Formulation optimization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2743200" y="2834640"/>
            <a:ext cx="100584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0" y="2871216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500" dirty="0"/>
          </a:p>
        </p:txBody>
      </p:sp>
      <p:sp>
        <p:nvSpPr>
          <p:cNvPr id="44" name="Text 42"/>
          <p:cNvSpPr/>
          <p:nvPr/>
        </p:nvSpPr>
        <p:spPr>
          <a:xfrm>
            <a:off x="2743200" y="2999232"/>
            <a:ext cx="1005840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2B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Insilico: 18-mo target-to-IND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3895344" y="868680"/>
            <a:ext cx="1115568" cy="475488"/>
          </a:xfrm>
          <a:prstGeom prst="roundRect">
            <a:avLst>
              <a:gd name="adj" fmla="val 5769"/>
            </a:avLst>
          </a:prstGeom>
          <a:solidFill>
            <a:srgbClr val="3B82F6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343400" y="777240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43400" y="7772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895344" y="941832"/>
            <a:ext cx="1115568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 rot="5400000">
            <a:off x="5020056" y="1051560"/>
            <a:ext cx="73152" cy="109728"/>
          </a:xfrm>
          <a:prstGeom prst="triangle">
            <a:avLst/>
          </a:prstGeom>
          <a:solidFill>
            <a:srgbClr val="E2E8F0"/>
          </a:solidFill>
          <a:ln/>
        </p:spPr>
      </p:sp>
      <p:sp>
        <p:nvSpPr>
          <p:cNvPr id="50" name="Shape 48"/>
          <p:cNvSpPr/>
          <p:nvPr/>
        </p:nvSpPr>
        <p:spPr>
          <a:xfrm>
            <a:off x="3895344" y="1572768"/>
            <a:ext cx="1115568" cy="2011680"/>
          </a:xfrm>
          <a:prstGeom prst="roundRect">
            <a:avLst>
              <a:gd name="adj" fmla="val 2459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453128" y="1344168"/>
            <a:ext cx="0" cy="228600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</p:sp>
      <p:sp>
        <p:nvSpPr>
          <p:cNvPr id="52" name="Text 50"/>
          <p:cNvSpPr/>
          <p:nvPr/>
        </p:nvSpPr>
        <p:spPr>
          <a:xfrm>
            <a:off x="3950208" y="1627632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Applications</a:t>
            </a:r>
            <a:endParaRPr lang="en-US" sz="550" dirty="0"/>
          </a:p>
        </p:txBody>
      </p:sp>
      <p:sp>
        <p:nvSpPr>
          <p:cNvPr id="53" name="Shape 51"/>
          <p:cNvSpPr/>
          <p:nvPr/>
        </p:nvSpPr>
        <p:spPr>
          <a:xfrm>
            <a:off x="3950208" y="1773936"/>
            <a:ext cx="100584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950208" y="1810512"/>
            <a:ext cx="1005840" cy="960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Patient matching/enrollment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Adaptive trial design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Digital biomarkers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3950208" y="2834640"/>
            <a:ext cx="100584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950208" y="2871216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500" dirty="0"/>
          </a:p>
        </p:txBody>
      </p:sp>
      <p:sp>
        <p:nvSpPr>
          <p:cNvPr id="57" name="Text 55"/>
          <p:cNvSpPr/>
          <p:nvPr/>
        </p:nvSpPr>
        <p:spPr>
          <a:xfrm>
            <a:off x="3950208" y="2999232"/>
            <a:ext cx="1005840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2B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Tempus: 2x enrollment speed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5102352" y="868680"/>
            <a:ext cx="1115568" cy="475488"/>
          </a:xfrm>
          <a:prstGeom prst="roundRect">
            <a:avLst>
              <a:gd name="adj" fmla="val 5769"/>
            </a:avLst>
          </a:prstGeom>
          <a:solidFill>
            <a:srgbClr val="3B82F6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5550408" y="777240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550408" y="7772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102352" y="941832"/>
            <a:ext cx="1115568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 rot="5400000">
            <a:off x="6227064" y="1051560"/>
            <a:ext cx="73152" cy="109728"/>
          </a:xfrm>
          <a:prstGeom prst="triangle">
            <a:avLst/>
          </a:prstGeom>
          <a:solidFill>
            <a:srgbClr val="E2E8F0"/>
          </a:solidFill>
          <a:ln/>
        </p:spPr>
      </p:sp>
      <p:sp>
        <p:nvSpPr>
          <p:cNvPr id="63" name="Shape 61"/>
          <p:cNvSpPr/>
          <p:nvPr/>
        </p:nvSpPr>
        <p:spPr>
          <a:xfrm>
            <a:off x="5102352" y="1572768"/>
            <a:ext cx="1115568" cy="2011680"/>
          </a:xfrm>
          <a:prstGeom prst="roundRect">
            <a:avLst>
              <a:gd name="adj" fmla="val 2459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660136" y="1344168"/>
            <a:ext cx="0" cy="228600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</p:sp>
      <p:sp>
        <p:nvSpPr>
          <p:cNvPr id="65" name="Text 63"/>
          <p:cNvSpPr/>
          <p:nvPr/>
        </p:nvSpPr>
        <p:spPr>
          <a:xfrm>
            <a:off x="5157216" y="1627632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Applications</a:t>
            </a:r>
            <a:endParaRPr lang="en-US" sz="550" dirty="0"/>
          </a:p>
        </p:txBody>
      </p:sp>
      <p:sp>
        <p:nvSpPr>
          <p:cNvPr id="66" name="Shape 64"/>
          <p:cNvSpPr/>
          <p:nvPr/>
        </p:nvSpPr>
        <p:spPr>
          <a:xfrm>
            <a:off x="5157216" y="1773936"/>
            <a:ext cx="100584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157216" y="1810512"/>
            <a:ext cx="1005840" cy="960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Automated CSR filing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FDA CDER AI pilot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RWE generation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5157216" y="2834640"/>
            <a:ext cx="100584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157216" y="2871216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500" dirty="0"/>
          </a:p>
        </p:txBody>
      </p:sp>
      <p:sp>
        <p:nvSpPr>
          <p:cNvPr id="70" name="Text 68"/>
          <p:cNvSpPr/>
          <p:nvPr/>
        </p:nvSpPr>
        <p:spPr>
          <a:xfrm>
            <a:off x="5157216" y="2999232"/>
            <a:ext cx="1005840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2B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faster CSR generation</a:t>
            </a:r>
            <a:endParaRPr lang="en-US" sz="600" dirty="0"/>
          </a:p>
        </p:txBody>
      </p:sp>
      <p:sp>
        <p:nvSpPr>
          <p:cNvPr id="71" name="Shape 69"/>
          <p:cNvSpPr/>
          <p:nvPr/>
        </p:nvSpPr>
        <p:spPr>
          <a:xfrm>
            <a:off x="6309360" y="868680"/>
            <a:ext cx="1115568" cy="475488"/>
          </a:xfrm>
          <a:prstGeom prst="roundRect">
            <a:avLst>
              <a:gd name="adj" fmla="val 5769"/>
            </a:avLst>
          </a:prstGeom>
          <a:solidFill>
            <a:srgbClr val="64748B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6757416" y="777240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64748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757416" y="7772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6309360" y="941832"/>
            <a:ext cx="1115568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 rot="5400000">
            <a:off x="7434072" y="1051560"/>
            <a:ext cx="73152" cy="109728"/>
          </a:xfrm>
          <a:prstGeom prst="triangle">
            <a:avLst/>
          </a:prstGeom>
          <a:solidFill>
            <a:srgbClr val="E2E8F0"/>
          </a:solidFill>
          <a:ln/>
        </p:spPr>
      </p:sp>
      <p:sp>
        <p:nvSpPr>
          <p:cNvPr id="76" name="Shape 74"/>
          <p:cNvSpPr/>
          <p:nvPr/>
        </p:nvSpPr>
        <p:spPr>
          <a:xfrm>
            <a:off x="6309360" y="1572768"/>
            <a:ext cx="1115568" cy="2011680"/>
          </a:xfrm>
          <a:prstGeom prst="roundRect">
            <a:avLst>
              <a:gd name="adj" fmla="val 2459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867144" y="1344168"/>
            <a:ext cx="0" cy="228600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</p:sp>
      <p:sp>
        <p:nvSpPr>
          <p:cNvPr id="78" name="Text 76"/>
          <p:cNvSpPr/>
          <p:nvPr/>
        </p:nvSpPr>
        <p:spPr>
          <a:xfrm>
            <a:off x="6364224" y="1627632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Applications</a:t>
            </a:r>
            <a:endParaRPr lang="en-US" sz="550" dirty="0"/>
          </a:p>
        </p:txBody>
      </p:sp>
      <p:sp>
        <p:nvSpPr>
          <p:cNvPr id="79" name="Shape 77"/>
          <p:cNvSpPr/>
          <p:nvPr/>
        </p:nvSpPr>
        <p:spPr>
          <a:xfrm>
            <a:off x="6364224" y="1773936"/>
            <a:ext cx="100584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364224" y="1810512"/>
            <a:ext cx="1005840" cy="960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HCP targeting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Patient finding (claims)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Sales force optimization</a:t>
            </a:r>
            <a:endParaRPr lang="en-US" sz="650" dirty="0"/>
          </a:p>
        </p:txBody>
      </p:sp>
      <p:sp>
        <p:nvSpPr>
          <p:cNvPr id="81" name="Shape 79"/>
          <p:cNvSpPr/>
          <p:nvPr/>
        </p:nvSpPr>
        <p:spPr>
          <a:xfrm>
            <a:off x="6364224" y="2834640"/>
            <a:ext cx="100584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364224" y="2871216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500" dirty="0"/>
          </a:p>
        </p:txBody>
      </p:sp>
      <p:sp>
        <p:nvSpPr>
          <p:cNvPr id="83" name="Text 81"/>
          <p:cNvSpPr/>
          <p:nvPr/>
        </p:nvSpPr>
        <p:spPr>
          <a:xfrm>
            <a:off x="6364224" y="2999232"/>
            <a:ext cx="1005840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2B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attributable case study</a:t>
            </a:r>
            <a:endParaRPr lang="en-US" sz="600" dirty="0"/>
          </a:p>
        </p:txBody>
      </p:sp>
      <p:sp>
        <p:nvSpPr>
          <p:cNvPr id="84" name="Shape 82"/>
          <p:cNvSpPr/>
          <p:nvPr/>
        </p:nvSpPr>
        <p:spPr>
          <a:xfrm>
            <a:off x="7516368" y="868680"/>
            <a:ext cx="1115568" cy="475488"/>
          </a:xfrm>
          <a:prstGeom prst="roundRect">
            <a:avLst>
              <a:gd name="adj" fmla="val 5769"/>
            </a:avLst>
          </a:prstGeom>
          <a:solidFill>
            <a:srgbClr val="64748B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7964424" y="777240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64748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964424" y="7772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7516368" y="941832"/>
            <a:ext cx="1115568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7516368" y="1572768"/>
            <a:ext cx="1115568" cy="2011680"/>
          </a:xfrm>
          <a:prstGeom prst="roundRect">
            <a:avLst>
              <a:gd name="adj" fmla="val 2459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074152" y="1344168"/>
            <a:ext cx="0" cy="228600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</p:sp>
      <p:sp>
        <p:nvSpPr>
          <p:cNvPr id="90" name="Text 88"/>
          <p:cNvSpPr/>
          <p:nvPr/>
        </p:nvSpPr>
        <p:spPr>
          <a:xfrm>
            <a:off x="7571232" y="1627632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Applications</a:t>
            </a:r>
            <a:endParaRPr lang="en-US" sz="550" dirty="0"/>
          </a:p>
        </p:txBody>
      </p:sp>
      <p:sp>
        <p:nvSpPr>
          <p:cNvPr id="91" name="Shape 89"/>
          <p:cNvSpPr/>
          <p:nvPr/>
        </p:nvSpPr>
        <p:spPr>
          <a:xfrm>
            <a:off x="7571232" y="1773936"/>
            <a:ext cx="100584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571232" y="1810512"/>
            <a:ext cx="1005840" cy="960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RWE for label expansion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Pharmacovigilance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Biosimilar defense</a:t>
            </a:r>
            <a:endParaRPr lang="en-US" sz="650" dirty="0"/>
          </a:p>
        </p:txBody>
      </p:sp>
      <p:sp>
        <p:nvSpPr>
          <p:cNvPr id="93" name="Shape 91"/>
          <p:cNvSpPr/>
          <p:nvPr/>
        </p:nvSpPr>
        <p:spPr>
          <a:xfrm>
            <a:off x="7571232" y="2834640"/>
            <a:ext cx="100584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571232" y="2871216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500" dirty="0"/>
          </a:p>
        </p:txBody>
      </p:sp>
      <p:sp>
        <p:nvSpPr>
          <p:cNvPr id="95" name="Text 93"/>
          <p:cNvSpPr/>
          <p:nvPr/>
        </p:nvSpPr>
        <p:spPr>
          <a:xfrm>
            <a:off x="7571232" y="2999232"/>
            <a:ext cx="1005840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2B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AZ: $100M/drug (claimed)</a:t>
            </a:r>
            <a:endParaRPr lang="en-US" sz="600" dirty="0"/>
          </a:p>
        </p:txBody>
      </p:sp>
      <p:sp>
        <p:nvSpPr>
          <p:cNvPr id="96" name="Shape 94"/>
          <p:cNvSpPr/>
          <p:nvPr/>
        </p:nvSpPr>
        <p:spPr>
          <a:xfrm>
            <a:off x="274320" y="3822192"/>
            <a:ext cx="3529584" cy="219456"/>
          </a:xfrm>
          <a:prstGeom prst="roundRect">
            <a:avLst>
              <a:gd name="adj" fmla="val 8333"/>
            </a:avLst>
          </a:prstGeom>
          <a:solidFill>
            <a:srgbClr val="1A2744">
              <a:alpha val="12000"/>
            </a:srgbClr>
          </a:solidFill>
          <a:ln/>
        </p:spPr>
      </p:sp>
      <p:sp>
        <p:nvSpPr>
          <p:cNvPr id="97" name="Text 95"/>
          <p:cNvSpPr/>
          <p:nvPr/>
        </p:nvSpPr>
        <p:spPr>
          <a:xfrm>
            <a:off x="274320" y="3822192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PRODUCTIVITY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3895344" y="3822192"/>
            <a:ext cx="2322576" cy="219456"/>
          </a:xfrm>
          <a:prstGeom prst="roundRect">
            <a:avLst>
              <a:gd name="adj" fmla="val 8333"/>
            </a:avLst>
          </a:prstGeom>
          <a:solidFill>
            <a:srgbClr val="3B82F6">
              <a:alpha val="12000"/>
            </a:srgbClr>
          </a:solidFill>
          <a:ln/>
        </p:spPr>
      </p:sp>
      <p:sp>
        <p:nvSpPr>
          <p:cNvPr id="99" name="Text 97"/>
          <p:cNvSpPr/>
          <p:nvPr/>
        </p:nvSpPr>
        <p:spPr>
          <a:xfrm>
            <a:off x="3895344" y="3822192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&amp; REGULATORY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6309360" y="3822192"/>
            <a:ext cx="2322576" cy="219456"/>
          </a:xfrm>
          <a:prstGeom prst="roundRect">
            <a:avLst>
              <a:gd name="adj" fmla="val 8333"/>
            </a:avLst>
          </a:prstGeom>
          <a:solidFill>
            <a:srgbClr val="64748B">
              <a:alpha val="12000"/>
            </a:srgbClr>
          </a:solidFill>
          <a:ln/>
        </p:spPr>
      </p:sp>
      <p:sp>
        <p:nvSpPr>
          <p:cNvPr id="101" name="Text 99"/>
          <p:cNvSpPr/>
          <p:nvPr/>
        </p:nvSpPr>
        <p:spPr>
          <a:xfrm>
            <a:off x="6309360" y="3822192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EFFICIENCY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274320" y="4233672"/>
            <a:ext cx="91440" cy="91440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03" name="Text 101"/>
          <p:cNvSpPr/>
          <p:nvPr/>
        </p:nvSpPr>
        <p:spPr>
          <a:xfrm>
            <a:off x="411480" y="420624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III validated</a:t>
            </a:r>
            <a:endParaRPr lang="en-US" sz="650" dirty="0"/>
          </a:p>
        </p:txBody>
      </p:sp>
      <p:sp>
        <p:nvSpPr>
          <p:cNvPr id="104" name="Shape 102"/>
          <p:cNvSpPr/>
          <p:nvPr/>
        </p:nvSpPr>
        <p:spPr>
          <a:xfrm>
            <a:off x="2103120" y="4233672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5" name="Text 103"/>
          <p:cNvSpPr/>
          <p:nvPr/>
        </p:nvSpPr>
        <p:spPr>
          <a:xfrm>
            <a:off x="2240280" y="420624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clinical data</a:t>
            </a:r>
            <a:endParaRPr lang="en-US" sz="650" dirty="0"/>
          </a:p>
        </p:txBody>
      </p:sp>
      <p:sp>
        <p:nvSpPr>
          <p:cNvPr id="106" name="Shape 104"/>
          <p:cNvSpPr/>
          <p:nvPr/>
        </p:nvSpPr>
        <p:spPr>
          <a:xfrm>
            <a:off x="3840480" y="4233672"/>
            <a:ext cx="91440" cy="9144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977640" y="420624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/ no clinical proof</a:t>
            </a:r>
            <a:endParaRPr lang="en-US" sz="650" dirty="0"/>
          </a:p>
        </p:txBody>
      </p:sp>
      <p:sp>
        <p:nvSpPr>
          <p:cNvPr id="108" name="Text 106"/>
          <p:cNvSpPr/>
          <p:nvPr/>
        </p:nvSpPr>
        <p:spPr>
          <a:xfrm>
            <a:off x="274320" y="46634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Jayatunga et al., Drug Discov Today 2024; Bernstein analysis; company disclosures; ClinicalTrials.gov</a:t>
            </a:r>
            <a:endParaRPr lang="en-US" sz="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in Pharma: A Two-Bucket Framework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4023360" cy="347472"/>
          </a:xfrm>
          <a:prstGeom prst="roundRect">
            <a:avLst>
              <a:gd name="adj" fmla="val 7895"/>
            </a:avLst>
          </a:prstGeom>
          <a:solidFill>
            <a:srgbClr val="64748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749808"/>
            <a:ext cx="274320" cy="27432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749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713232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EFFICIENCY &amp; SPEED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713232"/>
            <a:ext cx="4023360" cy="347472"/>
          </a:xfrm>
          <a:prstGeom prst="roundRect">
            <a:avLst>
              <a:gd name="adj" fmla="val 7895"/>
            </a:avLst>
          </a:prstGeom>
          <a:solidFill>
            <a:srgbClr val="1A2744"/>
          </a:solidFill>
          <a:ln/>
        </p:spPr>
      </p:sp>
      <p:sp>
        <p:nvSpPr>
          <p:cNvPr id="9" name="Shape 7"/>
          <p:cNvSpPr/>
          <p:nvPr/>
        </p:nvSpPr>
        <p:spPr>
          <a:xfrm>
            <a:off x="4846320" y="749808"/>
            <a:ext cx="274320" cy="27432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749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93792" y="713232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PRODUCTIVITY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188720"/>
            <a:ext cx="4023360" cy="1024128"/>
          </a:xfrm>
          <a:prstGeom prst="roundRect">
            <a:avLst>
              <a:gd name="adj" fmla="val 2679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225296"/>
            <a:ext cx="36576" cy="9509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4" name="Shape 12"/>
          <p:cNvSpPr/>
          <p:nvPr/>
        </p:nvSpPr>
        <p:spPr>
          <a:xfrm>
            <a:off x="493776" y="1280160"/>
            <a:ext cx="201168" cy="20116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" y="12801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49808" y="128016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/ Manufacturing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93776" y="1517904"/>
            <a:ext cx="3767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Demand forecasting: fewer inventory write-downs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Manufacturing yield optimization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Process automation and quality control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493776" y="1975104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Q: Can AI reduce COGS meaningfully, or is this incremental?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365760" y="2286000"/>
            <a:ext cx="4023360" cy="1024128"/>
          </a:xfrm>
          <a:prstGeom prst="roundRect">
            <a:avLst>
              <a:gd name="adj" fmla="val 2679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322576"/>
            <a:ext cx="36576" cy="9509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1" name="Shape 19"/>
          <p:cNvSpPr/>
          <p:nvPr/>
        </p:nvSpPr>
        <p:spPr>
          <a:xfrm>
            <a:off x="493776" y="2377440"/>
            <a:ext cx="201168" cy="20116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" y="23774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49808" y="237744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SG&amp;A / Commercial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93776" y="2615184"/>
            <a:ext cx="3767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HCP targeting and sales force optimization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Patient finding via claims data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Revenue uplift from better market access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493776" y="3072384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Q: Which companies are actually reducing SG&amp;A as % of revenue?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365760" y="3383280"/>
            <a:ext cx="4023360" cy="1024128"/>
          </a:xfrm>
          <a:prstGeom prst="roundRect">
            <a:avLst>
              <a:gd name="adj" fmla="val 2679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419856"/>
            <a:ext cx="36576" cy="9509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8" name="Shape 26"/>
          <p:cNvSpPr/>
          <p:nvPr/>
        </p:nvSpPr>
        <p:spPr>
          <a:xfrm>
            <a:off x="493776" y="3474720"/>
            <a:ext cx="201168" cy="20116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" y="34747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49808" y="347472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Operations (not productivity)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93776" y="3712464"/>
            <a:ext cx="3767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Clinical trial enrollment acceleration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Regulatory filing automation (40% faster CSRs)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Synthetic control arms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493776" y="4169664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Q: Is this saving time, money, or both — and how much?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4754880" y="1188720"/>
            <a:ext cx="4023360" cy="1024128"/>
          </a:xfrm>
          <a:prstGeom prst="roundRect">
            <a:avLst>
              <a:gd name="adj" fmla="val 2679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1225296"/>
            <a:ext cx="36576" cy="950976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5" name="Shape 33"/>
          <p:cNvSpPr/>
          <p:nvPr/>
        </p:nvSpPr>
        <p:spPr>
          <a:xfrm>
            <a:off x="4882896" y="1280160"/>
            <a:ext cx="201168" cy="201168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6" name="Text 34"/>
          <p:cNvSpPr/>
          <p:nvPr/>
        </p:nvSpPr>
        <p:spPr>
          <a:xfrm>
            <a:off x="4882896" y="12801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138928" y="128016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of Success (POS)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82896" y="1517904"/>
            <a:ext cx="3767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POS by phase: Ph I 58%, Ph II 28%, Ph III 35% (Fernald 2024)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Historical trend: declining across all phases 2012–2019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Genetically validated targets: 2.6x higher POS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4882896" y="1975104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Q: Can AI move POS, or just speed? This is the $50B question.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4754880" y="2286000"/>
            <a:ext cx="4023360" cy="1024128"/>
          </a:xfrm>
          <a:prstGeom prst="roundRect">
            <a:avLst>
              <a:gd name="adj" fmla="val 2679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2322576"/>
            <a:ext cx="36576" cy="950976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2" name="Shape 40"/>
          <p:cNvSpPr/>
          <p:nvPr/>
        </p:nvSpPr>
        <p:spPr>
          <a:xfrm>
            <a:off x="4882896" y="2377440"/>
            <a:ext cx="201168" cy="201168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3" name="Text 41"/>
          <p:cNvSpPr/>
          <p:nvPr/>
        </p:nvSpPr>
        <p:spPr>
          <a:xfrm>
            <a:off x="4882896" y="23774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138928" y="237744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Time of Drug Development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882896" y="2615184"/>
            <a:ext cx="3767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$3.5B+ average cost per novel drug (Fernald 2024)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10–15 year timeline from discovery to approval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Wet lab costs declining but total cost rising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4882896" y="3072384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Q: Is the bottleneck cost of experiments or cost of failure?</a:t>
            </a:r>
            <a:endParaRPr lang="en-US" sz="600" dirty="0"/>
          </a:p>
        </p:txBody>
      </p:sp>
      <p:sp>
        <p:nvSpPr>
          <p:cNvPr id="47" name="Shape 45"/>
          <p:cNvSpPr/>
          <p:nvPr/>
        </p:nvSpPr>
        <p:spPr>
          <a:xfrm>
            <a:off x="4754880" y="3383280"/>
            <a:ext cx="4023360" cy="1024128"/>
          </a:xfrm>
          <a:prstGeom prst="roundRect">
            <a:avLst>
              <a:gd name="adj" fmla="val 2679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54880" y="3419856"/>
            <a:ext cx="36576" cy="950976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9" name="Shape 47"/>
          <p:cNvSpPr/>
          <p:nvPr/>
        </p:nvSpPr>
        <p:spPr>
          <a:xfrm>
            <a:off x="4882896" y="3474720"/>
            <a:ext cx="201168" cy="201168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0" name="Text 48"/>
          <p:cNvSpPr/>
          <p:nvPr/>
        </p:nvSpPr>
        <p:spPr>
          <a:xfrm>
            <a:off x="4882896" y="34747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138928" y="347472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Industrialized Discovery / AI Biotechs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882896" y="3712464"/>
            <a:ext cx="3767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Physics-based: Schrödinger (FEP+) — zasocitinib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Generative AI: Insilico (rentosertib), Recursion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75+ clinical assets tracked (Jayatunga et al., 2024)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4882896" y="4169664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Q: Who has Phase III data vs. Phase I hype?</a:t>
            </a:r>
            <a:endParaRPr lang="en-US" sz="600" dirty="0"/>
          </a:p>
        </p:txBody>
      </p:sp>
      <p:sp>
        <p:nvSpPr>
          <p:cNvPr id="54" name="Shape 52"/>
          <p:cNvSpPr/>
          <p:nvPr/>
        </p:nvSpPr>
        <p:spPr>
          <a:xfrm>
            <a:off x="365760" y="4553712"/>
            <a:ext cx="8412480" cy="347472"/>
          </a:xfrm>
          <a:prstGeom prst="roundRect">
            <a:avLst>
              <a:gd name="adj" fmla="val 7895"/>
            </a:avLst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" y="455371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thesis: The market is pricing AI for speed (Bucket A), but the real value unlock is POS improvement (Bucket B) — and the evidence is not there yet.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 Kind of AI Is It?" — Classification Matrix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"AI drug discovery" is created equal. The clinical evidence varies dramatically by method type.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1371600" cy="25603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8229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691640" y="822960"/>
            <a:ext cx="1828800" cy="25603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8" name="Text 6"/>
          <p:cNvSpPr/>
          <p:nvPr/>
        </p:nvSpPr>
        <p:spPr>
          <a:xfrm>
            <a:off x="1691640" y="822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520440" y="822960"/>
            <a:ext cx="1371600" cy="25603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8229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Players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892040" y="822960"/>
            <a:ext cx="2286000" cy="25603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8229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Clinical Evidence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7178040" y="822960"/>
            <a:ext cx="1554480" cy="25603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4" name="Text 12"/>
          <p:cNvSpPr/>
          <p:nvPr/>
        </p:nvSpPr>
        <p:spPr>
          <a:xfrm>
            <a:off x="7178040" y="8229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Validation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20040" y="1097280"/>
            <a:ext cx="1371600" cy="530352"/>
          </a:xfrm>
          <a:prstGeom prst="rect">
            <a:avLst/>
          </a:prstGeom>
          <a:solidFill>
            <a:srgbClr val="DBEAFE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097280"/>
            <a:ext cx="1371600" cy="53035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Physics-Based</a:t>
            </a:r>
            <a:endParaRPr lang="en-US" sz="700" dirty="0"/>
          </a:p>
          <a:p>
            <a:pPr algn="l" indent="0" marL="0">
              <a:buNone/>
            </a:pPr>
            <a:r>
              <a:rPr lang="en-US" sz="7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Design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691640" y="1097280"/>
            <a:ext cx="1828800" cy="530352"/>
          </a:xfrm>
          <a:prstGeom prst="rect">
            <a:avLst/>
          </a:prstGeom>
          <a:solidFill>
            <a:srgbClr val="DBEAFE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91640" y="1097280"/>
            <a:ext cx="1828800" cy="53035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binding affinity from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(FEP+)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3520440" y="1097280"/>
            <a:ext cx="1371600" cy="530352"/>
          </a:xfrm>
          <a:prstGeom prst="rect">
            <a:avLst/>
          </a:prstGeom>
          <a:solidFill>
            <a:srgbClr val="DBEAFE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1097280"/>
            <a:ext cx="1371600" cy="53035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Schrödinger,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Nimbus/Takeda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4892040" y="1097280"/>
            <a:ext cx="2286000" cy="530352"/>
          </a:xfrm>
          <a:prstGeom prst="rect">
            <a:avLst/>
          </a:prstGeom>
          <a:solidFill>
            <a:srgbClr val="DBEAFE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097280"/>
            <a:ext cx="2286000" cy="53035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Zasocitinib — Phase III, $4B acquisition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NDI-101150 — Phase I/II ongoing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SGR-1505 — Phase I (FDA Fast Track)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7178040" y="1097280"/>
            <a:ext cx="1554480" cy="530352"/>
          </a:xfrm>
          <a:prstGeom prst="rect">
            <a:avLst/>
          </a:prstGeom>
          <a:solidFill>
            <a:srgbClr val="DBEAFE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82128" y="1152144"/>
            <a:ext cx="146304" cy="146304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5" name="Text 23"/>
          <p:cNvSpPr/>
          <p:nvPr/>
        </p:nvSpPr>
        <p:spPr>
          <a:xfrm>
            <a:off x="7178040" y="13167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III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320040" y="1645920"/>
            <a:ext cx="1371600" cy="530352"/>
          </a:xfrm>
          <a:prstGeom prst="rect">
            <a:avLst/>
          </a:prstGeom>
          <a:solidFill>
            <a:srgbClr val="EFF6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1645920"/>
            <a:ext cx="1371600" cy="53035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ML /</a:t>
            </a:r>
            <a:endParaRPr lang="en-US" sz="700" dirty="0"/>
          </a:p>
          <a:p>
            <a:pPr algn="l" indent="0" marL="0">
              <a:buNone/>
            </a:pPr>
            <a:r>
              <a:rPr lang="en-US" sz="7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Phenotypic Screening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1691640" y="1645920"/>
            <a:ext cx="1828800" cy="530352"/>
          </a:xfrm>
          <a:prstGeom prst="rect">
            <a:avLst/>
          </a:prstGeom>
          <a:solidFill>
            <a:srgbClr val="EFF6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91640" y="1645920"/>
            <a:ext cx="1828800" cy="53035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on molecular properties,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phenotypic hit-finding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3520440" y="1645920"/>
            <a:ext cx="1371600" cy="530352"/>
          </a:xfrm>
          <a:prstGeom prst="rect">
            <a:avLst/>
          </a:prstGeom>
          <a:solidFill>
            <a:srgbClr val="EFF6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20440" y="1645920"/>
            <a:ext cx="1371600" cy="53035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Recursion,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Relay, HiFiBiO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4892040" y="1645920"/>
            <a:ext cx="2286000" cy="530352"/>
          </a:xfrm>
          <a:prstGeom prst="rect">
            <a:avLst/>
          </a:prstGeom>
          <a:solidFill>
            <a:srgbClr val="EFF6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1645920"/>
            <a:ext cx="2286000" cy="53035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RLY-4008 — Phase I/II positive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REC-4881 (TUPELO) — 75% polyp reduction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REC-994, REC-3964 — Phase I successful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7178040" y="1645920"/>
            <a:ext cx="1554480" cy="530352"/>
          </a:xfrm>
          <a:prstGeom prst="rect">
            <a:avLst/>
          </a:prstGeom>
          <a:solidFill>
            <a:srgbClr val="EFF6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82128" y="1700784"/>
            <a:ext cx="146304" cy="14630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6" name="Text 34"/>
          <p:cNvSpPr/>
          <p:nvPr/>
        </p:nvSpPr>
        <p:spPr>
          <a:xfrm>
            <a:off x="7178040" y="18653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I/II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emerging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320040" y="2194560"/>
            <a:ext cx="1371600" cy="530352"/>
          </a:xfrm>
          <a:prstGeom prst="rect">
            <a:avLst/>
          </a:prstGeom>
          <a:solidFill>
            <a:srgbClr val="EFF6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2194560"/>
            <a:ext cx="1371600" cy="53035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700" dirty="0"/>
          </a:p>
          <a:p>
            <a:pPr algn="l" indent="0" marL="0">
              <a:buNone/>
            </a:pPr>
            <a:r>
              <a:rPr lang="en-US" sz="7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Design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1691640" y="2194560"/>
            <a:ext cx="1828800" cy="530352"/>
          </a:xfrm>
          <a:prstGeom prst="rect">
            <a:avLst/>
          </a:prstGeom>
          <a:solidFill>
            <a:srgbClr val="EFF6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691640" y="2194560"/>
            <a:ext cx="1828800" cy="53035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designs novel molecules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novo (target + compound)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3520440" y="2194560"/>
            <a:ext cx="1371600" cy="530352"/>
          </a:xfrm>
          <a:prstGeom prst="rect">
            <a:avLst/>
          </a:prstGeom>
          <a:solidFill>
            <a:srgbClr val="EFF6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20440" y="2194560"/>
            <a:ext cx="1371600" cy="53035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Insilico Medicine,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Evaxion Biotech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4892040" y="2194560"/>
            <a:ext cx="2286000" cy="530352"/>
          </a:xfrm>
          <a:prstGeom prst="rect">
            <a:avLst/>
          </a:prstGeom>
          <a:solidFill>
            <a:srgbClr val="EFF6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2194560"/>
            <a:ext cx="2286000" cy="53035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Rentosertib — Phase IIa (IPF), Lilly $2.75B deal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ISM5411 — Phase I positive (IBD)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EVX-01 — 75% ORR in melanoma (Phase II)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7178040" y="2194560"/>
            <a:ext cx="1554480" cy="530352"/>
          </a:xfrm>
          <a:prstGeom prst="rect">
            <a:avLst/>
          </a:prstGeom>
          <a:solidFill>
            <a:srgbClr val="EFF6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882128" y="2249424"/>
            <a:ext cx="146304" cy="14630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7" name="Text 45"/>
          <p:cNvSpPr/>
          <p:nvPr/>
        </p:nvSpPr>
        <p:spPr>
          <a:xfrm>
            <a:off x="7178040" y="2414016"/>
            <a:ext cx="1554480" cy="2743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320040" y="2743200"/>
            <a:ext cx="1371600" cy="53035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2743200"/>
            <a:ext cx="1371600" cy="53035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</a:t>
            </a:r>
            <a:endParaRPr lang="en-US" sz="700" dirty="0"/>
          </a:p>
          <a:p>
            <a:pPr algn="l" indent="0" marL="0">
              <a:buNone/>
            </a:pPr>
            <a:r>
              <a:rPr lang="en-US" sz="7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Discovery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1691640" y="2743200"/>
            <a:ext cx="1828800" cy="53035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691640" y="2743200"/>
            <a:ext cx="1828800" cy="53035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predict which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to pursue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3520440" y="2743200"/>
            <a:ext cx="1371600" cy="53035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520440" y="2743200"/>
            <a:ext cx="1371600" cy="53035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Compugen, Verge,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Landos/NImmune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4892040" y="2743200"/>
            <a:ext cx="2286000" cy="53035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92040" y="2743200"/>
            <a:ext cx="2286000" cy="53035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Rilvegostomig — 57.5% ORR (Phase III, AZ)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Omilancor — Phase I + II successful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But: TIGIT co-discovered by 3 groups (2009)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7178040" y="2743200"/>
            <a:ext cx="1554480" cy="53035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882128" y="2798064"/>
            <a:ext cx="146304" cy="146304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58" name="Text 56"/>
          <p:cNvSpPr/>
          <p:nvPr/>
        </p:nvSpPr>
        <p:spPr>
          <a:xfrm>
            <a:off x="7178040" y="29626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—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differentiated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320040" y="3291840"/>
            <a:ext cx="1371600" cy="53035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0040" y="3291840"/>
            <a:ext cx="1371600" cy="53035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Twins /</a:t>
            </a:r>
            <a:endParaRPr lang="en-US" sz="700" dirty="0"/>
          </a:p>
          <a:p>
            <a:pPr algn="l" indent="0" marL="0">
              <a:buNone/>
            </a:pPr>
            <a:r>
              <a:rPr lang="en-US" sz="7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Silico Trials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1691640" y="3291840"/>
            <a:ext cx="1828800" cy="53035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691640" y="3291840"/>
            <a:ext cx="1828800" cy="53035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clinical trial outcomes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running them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3520440" y="3291840"/>
            <a:ext cx="1371600" cy="53035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520440" y="3291840"/>
            <a:ext cx="1371600" cy="53035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AstraZeneca,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groups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4892040" y="3291840"/>
            <a:ext cx="2286000" cy="53035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92040" y="3291840"/>
            <a:ext cx="2286000" cy="53035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claims $100M/drug savings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credibility framework issued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pivotal trial validated yet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>
            <a:off x="7178040" y="3291840"/>
            <a:ext cx="1554480" cy="53035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882128" y="3346704"/>
            <a:ext cx="146304" cy="146304"/>
          </a:xfrm>
          <a:prstGeom prst="ellipse">
            <a:avLst/>
          </a:prstGeom>
          <a:solidFill>
            <a:srgbClr val="78716C"/>
          </a:solidFill>
          <a:ln/>
        </p:spPr>
      </p:sp>
      <p:sp>
        <p:nvSpPr>
          <p:cNvPr id="69" name="Text 67"/>
          <p:cNvSpPr/>
          <p:nvPr/>
        </p:nvSpPr>
        <p:spPr>
          <a:xfrm>
            <a:off x="7178040" y="35112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(5–25 years)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320040" y="3840480"/>
            <a:ext cx="1371600" cy="53035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20040" y="3840480"/>
            <a:ext cx="1371600" cy="53035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Repurposing /</a:t>
            </a:r>
            <a:endParaRPr lang="en-US" sz="700" dirty="0"/>
          </a:p>
          <a:p>
            <a:pPr algn="l" indent="0" marL="0">
              <a:buNone/>
            </a:pPr>
            <a:r>
              <a:rPr lang="en-US" sz="7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Relabeled Methods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1691640" y="3840480"/>
            <a:ext cx="1828800" cy="53035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691640" y="3840480"/>
            <a:ext cx="1828800" cy="53035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2000s-era computational methods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drug repurposing via AI</a:t>
            </a:r>
            <a:endParaRPr lang="en-US" sz="650" dirty="0"/>
          </a:p>
        </p:txBody>
      </p:sp>
      <p:sp>
        <p:nvSpPr>
          <p:cNvPr id="74" name="Shape 72"/>
          <p:cNvSpPr/>
          <p:nvPr/>
        </p:nvSpPr>
        <p:spPr>
          <a:xfrm>
            <a:off x="3520440" y="3840480"/>
            <a:ext cx="1371600" cy="53035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520440" y="3840480"/>
            <a:ext cx="1371600" cy="53035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BioXcel, BioAge,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Biotech, Healx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4892040" y="3840480"/>
            <a:ext cx="2286000" cy="53035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892040" y="3840480"/>
            <a:ext cx="2286000" cy="53035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BXCL-501 — Phase III success (FDA approved)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BGE-105 — discontinued (liver enzymes)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Bavisant, Sulindac — terminated</a:t>
            </a:r>
            <a:endParaRPr lang="en-US" sz="650" dirty="0"/>
          </a:p>
        </p:txBody>
      </p:sp>
      <p:sp>
        <p:nvSpPr>
          <p:cNvPr id="78" name="Shape 76"/>
          <p:cNvSpPr/>
          <p:nvPr/>
        </p:nvSpPr>
        <p:spPr>
          <a:xfrm>
            <a:off x="7178040" y="3840480"/>
            <a:ext cx="1554480" cy="53035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882128" y="3895344"/>
            <a:ext cx="146304" cy="146304"/>
          </a:xfrm>
          <a:prstGeom prst="ellipse">
            <a:avLst/>
          </a:prstGeom>
          <a:solidFill>
            <a:srgbClr val="78716C"/>
          </a:solidFill>
          <a:ln/>
        </p:spPr>
      </p:sp>
      <p:sp>
        <p:nvSpPr>
          <p:cNvPr id="80" name="Text 78"/>
          <p:cNvSpPr/>
          <p:nvPr/>
        </p:nvSpPr>
        <p:spPr>
          <a:xfrm>
            <a:off x="7178040" y="40599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Case-by-case;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 emptor</a:t>
            </a:r>
            <a:endParaRPr lang="en-US" sz="650" dirty="0"/>
          </a:p>
        </p:txBody>
      </p:sp>
      <p:sp>
        <p:nvSpPr>
          <p:cNvPr id="81" name="Shape 79"/>
          <p:cNvSpPr/>
          <p:nvPr/>
        </p:nvSpPr>
        <p:spPr>
          <a:xfrm>
            <a:off x="320040" y="4462272"/>
            <a:ext cx="8503920" cy="438912"/>
          </a:xfrm>
          <a:prstGeom prst="roundRect">
            <a:avLst>
              <a:gd name="adj" fmla="val 6250"/>
            </a:avLst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57200" y="4462272"/>
            <a:ext cx="8229600" cy="43891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lens: </a:t>
            </a:r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AI method with Phase III clinical validation is physics-based molecular design (Schrödinger/zasocitinib). Generative AI (the narrative driver) is still Phase I/II. When evaluating "AI drug discovery" claims, always ask: </a:t>
            </a:r>
            <a:pPr indent="0" marL="0">
              <a:buNone/>
            </a:pPr>
            <a:r>
              <a:rPr lang="en-US" sz="7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vintage and what method?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Technology Wave Was Supposed to Fix R&amp;D Productivity.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None Did.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89888"/>
            <a:ext cx="822960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1280160"/>
            <a:ext cx="219456" cy="219456"/>
          </a:xfrm>
          <a:prstGeom prst="ellipse">
            <a:avLst/>
          </a:prstGeom>
          <a:solidFill>
            <a:srgbClr val="2B4C7E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94944" y="1280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B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Recombinant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B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02920" y="1691640"/>
            <a:ext cx="822960" cy="50292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508760"/>
            <a:ext cx="0" cy="182880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530352" y="1728216"/>
            <a:ext cx="768096" cy="4297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biologics;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small-mol POS lift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2066544" y="1280160"/>
            <a:ext cx="219456" cy="219456"/>
          </a:xfrm>
          <a:prstGeom prst="ellipse">
            <a:avLst/>
          </a:prstGeom>
          <a:solidFill>
            <a:srgbClr val="2B4C7E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066544" y="1280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28800" y="86868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828800" y="1005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B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Combinatorial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B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874520" y="1691640"/>
            <a:ext cx="822960" cy="50292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1508760"/>
            <a:ext cx="0" cy="182880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1901952" y="1728216"/>
            <a:ext cx="768096" cy="4297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compounds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screened; no POS gain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3438144" y="1280160"/>
            <a:ext cx="219456" cy="219456"/>
          </a:xfrm>
          <a:prstGeom prst="ellipse">
            <a:avLst/>
          </a:prstGeom>
          <a:solidFill>
            <a:srgbClr val="2B4C7E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38144" y="1280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0" y="86868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1990s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200400" y="1005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B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High-Throughput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B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246120" y="1691640"/>
            <a:ext cx="822960" cy="50292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1508760"/>
            <a:ext cx="0" cy="182880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3273552" y="1728216"/>
            <a:ext cx="768096" cy="4297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screening;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~10% of hits to market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4809744" y="1280160"/>
            <a:ext cx="219456" cy="219456"/>
          </a:xfrm>
          <a:prstGeom prst="ellipse">
            <a:avLst/>
          </a:prstGeom>
          <a:solidFill>
            <a:srgbClr val="2B4C7E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09744" y="1280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0" y="86868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572000" y="1005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B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Genomics /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B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Genome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617720" y="1691640"/>
            <a:ext cx="822960" cy="50292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0" y="1508760"/>
            <a:ext cx="0" cy="182880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4645152" y="1728216"/>
            <a:ext cx="768096" cy="4297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targets;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unvalidated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6181344" y="1280160"/>
            <a:ext cx="219456" cy="219456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181344" y="1280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43600" y="86868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2010s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943600" y="1005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5989320" y="1691640"/>
            <a:ext cx="822960" cy="50292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0800" y="1508760"/>
            <a:ext cx="0" cy="182880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6016752" y="1728216"/>
            <a:ext cx="768096" cy="4297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FEP+ validated;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zasocitinib proof point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7534656" y="1261872"/>
            <a:ext cx="256032" cy="256032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534656" y="1261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315200" y="86868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2020s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7315200" y="1005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7360920" y="1691640"/>
            <a:ext cx="822960" cy="50292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0" y="1508760"/>
            <a:ext cx="0" cy="182880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7388352" y="1728216"/>
            <a:ext cx="768096" cy="4297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Compresses timeline;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impact TBD</a:t>
            </a:r>
            <a:endParaRPr lang="en-US" sz="600" dirty="0"/>
          </a:p>
        </p:txBody>
      </p:sp>
      <p:sp>
        <p:nvSpPr>
          <p:cNvPr id="47" name="Shape 45"/>
          <p:cNvSpPr/>
          <p:nvPr/>
        </p:nvSpPr>
        <p:spPr>
          <a:xfrm>
            <a:off x="457200" y="2514600"/>
            <a:ext cx="8229600" cy="960120"/>
          </a:xfrm>
          <a:prstGeom prst="roundRect">
            <a:avLst>
              <a:gd name="adj" fmla="val 3810"/>
            </a:avLst>
          </a:prstGeom>
          <a:solidFill>
            <a:srgbClr val="1A2744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40080" y="25877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Eroom's Law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377440" y="2606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Scannell et al., 2012 — Bernstein Research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40080" y="2807208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drugs approved per $1B R&amp;D spend has fallen ~80x since 1950.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sequencing improved 10</a:t>
            </a:r>
            <a:pPr indent="0" marL="0">
              <a:buNone/>
            </a:pPr>
            <a:r>
              <a:rPr lang="en-US" sz="750" baseline="30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x. X-ray crystallography improved 10</a:t>
            </a:r>
            <a:pPr indent="0" marL="0">
              <a:buNone/>
            </a:pPr>
            <a:r>
              <a:rPr lang="en-US" sz="750" baseline="30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x. None of it bent the productivity curve.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 is predictive validity — preclinical models fail to predict human outcomes. Technology that improves throughput without improving prediction repeats the pattern.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57200" y="3611880"/>
            <a:ext cx="8229600" cy="566928"/>
          </a:xfrm>
          <a:prstGeom prst="roundRect">
            <a:avLst>
              <a:gd name="adj" fmla="val 6452"/>
            </a:avLst>
          </a:prstGeom>
          <a:solidFill>
            <a:srgbClr val="DBEAFE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4360" y="3611880"/>
            <a:ext cx="7955280" cy="56692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Fernald et al. (2024) update:  </a:t>
            </a:r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80,000+ trials (2012–2019). Phase I success: 72%→58%. Phase II: 38%→28%. Phase III: 50%→35%. All declining. Recent FDA approval uptick is transient, not structural. The treadmill moves faster than the runner.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457200" y="4389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Scannell et al., Nat Rev Drug Discov 2012; Fernald et al., Drug Discov Today 2024; Jayatunga et al., Drug Discov Today 2024; Bernstein analysis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Pharma: Framework &amp; Implications</dc:title>
  <dc:subject>PptxGenJS Presentation</dc:subject>
  <dc:creator>Louisa Qiu / Bernstein Research</dc:creator>
  <cp:lastModifiedBy>Louisa Qiu / Bernstein Research</cp:lastModifiedBy>
  <cp:revision>1</cp:revision>
  <dcterms:created xsi:type="dcterms:W3CDTF">2026-04-13T02:35:35Z</dcterms:created>
  <dcterms:modified xsi:type="dcterms:W3CDTF">2026-04-13T02:35:35Z</dcterms:modified>
</cp:coreProperties>
</file>