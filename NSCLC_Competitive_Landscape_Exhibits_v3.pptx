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66" r:id="rId4"/>
    <p:sldId id="267" r:id="rId5"/>
    <p:sldId id="260" r:id="rId6"/>
    <p:sldId id="261" r:id="rId7"/>
    <p:sldId id="263" r:id="rId8"/>
    <p:sldId id="268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32"/>
    <p:restoredTop sz="94610"/>
  </p:normalViewPr>
  <p:slideViewPr>
    <p:cSldViewPr snapToGrid="0" snapToObjects="1">
      <p:cViewPr>
        <p:scale>
          <a:sx n="165" d="100"/>
          <a:sy n="165" d="100"/>
        </p:scale>
        <p:origin x="14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338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1: 1L NSCLC Phase 3 Competitive Landscape — Histology × PD-L1 TPS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37160" y="201168"/>
            <a:ext cx="8869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only | Biosimilars excluded | Source: pipeline database, ClinicalTrials.gov | April 2026</a:t>
            </a:r>
            <a:endParaRPr lang="en-US" sz="500" dirty="0"/>
          </a:p>
        </p:txBody>
      </p:sp>
      <p:sp>
        <p:nvSpPr>
          <p:cNvPr id="4" name="Shape 2"/>
          <p:cNvSpPr/>
          <p:nvPr/>
        </p:nvSpPr>
        <p:spPr>
          <a:xfrm>
            <a:off x="1691640" y="594360"/>
            <a:ext cx="7360920" cy="0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1691640" y="347472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 TPS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(pembro mono)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145280" y="347472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1–49% TPS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(pembro+chemo)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414528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598920" y="347472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(&lt;1%)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(pembro+chemo)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659892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1069848" y="603504"/>
            <a:ext cx="594360" cy="830275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69848" y="603504"/>
            <a:ext cx="594360" cy="830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(~70%)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691640" y="603504"/>
            <a:ext cx="2453640" cy="830275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145280" y="603504"/>
            <a:ext cx="2453640" cy="830275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6598920" y="603504"/>
            <a:ext cx="2453640" cy="830275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1719072" y="630936"/>
            <a:ext cx="730605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1719072" y="63093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durva + chemo  PCD'27 (FR:Jul'26)</a:t>
            </a:r>
            <a:endParaRPr lang="en-US" sz="422" dirty="0"/>
          </a:p>
        </p:txBody>
      </p:sp>
      <p:sp>
        <p:nvSpPr>
          <p:cNvPr id="17" name="Shape 15"/>
          <p:cNvSpPr/>
          <p:nvPr/>
        </p:nvSpPr>
        <p:spPr>
          <a:xfrm>
            <a:off x="1719072" y="708477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1719072" y="70847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  PCD'29 (FR:Dec'29)</a:t>
            </a:r>
            <a:endParaRPr lang="en-US" sz="422" dirty="0"/>
          </a:p>
        </p:txBody>
      </p:sp>
      <p:sp>
        <p:nvSpPr>
          <p:cNvPr id="19" name="Shape 17"/>
          <p:cNvSpPr/>
          <p:nvPr/>
        </p:nvSpPr>
        <p:spPr>
          <a:xfrm>
            <a:off x="1719072" y="786018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719072" y="78601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AMGN: Sotorasib + chemo  PCD'26 (FR:Jun'26)</a:t>
            </a:r>
            <a:endParaRPr lang="en-US" sz="422" dirty="0"/>
          </a:p>
        </p:txBody>
      </p:sp>
      <p:sp>
        <p:nvSpPr>
          <p:cNvPr id="21" name="Shape 19"/>
          <p:cNvSpPr/>
          <p:nvPr/>
        </p:nvSpPr>
        <p:spPr>
          <a:xfrm>
            <a:off x="1719072" y="863559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1719072" y="863559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RHHBY: Divarasib + pembro  PCD'28 (FR:Nov'28)</a:t>
            </a:r>
            <a:endParaRPr lang="en-US" sz="422" dirty="0"/>
          </a:p>
        </p:txBody>
      </p:sp>
      <p:sp>
        <p:nvSpPr>
          <p:cNvPr id="23" name="Shape 21"/>
          <p:cNvSpPr/>
          <p:nvPr/>
        </p:nvSpPr>
        <p:spPr>
          <a:xfrm>
            <a:off x="1719072" y="941100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1719072" y="941100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Livmoniplimab + budi + chemo  PCD'31 (FR:Jun'30)</a:t>
            </a:r>
            <a:endParaRPr lang="en-US" sz="422" dirty="0"/>
          </a:p>
        </p:txBody>
      </p:sp>
      <p:sp>
        <p:nvSpPr>
          <p:cNvPr id="25" name="Shape 23"/>
          <p:cNvSpPr/>
          <p:nvPr/>
        </p:nvSpPr>
        <p:spPr>
          <a:xfrm>
            <a:off x="1719072" y="1018642"/>
            <a:ext cx="485241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1719072" y="1018642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TC≥1% AZN: Rilvegostomig + chemo  PCD'29 (FR:May'29)</a:t>
            </a:r>
            <a:endParaRPr lang="en-US" sz="422" dirty="0"/>
          </a:p>
        </p:txBody>
      </p:sp>
      <p:sp>
        <p:nvSpPr>
          <p:cNvPr id="27" name="Shape 25"/>
          <p:cNvSpPr/>
          <p:nvPr/>
        </p:nvSpPr>
        <p:spPr>
          <a:xfrm>
            <a:off x="1719072" y="1096183"/>
            <a:ext cx="4852416" cy="70226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1719072" y="1096183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TC≥1% BMY: Relatlimab/Nivo FDC + chemo  PCD'30 (FR:Jul'30)</a:t>
            </a:r>
            <a:endParaRPr lang="en-US" sz="422" dirty="0"/>
          </a:p>
        </p:txBody>
      </p:sp>
      <p:sp>
        <p:nvSpPr>
          <p:cNvPr id="29" name="Shape 27"/>
          <p:cNvSpPr/>
          <p:nvPr/>
        </p:nvSpPr>
        <p:spPr>
          <a:xfrm>
            <a:off x="1719072" y="1173724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1719072" y="1173724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  PCD'28 (FR:Oct'26)</a:t>
            </a:r>
            <a:endParaRPr lang="en-US" sz="422" dirty="0"/>
          </a:p>
        </p:txBody>
      </p:sp>
      <p:sp>
        <p:nvSpPr>
          <p:cNvPr id="31" name="Shape 29"/>
          <p:cNvSpPr/>
          <p:nvPr/>
        </p:nvSpPr>
        <p:spPr>
          <a:xfrm>
            <a:off x="4172712" y="1251265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4172712" y="1251265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  PCD'29 (FR:Oct'26)</a:t>
            </a:r>
            <a:endParaRPr lang="en-US" sz="422" dirty="0"/>
          </a:p>
        </p:txBody>
      </p:sp>
      <p:sp>
        <p:nvSpPr>
          <p:cNvPr id="33" name="Shape 31"/>
          <p:cNvSpPr/>
          <p:nvPr/>
        </p:nvSpPr>
        <p:spPr>
          <a:xfrm>
            <a:off x="1719072" y="1328806"/>
            <a:ext cx="239877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1719072" y="1328806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TC≥50% AZN: Rilvegostomig  PCD'29 (FR:Apr'28)</a:t>
            </a:r>
            <a:endParaRPr lang="en-US" sz="422" dirty="0"/>
          </a:p>
        </p:txBody>
      </p:sp>
      <p:sp>
        <p:nvSpPr>
          <p:cNvPr id="35" name="Shape 33"/>
          <p:cNvSpPr/>
          <p:nvPr/>
        </p:nvSpPr>
        <p:spPr>
          <a:xfrm>
            <a:off x="1069848" y="1433779"/>
            <a:ext cx="594360" cy="3001427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1069848" y="1433779"/>
            <a:ext cx="594360" cy="3001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non-sq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sq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691640" y="1433779"/>
            <a:ext cx="2453640" cy="3001427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4145280" y="1433779"/>
            <a:ext cx="2453640" cy="3001427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6598920" y="1433779"/>
            <a:ext cx="2453640" cy="3001427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1719072" y="1461211"/>
            <a:ext cx="7306056" cy="7022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1719072" y="1461211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Henlius: HLX43  (FR:Jan'29)</a:t>
            </a:r>
            <a:endParaRPr lang="en-US" sz="422" dirty="0"/>
          </a:p>
        </p:txBody>
      </p:sp>
      <p:sp>
        <p:nvSpPr>
          <p:cNvPr id="42" name="Shape 40"/>
          <p:cNvSpPr/>
          <p:nvPr/>
        </p:nvSpPr>
        <p:spPr>
          <a:xfrm>
            <a:off x="1719072" y="1538752"/>
            <a:ext cx="7306056" cy="7022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1719072" y="1538752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 (FR:Jun'29)</a:t>
            </a:r>
            <a:endParaRPr lang="en-US" sz="422" dirty="0"/>
          </a:p>
        </p:txBody>
      </p:sp>
      <p:sp>
        <p:nvSpPr>
          <p:cNvPr id="44" name="Shape 42"/>
          <p:cNvSpPr/>
          <p:nvPr/>
        </p:nvSpPr>
        <p:spPr>
          <a:xfrm>
            <a:off x="1719072" y="1616293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1719072" y="1616293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Elironrasib  (FR:Dec'29)</a:t>
            </a:r>
            <a:endParaRPr lang="en-US" sz="422" dirty="0"/>
          </a:p>
        </p:txBody>
      </p:sp>
      <p:sp>
        <p:nvSpPr>
          <p:cNvPr id="46" name="Shape 44"/>
          <p:cNvSpPr/>
          <p:nvPr/>
        </p:nvSpPr>
        <p:spPr>
          <a:xfrm>
            <a:off x="1719072" y="1693835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719072" y="1693835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LLY: Olomorasib + durva  PCD'29 (FR:May'29)</a:t>
            </a:r>
            <a:endParaRPr lang="en-US" sz="422" dirty="0"/>
          </a:p>
        </p:txBody>
      </p:sp>
      <p:sp>
        <p:nvSpPr>
          <p:cNvPr id="48" name="Shape 46"/>
          <p:cNvSpPr/>
          <p:nvPr/>
        </p:nvSpPr>
        <p:spPr>
          <a:xfrm>
            <a:off x="1719072" y="1771376"/>
            <a:ext cx="730605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1719072" y="177137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  PCD'29 (FR:Sep'29)</a:t>
            </a:r>
            <a:endParaRPr lang="en-US" sz="422" dirty="0"/>
          </a:p>
        </p:txBody>
      </p:sp>
      <p:sp>
        <p:nvSpPr>
          <p:cNvPr id="50" name="Shape 48"/>
          <p:cNvSpPr/>
          <p:nvPr/>
        </p:nvSpPr>
        <p:spPr>
          <a:xfrm>
            <a:off x="1719072" y="1848917"/>
            <a:ext cx="7306056" cy="70226"/>
          </a:xfrm>
          <a:prstGeom prst="rect">
            <a:avLst/>
          </a:prstGeom>
          <a:solidFill>
            <a:srgbClr val="4B008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1719072" y="184891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RVMD: Zoldonrasib  (FR:Mar'29)</a:t>
            </a:r>
            <a:endParaRPr lang="en-US" sz="422" dirty="0"/>
          </a:p>
        </p:txBody>
      </p:sp>
      <p:sp>
        <p:nvSpPr>
          <p:cNvPr id="52" name="Shape 50"/>
          <p:cNvSpPr/>
          <p:nvPr/>
        </p:nvSpPr>
        <p:spPr>
          <a:xfrm>
            <a:off x="1719072" y="1926458"/>
            <a:ext cx="7306056" cy="7022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1719072" y="192645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Daraxonrasib + pembro + chemo  (FR:Sep'29)</a:t>
            </a:r>
            <a:endParaRPr lang="en-US" sz="422" dirty="0"/>
          </a:p>
        </p:txBody>
      </p:sp>
      <p:sp>
        <p:nvSpPr>
          <p:cNvPr id="54" name="Shape 52"/>
          <p:cNvSpPr/>
          <p:nvPr/>
        </p:nvSpPr>
        <p:spPr>
          <a:xfrm>
            <a:off x="1719072" y="2003999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1719072" y="2003999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CStone: CS2009  (FR:Dec'29)</a:t>
            </a:r>
            <a:endParaRPr lang="en-US" sz="422" dirty="0"/>
          </a:p>
        </p:txBody>
      </p:sp>
      <p:sp>
        <p:nvSpPr>
          <p:cNvPr id="56" name="Shape 54"/>
          <p:cNvSpPr/>
          <p:nvPr/>
        </p:nvSpPr>
        <p:spPr>
          <a:xfrm>
            <a:off x="1719072" y="2081540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1719072" y="2081540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PF-08634404  PCD'29 (FR:Feb'29)</a:t>
            </a:r>
            <a:endParaRPr lang="en-US" sz="422" dirty="0"/>
          </a:p>
        </p:txBody>
      </p:sp>
      <p:sp>
        <p:nvSpPr>
          <p:cNvPr id="58" name="Shape 56"/>
          <p:cNvSpPr/>
          <p:nvPr/>
        </p:nvSpPr>
        <p:spPr>
          <a:xfrm>
            <a:off x="1719072" y="2159081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1719072" y="2159081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 + chemo  PCD'29 (FR:Feb'29)</a:t>
            </a:r>
            <a:endParaRPr lang="en-US" sz="422" dirty="0"/>
          </a:p>
        </p:txBody>
      </p:sp>
      <p:sp>
        <p:nvSpPr>
          <p:cNvPr id="60" name="Shape 58"/>
          <p:cNvSpPr/>
          <p:nvPr/>
        </p:nvSpPr>
        <p:spPr>
          <a:xfrm>
            <a:off x="1719072" y="2236622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1719072" y="2236622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  PCD'28 (FR:May'26)</a:t>
            </a:r>
            <a:endParaRPr lang="en-US" sz="422" dirty="0"/>
          </a:p>
        </p:txBody>
      </p:sp>
      <p:sp>
        <p:nvSpPr>
          <p:cNvPr id="62" name="Shape 60"/>
          <p:cNvSpPr/>
          <p:nvPr/>
        </p:nvSpPr>
        <p:spPr>
          <a:xfrm>
            <a:off x="1719072" y="2314164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1719072" y="2314164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  PCD'31 (FR:Oct'31)</a:t>
            </a:r>
            <a:endParaRPr lang="en-US" sz="422" dirty="0"/>
          </a:p>
        </p:txBody>
      </p:sp>
      <p:sp>
        <p:nvSpPr>
          <p:cNvPr id="64" name="Shape 62"/>
          <p:cNvSpPr/>
          <p:nvPr/>
        </p:nvSpPr>
        <p:spPr>
          <a:xfrm>
            <a:off x="1719072" y="2391705"/>
            <a:ext cx="730605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1719072" y="2391705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BMY/BNTX: Pumitamig  PCD'30 (FR:Sep'30)</a:t>
            </a:r>
            <a:endParaRPr lang="en-US" sz="422" dirty="0"/>
          </a:p>
        </p:txBody>
      </p:sp>
      <p:sp>
        <p:nvSpPr>
          <p:cNvPr id="66" name="Shape 64"/>
          <p:cNvSpPr/>
          <p:nvPr/>
        </p:nvSpPr>
        <p:spPr>
          <a:xfrm>
            <a:off x="1719072" y="2469246"/>
            <a:ext cx="730605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1719072" y="246924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Domvanalimab + zimb + chemo  PCD'28 (FR:Jun'27)</a:t>
            </a:r>
            <a:endParaRPr lang="en-US" sz="422" dirty="0"/>
          </a:p>
        </p:txBody>
      </p:sp>
      <p:sp>
        <p:nvSpPr>
          <p:cNvPr id="68" name="Shape 66"/>
          <p:cNvSpPr/>
          <p:nvPr/>
        </p:nvSpPr>
        <p:spPr>
          <a:xfrm>
            <a:off x="1719072" y="2546787"/>
            <a:ext cx="7306056" cy="70226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1719072" y="254678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 + chemo  PCD'30 (FR:Feb'29)</a:t>
            </a:r>
            <a:endParaRPr lang="en-US" sz="422" dirty="0"/>
          </a:p>
        </p:txBody>
      </p:sp>
      <p:sp>
        <p:nvSpPr>
          <p:cNvPr id="70" name="Shape 68"/>
          <p:cNvSpPr/>
          <p:nvPr/>
        </p:nvSpPr>
        <p:spPr>
          <a:xfrm>
            <a:off x="1719072" y="2624328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1719072" y="262432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Navlimetostat + pembro + chemo  PCD'31 (FR:Aug'31)</a:t>
            </a:r>
            <a:endParaRPr lang="en-US" sz="422" dirty="0"/>
          </a:p>
        </p:txBody>
      </p:sp>
      <p:sp>
        <p:nvSpPr>
          <p:cNvPr id="72" name="Shape 70"/>
          <p:cNvSpPr/>
          <p:nvPr/>
        </p:nvSpPr>
        <p:spPr>
          <a:xfrm>
            <a:off x="1719072" y="2701869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1719072" y="2701869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IBRX: Nogapendekin alfa + pembro + nivo  (FR:Jan'29)</a:t>
            </a:r>
            <a:endParaRPr lang="en-US" sz="422" dirty="0"/>
          </a:p>
        </p:txBody>
      </p:sp>
      <p:sp>
        <p:nvSpPr>
          <p:cNvPr id="74" name="Shape 72"/>
          <p:cNvSpPr/>
          <p:nvPr/>
        </p:nvSpPr>
        <p:spPr>
          <a:xfrm>
            <a:off x="1719072" y="2779410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5" name="Text 73"/>
          <p:cNvSpPr/>
          <p:nvPr/>
        </p:nvSpPr>
        <p:spPr>
          <a:xfrm>
            <a:off x="1719072" y="2779410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INCY: Retifanlimab + chemo  PCD'23 (FR:Jul'24)</a:t>
            </a:r>
            <a:endParaRPr lang="en-US" sz="422" dirty="0"/>
          </a:p>
        </p:txBody>
      </p:sp>
      <p:sp>
        <p:nvSpPr>
          <p:cNvPr id="76" name="Shape 74"/>
          <p:cNvSpPr/>
          <p:nvPr/>
        </p:nvSpPr>
        <p:spPr>
          <a:xfrm>
            <a:off x="1719072" y="2856951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1719072" y="2856951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Monalizumab + durva  PCD'26 (FR:Jul'26)</a:t>
            </a:r>
            <a:endParaRPr lang="en-US" sz="422" dirty="0"/>
          </a:p>
        </p:txBody>
      </p:sp>
      <p:sp>
        <p:nvSpPr>
          <p:cNvPr id="78" name="Shape 76"/>
          <p:cNvSpPr/>
          <p:nvPr/>
        </p:nvSpPr>
        <p:spPr>
          <a:xfrm>
            <a:off x="1719072" y="2934492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9" name="Text 77"/>
          <p:cNvSpPr/>
          <p:nvPr/>
        </p:nvSpPr>
        <p:spPr>
          <a:xfrm>
            <a:off x="1719072" y="2934492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Olaparib + pembro  PCD'26 (FR:Jul'26)</a:t>
            </a:r>
            <a:endParaRPr lang="en-US" sz="422" dirty="0"/>
          </a:p>
        </p:txBody>
      </p:sp>
      <p:sp>
        <p:nvSpPr>
          <p:cNvPr id="80" name="Shape 78"/>
          <p:cNvSpPr/>
          <p:nvPr/>
        </p:nvSpPr>
        <p:spPr>
          <a:xfrm>
            <a:off x="1719072" y="3012034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1" name="Text 79"/>
          <p:cNvSpPr/>
          <p:nvPr/>
        </p:nvSpPr>
        <p:spPr>
          <a:xfrm>
            <a:off x="1719072" y="3012034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Oleclumab + durva  PCD'26 (FR:Jul'26)</a:t>
            </a:r>
            <a:endParaRPr lang="en-US" sz="422" dirty="0"/>
          </a:p>
        </p:txBody>
      </p:sp>
      <p:sp>
        <p:nvSpPr>
          <p:cNvPr id="82" name="Shape 80"/>
          <p:cNvSpPr/>
          <p:nvPr/>
        </p:nvSpPr>
        <p:spPr>
          <a:xfrm>
            <a:off x="1719072" y="3089575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1719072" y="3089575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  (FR:Jun'29)</a:t>
            </a:r>
            <a:endParaRPr lang="en-US" sz="422" dirty="0"/>
          </a:p>
        </p:txBody>
      </p:sp>
      <p:sp>
        <p:nvSpPr>
          <p:cNvPr id="84" name="Shape 82"/>
          <p:cNvSpPr/>
          <p:nvPr/>
        </p:nvSpPr>
        <p:spPr>
          <a:xfrm>
            <a:off x="1719072" y="3167116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5" name="Text 83"/>
          <p:cNvSpPr/>
          <p:nvPr/>
        </p:nvSpPr>
        <p:spPr>
          <a:xfrm>
            <a:off x="1719072" y="3167116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  (FR:Jun'29)</a:t>
            </a:r>
            <a:endParaRPr lang="en-US" sz="422" dirty="0"/>
          </a:p>
        </p:txBody>
      </p:sp>
      <p:sp>
        <p:nvSpPr>
          <p:cNvPr id="86" name="Shape 84"/>
          <p:cNvSpPr/>
          <p:nvPr/>
        </p:nvSpPr>
        <p:spPr>
          <a:xfrm>
            <a:off x="1719072" y="3244657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1719072" y="3244657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IOVA: Lifileucel + pembro  (FR:Jun'29)</a:t>
            </a:r>
            <a:endParaRPr lang="en-US" sz="422" dirty="0"/>
          </a:p>
        </p:txBody>
      </p:sp>
      <p:sp>
        <p:nvSpPr>
          <p:cNvPr id="88" name="Shape 86"/>
          <p:cNvSpPr/>
          <p:nvPr/>
        </p:nvSpPr>
        <p:spPr>
          <a:xfrm>
            <a:off x="1719072" y="3322198"/>
            <a:ext cx="730605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1719072" y="3322198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NVCR: TTFields + pembro  PCD'28 (FR:Oct'28)</a:t>
            </a:r>
            <a:endParaRPr lang="en-US" sz="422" dirty="0"/>
          </a:p>
        </p:txBody>
      </p:sp>
      <p:sp>
        <p:nvSpPr>
          <p:cNvPr id="90" name="Shape 88"/>
          <p:cNvSpPr/>
          <p:nvPr/>
        </p:nvSpPr>
        <p:spPr>
          <a:xfrm>
            <a:off x="1719072" y="3399739"/>
            <a:ext cx="485241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1" name="Text 89"/>
          <p:cNvSpPr/>
          <p:nvPr/>
        </p:nvSpPr>
        <p:spPr>
          <a:xfrm>
            <a:off x="1719072" y="3399739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TC≥1% GILD: Domvanalimab + durva  PCD'28 (FR:Jun'28)</a:t>
            </a:r>
            <a:endParaRPr lang="en-US" sz="422" dirty="0"/>
          </a:p>
        </p:txBody>
      </p:sp>
      <p:sp>
        <p:nvSpPr>
          <p:cNvPr id="92" name="Shape 90"/>
          <p:cNvSpPr/>
          <p:nvPr/>
        </p:nvSpPr>
        <p:spPr>
          <a:xfrm>
            <a:off x="1719072" y="3477280"/>
            <a:ext cx="485241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3" name="Text 91"/>
          <p:cNvSpPr/>
          <p:nvPr/>
        </p:nvSpPr>
        <p:spPr>
          <a:xfrm>
            <a:off x="1719072" y="3477280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IBRX: Nogapendekin alfa + pembro  PCD'26 (FR:Oct'26)</a:t>
            </a:r>
            <a:endParaRPr lang="en-US" sz="422" dirty="0"/>
          </a:p>
        </p:txBody>
      </p:sp>
      <p:sp>
        <p:nvSpPr>
          <p:cNvPr id="94" name="Shape 92"/>
          <p:cNvSpPr/>
          <p:nvPr/>
        </p:nvSpPr>
        <p:spPr>
          <a:xfrm>
            <a:off x="1719072" y="3554821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5" name="Text 93"/>
          <p:cNvSpPr/>
          <p:nvPr/>
        </p:nvSpPr>
        <p:spPr>
          <a:xfrm>
            <a:off x="1719072" y="3554821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Sac-gov + pembro  PCD'27 (FR:Dec'26)</a:t>
            </a:r>
            <a:endParaRPr lang="en-US" sz="422" dirty="0"/>
          </a:p>
        </p:txBody>
      </p:sp>
      <p:sp>
        <p:nvSpPr>
          <p:cNvPr id="96" name="Shape 94"/>
          <p:cNvSpPr/>
          <p:nvPr/>
        </p:nvSpPr>
        <p:spPr>
          <a:xfrm>
            <a:off x="1719072" y="3632363"/>
            <a:ext cx="239877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7" name="Text 95"/>
          <p:cNvSpPr/>
          <p:nvPr/>
        </p:nvSpPr>
        <p:spPr>
          <a:xfrm>
            <a:off x="1719072" y="3632363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  PCD'28 (FR:Jan'28)</a:t>
            </a:r>
            <a:endParaRPr lang="en-US" sz="422" dirty="0"/>
          </a:p>
        </p:txBody>
      </p:sp>
      <p:sp>
        <p:nvSpPr>
          <p:cNvPr id="98" name="Shape 96"/>
          <p:cNvSpPr/>
          <p:nvPr/>
        </p:nvSpPr>
        <p:spPr>
          <a:xfrm>
            <a:off x="1719072" y="3709904"/>
            <a:ext cx="2398776" cy="7022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9" name="Text 97"/>
          <p:cNvSpPr/>
          <p:nvPr/>
        </p:nvSpPr>
        <p:spPr>
          <a:xfrm>
            <a:off x="1719072" y="3709904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+ pembro  PCD'28 (FR:Dec'27)</a:t>
            </a:r>
            <a:endParaRPr lang="en-US" sz="422" dirty="0"/>
          </a:p>
        </p:txBody>
      </p:sp>
      <p:sp>
        <p:nvSpPr>
          <p:cNvPr id="100" name="Shape 98"/>
          <p:cNvSpPr/>
          <p:nvPr/>
        </p:nvSpPr>
        <p:spPr>
          <a:xfrm>
            <a:off x="1719072" y="3787445"/>
            <a:ext cx="239877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1" name="Text 99"/>
          <p:cNvSpPr/>
          <p:nvPr/>
        </p:nvSpPr>
        <p:spPr>
          <a:xfrm>
            <a:off x="1719072" y="3787445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  PCD'29 (FR:Feb'28)</a:t>
            </a:r>
            <a:endParaRPr lang="en-US" sz="422" dirty="0"/>
          </a:p>
        </p:txBody>
      </p:sp>
      <p:sp>
        <p:nvSpPr>
          <p:cNvPr id="102" name="Shape 100"/>
          <p:cNvSpPr/>
          <p:nvPr/>
        </p:nvSpPr>
        <p:spPr>
          <a:xfrm>
            <a:off x="1719072" y="3864986"/>
            <a:ext cx="239877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3" name="Text 101"/>
          <p:cNvSpPr/>
          <p:nvPr/>
        </p:nvSpPr>
        <p:spPr>
          <a:xfrm>
            <a:off x="1719072" y="3864986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  PCD'28 (FR:Jan'28)</a:t>
            </a:r>
            <a:endParaRPr lang="en-US" sz="422" dirty="0"/>
          </a:p>
        </p:txBody>
      </p:sp>
      <p:sp>
        <p:nvSpPr>
          <p:cNvPr id="104" name="Shape 102"/>
          <p:cNvSpPr/>
          <p:nvPr/>
        </p:nvSpPr>
        <p:spPr>
          <a:xfrm>
            <a:off x="4172712" y="3942527"/>
            <a:ext cx="239877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5" name="Text 103"/>
          <p:cNvSpPr/>
          <p:nvPr/>
        </p:nvSpPr>
        <p:spPr>
          <a:xfrm>
            <a:off x="4172712" y="3942527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  (FR:Jul'29)</a:t>
            </a:r>
            <a:endParaRPr lang="en-US" sz="422" dirty="0"/>
          </a:p>
        </p:txBody>
      </p:sp>
      <p:sp>
        <p:nvSpPr>
          <p:cNvPr id="106" name="Shape 104"/>
          <p:cNvSpPr/>
          <p:nvPr/>
        </p:nvSpPr>
        <p:spPr>
          <a:xfrm>
            <a:off x="1719072" y="4020068"/>
            <a:ext cx="2398776" cy="7022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7" name="Text 105"/>
          <p:cNvSpPr/>
          <p:nvPr/>
        </p:nvSpPr>
        <p:spPr>
          <a:xfrm>
            <a:off x="1719072" y="4020068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LLY: Olomorasib + pembro + chemo  PCD'27 (FR:Oct'26)</a:t>
            </a:r>
            <a:endParaRPr lang="en-US" sz="422" dirty="0"/>
          </a:p>
        </p:txBody>
      </p:sp>
      <p:sp>
        <p:nvSpPr>
          <p:cNvPr id="108" name="Shape 106"/>
          <p:cNvSpPr/>
          <p:nvPr/>
        </p:nvSpPr>
        <p:spPr>
          <a:xfrm>
            <a:off x="1719072" y="4097609"/>
            <a:ext cx="2398776" cy="7022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9" name="Text 107"/>
          <p:cNvSpPr/>
          <p:nvPr/>
        </p:nvSpPr>
        <p:spPr>
          <a:xfrm>
            <a:off x="1719072" y="4097609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  PCD'28 (FR:Apr'28)</a:t>
            </a:r>
            <a:endParaRPr lang="en-US" sz="422" dirty="0"/>
          </a:p>
        </p:txBody>
      </p:sp>
      <p:sp>
        <p:nvSpPr>
          <p:cNvPr id="110" name="Shape 108"/>
          <p:cNvSpPr/>
          <p:nvPr/>
        </p:nvSpPr>
        <p:spPr>
          <a:xfrm>
            <a:off x="1719072" y="4175150"/>
            <a:ext cx="239877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1" name="Text 109"/>
          <p:cNvSpPr/>
          <p:nvPr/>
        </p:nvSpPr>
        <p:spPr>
          <a:xfrm>
            <a:off x="1719072" y="4175150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TC≥50% AZN: Rilvegostomig  PCD'30 (FR:Jan'30)</a:t>
            </a:r>
            <a:endParaRPr lang="en-US" sz="422" dirty="0"/>
          </a:p>
        </p:txBody>
      </p:sp>
      <p:sp>
        <p:nvSpPr>
          <p:cNvPr id="112" name="Shape 110"/>
          <p:cNvSpPr/>
          <p:nvPr/>
        </p:nvSpPr>
        <p:spPr>
          <a:xfrm>
            <a:off x="1719072" y="4252692"/>
            <a:ext cx="2398776" cy="70226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3" name="Text 111"/>
          <p:cNvSpPr/>
          <p:nvPr/>
        </p:nvSpPr>
        <p:spPr>
          <a:xfrm>
            <a:off x="1719072" y="4252692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  PCD'30 (FR:Feb'29)</a:t>
            </a:r>
            <a:endParaRPr lang="en-US" sz="422" dirty="0"/>
          </a:p>
        </p:txBody>
      </p:sp>
      <p:sp>
        <p:nvSpPr>
          <p:cNvPr id="114" name="Shape 112"/>
          <p:cNvSpPr/>
          <p:nvPr/>
        </p:nvSpPr>
        <p:spPr>
          <a:xfrm>
            <a:off x="4172712" y="4330233"/>
            <a:ext cx="2398776" cy="7022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5" name="Text 113"/>
          <p:cNvSpPr/>
          <p:nvPr/>
        </p:nvSpPr>
        <p:spPr>
          <a:xfrm>
            <a:off x="4172712" y="4330233"/>
            <a:ext cx="239877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Volrustomig + chemo  PCD'28 (FR:Dec'27)</a:t>
            </a:r>
            <a:endParaRPr lang="en-US" sz="422" dirty="0"/>
          </a:p>
        </p:txBody>
      </p:sp>
      <p:sp>
        <p:nvSpPr>
          <p:cNvPr id="116" name="Shape 114"/>
          <p:cNvSpPr/>
          <p:nvPr/>
        </p:nvSpPr>
        <p:spPr>
          <a:xfrm>
            <a:off x="1069848" y="4435206"/>
            <a:ext cx="594360" cy="371686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7" name="Text 115"/>
          <p:cNvSpPr/>
          <p:nvPr/>
        </p:nvSpPr>
        <p:spPr>
          <a:xfrm>
            <a:off x="1069848" y="4284442"/>
            <a:ext cx="594360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(~30%)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1691640" y="4435206"/>
            <a:ext cx="2453640" cy="65532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Shape 117"/>
          <p:cNvSpPr/>
          <p:nvPr/>
        </p:nvSpPr>
        <p:spPr>
          <a:xfrm>
            <a:off x="4145280" y="4435206"/>
            <a:ext cx="2453640" cy="65532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0" name="Shape 118"/>
          <p:cNvSpPr/>
          <p:nvPr/>
        </p:nvSpPr>
        <p:spPr>
          <a:xfrm>
            <a:off x="6598920" y="4435206"/>
            <a:ext cx="2453640" cy="65532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Shape 119"/>
          <p:cNvSpPr/>
          <p:nvPr/>
        </p:nvSpPr>
        <p:spPr>
          <a:xfrm>
            <a:off x="1719072" y="4508500"/>
            <a:ext cx="7306056" cy="7022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2" name="Text 120"/>
          <p:cNvSpPr/>
          <p:nvPr/>
        </p:nvSpPr>
        <p:spPr>
          <a:xfrm>
            <a:off x="1719072" y="4508500"/>
            <a:ext cx="730605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  PCD'29 (FR:Jan'29)</a:t>
            </a:r>
            <a:endParaRPr lang="en-US" sz="422" dirty="0"/>
          </a:p>
        </p:txBody>
      </p:sp>
      <p:sp>
        <p:nvSpPr>
          <p:cNvPr id="123" name="Shape 121"/>
          <p:cNvSpPr/>
          <p:nvPr/>
        </p:nvSpPr>
        <p:spPr>
          <a:xfrm>
            <a:off x="1719072" y="4584700"/>
            <a:ext cx="4852416" cy="70226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4" name="Text 122"/>
          <p:cNvSpPr/>
          <p:nvPr/>
        </p:nvSpPr>
        <p:spPr>
          <a:xfrm>
            <a:off x="1719072" y="4584700"/>
            <a:ext cx="4852416" cy="70226"/>
          </a:xfrm>
          <a:prstGeom prst="rect">
            <a:avLst/>
          </a:prstGeom>
          <a:noFill/>
          <a:ln/>
        </p:spPr>
        <p:txBody>
          <a:bodyPr wrap="square" lIns="1244" tIns="0" rIns="0" bIns="0" rtlCol="0" anchor="ctr"/>
          <a:lstStyle/>
          <a:p>
            <a:pPr marL="0" indent="0" algn="l">
              <a:buNone/>
            </a:pPr>
            <a:r>
              <a:rPr lang="en-US" sz="4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TC≥1% AZN: Rilvegostomig + chemo  PCD'29 (FR:Feb'29)</a:t>
            </a:r>
            <a:endParaRPr lang="en-US" sz="422" dirty="0"/>
          </a:p>
        </p:txBody>
      </p:sp>
      <p:sp>
        <p:nvSpPr>
          <p:cNvPr id="125" name="Shape 123"/>
          <p:cNvSpPr/>
          <p:nvPr/>
        </p:nvSpPr>
        <p:spPr>
          <a:xfrm>
            <a:off x="45720" y="621792"/>
            <a:ext cx="960120" cy="868680"/>
          </a:xfrm>
          <a:prstGeom prst="rect">
            <a:avLst/>
          </a:prstGeom>
          <a:solidFill>
            <a:srgbClr val="F0FAFA"/>
          </a:solidFill>
          <a:ln w="19050">
            <a:solidFill>
              <a:srgbClr val="00B0B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6" name="Text 124"/>
          <p:cNvSpPr/>
          <p:nvPr/>
        </p:nvSpPr>
        <p:spPr>
          <a:xfrm>
            <a:off x="82296" y="649224"/>
            <a:ext cx="8869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Keytruda SoC:
</a:t>
            </a:r>
            <a:r>
              <a:rPr lang="en-US" sz="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≥50%: Pembro mono
• 1-49%: Pembro + chemo
• Neg: Pembro + chemo
• KRAS+/RAS: add targeted
</a:t>
            </a: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~1% HER2-mut → TKI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45720" y="1545336"/>
            <a:ext cx="960120" cy="777240"/>
          </a:xfrm>
          <a:prstGeom prst="rect">
            <a:avLst/>
          </a:prstGeom>
          <a:solidFill>
            <a:srgbClr val="F5F0FF"/>
          </a:solidFill>
          <a:ln w="1905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8" name="Text 126"/>
          <p:cNvSpPr/>
          <p:nvPr/>
        </p:nvSpPr>
        <p:spPr>
          <a:xfrm>
            <a:off x="82296" y="1572768"/>
            <a:ext cx="886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layering = pembro-
supportive:
</a:t>
            </a:r>
            <a:r>
              <a:rPr lang="en-US" sz="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KRAS on TOP of pembro/chemo. Not a displacement risk — a layering opportunity.
</a:t>
            </a: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~13% of adv NSCLC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54244" y="4750308"/>
            <a:ext cx="9144000" cy="406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2" name="Shape 130"/>
          <p:cNvSpPr/>
          <p:nvPr/>
        </p:nvSpPr>
        <p:spPr>
          <a:xfrm>
            <a:off x="139700" y="4775200"/>
            <a:ext cx="114300" cy="88900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3" name="Text 131"/>
          <p:cNvSpPr/>
          <p:nvPr/>
        </p:nvSpPr>
        <p:spPr>
          <a:xfrm>
            <a:off x="279400" y="4775200"/>
            <a:ext cx="6350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550" dirty="0"/>
          </a:p>
        </p:txBody>
      </p:sp>
      <p:sp>
        <p:nvSpPr>
          <p:cNvPr id="134" name="Shape 132"/>
          <p:cNvSpPr/>
          <p:nvPr/>
        </p:nvSpPr>
        <p:spPr>
          <a:xfrm>
            <a:off x="1400628" y="4775200"/>
            <a:ext cx="114300" cy="88900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5" name="Text 133"/>
          <p:cNvSpPr/>
          <p:nvPr/>
        </p:nvSpPr>
        <p:spPr>
          <a:xfrm>
            <a:off x="1540328" y="4775200"/>
            <a:ext cx="609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2636157" y="4775200"/>
            <a:ext cx="114300" cy="88900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7" name="Text 135"/>
          <p:cNvSpPr/>
          <p:nvPr/>
        </p:nvSpPr>
        <p:spPr>
          <a:xfrm>
            <a:off x="2775857" y="4775200"/>
            <a:ext cx="355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</p:txBody>
      </p:sp>
      <p:sp>
        <p:nvSpPr>
          <p:cNvPr id="138" name="Shape 136"/>
          <p:cNvSpPr/>
          <p:nvPr/>
        </p:nvSpPr>
        <p:spPr>
          <a:xfrm>
            <a:off x="3617685" y="4775200"/>
            <a:ext cx="114300" cy="8890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9" name="Text 137"/>
          <p:cNvSpPr/>
          <p:nvPr/>
        </p:nvSpPr>
        <p:spPr>
          <a:xfrm>
            <a:off x="3757385" y="4775200"/>
            <a:ext cx="2794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50" dirty="0"/>
          </a:p>
        </p:txBody>
      </p:sp>
      <p:sp>
        <p:nvSpPr>
          <p:cNvPr id="140" name="Shape 138"/>
          <p:cNvSpPr/>
          <p:nvPr/>
        </p:nvSpPr>
        <p:spPr>
          <a:xfrm>
            <a:off x="4523014" y="4775200"/>
            <a:ext cx="114300" cy="88900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1" name="Text 139"/>
          <p:cNvSpPr/>
          <p:nvPr/>
        </p:nvSpPr>
        <p:spPr>
          <a:xfrm>
            <a:off x="4662714" y="4775200"/>
            <a:ext cx="9144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550" dirty="0"/>
          </a:p>
        </p:txBody>
      </p:sp>
      <p:sp>
        <p:nvSpPr>
          <p:cNvPr id="142" name="Shape 140"/>
          <p:cNvSpPr/>
          <p:nvPr/>
        </p:nvSpPr>
        <p:spPr>
          <a:xfrm>
            <a:off x="6063342" y="4775200"/>
            <a:ext cx="114300" cy="88900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3" name="Text 141"/>
          <p:cNvSpPr/>
          <p:nvPr/>
        </p:nvSpPr>
        <p:spPr>
          <a:xfrm>
            <a:off x="6203042" y="4775200"/>
            <a:ext cx="3810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550" dirty="0"/>
          </a:p>
        </p:txBody>
      </p:sp>
      <p:sp>
        <p:nvSpPr>
          <p:cNvPr id="144" name="Shape 142"/>
          <p:cNvSpPr/>
          <p:nvPr/>
        </p:nvSpPr>
        <p:spPr>
          <a:xfrm>
            <a:off x="7070271" y="4775200"/>
            <a:ext cx="114300" cy="889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5" name="Text 143"/>
          <p:cNvSpPr/>
          <p:nvPr/>
        </p:nvSpPr>
        <p:spPr>
          <a:xfrm>
            <a:off x="7209971" y="4775200"/>
            <a:ext cx="355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550" dirty="0"/>
          </a:p>
        </p:txBody>
      </p:sp>
      <p:sp>
        <p:nvSpPr>
          <p:cNvPr id="146" name="Shape 144"/>
          <p:cNvSpPr/>
          <p:nvPr/>
        </p:nvSpPr>
        <p:spPr>
          <a:xfrm>
            <a:off x="8051800" y="4775200"/>
            <a:ext cx="114300" cy="8890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7" name="Text 145"/>
          <p:cNvSpPr/>
          <p:nvPr/>
        </p:nvSpPr>
        <p:spPr>
          <a:xfrm>
            <a:off x="8191500" y="4775200"/>
            <a:ext cx="8255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550" dirty="0"/>
          </a:p>
        </p:txBody>
      </p:sp>
      <p:sp>
        <p:nvSpPr>
          <p:cNvPr id="148" name="Text 146"/>
          <p:cNvSpPr/>
          <p:nvPr/>
        </p:nvSpPr>
        <p:spPr>
          <a:xfrm>
            <a:off x="137160" y="5041900"/>
            <a:ext cx="4572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Stage III only    ○ Stage not specified</a:t>
            </a:r>
            <a:endParaRPr lang="en-US" sz="500" dirty="0"/>
          </a:p>
        </p:txBody>
      </p:sp>
      <p:sp>
        <p:nvSpPr>
          <p:cNvPr id="149" name="Text 147"/>
          <p:cNvSpPr/>
          <p:nvPr/>
        </p:nvSpPr>
        <p:spPr>
          <a:xfrm>
            <a:off x="137160" y="4965700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| Non-biosimilar | 1L NSCLC | EGFR/ALK/ROS1/NTRK excluded | Source: </a:t>
            </a:r>
            <a:r>
              <a:rPr lang="en-US" sz="45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database, ClinicalTrials.gov | April 2026</a:t>
            </a:r>
            <a:endParaRPr lang="en-US" sz="450" dirty="0"/>
          </a:p>
        </p:txBody>
      </p:sp>
    </p:spTree>
    <p:extLst>
      <p:ext uri="{BB962C8B-B14F-4D97-AF65-F5344CB8AC3E}">
        <p14:creationId xmlns:p14="http://schemas.microsoft.com/office/powerpoint/2010/main" val="96551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2: 1L vs 2L Pipeline Density by Mechanism — Phase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competitive intensity greatest? Which mechanisms threaten Keytruda's different patient segments?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 Phase 3 (50 drugs)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051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05840" y="1069848"/>
            <a:ext cx="2971800" cy="16459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82880" y="1252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05840" y="1271016"/>
            <a:ext cx="2286000" cy="16459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1252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" y="14538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005840" y="1472184"/>
            <a:ext cx="1600200" cy="16459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1005840" y="14538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2880" y="16550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05840" y="1673352"/>
            <a:ext cx="1371600" cy="16459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05840" y="1655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2880" y="1856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05840" y="1874520"/>
            <a:ext cx="1371600" cy="16459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005840" y="1856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2880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05840" y="2075688"/>
            <a:ext cx="685800" cy="16459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1005840" y="20574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82880" y="22585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05840" y="2276856"/>
            <a:ext cx="685800" cy="16459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1005840" y="22585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82880" y="24597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/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RAS/KRAS G12D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05840" y="2478024"/>
            <a:ext cx="457200" cy="16459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005840" y="24597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868680"/>
            <a:ext cx="0" cy="320040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4846320" y="777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 Phase 3 (33 drugs)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1051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669280" y="1069848"/>
            <a:ext cx="2971800" cy="16459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5669280" y="10515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46320" y="1252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669280" y="1271016"/>
            <a:ext cx="1584960" cy="16459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5669280" y="1252728"/>
            <a:ext cx="158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46320" y="14538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669280" y="1472184"/>
            <a:ext cx="792480" cy="16459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5669280" y="1453896"/>
            <a:ext cx="79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46320" y="16550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669280" y="1673352"/>
            <a:ext cx="396240" cy="16459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5669280" y="1655064"/>
            <a:ext cx="39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46320" y="1856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669280" y="1874520"/>
            <a:ext cx="396240" cy="16459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5669280" y="1856232"/>
            <a:ext cx="39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738981" y="2057400"/>
            <a:ext cx="884579" cy="20116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/>
            <a:r>
              <a:rPr lang="en-US" sz="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RAS/KRAS G12D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669280" y="2075688"/>
            <a:ext cx="396240" cy="16459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5669280" y="2057400"/>
            <a:ext cx="39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B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 is an IO-augmentation war — KRAS G12C and TROP2 ADCs dominate non-IO categories. RAS inhibitors (pan-KRAS, G12D) add a new threat vector. 2L is ADC-dominated (TROP2, MET, PD-L1 ADCs). TIGIT and LAG3 are 1L-only bets.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 only, biosimilars excluded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3a: Phase 3 Catalyst Timeline — Major Competitive Threats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bispecifics, KRAS/RAS, and TROP2 ADCs — the key mechanisms to watch.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83464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402336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21208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40080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9516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5895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1645920" y="960120"/>
            <a:ext cx="713232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1943100" y="1033272"/>
            <a:ext cx="0" cy="3840480"/>
          </a:xfrm>
          <a:prstGeom prst="line">
            <a:avLst/>
          </a:prstGeom>
          <a:noFill/>
          <a:ln w="12700">
            <a:solidFill>
              <a:srgbClr val="D32F2F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805940" y="97840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91440" y="1124712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15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Bispecifics — pembro replacement risk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5720" y="125272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1943100" y="1261872"/>
            <a:ext cx="9906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 rot="10800000" flipH="1" flipV="1">
            <a:off x="1870703" y="1268272"/>
            <a:ext cx="739153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latin typeface="Arial" pitchFamily="34" charset="0"/>
                <a:ea typeface="Arial" pitchFamily="34" charset="-122"/>
                <a:cs typeface="Arial" pitchFamily="34" charset="-120"/>
              </a:rPr>
              <a:t>FR:May'26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45720" y="135148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SMMT: Ivonescimab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1943100" y="1360627"/>
            <a:ext cx="23774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1943100" y="1351483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FR:Apr'28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5720" y="145023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PF-08634404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1943100" y="1459382"/>
            <a:ext cx="33680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943100" y="1450238"/>
            <a:ext cx="3368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FR:Feb'29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5720" y="154899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 + chemo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1943100" y="1558138"/>
            <a:ext cx="33680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1943100" y="1548994"/>
            <a:ext cx="3368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FR:Feb'29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5720" y="164774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CStone: CS2009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1943100" y="1656893"/>
            <a:ext cx="43586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1943100" y="1647749"/>
            <a:ext cx="435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FR:Dec'29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5720" y="174650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BMY/BNTX: Pumitamig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1943100" y="1755648"/>
            <a:ext cx="525018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1943100" y="1746504"/>
            <a:ext cx="52501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FR:Sep'30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5720" y="184525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Pumitamig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1943100" y="1854403"/>
            <a:ext cx="653796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1943100" y="1845259"/>
            <a:ext cx="6537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FR:Oct'31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91440" y="1971446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 Inhibitors — pembro-additive (layering on SoC)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5720" y="209946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AMGN: Sotorasib + chemo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1943100" y="2108606"/>
            <a:ext cx="19812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2111392" y="2115212"/>
            <a:ext cx="466925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latin typeface="Arial" pitchFamily="34" charset="0"/>
                <a:ea typeface="Arial" pitchFamily="34" charset="-122"/>
                <a:cs typeface="Arial" pitchFamily="34" charset="-120"/>
              </a:rPr>
              <a:t>FR:Jun'26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5720" y="219821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LLY: Olomorasib + pembro + chemo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943100" y="2207362"/>
            <a:ext cx="5943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1943100" y="219821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FR:Oct'26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45720" y="229697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1943100" y="2306117"/>
            <a:ext cx="20802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1943100" y="2296973"/>
            <a:ext cx="2080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FR:Jan'28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45720" y="239572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1943100" y="2404872"/>
            <a:ext cx="217932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1943100" y="2395728"/>
            <a:ext cx="2179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FR:Feb'28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45720" y="249448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RHHBY: Divarasib + pembro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1943100" y="2503627"/>
            <a:ext cx="30708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1943100" y="2494483"/>
            <a:ext cx="30708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FR:Nov'28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45720" y="259323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LLY: Olomorasib + durva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1943100" y="2602382"/>
            <a:ext cx="366522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1943100" y="2593238"/>
            <a:ext cx="36652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FR:May'29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45720" y="269199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1943100" y="2701138"/>
            <a:ext cx="38633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1943100" y="2691994"/>
            <a:ext cx="38633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FR:Jul'29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45720" y="279074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Adagrasib + pembro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1943100" y="2799893"/>
            <a:ext cx="406146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1943100" y="2790749"/>
            <a:ext cx="40614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FR:Sep'29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45720" y="288950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Calderasib + pembro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1943100" y="2898648"/>
            <a:ext cx="43586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1943100" y="2889504"/>
            <a:ext cx="435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FR:Dec'29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45720" y="2988259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Elironrasib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1943100" y="2997403"/>
            <a:ext cx="43586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2" name="Text 70"/>
          <p:cNvSpPr/>
          <p:nvPr/>
        </p:nvSpPr>
        <p:spPr>
          <a:xfrm>
            <a:off x="1943100" y="2988259"/>
            <a:ext cx="435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FR:Dec'29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91440" y="3114446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 / Other KRAS — pan-RAS, G12D (new threat vector)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5720" y="324246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RVMD: Zoldonrasib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1943100" y="3251606"/>
            <a:ext cx="3467100" cy="7315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1943100" y="3242462"/>
            <a:ext cx="34671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FR:Mar'29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45720" y="334121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RVMD: Daraxonrasib + pembro + chemo</a:t>
            </a:r>
            <a:endParaRPr lang="en-US" sz="500" dirty="0"/>
          </a:p>
        </p:txBody>
      </p:sp>
      <p:sp>
        <p:nvSpPr>
          <p:cNvPr id="78" name="Shape 76"/>
          <p:cNvSpPr/>
          <p:nvPr/>
        </p:nvSpPr>
        <p:spPr>
          <a:xfrm>
            <a:off x="1943100" y="3350362"/>
            <a:ext cx="4061460" cy="7315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9" name="Text 77"/>
          <p:cNvSpPr/>
          <p:nvPr/>
        </p:nvSpPr>
        <p:spPr>
          <a:xfrm>
            <a:off x="1943100" y="3341218"/>
            <a:ext cx="40614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FR:Sep'29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91440" y="3467405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0B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 Combos — chemo backbone displacement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5720" y="359542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durva + chemo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1943100" y="3604565"/>
            <a:ext cx="29718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1943100" y="3595421"/>
            <a:ext cx="2971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FR:Jul'26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45720" y="369417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943100" y="3703320"/>
            <a:ext cx="59436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1943100" y="3694176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FR:Oct'26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45720" y="379293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+ pembro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1943100" y="3802075"/>
            <a:ext cx="59436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1943100" y="3792931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FR:Oct'26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45720" y="389168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Sac-gov + pembro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1943100" y="3900830"/>
            <a:ext cx="79248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1943100" y="3891686"/>
            <a:ext cx="792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FR:Dec'26</a:t>
            </a:r>
            <a:endParaRPr lang="en-US" sz="500" dirty="0"/>
          </a:p>
        </p:txBody>
      </p:sp>
      <p:sp>
        <p:nvSpPr>
          <p:cNvPr id="93" name="Text 91"/>
          <p:cNvSpPr/>
          <p:nvPr/>
        </p:nvSpPr>
        <p:spPr>
          <a:xfrm>
            <a:off x="45720" y="399044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</a:t>
            </a:r>
            <a:endParaRPr lang="en-US" sz="500" dirty="0"/>
          </a:p>
        </p:txBody>
      </p:sp>
      <p:sp>
        <p:nvSpPr>
          <p:cNvPr id="94" name="Shape 92"/>
          <p:cNvSpPr/>
          <p:nvPr/>
        </p:nvSpPr>
        <p:spPr>
          <a:xfrm>
            <a:off x="1943100" y="3999586"/>
            <a:ext cx="208026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5" name="Text 93"/>
          <p:cNvSpPr/>
          <p:nvPr/>
        </p:nvSpPr>
        <p:spPr>
          <a:xfrm>
            <a:off x="1943100" y="3990442"/>
            <a:ext cx="20802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FR:Jan'28</a:t>
            </a:r>
            <a:endParaRPr lang="en-US" sz="500" dirty="0"/>
          </a:p>
        </p:txBody>
      </p:sp>
      <p:sp>
        <p:nvSpPr>
          <p:cNvPr id="96" name="Text 94"/>
          <p:cNvSpPr/>
          <p:nvPr/>
        </p:nvSpPr>
        <p:spPr>
          <a:xfrm>
            <a:off x="45720" y="4089197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+ pembro</a:t>
            </a:r>
            <a:endParaRPr lang="en-US" sz="500" dirty="0"/>
          </a:p>
        </p:txBody>
      </p:sp>
      <p:sp>
        <p:nvSpPr>
          <p:cNvPr id="97" name="Shape 95"/>
          <p:cNvSpPr/>
          <p:nvPr/>
        </p:nvSpPr>
        <p:spPr>
          <a:xfrm>
            <a:off x="1943100" y="4098341"/>
            <a:ext cx="326898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8" name="Text 96"/>
          <p:cNvSpPr/>
          <p:nvPr/>
        </p:nvSpPr>
        <p:spPr>
          <a:xfrm>
            <a:off x="1943100" y="4089197"/>
            <a:ext cx="3268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FR:Jan'29</a:t>
            </a:r>
            <a:endParaRPr lang="en-US" sz="500" dirty="0"/>
          </a:p>
        </p:txBody>
      </p:sp>
      <p:sp>
        <p:nvSpPr>
          <p:cNvPr id="99" name="Text 97"/>
          <p:cNvSpPr/>
          <p:nvPr/>
        </p:nvSpPr>
        <p:spPr>
          <a:xfrm>
            <a:off x="137160" y="4983480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= Stage III only   ○ = Stage not specified | Source: </a:t>
            </a:r>
            <a:r>
              <a:rPr lang="en-US" sz="45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database, ClinicalTrials.gov | Phase 3, 1L NSCLC | April 2026</a:t>
            </a:r>
            <a:endParaRPr lang="en-US" sz="450" dirty="0"/>
          </a:p>
        </p:txBody>
      </p:sp>
    </p:spTree>
    <p:extLst>
      <p:ext uri="{BB962C8B-B14F-4D97-AF65-F5344CB8AC3E}">
        <p14:creationId xmlns:p14="http://schemas.microsoft.com/office/powerpoint/2010/main" val="67481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3b: Phase 3 Catalyst Timeline — Emerging Mechanisms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TIGIT, ADC novel targets, and IO/novel mechanisms — mid-term competitive dynamics.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83464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402336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21208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40080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9516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589520" y="777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0" cy="54864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1645920" y="960120"/>
            <a:ext cx="713232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1943100" y="1243584"/>
            <a:ext cx="0" cy="3630168"/>
          </a:xfrm>
          <a:prstGeom prst="line">
            <a:avLst/>
          </a:prstGeom>
          <a:noFill/>
          <a:ln w="12700">
            <a:solidFill>
              <a:srgbClr val="D32F2F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805940" y="97840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91440" y="1124712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795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ADCs — novel targets (Integrin, c-MET, PD-L1)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5720" y="125272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+ pembro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1943100" y="1261872"/>
            <a:ext cx="198120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1943100" y="1252728"/>
            <a:ext cx="1981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FR:Dec'27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45720" y="1351483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Henlius: HLX43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1943100" y="1360627"/>
            <a:ext cx="326898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1943100" y="1351483"/>
            <a:ext cx="3268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FR:Jan'29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5720" y="145023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1943100" y="1459382"/>
            <a:ext cx="376428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943100" y="1450238"/>
            <a:ext cx="3764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91440" y="1576426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0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 Combinations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5720" y="170444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GILD: Domvanalimab + zimb + chemo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1943100" y="1713586"/>
            <a:ext cx="138684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1943100" y="1704442"/>
            <a:ext cx="1386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FR:Jun'27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45720" y="1803197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1943100" y="1812341"/>
            <a:ext cx="237744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1943100" y="1803197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FR:Apr'28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5720" y="190195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GILD: Domvanalimab + durva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1943100" y="1911096"/>
            <a:ext cx="257556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1943100" y="1901952"/>
            <a:ext cx="2575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FR:Jun'28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45720" y="2000707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1943100" y="2009851"/>
            <a:ext cx="336804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1943100" y="2000707"/>
            <a:ext cx="3368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FR:Feb'29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45720" y="209946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 + chemo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1943100" y="2108606"/>
            <a:ext cx="366522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1943100" y="2099462"/>
            <a:ext cx="36652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FR:May'29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45720" y="2198218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Rilvegostomig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943100" y="2207362"/>
            <a:ext cx="4457700" cy="73152"/>
          </a:xfrm>
          <a:prstGeom prst="rect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1943100" y="2198218"/>
            <a:ext cx="44577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FR:Jan'30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91440" y="2324405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 Combinations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5720" y="245242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 + chemo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1943100" y="2461565"/>
            <a:ext cx="3368040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1943100" y="2452421"/>
            <a:ext cx="3368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FR:Feb'29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45720" y="255117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REGN: Fianlimab + cemi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1943100" y="2560320"/>
            <a:ext cx="3368040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1943100" y="2551176"/>
            <a:ext cx="3368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FR:Feb'29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45720" y="264993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Relatlimab/Nivo FDC + chemo</a:t>
            </a:r>
            <a:endParaRPr lang="en-US" sz="500" dirty="0"/>
          </a:p>
        </p:txBody>
      </p:sp>
      <p:sp>
        <p:nvSpPr>
          <p:cNvPr id="57" name="Shape 55"/>
          <p:cNvSpPr/>
          <p:nvPr/>
        </p:nvSpPr>
        <p:spPr>
          <a:xfrm>
            <a:off x="1943100" y="2659075"/>
            <a:ext cx="5052060" cy="731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1943100" y="2649931"/>
            <a:ext cx="50520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FR:Jul'30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91440" y="2776118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 / Novel Mechanisms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5720" y="2904134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Monalizumab + durva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1943100" y="2913278"/>
            <a:ext cx="2971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1943100" y="2904134"/>
            <a:ext cx="2971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FR:Jul'26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45720" y="300289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Olaparib + pembro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1943100" y="3012034"/>
            <a:ext cx="2971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1943100" y="3002890"/>
            <a:ext cx="2971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FR:Jul'26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45720" y="3101645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AZN: Oleclumab + durva</a:t>
            </a:r>
            <a:endParaRPr lang="en-US" sz="500" dirty="0"/>
          </a:p>
        </p:txBody>
      </p:sp>
      <p:sp>
        <p:nvSpPr>
          <p:cNvPr id="67" name="Shape 65"/>
          <p:cNvSpPr/>
          <p:nvPr/>
        </p:nvSpPr>
        <p:spPr>
          <a:xfrm>
            <a:off x="1943100" y="3110789"/>
            <a:ext cx="2971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1943100" y="3101645"/>
            <a:ext cx="2971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FR:Jul'26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45720" y="320040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IBRX: Nogapendekin alfa + pembro</a:t>
            </a:r>
            <a:endParaRPr lang="en-US" sz="500" dirty="0"/>
          </a:p>
        </p:txBody>
      </p:sp>
      <p:sp>
        <p:nvSpPr>
          <p:cNvPr id="70" name="Shape 68"/>
          <p:cNvSpPr/>
          <p:nvPr/>
        </p:nvSpPr>
        <p:spPr>
          <a:xfrm>
            <a:off x="1943100" y="3209544"/>
            <a:ext cx="59436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1943100" y="3200400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FR:Oct'26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45720" y="3299155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AZN: Volrustomig + chemo</a:t>
            </a:r>
            <a:endParaRPr lang="en-US" sz="500" dirty="0"/>
          </a:p>
        </p:txBody>
      </p:sp>
      <p:sp>
        <p:nvSpPr>
          <p:cNvPr id="73" name="Shape 71"/>
          <p:cNvSpPr/>
          <p:nvPr/>
        </p:nvSpPr>
        <p:spPr>
          <a:xfrm>
            <a:off x="1943100" y="3308299"/>
            <a:ext cx="198120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1943100" y="3299155"/>
            <a:ext cx="1981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FR:Dec'27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45720" y="3397910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NVCR: TTFields + pembro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1943100" y="3407054"/>
            <a:ext cx="297180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1943100" y="3397910"/>
            <a:ext cx="2971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FR:Oct'28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45720" y="349666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IBRX: Nogapendekin alfa + pembro + nivo</a:t>
            </a:r>
            <a:endParaRPr lang="en-US" sz="500" dirty="0"/>
          </a:p>
        </p:txBody>
      </p:sp>
      <p:sp>
        <p:nvSpPr>
          <p:cNvPr id="79" name="Shape 77"/>
          <p:cNvSpPr/>
          <p:nvPr/>
        </p:nvSpPr>
        <p:spPr>
          <a:xfrm>
            <a:off x="1943100" y="3505810"/>
            <a:ext cx="32689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0" name="Text 78"/>
          <p:cNvSpPr/>
          <p:nvPr/>
        </p:nvSpPr>
        <p:spPr>
          <a:xfrm>
            <a:off x="1943100" y="3496666"/>
            <a:ext cx="32689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FR:Jan'29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45720" y="359542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</a:t>
            </a:r>
            <a:endParaRPr lang="en-US" sz="500" dirty="0"/>
          </a:p>
        </p:txBody>
      </p:sp>
      <p:sp>
        <p:nvSpPr>
          <p:cNvPr id="82" name="Shape 80"/>
          <p:cNvSpPr/>
          <p:nvPr/>
        </p:nvSpPr>
        <p:spPr>
          <a:xfrm>
            <a:off x="1943100" y="3604565"/>
            <a:ext cx="37642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1943100" y="3595421"/>
            <a:ext cx="3764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45720" y="369417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943100" y="3703320"/>
            <a:ext cx="37642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1943100" y="3694176"/>
            <a:ext cx="3764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45720" y="3792931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IOVA: Lifileucel + pembro</a:t>
            </a:r>
            <a:endParaRPr lang="en-US" sz="500" dirty="0"/>
          </a:p>
        </p:txBody>
      </p:sp>
      <p:sp>
        <p:nvSpPr>
          <p:cNvPr id="88" name="Shape 86"/>
          <p:cNvSpPr/>
          <p:nvPr/>
        </p:nvSpPr>
        <p:spPr>
          <a:xfrm>
            <a:off x="1943100" y="3802075"/>
            <a:ext cx="376428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9" name="Text 87"/>
          <p:cNvSpPr/>
          <p:nvPr/>
        </p:nvSpPr>
        <p:spPr>
          <a:xfrm>
            <a:off x="1943100" y="3792931"/>
            <a:ext cx="3764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FR:Jun'29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45720" y="389168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Livmoniplimab + budi + chemo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1943100" y="3900830"/>
            <a:ext cx="495300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1943100" y="3891686"/>
            <a:ext cx="495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FR:Jun'30</a:t>
            </a:r>
            <a:endParaRPr lang="en-US" sz="500" dirty="0"/>
          </a:p>
        </p:txBody>
      </p:sp>
      <p:sp>
        <p:nvSpPr>
          <p:cNvPr id="93" name="Text 91"/>
          <p:cNvSpPr/>
          <p:nvPr/>
        </p:nvSpPr>
        <p:spPr>
          <a:xfrm>
            <a:off x="45720" y="399044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marL="0" indent="0" algn="r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BMY: Navlimetostat + pembro + chemo</a:t>
            </a:r>
            <a:endParaRPr lang="en-US" sz="500" dirty="0"/>
          </a:p>
        </p:txBody>
      </p:sp>
      <p:sp>
        <p:nvSpPr>
          <p:cNvPr id="94" name="Shape 92"/>
          <p:cNvSpPr/>
          <p:nvPr/>
        </p:nvSpPr>
        <p:spPr>
          <a:xfrm>
            <a:off x="1943100" y="3999586"/>
            <a:ext cx="633984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5" name="Text 93"/>
          <p:cNvSpPr/>
          <p:nvPr/>
        </p:nvSpPr>
        <p:spPr>
          <a:xfrm>
            <a:off x="1943100" y="3990442"/>
            <a:ext cx="6339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FR:Aug'31</a:t>
            </a:r>
            <a:endParaRPr lang="en-US" sz="500" dirty="0"/>
          </a:p>
        </p:txBody>
      </p:sp>
      <p:sp>
        <p:nvSpPr>
          <p:cNvPr id="96" name="Text 94"/>
          <p:cNvSpPr/>
          <p:nvPr/>
        </p:nvSpPr>
        <p:spPr>
          <a:xfrm>
            <a:off x="137160" y="4983480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= Stage III only   ○ = Stage not specified | Source: </a:t>
            </a:r>
            <a:r>
              <a:rPr lang="en-US" sz="45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4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database, ClinicalTrials.gov | Phase 3, 1L NSCLC | April 2026</a:t>
            </a:r>
            <a:endParaRPr lang="en-US" sz="450" dirty="0"/>
          </a:p>
        </p:txBody>
      </p:sp>
    </p:spTree>
    <p:extLst>
      <p:ext uri="{BB962C8B-B14F-4D97-AF65-F5344CB8AC3E}">
        <p14:creationId xmlns:p14="http://schemas.microsoft.com/office/powerpoint/2010/main" val="2303994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4: Biosimilar Threat Tracker — Keytruda Revenue Erosion Timeline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Keytruda lose exclusivity? How many biosimilars are coming? Bevacizumab erosion as a template.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46304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Originator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20240" y="777240"/>
            <a:ext cx="146304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920240" y="777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Biosimilar Sponsor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777240"/>
            <a:ext cx="91440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3383280" y="777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Stage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0" y="777240"/>
            <a:ext cx="91440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4297680" y="777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12080" y="777240"/>
            <a:ext cx="1097280" cy="228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5212080" y="777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Threat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005840"/>
            <a:ext cx="1463040" cy="804672"/>
          </a:xfrm>
          <a:prstGeom prst="rect">
            <a:avLst/>
          </a:prstGeom>
          <a:solidFill>
            <a:srgbClr val="FFEBEE"/>
          </a:solidFill>
          <a:ln w="254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02920" y="1005840"/>
            <a:ext cx="1371600" cy="804672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Pembrolizumab
</a:t>
            </a: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 — $25B+ rev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1005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Bioepis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005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7680" y="1005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0" y="1069848"/>
            <a:ext cx="822960" cy="7315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920240" y="1207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mAbxience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1207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1271016"/>
            <a:ext cx="822960" cy="7315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1920240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Celltrion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0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0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03520" y="1472184"/>
            <a:ext cx="685800" cy="7315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92024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Amgen (AMGN)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83280" y="1609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97680" y="1609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03520" y="1673352"/>
            <a:ext cx="548640" cy="73152"/>
          </a:xfrm>
          <a:prstGeom prst="rect">
            <a:avLst/>
          </a:prstGeom>
          <a:solidFill>
            <a:srgbClr val="EF9A9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457200" y="1856232"/>
            <a:ext cx="1463040" cy="1408176"/>
          </a:xfrm>
          <a:prstGeom prst="rect">
            <a:avLst/>
          </a:prstGeom>
          <a:solidFill>
            <a:srgbClr val="F8FAFC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502920" y="1856232"/>
            <a:ext cx="1371600" cy="1408176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Bevacizumab
</a:t>
            </a: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 — genericized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240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Amgen (AMGN)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8328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9768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3520" y="1920240"/>
            <a:ext cx="27432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1920240" y="2057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Pfizer (PFE)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8328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9768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03520" y="2121408"/>
            <a:ext cx="27432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1920240" y="2258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Sandoz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83280" y="2258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97680" y="2258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03520" y="2322576"/>
            <a:ext cx="22860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920240" y="2459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Amneal Pharma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83280" y="2459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297680" y="2459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303520" y="2523744"/>
            <a:ext cx="18288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1920240" y="2660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Celltrion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83280" y="2660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97680" y="2660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03520" y="2724912"/>
            <a:ext cx="18288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1920240" y="2862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Biocon Biologics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83280" y="2862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297680" y="2862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03520" y="2926080"/>
            <a:ext cx="13716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1920240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Prestige Biopharma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8328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29768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FR Mar 2026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303520" y="3127248"/>
            <a:ext cx="91440" cy="73152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Shape 61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4" name="Text 62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B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Pembro biosimilar risk is real and near-term — 4 Phase 3 programs with PCDs in 2026-2028. Samsung Bioepis and mAbxience are furthest along. Bevacizumab is already largely genericized. For MRK investors, the biosimilar timeline is more important than any single pipeline competitor.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 only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5: Target × Biomarker Selection Heat 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target-biomarker combinations are crowded (risk) vs. whitespace (opportunity)?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 Phase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978408"/>
            <a:ext cx="7772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18288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↓ / BM →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96012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160020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60020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1-49%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224028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224028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G12C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288036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288036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(all)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182880" y="1234440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960120" y="1234440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96012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00200" y="1234440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60020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028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224028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80360" y="1234440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288036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" y="1490472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960120" y="149047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96012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00200" y="149047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60020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40280" y="149047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224028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80360" y="1490472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288036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2880" y="1746504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60120" y="1746504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96012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0020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160020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40280" y="1746504"/>
            <a:ext cx="640080" cy="256032"/>
          </a:xfrm>
          <a:prstGeom prst="rect">
            <a:avLst/>
          </a:prstGeom>
          <a:solidFill>
            <a:srgbClr val="002060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224028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88036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288036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2880" y="2002536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96012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96012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0020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160020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4028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224028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80360" y="2002536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288036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82880" y="2258568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960120" y="2258568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96012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0020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160020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24028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224028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880360" y="2258568"/>
            <a:ext cx="640080" cy="256032"/>
          </a:xfrm>
          <a:prstGeom prst="rect">
            <a:avLst/>
          </a:prstGeom>
          <a:solidFill>
            <a:srgbClr val="007A85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288036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82880" y="2514600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960120" y="2514600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96012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600200" y="2514600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160020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4028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224028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880360" y="2514600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288036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182880" y="2770632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960120" y="277063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2" name="Text 70"/>
          <p:cNvSpPr/>
          <p:nvPr/>
        </p:nvSpPr>
        <p:spPr>
          <a:xfrm>
            <a:off x="96012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600200" y="277063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160020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24028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224028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880360" y="277063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Text 76"/>
          <p:cNvSpPr/>
          <p:nvPr/>
        </p:nvSpPr>
        <p:spPr>
          <a:xfrm>
            <a:off x="288036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82880" y="3026664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96012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Text 79"/>
          <p:cNvSpPr/>
          <p:nvPr/>
        </p:nvSpPr>
        <p:spPr>
          <a:xfrm>
            <a:off x="96012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600200" y="3026664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160020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24028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5" name="Text 83"/>
          <p:cNvSpPr/>
          <p:nvPr/>
        </p:nvSpPr>
        <p:spPr>
          <a:xfrm>
            <a:off x="224028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880360" y="3026664"/>
            <a:ext cx="640080" cy="256032"/>
          </a:xfrm>
          <a:prstGeom prst="rect">
            <a:avLst/>
          </a:prstGeom>
          <a:solidFill>
            <a:srgbClr val="002060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288036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754880" y="777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 Phase 3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754880" y="978408"/>
            <a:ext cx="7772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0" name="Text 88"/>
          <p:cNvSpPr/>
          <p:nvPr/>
        </p:nvSpPr>
        <p:spPr>
          <a:xfrm>
            <a:off x="4754880" y="978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↓ / BM →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553212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553212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≥50%</a:t>
            </a:r>
            <a:endParaRPr lang="en-US" sz="550" dirty="0"/>
          </a:p>
        </p:txBody>
      </p:sp>
      <p:sp>
        <p:nvSpPr>
          <p:cNvPr id="93" name="Shape 91"/>
          <p:cNvSpPr/>
          <p:nvPr/>
        </p:nvSpPr>
        <p:spPr>
          <a:xfrm>
            <a:off x="617220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4" name="Text 92"/>
          <p:cNvSpPr/>
          <p:nvPr/>
        </p:nvSpPr>
        <p:spPr>
          <a:xfrm>
            <a:off x="617220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PD-L1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1-49%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681228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6" name="Text 94"/>
          <p:cNvSpPr/>
          <p:nvPr/>
        </p:nvSpPr>
        <p:spPr>
          <a:xfrm>
            <a:off x="681228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G12C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7452360" y="978408"/>
            <a:ext cx="64008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8" name="Text 96"/>
          <p:cNvSpPr/>
          <p:nvPr/>
        </p:nvSpPr>
        <p:spPr>
          <a:xfrm>
            <a:off x="7452360" y="978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(all)</a:t>
            </a:r>
            <a:endParaRPr lang="en-US" sz="550" dirty="0"/>
          </a:p>
        </p:txBody>
      </p:sp>
      <p:sp>
        <p:nvSpPr>
          <p:cNvPr id="99" name="Text 97"/>
          <p:cNvSpPr/>
          <p:nvPr/>
        </p:nvSpPr>
        <p:spPr>
          <a:xfrm>
            <a:off x="4754880" y="1234440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553212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1" name="Text 99"/>
          <p:cNvSpPr/>
          <p:nvPr/>
        </p:nvSpPr>
        <p:spPr>
          <a:xfrm>
            <a:off x="553212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17220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3" name="Text 101"/>
          <p:cNvSpPr/>
          <p:nvPr/>
        </p:nvSpPr>
        <p:spPr>
          <a:xfrm>
            <a:off x="617220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812280" y="123444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5" name="Text 103"/>
          <p:cNvSpPr/>
          <p:nvPr/>
        </p:nvSpPr>
        <p:spPr>
          <a:xfrm>
            <a:off x="681228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7452360" y="1234440"/>
            <a:ext cx="640080" cy="256032"/>
          </a:xfrm>
          <a:prstGeom prst="rect">
            <a:avLst/>
          </a:prstGeom>
          <a:solidFill>
            <a:srgbClr val="00B0B9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7" name="Text 105"/>
          <p:cNvSpPr/>
          <p:nvPr/>
        </p:nvSpPr>
        <p:spPr>
          <a:xfrm>
            <a:off x="7452360" y="1234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754880" y="1490472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5532120" y="149047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0" name="Text 108"/>
          <p:cNvSpPr/>
          <p:nvPr/>
        </p:nvSpPr>
        <p:spPr>
          <a:xfrm>
            <a:off x="553212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172200" y="149047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2" name="Text 110"/>
          <p:cNvSpPr/>
          <p:nvPr/>
        </p:nvSpPr>
        <p:spPr>
          <a:xfrm>
            <a:off x="617220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6812280" y="1490472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4" name="Text 112"/>
          <p:cNvSpPr/>
          <p:nvPr/>
        </p:nvSpPr>
        <p:spPr>
          <a:xfrm>
            <a:off x="681228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7452360" y="1490472"/>
            <a:ext cx="640080" cy="256032"/>
          </a:xfrm>
          <a:prstGeom prst="rect">
            <a:avLst/>
          </a:prstGeom>
          <a:solidFill>
            <a:srgbClr val="007A85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6" name="Text 114"/>
          <p:cNvSpPr/>
          <p:nvPr/>
        </p:nvSpPr>
        <p:spPr>
          <a:xfrm>
            <a:off x="7452360" y="1490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4754880" y="1746504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5532120" y="174650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Text 117"/>
          <p:cNvSpPr/>
          <p:nvPr/>
        </p:nvSpPr>
        <p:spPr>
          <a:xfrm>
            <a:off x="553212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172200" y="174650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Text 119"/>
          <p:cNvSpPr/>
          <p:nvPr/>
        </p:nvSpPr>
        <p:spPr>
          <a:xfrm>
            <a:off x="617220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81228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3" name="Text 121"/>
          <p:cNvSpPr/>
          <p:nvPr/>
        </p:nvSpPr>
        <p:spPr>
          <a:xfrm>
            <a:off x="681228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7452360" y="1746504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5" name="Text 123"/>
          <p:cNvSpPr/>
          <p:nvPr/>
        </p:nvSpPr>
        <p:spPr>
          <a:xfrm>
            <a:off x="7452360" y="1746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4754880" y="2002536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553212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8" name="Text 126"/>
          <p:cNvSpPr/>
          <p:nvPr/>
        </p:nvSpPr>
        <p:spPr>
          <a:xfrm>
            <a:off x="553212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172200" y="2002536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0" name="Text 128"/>
          <p:cNvSpPr/>
          <p:nvPr/>
        </p:nvSpPr>
        <p:spPr>
          <a:xfrm>
            <a:off x="617220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6812280" y="2002536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2" name="Text 130"/>
          <p:cNvSpPr/>
          <p:nvPr/>
        </p:nvSpPr>
        <p:spPr>
          <a:xfrm>
            <a:off x="681228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7452360" y="2002536"/>
            <a:ext cx="640080" cy="256032"/>
          </a:xfrm>
          <a:prstGeom prst="rect">
            <a:avLst/>
          </a:prstGeom>
          <a:solidFill>
            <a:srgbClr val="E0F7F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4" name="Text 132"/>
          <p:cNvSpPr/>
          <p:nvPr/>
        </p:nvSpPr>
        <p:spPr>
          <a:xfrm>
            <a:off x="7452360" y="20025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4754880" y="2258568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553212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7" name="Text 135"/>
          <p:cNvSpPr/>
          <p:nvPr/>
        </p:nvSpPr>
        <p:spPr>
          <a:xfrm>
            <a:off x="553212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617220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9" name="Text 137"/>
          <p:cNvSpPr/>
          <p:nvPr/>
        </p:nvSpPr>
        <p:spPr>
          <a:xfrm>
            <a:off x="617220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812280" y="2258568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1" name="Text 139"/>
          <p:cNvSpPr/>
          <p:nvPr/>
        </p:nvSpPr>
        <p:spPr>
          <a:xfrm>
            <a:off x="681228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7452360" y="2258568"/>
            <a:ext cx="640080" cy="256032"/>
          </a:xfrm>
          <a:prstGeom prst="rect">
            <a:avLst/>
          </a:prstGeom>
          <a:solidFill>
            <a:srgbClr val="80DEEA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3" name="Text 141"/>
          <p:cNvSpPr/>
          <p:nvPr/>
        </p:nvSpPr>
        <p:spPr>
          <a:xfrm>
            <a:off x="7452360" y="2258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4754880" y="2514600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553212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" name="Text 144"/>
          <p:cNvSpPr/>
          <p:nvPr/>
        </p:nvSpPr>
        <p:spPr>
          <a:xfrm>
            <a:off x="553212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617220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8" name="Text 146"/>
          <p:cNvSpPr/>
          <p:nvPr/>
        </p:nvSpPr>
        <p:spPr>
          <a:xfrm>
            <a:off x="617220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681228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0" name="Text 148"/>
          <p:cNvSpPr/>
          <p:nvPr/>
        </p:nvSpPr>
        <p:spPr>
          <a:xfrm>
            <a:off x="681228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7452360" y="2514600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2" name="Text 150"/>
          <p:cNvSpPr/>
          <p:nvPr/>
        </p:nvSpPr>
        <p:spPr>
          <a:xfrm>
            <a:off x="745236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4754880" y="2770632"/>
            <a:ext cx="777240" cy="256032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600" dirty="0"/>
          </a:p>
        </p:txBody>
      </p:sp>
      <p:sp>
        <p:nvSpPr>
          <p:cNvPr id="154" name="Shape 152"/>
          <p:cNvSpPr/>
          <p:nvPr/>
        </p:nvSpPr>
        <p:spPr>
          <a:xfrm>
            <a:off x="553212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5" name="Text 153"/>
          <p:cNvSpPr/>
          <p:nvPr/>
        </p:nvSpPr>
        <p:spPr>
          <a:xfrm>
            <a:off x="553212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617220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7" name="Text 155"/>
          <p:cNvSpPr/>
          <p:nvPr/>
        </p:nvSpPr>
        <p:spPr>
          <a:xfrm>
            <a:off x="617220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681228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9" name="Text 157"/>
          <p:cNvSpPr/>
          <p:nvPr/>
        </p:nvSpPr>
        <p:spPr>
          <a:xfrm>
            <a:off x="681228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7452360" y="2770632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1" name="Text 159"/>
          <p:cNvSpPr/>
          <p:nvPr/>
        </p:nvSpPr>
        <p:spPr>
          <a:xfrm>
            <a:off x="745236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4754880" y="3026664"/>
            <a:ext cx="777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600" dirty="0"/>
          </a:p>
        </p:txBody>
      </p:sp>
      <p:sp>
        <p:nvSpPr>
          <p:cNvPr id="163" name="Shape 161"/>
          <p:cNvSpPr/>
          <p:nvPr/>
        </p:nvSpPr>
        <p:spPr>
          <a:xfrm>
            <a:off x="553212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4" name="Text 162"/>
          <p:cNvSpPr/>
          <p:nvPr/>
        </p:nvSpPr>
        <p:spPr>
          <a:xfrm>
            <a:off x="553212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617220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6" name="Text 164"/>
          <p:cNvSpPr/>
          <p:nvPr/>
        </p:nvSpPr>
        <p:spPr>
          <a:xfrm>
            <a:off x="617220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6812280" y="3026664"/>
            <a:ext cx="64008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8" name="Text 166"/>
          <p:cNvSpPr/>
          <p:nvPr/>
        </p:nvSpPr>
        <p:spPr>
          <a:xfrm>
            <a:off x="681228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7452360" y="3026664"/>
            <a:ext cx="640080" cy="256032"/>
          </a:xfrm>
          <a:prstGeom prst="rect">
            <a:avLst/>
          </a:prstGeom>
          <a:solidFill>
            <a:srgbClr val="002060"/>
          </a:solidFill>
          <a:ln w="3810">
            <a:solidFill>
              <a:srgbClr val="E0E4E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0" name="Text 168"/>
          <p:cNvSpPr/>
          <p:nvPr/>
        </p:nvSpPr>
        <p:spPr>
          <a:xfrm>
            <a:off x="745236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3, non-biosimilar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7: 2L NSCLC Phase 3 Competitive Landscape — Post-IO/Chemo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37160" y="201168"/>
            <a:ext cx="8869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= First Results | 2L = post IO/chemo progression | Columns by primary mechanism class | Pipeline database April 2026</a:t>
            </a:r>
            <a:endParaRPr lang="en-US" sz="500" dirty="0"/>
          </a:p>
        </p:txBody>
      </p:sp>
      <p:sp>
        <p:nvSpPr>
          <p:cNvPr id="4" name="Shape 2"/>
          <p:cNvSpPr/>
          <p:nvPr/>
        </p:nvSpPr>
        <p:spPr>
          <a:xfrm>
            <a:off x="594360" y="594360"/>
            <a:ext cx="8458200" cy="0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594360" y="347472"/>
            <a:ext cx="281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413760" y="347472"/>
            <a:ext cx="281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 Combos / Novel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41376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233160" y="347472"/>
            <a:ext cx="281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/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Biomarker-selected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233160" y="393192"/>
            <a:ext cx="0" cy="192024"/>
          </a:xfrm>
          <a:prstGeom prst="line">
            <a:avLst/>
          </a:prstGeom>
          <a:noFill/>
          <a:ln w="6350">
            <a:solidFill>
              <a:srgbClr val="002060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18288" y="603504"/>
            <a:ext cx="548640" cy="1002182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8288" y="603504"/>
            <a:ext cx="548640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(70%)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594360" y="603504"/>
            <a:ext cx="2819400" cy="1002182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3413760" y="603504"/>
            <a:ext cx="2819400" cy="1002182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6233160" y="603504"/>
            <a:ext cx="2819400" cy="1002182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21792" y="630936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21792" y="630936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Henlius: HLX43  [PD-L1 ADC]  (FR:Dec'29)</a:t>
            </a:r>
            <a:endParaRPr lang="en-US" sz="500" dirty="0"/>
          </a:p>
        </p:txBody>
      </p:sp>
      <p:sp>
        <p:nvSpPr>
          <p:cNvPr id="17" name="Shape 15"/>
          <p:cNvSpPr/>
          <p:nvPr/>
        </p:nvSpPr>
        <p:spPr>
          <a:xfrm>
            <a:off x="621792" y="766267"/>
            <a:ext cx="2764536" cy="12801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21792" y="766267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DSNKY: Dato-DXd  [TROP2]  PCD'29 (FR:Jan'29)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621792" y="901598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21792" y="90159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Teliso-V  [c-MET ADC, MET+]  PCD'28 (FR:Mar'28)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621792" y="1036930"/>
            <a:ext cx="2764536" cy="12801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21792" y="103693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 [TROP2]  PCD'27 (FR:May'27)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621792" y="1172261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621792" y="117226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SystImmune: Izalontamab  [EGFR/HER3 ADC]  PCD'28 (FR:Sep'28)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621792" y="1307592"/>
            <a:ext cx="2764536" cy="128016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621792" y="130759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MRK: Sac-TMT  [TROP2]  PCD'28 (FR:Sep'28)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621792" y="1442923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621792" y="1442923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ABBV: Teliso-adiz  [c-MET ADC, MET+]  PCD'30 (FR:Sep'30)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3441192" y="630936"/>
            <a:ext cx="2764536" cy="12801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3441192" y="630936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SMMT: Ivonescimab + chemo  [PD1/VEGF bsAb]  PCD'25 (FR:May'25)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3441192" y="766267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3441192" y="766267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Eikon: EIK1001 + pembro + chemo  [TLR7/8]  PCD'35 (FR:Dec'30)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3441192" y="901598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3441192" y="90159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IVBIY: IBI363  [PD1/IL-2]  (FR:Jun'29)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3441192" y="1036930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3441192" y="103693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BeyondSpring: Plinabulin + doce  [VDA]  PCD'29 (FR:Jun'29)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3441192" y="1172261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3441192" y="117226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Candel: Aglatimagene + pembro  [Gene therapy]  (FR:May'29)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18288" y="1605686"/>
            <a:ext cx="548640" cy="1002182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18288" y="1605686"/>
            <a:ext cx="548640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non-sq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sq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94360" y="1605686"/>
            <a:ext cx="2819400" cy="1002182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3413760" y="1605686"/>
            <a:ext cx="2819400" cy="1002182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6233160" y="1605686"/>
            <a:ext cx="2819400" cy="1002182"/>
          </a:xfrm>
          <a:prstGeom prst="rect">
            <a:avLst/>
          </a:prstGeom>
          <a:solidFill>
            <a:srgbClr val="EDF2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621792" y="1633118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621792" y="16331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BioAtla: Mecbotamab-V + nivo  [AXL ADC]  (FR:Jun'28)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621792" y="1768450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621792" y="176845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Sigvotatug vedotin  [Integrin β6 ADC]  PCD'26 (FR:Mar'26)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621792" y="1903781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621792" y="190378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PFE: Fetrastobart-V  [PD-L1 ADC]  PCD'28 (FR:Mar'28)</a:t>
            </a:r>
            <a:endParaRPr lang="en-US" sz="500" dirty="0"/>
          </a:p>
        </p:txBody>
      </p:sp>
      <p:sp>
        <p:nvSpPr>
          <p:cNvPr id="50" name="Shape 48"/>
          <p:cNvSpPr/>
          <p:nvPr/>
        </p:nvSpPr>
        <p:spPr>
          <a:xfrm>
            <a:off x="3441192" y="1633118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3441192" y="16331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NVCR: TTFields  [TTFields 150 kHz]  PCD'24 (FR:Mar'24)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3441192" y="1768450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3441192" y="176845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BeyondSpring: Plinabulin  [VDA]  PCD'21 (FR:Aug'21)</a:t>
            </a:r>
            <a:endParaRPr lang="en-US" sz="500" dirty="0"/>
          </a:p>
        </p:txBody>
      </p:sp>
      <p:sp>
        <p:nvSpPr>
          <p:cNvPr id="54" name="Shape 52"/>
          <p:cNvSpPr/>
          <p:nvPr/>
        </p:nvSpPr>
        <p:spPr>
          <a:xfrm>
            <a:off x="3441192" y="1903781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3441192" y="190378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OSE: OSE 2101  [Cancer vaccine]  PCD'27 (FR:Jan'28)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3441192" y="2039112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Text 55"/>
          <p:cNvSpPr/>
          <p:nvPr/>
        </p:nvSpPr>
        <p:spPr>
          <a:xfrm>
            <a:off x="3441192" y="203911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IBRX: Nogapendekin alfa + pembro + nivo  [IL-15]  (FR:Jan'29)</a:t>
            </a:r>
            <a:endParaRPr lang="en-US" sz="500" dirty="0"/>
          </a:p>
        </p:txBody>
      </p:sp>
      <p:sp>
        <p:nvSpPr>
          <p:cNvPr id="58" name="Shape 56"/>
          <p:cNvSpPr/>
          <p:nvPr/>
        </p:nvSpPr>
        <p:spPr>
          <a:xfrm>
            <a:off x="3441192" y="2174443"/>
            <a:ext cx="2764536" cy="128016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3441192" y="2174443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ABBV: RC148 + doce  [PD1/VEGF bsAb]  (FR:Jan'29)</a:t>
            </a:r>
            <a:endParaRPr lang="en-US" sz="500" dirty="0"/>
          </a:p>
        </p:txBody>
      </p:sp>
      <p:sp>
        <p:nvSpPr>
          <p:cNvPr id="60" name="Shape 58"/>
          <p:cNvSpPr/>
          <p:nvPr/>
        </p:nvSpPr>
        <p:spPr>
          <a:xfrm>
            <a:off x="3441192" y="2309774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3441192" y="230977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BMY/BNTX: Gotistobart  [anti-CTLA4]  PCD'27 (FR:Mar'26)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441192" y="2445106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3441192" y="2445106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IBRX: Nogapendekin alfa + doce  [IL-15]  PCD'28 (FR:Sep'28)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6260592" y="1633118"/>
            <a:ext cx="2764536" cy="12801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Text 63"/>
          <p:cNvSpPr/>
          <p:nvPr/>
        </p:nvSpPr>
        <p:spPr>
          <a:xfrm>
            <a:off x="6260592" y="1633118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AMGN: Sotorasib  [KRAS G12C]  (FR:Dec'27)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6260592" y="1768450"/>
            <a:ext cx="2764536" cy="12801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7" name="Text 65"/>
          <p:cNvSpPr/>
          <p:nvPr/>
        </p:nvSpPr>
        <p:spPr>
          <a:xfrm>
            <a:off x="6260592" y="1768450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RVMD: Daraxonrasib  [pan-RAS]  PCD'27 (FR:Dec'27)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6260592" y="1903781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9" name="Text 67"/>
          <p:cNvSpPr/>
          <p:nvPr/>
        </p:nvSpPr>
        <p:spPr>
          <a:xfrm>
            <a:off x="6260592" y="190378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Krystal: KB707 (inhaled)  [IL-12/IL-2]  (FR:Feb'28)</a:t>
            </a:r>
            <a:endParaRPr lang="en-US" sz="500" dirty="0"/>
          </a:p>
        </p:txBody>
      </p:sp>
      <p:sp>
        <p:nvSpPr>
          <p:cNvPr id="70" name="Shape 68"/>
          <p:cNvSpPr/>
          <p:nvPr/>
        </p:nvSpPr>
        <p:spPr>
          <a:xfrm>
            <a:off x="6260592" y="2039112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6260592" y="2039112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Tango: Vopimetostat  [PRMT5 inhib]  (FR:Jun'29)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6260592" y="2174443"/>
            <a:ext cx="2764536" cy="12801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6260592" y="2174443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RHHBY: Divarasib  [KRAS G12C]  PCD'27 (FR:Sep'26)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6260592" y="2309774"/>
            <a:ext cx="2764536" cy="128016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5" name="Text 73"/>
          <p:cNvSpPr/>
          <p:nvPr/>
        </p:nvSpPr>
        <p:spPr>
          <a:xfrm>
            <a:off x="6260592" y="2309774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Astellas: Setidegrasib  [KRAS G12D]  (FR:Sep'29)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18288" y="2607869"/>
            <a:ext cx="548640" cy="365760"/>
          </a:xfrm>
          <a:prstGeom prst="rect">
            <a:avLst/>
          </a:prstGeom>
          <a:solidFill>
            <a:srgbClr val="00154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18288" y="26078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(30%)</a:t>
            </a:r>
            <a:endParaRPr lang="en-US" sz="600" dirty="0"/>
          </a:p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594360" y="2607869"/>
            <a:ext cx="2819400" cy="36576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9" name="Shape 77"/>
          <p:cNvSpPr/>
          <p:nvPr/>
        </p:nvSpPr>
        <p:spPr>
          <a:xfrm>
            <a:off x="3413760" y="2607869"/>
            <a:ext cx="2819400" cy="36576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0" name="Shape 78"/>
          <p:cNvSpPr/>
          <p:nvPr/>
        </p:nvSpPr>
        <p:spPr>
          <a:xfrm>
            <a:off x="6233160" y="2607869"/>
            <a:ext cx="2819400" cy="365760"/>
          </a:xfrm>
          <a:prstGeom prst="rect">
            <a:avLst/>
          </a:prstGeom>
          <a:solidFill>
            <a:srgbClr val="F5F8FF"/>
          </a:solidFill>
          <a:ln w="3810">
            <a:solidFill>
              <a:srgbClr val="CCD5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Shape 79"/>
          <p:cNvSpPr/>
          <p:nvPr/>
        </p:nvSpPr>
        <p:spPr>
          <a:xfrm>
            <a:off x="621792" y="2635301"/>
            <a:ext cx="2764536" cy="128016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2" name="Text 80"/>
          <p:cNvSpPr/>
          <p:nvPr/>
        </p:nvSpPr>
        <p:spPr>
          <a:xfrm>
            <a:off x="621792" y="263530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Henlius: HLX43  [PD-L1 ADC]  PCD'30 (FR:Jan'30)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3441192" y="2635301"/>
            <a:ext cx="2764536" cy="128016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4" name="Text 82"/>
          <p:cNvSpPr/>
          <p:nvPr/>
        </p:nvSpPr>
        <p:spPr>
          <a:xfrm>
            <a:off x="3441192" y="2635301"/>
            <a:ext cx="2764536" cy="128016"/>
          </a:xfrm>
          <a:prstGeom prst="rect">
            <a:avLst/>
          </a:prstGeom>
          <a:noFill/>
          <a:ln/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IVBIY: IBI363  [PD1/IL-2]  PCD'28 (FR:Nov'28)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37160" y="3046781"/>
            <a:ext cx="91440" cy="73152"/>
          </a:xfrm>
          <a:prstGeom prst="rect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246888" y="304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500" dirty="0"/>
          </a:p>
        </p:txBody>
      </p:sp>
      <p:sp>
        <p:nvSpPr>
          <p:cNvPr id="87" name="Shape 85"/>
          <p:cNvSpPr/>
          <p:nvPr/>
        </p:nvSpPr>
        <p:spPr>
          <a:xfrm>
            <a:off x="1280160" y="3046781"/>
            <a:ext cx="91440" cy="73152"/>
          </a:xfrm>
          <a:prstGeom prst="rect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8" name="Text 86"/>
          <p:cNvSpPr/>
          <p:nvPr/>
        </p:nvSpPr>
        <p:spPr>
          <a:xfrm>
            <a:off x="1389888" y="304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2423160" y="3046781"/>
            <a:ext cx="91440" cy="73152"/>
          </a:xfrm>
          <a:prstGeom prst="rect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0" name="Text 88"/>
          <p:cNvSpPr/>
          <p:nvPr/>
        </p:nvSpPr>
        <p:spPr>
          <a:xfrm>
            <a:off x="2532888" y="304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3566160" y="3046781"/>
            <a:ext cx="91440" cy="73152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2" name="Text 90"/>
          <p:cNvSpPr/>
          <p:nvPr/>
        </p:nvSpPr>
        <p:spPr>
          <a:xfrm>
            <a:off x="3675888" y="304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4709160" y="3046781"/>
            <a:ext cx="91440" cy="73152"/>
          </a:xfrm>
          <a:prstGeom prst="rect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4" name="Text 92"/>
          <p:cNvSpPr/>
          <p:nvPr/>
        </p:nvSpPr>
        <p:spPr>
          <a:xfrm>
            <a:off x="4818888" y="304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5852160" y="3046781"/>
            <a:ext cx="91440" cy="73152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6" name="Text 94"/>
          <p:cNvSpPr/>
          <p:nvPr/>
        </p:nvSpPr>
        <p:spPr>
          <a:xfrm>
            <a:off x="5961888" y="3046781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500" dirty="0"/>
          </a:p>
        </p:txBody>
      </p:sp>
      <p:sp>
        <p:nvSpPr>
          <p:cNvPr id="97" name="Text 95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= First Results | 2L = post IO/chemo progression | 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April 2026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93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6: Company Pipeline Footprint — Who Threatens Keytruda Most (# of Phase III trials)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vs concentration of competitive bets across mechanism classes.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00584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2801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2801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TROP2 ADC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21945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21945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ADC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31089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31089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40233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40233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9377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9377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PD1/VEGF bispec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58521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58521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TIGIT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67665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7665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LAG3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7680960" y="868680"/>
            <a:ext cx="9144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768096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IO/Novel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274320" y="1143000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274320" y="1143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 (8)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90488" y="1170432"/>
            <a:ext cx="237744" cy="237744"/>
          </a:xfrm>
          <a:prstGeom prst="ellipse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6190488" y="1170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19288" y="1170432"/>
            <a:ext cx="237744" cy="237744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8019288" y="1170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143560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274320" y="1435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 (5)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51860" y="1467612"/>
            <a:ext cx="228600" cy="228600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3451860" y="14676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46036" y="1504188"/>
            <a:ext cx="155448" cy="155448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7146036" y="1504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060436" y="1504188"/>
            <a:ext cx="155448" cy="155448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8060436" y="1504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1728216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274320" y="17282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MRK (4)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1348" y="1778508"/>
            <a:ext cx="192024" cy="192024"/>
          </a:xfrm>
          <a:prstGeom prst="ellipse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1641348" y="17785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0148" y="1778508"/>
            <a:ext cx="192024" cy="19202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3470148" y="17785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2020824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274320" y="2020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RVMD (3)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384548" y="2071116"/>
            <a:ext cx="155448" cy="155448"/>
          </a:xfrm>
          <a:prstGeom prst="ellipse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4384548" y="207111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88436" y="2089404"/>
            <a:ext cx="192024" cy="19202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3488436" y="208940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2313432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Text 48"/>
          <p:cNvSpPr/>
          <p:nvPr/>
        </p:nvSpPr>
        <p:spPr>
          <a:xfrm>
            <a:off x="274320" y="2313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DSNKY (3)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23060" y="2345436"/>
            <a:ext cx="228600" cy="228600"/>
          </a:xfrm>
          <a:prstGeom prst="ellipse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1623060" y="23454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2606040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274320" y="2606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GILD (3)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59636" y="2674620"/>
            <a:ext cx="155448" cy="155448"/>
          </a:xfrm>
          <a:prstGeom prst="ellipse">
            <a:avLst/>
          </a:prstGeom>
          <a:solidFill>
            <a:srgbClr val="00B0B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1659636" y="26746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213348" y="2656332"/>
            <a:ext cx="192024" cy="192024"/>
          </a:xfrm>
          <a:prstGeom prst="ellipse">
            <a:avLst/>
          </a:prstGeom>
          <a:solidFill>
            <a:srgbClr val="007A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6213348" y="265633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2898648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Text 58"/>
          <p:cNvSpPr/>
          <p:nvPr/>
        </p:nvSpPr>
        <p:spPr>
          <a:xfrm>
            <a:off x="274320" y="2898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PFE (3)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55748" y="2948940"/>
            <a:ext cx="192024" cy="192024"/>
          </a:xfrm>
          <a:prstGeom prst="ellipse">
            <a:avLst/>
          </a:prstGeom>
          <a:solidFill>
            <a:srgbClr val="7955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2555748" y="294894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17236" y="2967228"/>
            <a:ext cx="155448" cy="155448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4" name="Text 62"/>
          <p:cNvSpPr/>
          <p:nvPr/>
        </p:nvSpPr>
        <p:spPr>
          <a:xfrm>
            <a:off x="5317236" y="29672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3191256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274320" y="3191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BMY/BNTX (3)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280660" y="3223260"/>
            <a:ext cx="228600" cy="228600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5280660" y="32232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" y="3483864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Text 68"/>
          <p:cNvSpPr/>
          <p:nvPr/>
        </p:nvSpPr>
        <p:spPr>
          <a:xfrm>
            <a:off x="274320" y="34838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 (2)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127748" y="3534156"/>
            <a:ext cx="192024" cy="192024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2" name="Text 70"/>
          <p:cNvSpPr/>
          <p:nvPr/>
        </p:nvSpPr>
        <p:spPr>
          <a:xfrm>
            <a:off x="7127748" y="353415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4320" y="3776472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274320" y="3776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IVBIY (2)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042148" y="3826764"/>
            <a:ext cx="192024" cy="192024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8042148" y="382676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74320" y="4069080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Text 76"/>
          <p:cNvSpPr/>
          <p:nvPr/>
        </p:nvSpPr>
        <p:spPr>
          <a:xfrm>
            <a:off x="274320" y="4069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SMMT (2)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298948" y="4119372"/>
            <a:ext cx="192024" cy="192024"/>
          </a:xfrm>
          <a:prstGeom prst="ellipse">
            <a:avLst/>
          </a:prstGeom>
          <a:solidFill>
            <a:srgbClr val="01579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0" name="Text 78"/>
          <p:cNvSpPr/>
          <p:nvPr/>
        </p:nvSpPr>
        <p:spPr>
          <a:xfrm>
            <a:off x="5298948" y="411937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74320" y="4361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2" name="Text 80"/>
          <p:cNvSpPr/>
          <p:nvPr/>
        </p:nvSpPr>
        <p:spPr>
          <a:xfrm>
            <a:off x="274320" y="4361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IBRX (2)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042148" y="4411980"/>
            <a:ext cx="192024" cy="192024"/>
          </a:xfrm>
          <a:prstGeom prst="ellipse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4" name="Text 82"/>
          <p:cNvSpPr/>
          <p:nvPr/>
        </p:nvSpPr>
        <p:spPr>
          <a:xfrm>
            <a:off x="8042148" y="441198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74320" y="4654296"/>
            <a:ext cx="8321040" cy="292608"/>
          </a:xfrm>
          <a:prstGeom prst="rect">
            <a:avLst/>
          </a:prstGeom>
          <a:solidFill>
            <a:srgbClr val="F8FAFC"/>
          </a:solidFill>
          <a:ln w="381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274320" y="4654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LLY (2)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470148" y="4704588"/>
            <a:ext cx="192024" cy="192024"/>
          </a:xfrm>
          <a:prstGeom prst="ellipse">
            <a:avLst/>
          </a:prstGeom>
          <a:solidFill>
            <a:srgbClr val="4A148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8" name="Text 86"/>
          <p:cNvSpPr/>
          <p:nvPr/>
        </p:nvSpPr>
        <p:spPr>
          <a:xfrm>
            <a:off x="3470148" y="470458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74320" y="498348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5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Oncologypipeline</a:t>
            </a:r>
            <a:r>
              <a:rPr lang="en-US" sz="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| Phase 3 only, non-biosimilar, 1L NSCLC | April 2026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275980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Methodology: Inclusion / Exclusion Criteria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3 clinical trials (US development stage)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First-line (1L) NSCLC — exhibits 1-6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Second-line (2L) NSCLC — exhibit 7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stages: Stage IV, ★ Stage III only, ○ Stage not specified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mechanism classes (IO, ADC, KRAS, VEGF, TIGIT, etc.)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59436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4846320" y="594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941832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Biosimilars (tracked separately in Exhibit 4)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Approved drugs in new trials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EGFR inhibitors (osimertinib, firmonertinib, etc.)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ALK inhibitors (alectinib, neladalkib, etc.)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ROS1/NTRK inhibitors (repotrectinib, </a:t>
            </a:r>
            <a:r>
              <a:rPr lang="en-US" sz="9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entrectinib</a:t>
            </a: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b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>
              <a:solidFill>
                <a:srgbClr val="1A1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400"/>
              </a:spcAft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90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inhibitors</a:t>
            </a:r>
            <a:endParaRPr lang="en-US" sz="900" dirty="0">
              <a:solidFill>
                <a:srgbClr val="1A1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400"/>
              </a:spcAft>
            </a:pP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HER2-mut targeted (Zongertinib, T-DXd mono, Sevabertinib)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EGFR-selected TROP2 ADC trials (e.g., Dato-DXd + osi)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0763E7-0970-2740-AC47-65B7A810A82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5dce395c-09b5-4626-80b7-72ffd3ef2b7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2678</Words>
  <Application>Microsoft Macintosh PowerPoint</Application>
  <PresentationFormat>On-screen Show (16:9)</PresentationFormat>
  <Paragraphs>510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NSCLC Competitive Landscape Exhibits</dc:title>
  <dc:subject>PptxGenJS Presentation</dc:subject>
  <dc:creator>NSCLC Pipeline Analysis</dc:creator>
  <cp:lastModifiedBy>Louisa Qiu</cp:lastModifiedBy>
  <cp:revision>6</cp:revision>
  <dcterms:created xsi:type="dcterms:W3CDTF">2026-04-07T02:22:42Z</dcterms:created>
  <dcterms:modified xsi:type="dcterms:W3CDTF">2026-04-07T03:55:48Z</dcterms:modified>
</cp:coreProperties>
</file>