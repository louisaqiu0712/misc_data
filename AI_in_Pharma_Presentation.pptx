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Pharma: From Hype to Pipeline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Thematic Deep 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29,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| Healthcare | Thematic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pharma evolved from speculative (2022) to strategic necessity (2026); &gt;$5B in dedicated AI partnerships since 2024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coverage names actively investing, but depth varies widely across companies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Bull: 30-40% preclinical timeline compression, first AI drugs nearing Phase 3 approval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Bear: Zero FDA approvals, Phase II rates match historical averages, massive capex with uncertain ROI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3B82F6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Positioned: LLY (most aggressive) | AMGN (data moat) | MRNA (digital native)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Pharma: A $15B+ Market by 2030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</a:rPr>
              <a:t>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$15.2B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Market Estimates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 Research: $3B → $15.2B (31.7% CAGR)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$60-110B annual value from GenAI for pharma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$4B (2025) → $25B (2030) projected spending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31.7% CAGR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Applications Across Drug Development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344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08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→ months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1371600"/>
            <a:ext cx="123444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508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Molecule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9659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→ 22-46% hit rate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12344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508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Trials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+65% enrollment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371600"/>
            <a:ext cx="123444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508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Biomarker Discovery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9659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371600"/>
            <a:ext cx="123444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508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9659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86600" y="1371600"/>
            <a:ext cx="12344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508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19659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faster launches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Compressed timelines, improved efficacy, faster commercialization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AI-Pharma Partnerships (2024-2026)</a:t>
            </a:r>
            <a:endParaRPr lang="en-US" sz="4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371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Isomorphic-Lilly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AlphaFold, drug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Isomorphic-Novartis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structure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Lilly-NVIDIA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Co-innovation lab, BioNeMo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Lilly-Insilico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AI-designed drugs to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AstraZeneca-Algen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Pfizer-PostEra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AI-designed small molecules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BMY-insitro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neuroscience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GSK-Noetik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biomarkers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Narrative Evolved Rapidly: JPM 2022-2026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1645920"/>
          </a:xfrm>
          <a:prstGeom prst="rect">
            <a:avLst/>
          </a:prstGeom>
          <a:solidFill>
            <a:srgbClr val="64748B">
              <a:alpha val="85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Sub-$100M deals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371600"/>
            <a:ext cx="1554480" cy="1645920"/>
          </a:xfrm>
          <a:prstGeom prst="rect">
            <a:avLst/>
          </a:prstGeom>
          <a:solidFill>
            <a:srgbClr val="CADCFC">
              <a:alpha val="85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6596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catalyst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554480" cy="1645920"/>
          </a:xfrm>
          <a:prstGeom prst="rect">
            <a:avLst/>
          </a:prstGeom>
          <a:solidFill>
            <a:srgbClr val="3B82F6">
              <a:alpha val="8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Isomorphic $3B deals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66360" y="1371600"/>
            <a:ext cx="1554480" cy="1645920"/>
          </a:xfrm>
          <a:prstGeom prst="rect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adoption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554480" cy="1645920"/>
          </a:xfrm>
          <a:prstGeom prst="rect">
            <a:avLst/>
          </a:prstGeom>
          <a:solidFill>
            <a:srgbClr val="1E2761">
              <a:alpha val="85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Necessity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$8.3B deals, operational labs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Universe: AI Strategy Comparison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1463040"/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Partnership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 Lilly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NVIDIA, Isomorphic, Insilico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Efficiency-focused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Amazon/AWS, PostEra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NVIDIA, Mayo Clinic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Bristol Myers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Neuro/ALS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Genomics data moat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deCODE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AbbVie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BigHat, ConcertAI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OpenAI, Benchling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 Lilly: The AI Leader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0" cy="5486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 Co-Innovation Lab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5-year, BioNeMo + robotics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097280" cy="5486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Isomorphic Labs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AlphaFold-based small molecule discovery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097280" cy="5486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$2.75B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Insilico Medicine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AI-developed drugs to global market (March 2026)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097280" cy="5486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566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to biotech ecosystem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3108960"/>
          </a:xfrm>
          <a:prstGeom prst="rect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Comprehensive AI Strategy in Big Pharma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Differentiated AI Plays: Amgen &amp; Moderna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AMGEN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Genetics: 200PB data, 3M individuals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Freyja SuperPOD: 248 H100 GPUs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model: 43x more efficient than ESM2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faster protein engineering, 50% timeline reduction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566160" cy="457200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data = most durable competitive moat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Design Studio: 30/month → 1,000+/month (33x)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750+ custom GPTs, 80% adoption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Manufacturing: &gt;10pp gross margin expansion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$2.6B cost savings (2023-2024)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4114800"/>
            <a:ext cx="3566160" cy="457200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operating model, not a bolt-on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&amp; Innovation: Pfizer &amp; Merck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PFIZER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with Amazon: 14 projects, 16K hours saved/year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PostEra: $350M AI-designed small molecules &amp; ADCs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discovery: years → 30 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Pragmatic cost focus to offset patent cliff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KERMT model: 11M+ molecules, open-source with NVIDIA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platform: Doc production 2-3 weeks → 3-4 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Clinic: AI-enabled virtual cell technologies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Foundation model thought leader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Analytics, Neuroscience &amp; Infrastructure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AbbVie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platform: 200+ sources, 2B+ data points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Cut lab-to-patient by 50%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major approvals since 2021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Bristol Myers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2044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insitro ALS partnership ($2B+ milestones)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ChemML + Virtual Human platforms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ALS targets nominated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Gilead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 US investment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City AI-enabled center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Infrastructure-first philosophy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 Case: AI as a Structural R&amp;D Productivity Lever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30-40%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Timeline Compression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4023360" cy="1188720"/>
          </a:xfrm>
          <a:prstGeom prst="rect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749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Improvement (2% → 22-46%)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188720"/>
          </a:xfrm>
          <a:prstGeom prst="rect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Opportunity (Morgan Stanley)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560320"/>
            <a:ext cx="4023360" cy="1188720"/>
          </a:xfrm>
          <a:prstGeom prst="rect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697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Novel Therapies Potential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Rentosertib Phase 2a success (+98.4 mL FVC)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adoption across industry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$3.8B raised in 2024 | FDA reviewed 500+ AI-assisted submissions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Bear Case: Unproven Clinical Translation, Massive CapEx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DC2626">
              <a:alpha val="8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FDA-Approved AI-Discovered Drugs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4023360" cy="1188720"/>
          </a:xfrm>
          <a:prstGeom prst="rect">
            <a:avLst/>
          </a:prstGeom>
          <a:solidFill>
            <a:srgbClr val="64748B">
              <a:alpha val="80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749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Success Rate (matches historical avg)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188720"/>
          </a:xfrm>
          <a:prstGeom prst="rect">
            <a:avLst/>
          </a:prstGeom>
          <a:solidFill>
            <a:srgbClr val="DC2626">
              <a:alpha val="8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BenevolentAI Stock Decline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560320"/>
            <a:ext cx="4023360" cy="1188720"/>
          </a:xfrm>
          <a:prstGeom prst="rect">
            <a:avLst/>
          </a:prstGeom>
          <a:solidFill>
            <a:srgbClr val="64748B">
              <a:alpha val="80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697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 Cite Data Quality as AI Failure Reason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explainability challenges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uncertainty | $4B→$25B capex growth with uncertain ROI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cycle fatigue and competitive pressures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Framework: How to Evaluate Pharma AI Positioning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datasets that feed AI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AMGN deCODE leads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023360" cy="1463040"/>
          </a:xfrm>
          <a:prstGeom prst="rect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Depth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strategic value of tech partnerships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LLY leads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Capability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teams, Chief AI Officers, platform maturity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leads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4023360" cy="1463040"/>
          </a:xfrm>
          <a:prstGeom prst="rect">
            <a:avLst/>
          </a:prstGeom>
          <a:solidFill>
            <a:srgbClr val="1E2761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Near-Term P&amp;L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margin/cost benefits from AI today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MRNA, PFE lead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(AI Leaders): LLY, AMGN, MRNA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(Active Adopters): PFE, MRK, ABBV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(Early Stage): BMY, GILD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Catalysts to Watch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Insilico rentosertib Phase 3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Isomorphic-Novartis Phase I entry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Lilly-NVIDIA lab operational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Absci ABS-201 interim efficacy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potential AI-discovered drug FDA approval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clinical readouts (7 programs)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R&amp;D productivity impact on pharma earnings models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Pharma: Real But Early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genuine productivity lever — not vaporware — but clinical translation remains unproven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pharma AI investment is accelerating and irreversible; competitive positioning is diverging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should focus on companies with proprietary data moats and near-term P&amp;L visibility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Positioned: LLY | AMGN | MRNA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Disclosures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filings and investor presentations (2024-2026)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 Research, McKinsey AI in pharma studies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Healthcare Conference presentations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 Research estimates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partnerships and deal announcements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submission logs and regulatory filings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news (STAT News, Endpoints News, FierceBiotech)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contains forward-looking statements. Actual results may differ materially.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Pharma: From Hype to Pipeline</dc:title>
  <dc:subject>Thematic Deep Dive</dc:subject>
  <dc:creator>Equity Research</dc:creator>
  <cp:lastModifiedBy>Equity Research</cp:lastModifiedBy>
  <cp:revision>1</cp:revision>
  <dcterms:created xsi:type="dcterms:W3CDTF">2026-03-30T03:19:15Z</dcterms:created>
  <dcterms:modified xsi:type="dcterms:W3CDTF">2026-03-30T03:19:15Z</dcterms:modified>
</cp:coreProperties>
</file>