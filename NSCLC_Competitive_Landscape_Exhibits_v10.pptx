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69" r:id="rId4"/>
    <p:sldId id="270" r:id="rId5"/>
    <p:sldId id="260" r:id="rId6"/>
    <p:sldId id="261" r:id="rId7"/>
    <p:sldId id="263" r:id="rId8"/>
    <p:sldId id="268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95"/>
    <p:restoredTop sz="94610"/>
  </p:normalViewPr>
  <p:slideViewPr>
    <p:cSldViewPr snapToGrid="0" snapToObjects="1">
      <p:cViewPr>
        <p:scale>
          <a:sx n="138" d="100"/>
          <a:sy n="138" d="100"/>
        </p:scale>
        <p:origin x="102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33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1: 1L NSCLC Phase 3 Competitive Landscape — Histology × PD-L1 TPS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7160" y="201168"/>
            <a:ext cx="8869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only | Biosimilars excluded | Source: pipeline database, ClinicalTrials.gov | April 2026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1691640" y="594360"/>
            <a:ext cx="7360920" cy="0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169164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 TPS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 mono)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14528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1–49% TPS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(pembro+chemo)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414528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59892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(&lt;1%)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(pembro+chemo)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659892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1069848" y="603504"/>
            <a:ext cx="594360" cy="883068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69848" y="603504"/>
            <a:ext cx="594360" cy="883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(~70%)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691640" y="603504"/>
            <a:ext cx="2453640" cy="883068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145280" y="603504"/>
            <a:ext cx="2453640" cy="883068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598920" y="603504"/>
            <a:ext cx="2453640" cy="883068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1719072" y="1554113"/>
            <a:ext cx="730605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1719072" y="1554113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durva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AVANZAR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PCD'27 | FR:Jul'26</a:t>
            </a:r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1719072" y="708477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1719072" y="70847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subQ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KANDLELIT-007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FR:Dec'29</a:t>
            </a:r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626352" y="1173723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626352" y="1173723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CodeBreaK 202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PCD'26 | FR:Jun'26</a:t>
            </a:r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1719072" y="786018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1719072" y="78601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Krascendo 2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FR:Nov'28</a:t>
            </a:r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1719072" y="863559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1719072" y="86355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Livmoniplimab + budi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LIVIGNO-4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PCD'31 | FR:Jun'30</a:t>
            </a:r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1719072" y="1328805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719072" y="1328805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ARTEMIDE-Lung03 [TC≥1%]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FR:May'29</a:t>
            </a:r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1719072" y="1406346"/>
            <a:ext cx="485241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1719072" y="1406346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Relatlimab/Nivo FDC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RELATIVITY1093 [TC≥1%]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PCD'30 | FR:Jul'30</a:t>
            </a:r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1719072" y="941100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1719072" y="941100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TROPION-Lung08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FR:Oct'26</a:t>
            </a:r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4172712" y="1096182"/>
            <a:ext cx="485241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4172712" y="1096182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TROPION-Lung07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FR:Oct'26</a:t>
            </a:r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1719072" y="1018641"/>
            <a:ext cx="239877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1719072" y="1018641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Dato-DXd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TROPION-Lung10 [TC≥50%]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FR:Apr'28</a:t>
            </a:r>
            <a:endParaRPr lang="en-CN"/>
          </a:p>
        </p:txBody>
      </p:sp>
      <p:sp>
        <p:nvSpPr>
          <p:cNvPr id="35" name="Shape 33"/>
          <p:cNvSpPr/>
          <p:nvPr/>
        </p:nvSpPr>
        <p:spPr>
          <a:xfrm>
            <a:off x="1069848" y="1476572"/>
            <a:ext cx="594360" cy="3026784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1069848" y="1476572"/>
            <a:ext cx="594360" cy="302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non-sq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sq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691640" y="1476572"/>
            <a:ext cx="2453640" cy="3026784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4145280" y="1476572"/>
            <a:ext cx="2453640" cy="3026784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6598920" y="1476572"/>
            <a:ext cx="2453640" cy="3026784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1719072" y="1631654"/>
            <a:ext cx="7306056" cy="70226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1719072" y="1631654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 | FR:Jan'29</a:t>
            </a:r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1719072" y="1709195"/>
            <a:ext cx="7306056" cy="70226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1719072" y="170919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| FR:Jun'29</a:t>
            </a:r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1719072" y="1941818"/>
            <a:ext cx="7306056" cy="7022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1719072" y="194181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Elironrasib | FR:Dec'29</a:t>
            </a:r>
            <a:endParaRPr lang="en-CN"/>
          </a:p>
        </p:txBody>
      </p:sp>
      <p:sp>
        <p:nvSpPr>
          <p:cNvPr id="46" name="Shape 44"/>
          <p:cNvSpPr/>
          <p:nvPr/>
        </p:nvSpPr>
        <p:spPr>
          <a:xfrm>
            <a:off x="1719072" y="1786736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719072" y="178673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LLY: Olomorasib + durva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SUNRAY-02 [Part B]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FR:May'29</a:t>
            </a:r>
            <a:endParaRPr lang="en-CN"/>
          </a:p>
        </p:txBody>
      </p:sp>
      <p:sp>
        <p:nvSpPr>
          <p:cNvPr id="48" name="Shape 46"/>
          <p:cNvSpPr/>
          <p:nvPr/>
        </p:nvSpPr>
        <p:spPr>
          <a:xfrm>
            <a:off x="1719072" y="630936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1719072" y="63093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KRYSTAL-4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FR:Sep'29</a:t>
            </a:r>
            <a:endParaRPr lang="en-CN"/>
          </a:p>
        </p:txBody>
      </p:sp>
      <p:sp>
        <p:nvSpPr>
          <p:cNvPr id="50" name="Shape 48"/>
          <p:cNvSpPr/>
          <p:nvPr/>
        </p:nvSpPr>
        <p:spPr>
          <a:xfrm>
            <a:off x="1719072" y="2096900"/>
            <a:ext cx="7306056" cy="7022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1719072" y="209690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Zoldonrasib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RASolve 308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FR:Mar'29</a:t>
            </a:r>
            <a:endParaRPr lang="en-CN"/>
          </a:p>
        </p:txBody>
      </p:sp>
      <p:sp>
        <p:nvSpPr>
          <p:cNvPr id="52" name="Shape 50"/>
          <p:cNvSpPr/>
          <p:nvPr/>
        </p:nvSpPr>
        <p:spPr>
          <a:xfrm>
            <a:off x="1719072" y="2019359"/>
            <a:ext cx="7306056" cy="7022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1719072" y="201935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Daraxonrasib + pembro + chemo | FR:Sep'29</a:t>
            </a:r>
            <a:endParaRPr lang="en-CN"/>
          </a:p>
        </p:txBody>
      </p:sp>
      <p:sp>
        <p:nvSpPr>
          <p:cNvPr id="54" name="Shape 52"/>
          <p:cNvSpPr/>
          <p:nvPr/>
        </p:nvSpPr>
        <p:spPr>
          <a:xfrm>
            <a:off x="1719072" y="2329523"/>
            <a:ext cx="7306056" cy="70226"/>
          </a:xfrm>
          <a:prstGeom prst="rect">
            <a:avLst/>
          </a:prstGeom>
          <a:solidFill>
            <a:srgbClr val="01579B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1719072" y="2329523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CStone: CS2009 | FR:Dec'29</a:t>
            </a:r>
            <a:endParaRPr lang="en-CN"/>
          </a:p>
        </p:txBody>
      </p:sp>
      <p:sp>
        <p:nvSpPr>
          <p:cNvPr id="56" name="Shape 54"/>
          <p:cNvSpPr/>
          <p:nvPr/>
        </p:nvSpPr>
        <p:spPr>
          <a:xfrm>
            <a:off x="1719072" y="2407064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1719072" y="2407064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PF-08634404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Symbiotic-Lung-01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FR:Feb'29</a:t>
            </a:r>
            <a:endParaRPr lang="en-CN"/>
          </a:p>
        </p:txBody>
      </p:sp>
      <p:sp>
        <p:nvSpPr>
          <p:cNvPr id="58" name="Shape 56"/>
          <p:cNvSpPr/>
          <p:nvPr/>
        </p:nvSpPr>
        <p:spPr>
          <a:xfrm>
            <a:off x="1719072" y="2174441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1719072" y="217444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Lung-02 / BNT327-06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FR:Feb'29</a:t>
            </a:r>
            <a:endParaRPr lang="en-CN"/>
          </a:p>
        </p:txBody>
      </p:sp>
      <p:sp>
        <p:nvSpPr>
          <p:cNvPr id="60" name="Shape 58"/>
          <p:cNvSpPr/>
          <p:nvPr/>
        </p:nvSpPr>
        <p:spPr>
          <a:xfrm>
            <a:off x="1719072" y="2484605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1719072" y="248460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HARMONi-3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FR:May'26</a:t>
            </a:r>
            <a:endParaRPr lang="en-CN"/>
          </a:p>
        </p:txBody>
      </p:sp>
      <p:sp>
        <p:nvSpPr>
          <p:cNvPr id="62" name="Shape 60"/>
          <p:cNvSpPr/>
          <p:nvPr/>
        </p:nvSpPr>
        <p:spPr>
          <a:xfrm>
            <a:off x="1719072" y="3957884"/>
            <a:ext cx="239877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1719072" y="3957884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Lung-202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PCD'31 | FR:Oct'31</a:t>
            </a:r>
            <a:endParaRPr lang="en-CN"/>
          </a:p>
        </p:txBody>
      </p:sp>
      <p:sp>
        <p:nvSpPr>
          <p:cNvPr id="64" name="Shape 62"/>
          <p:cNvSpPr/>
          <p:nvPr/>
        </p:nvSpPr>
        <p:spPr>
          <a:xfrm>
            <a:off x="1719072" y="2251982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1719072" y="2251982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BMY/BNTX: Pumitamig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Lung-201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PCD'30 | FR:Sep'30</a:t>
            </a:r>
            <a:endParaRPr lang="en-CN"/>
          </a:p>
        </p:txBody>
      </p:sp>
      <p:sp>
        <p:nvSpPr>
          <p:cNvPr id="66" name="Shape 64"/>
          <p:cNvSpPr/>
          <p:nvPr/>
        </p:nvSpPr>
        <p:spPr>
          <a:xfrm>
            <a:off x="1719072" y="2562146"/>
            <a:ext cx="730605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1719072" y="256214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Domvanalimab + zimb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STAR-121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FR:Jun'27</a:t>
            </a:r>
            <a:endParaRPr lang="en-CN"/>
          </a:p>
        </p:txBody>
      </p:sp>
      <p:sp>
        <p:nvSpPr>
          <p:cNvPr id="68" name="Shape 66"/>
          <p:cNvSpPr/>
          <p:nvPr/>
        </p:nvSpPr>
        <p:spPr>
          <a:xfrm>
            <a:off x="1719072" y="2639687"/>
            <a:ext cx="730605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1719072" y="263968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R3767-ONC-2236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PCD'30 | FR:Feb'29</a:t>
            </a:r>
            <a:endParaRPr lang="en-CN"/>
          </a:p>
        </p:txBody>
      </p:sp>
      <p:sp>
        <p:nvSpPr>
          <p:cNvPr id="70" name="Shape 68"/>
          <p:cNvSpPr/>
          <p:nvPr/>
        </p:nvSpPr>
        <p:spPr>
          <a:xfrm>
            <a:off x="1719072" y="2949851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1719072" y="294985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Navlimetostat + pembro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MountainTAP-29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PCD'31 | FR:Aug'31</a:t>
            </a:r>
            <a:endParaRPr lang="en-CN"/>
          </a:p>
        </p:txBody>
      </p:sp>
      <p:sp>
        <p:nvSpPr>
          <p:cNvPr id="72" name="Shape 70"/>
          <p:cNvSpPr/>
          <p:nvPr/>
        </p:nvSpPr>
        <p:spPr>
          <a:xfrm>
            <a:off x="1719072" y="3104933"/>
            <a:ext cx="7306056" cy="7022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1719072" y="3104933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ResQ301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FR:Jan'29</a:t>
            </a:r>
            <a:endParaRPr lang="en-CN"/>
          </a:p>
        </p:txBody>
      </p:sp>
      <p:sp>
        <p:nvSpPr>
          <p:cNvPr id="74" name="Shape 72"/>
          <p:cNvSpPr/>
          <p:nvPr/>
        </p:nvSpPr>
        <p:spPr>
          <a:xfrm>
            <a:off x="1719072" y="3182474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1719072" y="3182474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INCY: Retifanlimab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POD1UM-304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PCD'23 | FR:Jul'24</a:t>
            </a:r>
            <a:endParaRPr lang="en-CN"/>
          </a:p>
        </p:txBody>
      </p:sp>
      <p:sp>
        <p:nvSpPr>
          <p:cNvPr id="76" name="Shape 74"/>
          <p:cNvSpPr/>
          <p:nvPr/>
        </p:nvSpPr>
        <p:spPr>
          <a:xfrm>
            <a:off x="1719072" y="2717228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1719072" y="271722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Monalizumab + durva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PACIFIC-9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PCD'26 | FR:Jul'26</a:t>
            </a:r>
            <a:endParaRPr lang="en-CN"/>
          </a:p>
        </p:txBody>
      </p:sp>
      <p:sp>
        <p:nvSpPr>
          <p:cNvPr id="78" name="Shape 76"/>
          <p:cNvSpPr/>
          <p:nvPr/>
        </p:nvSpPr>
        <p:spPr>
          <a:xfrm>
            <a:off x="1719072" y="2794769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1719072" y="279476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Olaparib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KEYLYNK-012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PCD'26 | FR:Jul'26</a:t>
            </a:r>
            <a:endParaRPr lang="en-CN"/>
          </a:p>
        </p:txBody>
      </p:sp>
      <p:sp>
        <p:nvSpPr>
          <p:cNvPr id="80" name="Shape 78"/>
          <p:cNvSpPr/>
          <p:nvPr/>
        </p:nvSpPr>
        <p:spPr>
          <a:xfrm>
            <a:off x="1719072" y="2872310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1719072" y="287231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Oleclumab + durva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PACIFIC-9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PCD'26 | FR:Jul'26</a:t>
            </a:r>
            <a:endParaRPr lang="en-CN"/>
          </a:p>
        </p:txBody>
      </p:sp>
      <p:sp>
        <p:nvSpPr>
          <p:cNvPr id="82" name="Shape 80"/>
          <p:cNvSpPr/>
          <p:nvPr/>
        </p:nvSpPr>
        <p:spPr>
          <a:xfrm>
            <a:off x="1719072" y="3337556"/>
            <a:ext cx="7306056" cy="7022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1719072" y="333755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| FR:Jun'29</a:t>
            </a:r>
            <a:endParaRPr lang="en-CN"/>
          </a:p>
        </p:txBody>
      </p:sp>
      <p:sp>
        <p:nvSpPr>
          <p:cNvPr id="84" name="Shape 82"/>
          <p:cNvSpPr/>
          <p:nvPr/>
        </p:nvSpPr>
        <p:spPr>
          <a:xfrm>
            <a:off x="1719072" y="3415097"/>
            <a:ext cx="7306056" cy="7022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5" name="Text 83"/>
          <p:cNvSpPr/>
          <p:nvPr/>
        </p:nvSpPr>
        <p:spPr>
          <a:xfrm>
            <a:off x="1719072" y="341509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| FR:Jun'29</a:t>
            </a:r>
            <a:endParaRPr lang="en-CN"/>
          </a:p>
        </p:txBody>
      </p:sp>
      <p:sp>
        <p:nvSpPr>
          <p:cNvPr id="86" name="Shape 84"/>
          <p:cNvSpPr/>
          <p:nvPr/>
        </p:nvSpPr>
        <p:spPr>
          <a:xfrm>
            <a:off x="1719072" y="3260015"/>
            <a:ext cx="7306056" cy="7022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1719072" y="326001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IOVA: Lifileucel + pembro | FR:Jun'29</a:t>
            </a:r>
            <a:endParaRPr lang="en-CN"/>
          </a:p>
        </p:txBody>
      </p:sp>
      <p:sp>
        <p:nvSpPr>
          <p:cNvPr id="88" name="Shape 86"/>
          <p:cNvSpPr/>
          <p:nvPr/>
        </p:nvSpPr>
        <p:spPr>
          <a:xfrm>
            <a:off x="1719072" y="3492638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1719072" y="349263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NVCR: TTFields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LUNAR-2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FR:Oct'28</a:t>
            </a:r>
            <a:endParaRPr lang="en-CN" dirty="0"/>
          </a:p>
        </p:txBody>
      </p:sp>
      <p:sp>
        <p:nvSpPr>
          <p:cNvPr id="90" name="Shape 88"/>
          <p:cNvSpPr/>
          <p:nvPr/>
        </p:nvSpPr>
        <p:spPr>
          <a:xfrm>
            <a:off x="1719072" y="4268048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1" name="Text 89"/>
          <p:cNvSpPr/>
          <p:nvPr/>
        </p:nvSpPr>
        <p:spPr>
          <a:xfrm>
            <a:off x="1719072" y="4268048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GILD: Domvanalimab + durva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PACIFIC-8 [TC≥1%]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FR:Jun'28</a:t>
            </a:r>
            <a:endParaRPr lang="en-CN"/>
          </a:p>
        </p:txBody>
      </p:sp>
      <p:sp>
        <p:nvSpPr>
          <p:cNvPr id="92" name="Shape 90"/>
          <p:cNvSpPr/>
          <p:nvPr/>
        </p:nvSpPr>
        <p:spPr>
          <a:xfrm>
            <a:off x="1719072" y="4423130"/>
            <a:ext cx="485241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3" name="Text 91"/>
          <p:cNvSpPr/>
          <p:nvPr/>
        </p:nvSpPr>
        <p:spPr>
          <a:xfrm>
            <a:off x="1719072" y="4423130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QUILT-2.023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PCD'26 | FR:Oct'26</a:t>
            </a:r>
            <a:endParaRPr lang="en-CN"/>
          </a:p>
        </p:txBody>
      </p:sp>
      <p:sp>
        <p:nvSpPr>
          <p:cNvPr id="94" name="Shape 92"/>
          <p:cNvSpPr/>
          <p:nvPr/>
        </p:nvSpPr>
        <p:spPr>
          <a:xfrm>
            <a:off x="1719072" y="3570179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1719072" y="3570179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Sac-gov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EVOKE-03 / KEYNOTE-D46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PCD'27 | FR:Dec'26</a:t>
            </a:r>
            <a:endParaRPr lang="en-CN"/>
          </a:p>
        </p:txBody>
      </p:sp>
      <p:sp>
        <p:nvSpPr>
          <p:cNvPr id="96" name="Shape 94"/>
          <p:cNvSpPr/>
          <p:nvPr/>
        </p:nvSpPr>
        <p:spPr>
          <a:xfrm>
            <a:off x="1719072" y="3647720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7" name="Text 95"/>
          <p:cNvSpPr/>
          <p:nvPr/>
        </p:nvSpPr>
        <p:spPr>
          <a:xfrm>
            <a:off x="1719072" y="3647720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TroFuse-007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FR:Jan'28</a:t>
            </a:r>
            <a:endParaRPr lang="en-CN"/>
          </a:p>
        </p:txBody>
      </p:sp>
      <p:sp>
        <p:nvSpPr>
          <p:cNvPr id="98" name="Shape 96"/>
          <p:cNvSpPr/>
          <p:nvPr/>
        </p:nvSpPr>
        <p:spPr>
          <a:xfrm>
            <a:off x="1719072" y="3725261"/>
            <a:ext cx="2398776" cy="7022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9" name="Text 97"/>
          <p:cNvSpPr/>
          <p:nvPr/>
        </p:nvSpPr>
        <p:spPr>
          <a:xfrm>
            <a:off x="1719072" y="3725261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BE6A LUNG-02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FR:Dec'27</a:t>
            </a:r>
            <a:endParaRPr lang="en-CN"/>
          </a:p>
        </p:txBody>
      </p:sp>
      <p:sp>
        <p:nvSpPr>
          <p:cNvPr id="100" name="Shape 98"/>
          <p:cNvSpPr/>
          <p:nvPr/>
        </p:nvSpPr>
        <p:spPr>
          <a:xfrm>
            <a:off x="1719072" y="3880343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1" name="Text 99"/>
          <p:cNvSpPr/>
          <p:nvPr/>
        </p:nvSpPr>
        <p:spPr>
          <a:xfrm>
            <a:off x="1719072" y="3880343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KANDLELIT-004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FR:Feb'28</a:t>
            </a:r>
            <a:endParaRPr lang="en-CN"/>
          </a:p>
        </p:txBody>
      </p:sp>
      <p:sp>
        <p:nvSpPr>
          <p:cNvPr id="102" name="Shape 100"/>
          <p:cNvSpPr/>
          <p:nvPr/>
        </p:nvSpPr>
        <p:spPr>
          <a:xfrm>
            <a:off x="1719072" y="3802802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3" name="Text 101"/>
          <p:cNvSpPr/>
          <p:nvPr/>
        </p:nvSpPr>
        <p:spPr>
          <a:xfrm>
            <a:off x="1719072" y="3802802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KRYSTAL-7 [Ph3]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FR:Jan'28</a:t>
            </a:r>
            <a:endParaRPr lang="en-CN"/>
          </a:p>
        </p:txBody>
      </p:sp>
      <p:sp>
        <p:nvSpPr>
          <p:cNvPr id="104" name="Shape 102"/>
          <p:cNvSpPr/>
          <p:nvPr/>
        </p:nvSpPr>
        <p:spPr>
          <a:xfrm>
            <a:off x="4172712" y="1251264"/>
            <a:ext cx="4852416" cy="7022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5" name="Text 103"/>
          <p:cNvSpPr/>
          <p:nvPr/>
        </p:nvSpPr>
        <p:spPr>
          <a:xfrm>
            <a:off x="4172712" y="1251264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 | FR:Jul'29</a:t>
            </a:r>
            <a:endParaRPr lang="en-CN"/>
          </a:p>
        </p:txBody>
      </p:sp>
      <p:sp>
        <p:nvSpPr>
          <p:cNvPr id="106" name="Shape 104"/>
          <p:cNvSpPr/>
          <p:nvPr/>
        </p:nvSpPr>
        <p:spPr>
          <a:xfrm>
            <a:off x="1719072" y="1864277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7" name="Text 105"/>
          <p:cNvSpPr/>
          <p:nvPr/>
        </p:nvSpPr>
        <p:spPr>
          <a:xfrm>
            <a:off x="1719072" y="186427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LLY: Olomorasib + pembro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SUNRAY-01 [multi-part]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PCD'27 | FR:Oct'26</a:t>
            </a:r>
            <a:endParaRPr lang="en-CN"/>
          </a:p>
        </p:txBody>
      </p:sp>
      <p:sp>
        <p:nvSpPr>
          <p:cNvPr id="108" name="Shape 106"/>
          <p:cNvSpPr/>
          <p:nvPr/>
        </p:nvSpPr>
        <p:spPr>
          <a:xfrm>
            <a:off x="1719072" y="4035425"/>
            <a:ext cx="239877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9" name="Text 107"/>
          <p:cNvSpPr/>
          <p:nvPr/>
        </p:nvSpPr>
        <p:spPr>
          <a:xfrm>
            <a:off x="1719072" y="4035425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HARMONi-7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FR:Apr'28</a:t>
            </a:r>
            <a:endParaRPr lang="en-CN"/>
          </a:p>
        </p:txBody>
      </p:sp>
      <p:sp>
        <p:nvSpPr>
          <p:cNvPr id="110" name="Shape 108"/>
          <p:cNvSpPr/>
          <p:nvPr/>
        </p:nvSpPr>
        <p:spPr>
          <a:xfrm>
            <a:off x="1719072" y="4112966"/>
            <a:ext cx="239877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1" name="Text 109"/>
          <p:cNvSpPr/>
          <p:nvPr/>
        </p:nvSpPr>
        <p:spPr>
          <a:xfrm>
            <a:off x="1719072" y="4112966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ARTEMIDE-Lung04 [TC≥50%]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PCD'30 | FR:Jan'30</a:t>
            </a:r>
            <a:endParaRPr lang="en-CN"/>
          </a:p>
        </p:txBody>
      </p:sp>
      <p:sp>
        <p:nvSpPr>
          <p:cNvPr id="112" name="Shape 110"/>
          <p:cNvSpPr/>
          <p:nvPr/>
        </p:nvSpPr>
        <p:spPr>
          <a:xfrm>
            <a:off x="1719072" y="4190507"/>
            <a:ext cx="239877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3" name="Text 111"/>
          <p:cNvSpPr/>
          <p:nvPr/>
        </p:nvSpPr>
        <p:spPr>
          <a:xfrm>
            <a:off x="1719072" y="4190507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R3767-ONC-2235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PCD'30 | FR:Feb'29</a:t>
            </a:r>
            <a:endParaRPr lang="en-CN"/>
          </a:p>
        </p:txBody>
      </p:sp>
      <p:sp>
        <p:nvSpPr>
          <p:cNvPr id="114" name="Shape 112"/>
          <p:cNvSpPr/>
          <p:nvPr/>
        </p:nvSpPr>
        <p:spPr>
          <a:xfrm>
            <a:off x="4172712" y="4345589"/>
            <a:ext cx="485241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5" name="Text 113"/>
          <p:cNvSpPr/>
          <p:nvPr/>
        </p:nvSpPr>
        <p:spPr>
          <a:xfrm>
            <a:off x="4172712" y="4345589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Volrustomig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eVOLVE-Lung02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FR:Dec'27</a:t>
            </a:r>
            <a:endParaRPr lang="en-CN"/>
          </a:p>
        </p:txBody>
      </p:sp>
      <p:sp>
        <p:nvSpPr>
          <p:cNvPr id="116" name="Shape 114"/>
          <p:cNvSpPr/>
          <p:nvPr/>
        </p:nvSpPr>
        <p:spPr>
          <a:xfrm>
            <a:off x="1069848" y="4570897"/>
            <a:ext cx="594360" cy="301848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7" name="Text 115"/>
          <p:cNvSpPr/>
          <p:nvPr/>
        </p:nvSpPr>
        <p:spPr>
          <a:xfrm>
            <a:off x="1069848" y="4570897"/>
            <a:ext cx="594360" cy="30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(~30%)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1691640" y="4570897"/>
            <a:ext cx="2453640" cy="301848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Shape 117"/>
          <p:cNvSpPr/>
          <p:nvPr/>
        </p:nvSpPr>
        <p:spPr>
          <a:xfrm>
            <a:off x="4145280" y="4570897"/>
            <a:ext cx="2453640" cy="301848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0" name="Shape 118"/>
          <p:cNvSpPr/>
          <p:nvPr/>
        </p:nvSpPr>
        <p:spPr>
          <a:xfrm>
            <a:off x="6598920" y="4570897"/>
            <a:ext cx="2453640" cy="301848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Shape 119"/>
          <p:cNvSpPr/>
          <p:nvPr/>
        </p:nvSpPr>
        <p:spPr>
          <a:xfrm>
            <a:off x="1719072" y="4648438"/>
            <a:ext cx="730605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2" name="Text 120"/>
          <p:cNvSpPr/>
          <p:nvPr/>
        </p:nvSpPr>
        <p:spPr>
          <a:xfrm>
            <a:off x="1719072" y="464843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TroFuse-023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FR:Jan'29</a:t>
            </a:r>
            <a:endParaRPr lang="en-CN"/>
          </a:p>
        </p:txBody>
      </p:sp>
      <p:sp>
        <p:nvSpPr>
          <p:cNvPr id="123" name="Shape 121"/>
          <p:cNvSpPr/>
          <p:nvPr/>
        </p:nvSpPr>
        <p:spPr>
          <a:xfrm>
            <a:off x="1719072" y="4725979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4" name="Text 122"/>
          <p:cNvSpPr/>
          <p:nvPr/>
        </p:nvSpPr>
        <p:spPr>
          <a:xfrm>
            <a:off x="1719072" y="4725979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ARTEMIDE-Lung02 [TC≥1%]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FR:Feb'29</a:t>
            </a:r>
            <a:endParaRPr lang="en-CN"/>
          </a:p>
        </p:txBody>
      </p:sp>
      <p:sp>
        <p:nvSpPr>
          <p:cNvPr id="125" name="Shape 123"/>
          <p:cNvSpPr/>
          <p:nvPr/>
        </p:nvSpPr>
        <p:spPr>
          <a:xfrm>
            <a:off x="45720" y="621792"/>
            <a:ext cx="960120" cy="868680"/>
          </a:xfrm>
          <a:prstGeom prst="rect">
            <a:avLst/>
          </a:prstGeom>
          <a:solidFill>
            <a:srgbClr val="F0FAFA"/>
          </a:solidFill>
          <a:ln w="19050">
            <a:solidFill>
              <a:srgbClr val="00B0B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6" name="Text 124"/>
          <p:cNvSpPr/>
          <p:nvPr/>
        </p:nvSpPr>
        <p:spPr>
          <a:xfrm>
            <a:off x="82296" y="649224"/>
            <a:ext cx="8869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Keytruda SoC:
</a:t>
            </a:r>
            <a:r>
              <a:rPr lang="en-US" sz="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≥50%: Pembro mono
• 1-49%: Pembro + chemo
• Neg: Pembro + chemo
• KRAS+/RAS: add targeted
</a:t>
            </a: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~1% HER2-mut → TKI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45720" y="1631654"/>
            <a:ext cx="960120" cy="777240"/>
          </a:xfrm>
          <a:prstGeom prst="rect">
            <a:avLst/>
          </a:prstGeom>
          <a:solidFill>
            <a:srgbClr val="F5F0FF"/>
          </a:solidFill>
          <a:ln w="1905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Text 126"/>
          <p:cNvSpPr/>
          <p:nvPr/>
        </p:nvSpPr>
        <p:spPr>
          <a:xfrm>
            <a:off x="82296" y="1631654"/>
            <a:ext cx="886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layering = pembro-
supportive:
</a:t>
            </a:r>
            <a:r>
              <a:rPr lang="en-US" sz="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KRAS on TOP of pembro/chemo. Not a displacement risk — a layering opportunity.
</a:t>
            </a: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~13% of adv NSCLC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54244" y="4951287"/>
            <a:ext cx="9144000" cy="406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2" name="Shape 130"/>
          <p:cNvSpPr/>
          <p:nvPr/>
        </p:nvSpPr>
        <p:spPr>
          <a:xfrm>
            <a:off x="139700" y="4976287"/>
            <a:ext cx="114300" cy="88900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3" name="Text 131"/>
          <p:cNvSpPr/>
          <p:nvPr/>
        </p:nvSpPr>
        <p:spPr>
          <a:xfrm>
            <a:off x="279400" y="4976287"/>
            <a:ext cx="635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50" dirty="0"/>
          </a:p>
        </p:txBody>
      </p:sp>
      <p:sp>
        <p:nvSpPr>
          <p:cNvPr id="134" name="Shape 132"/>
          <p:cNvSpPr/>
          <p:nvPr/>
        </p:nvSpPr>
        <p:spPr>
          <a:xfrm>
            <a:off x="1400628" y="4976287"/>
            <a:ext cx="114300" cy="88900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5" name="Text 133"/>
          <p:cNvSpPr/>
          <p:nvPr/>
        </p:nvSpPr>
        <p:spPr>
          <a:xfrm>
            <a:off x="1540328" y="4976287"/>
            <a:ext cx="609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2636157" y="4976287"/>
            <a:ext cx="114300" cy="88900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7" name="Text 135"/>
          <p:cNvSpPr/>
          <p:nvPr/>
        </p:nvSpPr>
        <p:spPr>
          <a:xfrm>
            <a:off x="2775857" y="4976287"/>
            <a:ext cx="355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KRAS/RAS</a:t>
            </a:r>
            <a:endParaRPr lang="en-US" sz="550" dirty="0"/>
          </a:p>
        </p:txBody>
      </p:sp>
      <p:sp>
        <p:nvSpPr>
          <p:cNvPr id="138" name="Shape 136"/>
          <p:cNvSpPr/>
          <p:nvPr/>
        </p:nvSpPr>
        <p:spPr>
          <a:xfrm>
            <a:off x="-5000000" y="4976287"/>
            <a:ext cx="114300" cy="88900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9" name="Text 137"/>
          <p:cNvSpPr/>
          <p:nvPr/>
        </p:nvSpPr>
        <p:spPr>
          <a:xfrm>
            <a:off x="-5000000" y="4976287"/>
            <a:ext cx="2794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50" dirty="0"/>
          </a:p>
        </p:txBody>
      </p:sp>
      <p:sp>
        <p:nvSpPr>
          <p:cNvPr id="140" name="Shape 138"/>
          <p:cNvSpPr/>
          <p:nvPr/>
        </p:nvSpPr>
        <p:spPr>
          <a:xfrm>
            <a:off x="4523014" y="4976287"/>
            <a:ext cx="114300" cy="8890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1" name="Text 139"/>
          <p:cNvSpPr/>
          <p:nvPr/>
        </p:nvSpPr>
        <p:spPr>
          <a:xfrm>
            <a:off x="4662714" y="4976287"/>
            <a:ext cx="9144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50" dirty="0"/>
          </a:p>
        </p:txBody>
      </p:sp>
      <p:sp>
        <p:nvSpPr>
          <p:cNvPr id="142" name="Shape 140"/>
          <p:cNvSpPr/>
          <p:nvPr/>
        </p:nvSpPr>
        <p:spPr>
          <a:xfrm>
            <a:off x="6063342" y="4976287"/>
            <a:ext cx="114300" cy="88900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3" name="Text 141"/>
          <p:cNvSpPr/>
          <p:nvPr/>
        </p:nvSpPr>
        <p:spPr>
          <a:xfrm>
            <a:off x="6203042" y="4976287"/>
            <a:ext cx="381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550" dirty="0"/>
          </a:p>
        </p:txBody>
      </p:sp>
      <p:sp>
        <p:nvSpPr>
          <p:cNvPr id="144" name="Shape 142"/>
          <p:cNvSpPr/>
          <p:nvPr/>
        </p:nvSpPr>
        <p:spPr>
          <a:xfrm>
            <a:off x="7070271" y="4976287"/>
            <a:ext cx="114300" cy="889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5" name="Text 143"/>
          <p:cNvSpPr/>
          <p:nvPr/>
        </p:nvSpPr>
        <p:spPr>
          <a:xfrm>
            <a:off x="7209971" y="4976287"/>
            <a:ext cx="355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550" dirty="0"/>
          </a:p>
        </p:txBody>
      </p:sp>
      <p:sp>
        <p:nvSpPr>
          <p:cNvPr id="146" name="Shape 144"/>
          <p:cNvSpPr/>
          <p:nvPr/>
        </p:nvSpPr>
        <p:spPr>
          <a:xfrm>
            <a:off x="8051800" y="4976287"/>
            <a:ext cx="114300" cy="8890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7" name="Text 145"/>
          <p:cNvSpPr/>
          <p:nvPr/>
        </p:nvSpPr>
        <p:spPr>
          <a:xfrm>
            <a:off x="8191500" y="4976287"/>
            <a:ext cx="8255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50" dirty="0"/>
          </a:p>
        </p:txBody>
      </p:sp>
      <p:sp>
        <p:nvSpPr>
          <p:cNvPr id="148" name="Text 146"/>
          <p:cNvSpPr/>
          <p:nvPr/>
        </p:nvSpPr>
        <p:spPr>
          <a:xfrm>
            <a:off x="137160" y="4964359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Stage III only    ○ Stage not specified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137160" y="5166287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| Non-biosimilar | 1L NSCLC | EGFR/ALK/ROS1/NTRK excluded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April 2026</a:t>
            </a:r>
            <a:r>
              <a:rPr lang="zh-CN" alt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zh-CN" alt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Faded</a:t>
            </a:r>
            <a:r>
              <a:rPr lang="zh-CN" alt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</a:t>
            </a:r>
            <a:r>
              <a:rPr lang="zh-CN" alt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</a:t>
            </a:r>
            <a:r>
              <a:rPr lang="zh-CN" alt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</a:t>
            </a:r>
            <a:r>
              <a:rPr lang="zh-CN" alt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r>
              <a:rPr lang="zh-CN" alt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</a:t>
            </a:r>
            <a:endParaRPr lang="en-US" sz="450" dirty="0"/>
          </a:p>
        </p:txBody>
      </p:sp>
      <p:sp>
        <p:nvSpPr>
          <p:cNvPr id="150" name="Shape 150"/>
          <p:cNvSpPr/>
          <p:nvPr/>
        </p:nvSpPr>
        <p:spPr>
          <a:xfrm>
            <a:off x="1719072" y="3027392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1" name="Shape 151"/>
          <p:cNvSpPr/>
          <p:nvPr/>
        </p:nvSpPr>
        <p:spPr>
          <a:xfrm>
            <a:off x="1719072" y="3027392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Eikon/MRK: EIK1001 + pembro + chemo | </a:t>
            </a:r>
            <a:r>
              <a:rPr lang="en-US" sz="4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TeLuRide-008 [TLR7/8]</a:t>
            </a: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PCD'35 | FR:Dec'30</a:t>
            </a:r>
            <a:endParaRPr lang="en-CN"/>
          </a:p>
        </p:txBody>
      </p:sp>
      <p:sp>
        <p:nvSpPr>
          <p:cNvPr id="200" name="Divider 1"/>
          <p:cNvSpPr/>
          <p:nvPr/>
        </p:nvSpPr>
        <p:spPr>
          <a:xfrm>
            <a:off x="1069848" y="1453310"/>
            <a:ext cx="79552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201" name="Divider 2"/>
          <p:cNvSpPr/>
          <p:nvPr/>
        </p:nvSpPr>
        <p:spPr>
          <a:xfrm>
            <a:off x="1069848" y="4547635"/>
            <a:ext cx="79552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551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2: 1L vs 2L Pipeline Density by Mechanism — Phase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competitive intensity greatest? Which mechanisms threaten Keytruda's different patient segments?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Phase 3 (51 drugs)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051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05840" y="1069848"/>
            <a:ext cx="3200400" cy="16459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82880" y="1252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KRAS/RAS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05840" y="1271016"/>
            <a:ext cx="2286000" cy="16459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1252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1453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05840" y="1472184"/>
            <a:ext cx="1600200" cy="16459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1005840" y="14538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2880" y="16550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05840" y="1673352"/>
            <a:ext cx="1371600" cy="16459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05840" y="1655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2880" y="1856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05840" y="1874520"/>
            <a:ext cx="1371600" cy="16459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005840" y="1856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2880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05840" y="2075688"/>
            <a:ext cx="685800" cy="16459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1005840" y="20574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82880" y="22585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05840" y="2276856"/>
            <a:ext cx="685800" cy="16459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005840" y="22585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-5000000" y="2459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/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RAS/KRAS G12D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-5000000" y="2478024"/>
            <a:ext cx="457200" cy="16459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005840" y="24597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868680"/>
            <a:ext cx="0" cy="320040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4846320" y="777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 Phase 3 (29 drugs)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1051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669280" y="1069848"/>
            <a:ext cx="2377440" cy="16459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5669280" y="1051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46320" y="1252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669280" y="1271016"/>
            <a:ext cx="1584960" cy="16459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5669280" y="1252728"/>
            <a:ext cx="158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6320" y="1453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669280" y="1472184"/>
            <a:ext cx="594360" cy="16459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5669280" y="14538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46320" y="16550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69280" y="1673352"/>
            <a:ext cx="396240" cy="16459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5669280" y="1655064"/>
            <a:ext cx="39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46320" y="1856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KRAS/RAS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669280" y="1874520"/>
            <a:ext cx="594360" cy="16459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5669280" y="18562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-5000000" y="2057400"/>
            <a:ext cx="884579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/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RAS/KRAS G12D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-5000000" y="2075688"/>
            <a:ext cx="198120" cy="16459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5669280" y="2057400"/>
            <a:ext cx="19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is an IO-augmentation war — KRAS/RAS and TROP2 ADCs dominate non-IO categories. Pan-KRAS and G12D inhibitors add a new threat vector. 2L is ADC-dominated (TROP2, MET, PD-L1 ADCs). TIGIT and LAG3 are 1L-only bets.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only, biosimilars excluded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3a: Phase 3 Catalyst Timeline — Major Competitive Threats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bispecifics, KRAS/RAS, and TROP2 ADCs — the key mechanisms to watch.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02336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21208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40080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5895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1645920" y="960120"/>
            <a:ext cx="713232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1943100" y="1033272"/>
            <a:ext cx="0" cy="3840480"/>
          </a:xfrm>
          <a:prstGeom prst="line">
            <a:avLst/>
          </a:prstGeom>
          <a:noFill/>
          <a:ln w="12700">
            <a:solidFill>
              <a:srgbClr val="D32F2F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805940" y="97840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91440" y="1124712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15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Bispecifics — pembro replacement risk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5720" y="1252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1943100" y="1261872"/>
            <a:ext cx="9906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 rot="10800000" flipH="1" flipV="1">
            <a:off x="2067560" y="126187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(HARMONi-3/AK112-3003)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FR:May'26  [Recruiting]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45720" y="1351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1943100" y="1360627"/>
            <a:ext cx="23774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4345940" y="136062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(HARMONi-7/AK112-3007)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FR:Apr'28  [Recruiting]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5720" y="1450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PF-08634404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1943100" y="1459382"/>
            <a:ext cx="33680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5336540" y="145938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(Symbiotic-Lung-01)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[Recruiting]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5720" y="154899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 + chemo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1943100" y="1558138"/>
            <a:ext cx="33680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5336540" y="155813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(ROSETTA Lung-02 / BNT327-06)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[Recruiting]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5720" y="164774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CStone: CS2009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1943100" y="1656893"/>
            <a:ext cx="4358640" cy="73152"/>
          </a:xfrm>
          <a:prstGeom prst="rect">
            <a:avLst/>
          </a:prstGeom>
          <a:solidFill>
            <a:srgbClr val="01579B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327140" y="1656893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FR:Dec'29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5720" y="174650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BMY/BNTX: Pumitamig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1943100" y="1755648"/>
            <a:ext cx="525018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7218680" y="175564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(ROSETTA Lung-201)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FR:Sep'30  [Recruiting]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5720" y="184525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1943100" y="1854403"/>
            <a:ext cx="653796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7218680" y="196230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(ROSETTA Lung-202)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FR:Oct'31  [Recruiting]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91440" y="197144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 Inhibitors — pembro-additive (layering on SoC)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5720" y="2099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+ chemo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1943100" y="2108606"/>
            <a:ext cx="1981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2166620" y="210860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(CodeBreaK 202)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FR:Jun'26  [Recruiting]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5720" y="2198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LLY: Olomorasib + pembro + chemo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943100" y="2207362"/>
            <a:ext cx="5943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2562860" y="220736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(SUNRAY-01)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FR:Oct'26  [Recruiting]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45720" y="229697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1943100" y="2306117"/>
            <a:ext cx="20802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4048760" y="230611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(KRYSTAL-7 (PD-L1 ≥50%)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FR:Jan'28  [Recruiting]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45720" y="2395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1943100" y="2404872"/>
            <a:ext cx="21793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4147820" y="240487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(KANDLELIT-004)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FR:Feb'28  [Recruiting]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45720" y="2494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 + pembro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1943100" y="2503627"/>
            <a:ext cx="30708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5039360" y="250362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(Krascendo 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FR:Nov'28  [Recruiting]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45720" y="2593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LLY: Olomorasib + durva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1943100" y="2602382"/>
            <a:ext cx="36652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5633720" y="260238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(SUNRAY-02 (Part B)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FR:May'29  [Recruiting]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5720" y="269199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1943100" y="2701138"/>
            <a:ext cx="38633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5831840" y="270113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FR:Jul'29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45720" y="279074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1943100" y="2799893"/>
            <a:ext cx="40614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6029960" y="2799893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(KRYSTAL-4)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FR:Sep'29  [Recruiting]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45720" y="288950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1943100" y="2898648"/>
            <a:ext cx="43586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6327140" y="289864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(KANDLELIT-007)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FR:Dec'29  [Recruiting]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45720" y="298825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Elironrasib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1943100" y="2997403"/>
            <a:ext cx="4358640" cy="73152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6327140" y="2997403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FR:Dec'29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91440" y="311444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 / Other KRAS — pan-RAS, G12D (new threat vector)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5720" y="3242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Zoldonrasib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1943100" y="3251606"/>
            <a:ext cx="3467100" cy="73152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5435600" y="325160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(RASolve 308)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FR:Mar'29  [Projected]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45720" y="3341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Daraxonrasib + pembro + chemo</a:t>
            </a:r>
            <a:endParaRPr lang="en-US" sz="500" dirty="0"/>
          </a:p>
        </p:txBody>
      </p:sp>
      <p:sp>
        <p:nvSpPr>
          <p:cNvPr id="78" name="Shape 76"/>
          <p:cNvSpPr/>
          <p:nvPr/>
        </p:nvSpPr>
        <p:spPr>
          <a:xfrm>
            <a:off x="1943100" y="3350362"/>
            <a:ext cx="4061460" cy="73152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6029960" y="335036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FR:Sep'29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91440" y="3467405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 Combos — chemo backbone displacement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5720" y="3595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durva + chemo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1943100" y="3604565"/>
            <a:ext cx="2971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2265680" y="360456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(AVANZAR)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FR:Jul'26  [Active, Not Recruiting]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45720" y="3694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943100" y="3703320"/>
            <a:ext cx="5943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2562860" y="370332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(TROPION-Lung07)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FR:Oct'26  [Active, Not Recruiting]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45720" y="3792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1943100" y="3802075"/>
            <a:ext cx="5943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2562860" y="380207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(TROPION-Lung08)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FR:Oct'26  [Recruiting]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45720" y="389168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Sac-gov + pembro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1943100" y="3900830"/>
            <a:ext cx="7924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2760980" y="390083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(EVOKE-03 / KEYNOTE‐D46)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FR:Dec'26  [Active, Not Recruiting]</a:t>
            </a:r>
            <a:endParaRPr lang="en-US" sz="500" dirty="0"/>
          </a:p>
        </p:txBody>
      </p:sp>
      <p:sp>
        <p:nvSpPr>
          <p:cNvPr id="93" name="Text 91"/>
          <p:cNvSpPr/>
          <p:nvPr/>
        </p:nvSpPr>
        <p:spPr>
          <a:xfrm>
            <a:off x="45720" y="3990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</a:t>
            </a:r>
            <a:endParaRPr lang="en-US" sz="500" dirty="0"/>
          </a:p>
        </p:txBody>
      </p:sp>
      <p:sp>
        <p:nvSpPr>
          <p:cNvPr id="94" name="Shape 92"/>
          <p:cNvSpPr/>
          <p:nvPr/>
        </p:nvSpPr>
        <p:spPr>
          <a:xfrm>
            <a:off x="1943100" y="3999586"/>
            <a:ext cx="20802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4048760" y="399958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(TroFuse-007)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FR:Jan'28  [Recruiting]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45720" y="408919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</a:t>
            </a:r>
            <a:endParaRPr lang="en-US" sz="500" dirty="0"/>
          </a:p>
        </p:txBody>
      </p:sp>
      <p:sp>
        <p:nvSpPr>
          <p:cNvPr id="97" name="Shape 95"/>
          <p:cNvSpPr/>
          <p:nvPr/>
        </p:nvSpPr>
        <p:spPr>
          <a:xfrm>
            <a:off x="1943100" y="4098341"/>
            <a:ext cx="32689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8" name="Text 96"/>
          <p:cNvSpPr/>
          <p:nvPr/>
        </p:nvSpPr>
        <p:spPr>
          <a:xfrm>
            <a:off x="5237480" y="4098341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(TroFuse-023)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FR:Jan'29  [Recruiting]</a:t>
            </a:r>
            <a:endParaRPr lang="en-US" sz="500" dirty="0"/>
          </a:p>
        </p:txBody>
      </p:sp>
      <p:sp>
        <p:nvSpPr>
          <p:cNvPr id="99" name="Text 97"/>
          <p:cNvSpPr/>
          <p:nvPr/>
        </p:nvSpPr>
        <p:spPr>
          <a:xfrm>
            <a:off x="137160" y="4983480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Stage III only   ○ = Stage not specified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Phase 3, 1L NSCLC | April 2026</a:t>
            </a:r>
            <a:endParaRPr lang="en-US" sz="450" dirty="0"/>
          </a:p>
        </p:txBody>
      </p:sp>
      <p:sp>
        <p:nvSpPr>
          <p:cNvPr id="100" name="Text 98"/>
          <p:cNvSpPr/>
          <p:nvPr/>
        </p:nvSpPr>
        <p:spPr>
          <a:xfrm>
            <a:off x="500000" y="6400000"/>
            <a:ext cx="20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status as of April 2026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4960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3b: Phase 3 Catalyst Timeline — Emerging Mechanisms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TIGIT, ADC novel targets, and IO/novel mechanisms — mid-term competitive dynamics.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02336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21208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40080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5895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1645920" y="960120"/>
            <a:ext cx="713232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1943100" y="1243584"/>
            <a:ext cx="0" cy="3630168"/>
          </a:xfrm>
          <a:prstGeom prst="line">
            <a:avLst/>
          </a:prstGeom>
          <a:noFill/>
          <a:ln w="12700">
            <a:solidFill>
              <a:srgbClr val="D32F2F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805940" y="97840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91440" y="1124712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9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ADCs — novel targets (Integrin, c-MET, PD-L1)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5720" y="1252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+ pembro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1943100" y="1261872"/>
            <a:ext cx="198120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3949700" y="126187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(BE6A LUNG-02)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FR:Dec'27  [Recruiting]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45720" y="1351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1943100" y="1360627"/>
            <a:ext cx="3268980" cy="73152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237480" y="1360627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FR:Jan'29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5720" y="1450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1943100" y="1459382"/>
            <a:ext cx="376428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5732780" y="145938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91440" y="157642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0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 Combinations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720" y="1704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Domvanalimab + zimb + chemo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1943100" y="1713586"/>
            <a:ext cx="13868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3355340" y="171358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(STAR-121)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FR:Jun'27  [Active, Not Recruiting]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45720" y="180319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1943100" y="1812341"/>
            <a:ext cx="23774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4345940" y="1812341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(TROPION-Lung10)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FR:Apr'28  [Recruiting]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720" y="190195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GILD: Domvanalimab + durva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1943100" y="1911096"/>
            <a:ext cx="257556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4544060" y="191109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(PACIFIC-8)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FR:Jun'28  [Recruiting]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45720" y="200070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1943100" y="2009851"/>
            <a:ext cx="33680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5336540" y="2009851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(ARTEMIDE-Lung02)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[Recruiting]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45720" y="2099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1943100" y="2108606"/>
            <a:ext cx="366522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5633720" y="2108606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(ARTEMIDE-Lung03)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FR:May'29  [Recruiting]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5720" y="2198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943100" y="2207362"/>
            <a:ext cx="445770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6426200" y="2207362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(ARTEMIDE-Lung04)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FR:Jan'30  [Recruiting]</a:t>
            </a:r>
            <a:endParaRPr lang="en-US" sz="500" dirty="0"/>
          </a:p>
        </p:txBody>
      </p:sp>
      <p:sp>
        <p:nvSpPr>
          <p:cNvPr id="97" name="Shape 45"/>
          <p:cNvSpPr/>
          <p:nvPr/>
        </p:nvSpPr>
        <p:spPr>
          <a:xfrm>
            <a:off x="1943100" y="4000000"/>
            <a:ext cx="5561118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8" name="Text 46"/>
          <p:cNvSpPr/>
          <p:nvPr/>
        </p:nvSpPr>
        <p:spPr>
          <a:xfrm>
            <a:off x="7529618" y="400000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Eikon: EIK1001 (TeLuRide-008)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FR:Dec'30  [Not Yet Recruiting]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91440" y="2324405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 Combinations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5720" y="2452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 + chemo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1943100" y="2461565"/>
            <a:ext cx="336804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5336540" y="246156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(R3767-ONC-2236)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[Active, Not Recruiting]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45720" y="2551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1943100" y="2560320"/>
            <a:ext cx="336804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5336540" y="256032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(R3767-ONC-2235)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FR:Feb'29  [Active, Not Recruiting]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45720" y="2649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Relatlimab/Nivo FDC + chemo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1943100" y="2659075"/>
            <a:ext cx="505206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7020560" y="265907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(RELATIVITY1093)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FR:Jul'30  [Recruiting]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91440" y="2776118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 / Novel Mechanisms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5720" y="290413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Monalizumab + durva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1943100" y="2913278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2265680" y="2913278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(PACIFIC-9)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FR:Jul'26  [Active, Not Recruiting]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45720" y="300289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Olaparib + pembro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1943100" y="3012034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2265680" y="3012034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(KEYLYNK-012)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FR:Jul'26  [Active, Not Recruiting]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45720" y="3101645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Oleclumab + durva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>
            <a:off x="1943100" y="3110789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2265680" y="3110789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(PACIFIC-9)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FR:Jul'26  [Active, Not Recruiting]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45720" y="320040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pembro</a:t>
            </a:r>
            <a:endParaRPr lang="en-US" sz="500" dirty="0"/>
          </a:p>
        </p:txBody>
      </p:sp>
      <p:sp>
        <p:nvSpPr>
          <p:cNvPr id="70" name="Shape 68"/>
          <p:cNvSpPr/>
          <p:nvPr/>
        </p:nvSpPr>
        <p:spPr>
          <a:xfrm>
            <a:off x="1943100" y="3209544"/>
            <a:ext cx="59436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2562860" y="3209544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(QUILT-2.023)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FR:Oct'26  [Active, Not Recruiting]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45720" y="3299155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Volrustomig + chemo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1943100" y="3308299"/>
            <a:ext cx="19812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3949700" y="3308299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(eVOLVE-Lung02)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FR:Dec'27  [Active, Not Recruiting]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45720" y="339791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NVCR: TTFields + pembro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1943100" y="3407054"/>
            <a:ext cx="29718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4940300" y="3407054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(LUNAR-2)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FR:Oct'28  [Recruiting]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45720" y="349666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</a:t>
            </a:r>
            <a:endParaRPr lang="en-US" sz="500" dirty="0"/>
          </a:p>
        </p:txBody>
      </p:sp>
      <p:sp>
        <p:nvSpPr>
          <p:cNvPr id="79" name="Shape 77"/>
          <p:cNvSpPr/>
          <p:nvPr/>
        </p:nvSpPr>
        <p:spPr>
          <a:xfrm>
            <a:off x="1943100" y="3505810"/>
            <a:ext cx="3268980" cy="73152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0" name="Text 78"/>
          <p:cNvSpPr/>
          <p:nvPr/>
        </p:nvSpPr>
        <p:spPr>
          <a:xfrm>
            <a:off x="5237480" y="350581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(ResQ302)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FR:Jan'29  [Projected]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45720" y="3595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1943100" y="3604565"/>
            <a:ext cx="3764280" cy="73152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5732780" y="360456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45720" y="3694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943100" y="3703320"/>
            <a:ext cx="3764280" cy="73152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5732780" y="370332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45720" y="3792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IOVA: Lifileucel + pembro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1943100" y="3802075"/>
            <a:ext cx="3764280" cy="73152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5732780" y="380207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45720" y="389168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Livmoniplimab + budi + chemo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1943100" y="3900830"/>
            <a:ext cx="49530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6921500" y="3900830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(LIVIGNO-4)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FR:Jun'30  [Recruiting]</a:t>
            </a:r>
            <a:endParaRPr lang="en-US" sz="500" dirty="0"/>
          </a:p>
        </p:txBody>
      </p:sp>
      <p:sp>
        <p:nvSpPr>
          <p:cNvPr id="93" name="Text 91"/>
          <p:cNvSpPr/>
          <p:nvPr/>
        </p:nvSpPr>
        <p:spPr>
          <a:xfrm>
            <a:off x="45720" y="3990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Navlimetostat + pembro + chemo</a:t>
            </a:r>
            <a:endParaRPr lang="en-US" sz="500" dirty="0"/>
          </a:p>
        </p:txBody>
      </p:sp>
      <p:sp>
        <p:nvSpPr>
          <p:cNvPr id="94" name="Shape 92"/>
          <p:cNvSpPr/>
          <p:nvPr/>
        </p:nvSpPr>
        <p:spPr>
          <a:xfrm>
            <a:off x="1943100" y="3999586"/>
            <a:ext cx="633984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6911340" y="4105655"/>
            <a:ext cx="190500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(MountainTAP-29)</a:t>
            </a: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FR:Aug'31  [Recruiting]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137160" y="4983480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Stage III only   ○ = Stage not specified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Phase 3, 1L NSCLC | April 2026</a:t>
            </a:r>
            <a:endParaRPr lang="en-US" sz="450" dirty="0"/>
          </a:p>
        </p:txBody>
      </p:sp>
      <p:sp>
        <p:nvSpPr>
          <p:cNvPr id="999" name="Footnote"/>
          <p:cNvSpPr/>
          <p:nvPr/>
        </p:nvSpPr>
        <p:spPr>
          <a:xfrm>
            <a:off x="500000" y="6400000"/>
            <a:ext cx="4000000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status as of April 2026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3532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4: Biosimilar Threat Tracker — Keytruda Revenue Erosion Timeline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Keytruda lose exclusivity? How many biosimilars are coming? Bevacizumab erosion as a template.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46304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Originator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20240" y="777240"/>
            <a:ext cx="146304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920240" y="777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Biosimilar Sponsor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777240"/>
            <a:ext cx="91440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3383280" y="777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Stage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0" y="777240"/>
            <a:ext cx="91440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4297680" y="777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12080" y="777240"/>
            <a:ext cx="109728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5212080" y="777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Threat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005840"/>
            <a:ext cx="1463040" cy="804672"/>
          </a:xfrm>
          <a:prstGeom prst="rect">
            <a:avLst/>
          </a:prstGeom>
          <a:solidFill>
            <a:srgbClr val="FFEBEE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02920" y="1005840"/>
            <a:ext cx="1371600" cy="804672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Pembrolizumab
</a:t>
            </a: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 — $25B+ rev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1005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Bioepis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005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7680" y="1005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0" y="1069848"/>
            <a:ext cx="82296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920240" y="1207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mAbxience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1271016"/>
            <a:ext cx="82296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1920240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Celltrion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0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0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03520" y="1472184"/>
            <a:ext cx="68580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92024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Amgen (AMGN)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83280" y="1609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97680" y="1609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3520" y="1673352"/>
            <a:ext cx="548640" cy="73152"/>
          </a:xfrm>
          <a:prstGeom prst="rect">
            <a:avLst/>
          </a:prstGeom>
          <a:solidFill>
            <a:srgbClr val="EF9A9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457200" y="1856232"/>
            <a:ext cx="1463040" cy="1408176"/>
          </a:xfrm>
          <a:prstGeom prst="rect">
            <a:avLst/>
          </a:prstGeom>
          <a:solidFill>
            <a:srgbClr val="F8FAFC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502920" y="1856232"/>
            <a:ext cx="1371600" cy="1408176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Bevacizumab
</a:t>
            </a: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 — genericized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240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Amgen (AMGN)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8328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9768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0" y="1920240"/>
            <a:ext cx="27432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1920240" y="2057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Pfizer (PFE)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832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976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03520" y="2121408"/>
            <a:ext cx="27432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1920240" y="2258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Sandoz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83280" y="2258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97680" y="2258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0" y="2322576"/>
            <a:ext cx="22860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920240" y="2459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Amneal Pharma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83280" y="2459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297680" y="2459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03520" y="2523744"/>
            <a:ext cx="18288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1920240" y="2660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Celltrion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83280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97680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03520" y="2724912"/>
            <a:ext cx="18288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1920240" y="2862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Biocon Biologics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83280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297680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03520" y="2926080"/>
            <a:ext cx="13716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1920240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Prestige Biopharma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8328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29768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FR Mar 2026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303520" y="3127248"/>
            <a:ext cx="9144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Shape 61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4" name="Text 62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Pembro biosimilar risk is real and near-term — 4 Phase 3 programs with PCDs in 2026-2028. Samsung Bioepis and mAbxience are furthest along. Bevacizumab is already largely genericized. For MRK investors, the biosimilar timeline is more important than any single pipeline competitor.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5: Target × Biomarker Selection Heat 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target-biomarker combinations are crowded (risk) vs. whitespace (opportunity)?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Phase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78408"/>
            <a:ext cx="7772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18288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↓ / BM →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96012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160020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60020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1-49%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24028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224028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G12C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288036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288036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(all)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182880" y="1234440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960120" y="123444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9601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00200" y="1234440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60020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028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224028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80360" y="1234440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288036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" y="1490472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96012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96012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0020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60020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4028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224028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1490472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288036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2880" y="1746504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60120" y="1746504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96012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0020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160020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40280" y="174650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224028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88036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288036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2880" y="2002536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96012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96012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0020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60020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4028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224028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80360" y="2002536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288036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82880" y="2258568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960120" y="2258568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96012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0020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160020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24028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224028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880360" y="2258568"/>
            <a:ext cx="640080" cy="256032"/>
          </a:xfrm>
          <a:prstGeom prst="rect">
            <a:avLst/>
          </a:prstGeom>
          <a:solidFill>
            <a:srgbClr val="007A85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288036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82880" y="2514600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960120" y="2514600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96012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600200" y="251460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160020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4028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224028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880360" y="2514600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288036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82880" y="2770632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96012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96012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60020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160020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24028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224028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88036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Text 76"/>
          <p:cNvSpPr/>
          <p:nvPr/>
        </p:nvSpPr>
        <p:spPr>
          <a:xfrm>
            <a:off x="288036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82880" y="3026664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96012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96012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600200" y="3026664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160020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24028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5" name="Text 83"/>
          <p:cNvSpPr/>
          <p:nvPr/>
        </p:nvSpPr>
        <p:spPr>
          <a:xfrm>
            <a:off x="224028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880360" y="302666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288036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754880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 Phase 3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754880" y="978408"/>
            <a:ext cx="7772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0" name="Text 88"/>
          <p:cNvSpPr/>
          <p:nvPr/>
        </p:nvSpPr>
        <p:spPr>
          <a:xfrm>
            <a:off x="475488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↓ / BM →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553212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553212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617220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4" name="Text 92"/>
          <p:cNvSpPr/>
          <p:nvPr/>
        </p:nvSpPr>
        <p:spPr>
          <a:xfrm>
            <a:off x="617220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1-49%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681228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6" name="Text 94"/>
          <p:cNvSpPr/>
          <p:nvPr/>
        </p:nvSpPr>
        <p:spPr>
          <a:xfrm>
            <a:off x="681228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G12C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745236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8" name="Text 96"/>
          <p:cNvSpPr/>
          <p:nvPr/>
        </p:nvSpPr>
        <p:spPr>
          <a:xfrm>
            <a:off x="745236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(all)</a:t>
            </a:r>
            <a:endParaRPr lang="en-US" sz="550" dirty="0"/>
          </a:p>
        </p:txBody>
      </p:sp>
      <p:sp>
        <p:nvSpPr>
          <p:cNvPr id="99" name="Text 97"/>
          <p:cNvSpPr/>
          <p:nvPr/>
        </p:nvSpPr>
        <p:spPr>
          <a:xfrm>
            <a:off x="4754880" y="1234440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553212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1" name="Text 99"/>
          <p:cNvSpPr/>
          <p:nvPr/>
        </p:nvSpPr>
        <p:spPr>
          <a:xfrm>
            <a:off x="55321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17220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3" name="Text 101"/>
          <p:cNvSpPr/>
          <p:nvPr/>
        </p:nvSpPr>
        <p:spPr>
          <a:xfrm>
            <a:off x="617220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81228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5" name="Text 103"/>
          <p:cNvSpPr/>
          <p:nvPr/>
        </p:nvSpPr>
        <p:spPr>
          <a:xfrm>
            <a:off x="681228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452360" y="123444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7" name="Text 105"/>
          <p:cNvSpPr/>
          <p:nvPr/>
        </p:nvSpPr>
        <p:spPr>
          <a:xfrm>
            <a:off x="745236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754880" y="1490472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553212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0" name="Text 108"/>
          <p:cNvSpPr/>
          <p:nvPr/>
        </p:nvSpPr>
        <p:spPr>
          <a:xfrm>
            <a:off x="553212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17220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2" name="Text 110"/>
          <p:cNvSpPr/>
          <p:nvPr/>
        </p:nvSpPr>
        <p:spPr>
          <a:xfrm>
            <a:off x="617220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81228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4" name="Text 112"/>
          <p:cNvSpPr/>
          <p:nvPr/>
        </p:nvSpPr>
        <p:spPr>
          <a:xfrm>
            <a:off x="681228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452360" y="1490472"/>
            <a:ext cx="640080" cy="256032"/>
          </a:xfrm>
          <a:prstGeom prst="rect">
            <a:avLst/>
          </a:prstGeom>
          <a:solidFill>
            <a:srgbClr val="007A85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6" name="Text 114"/>
          <p:cNvSpPr/>
          <p:nvPr/>
        </p:nvSpPr>
        <p:spPr>
          <a:xfrm>
            <a:off x="745236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4754880" y="1746504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5532120" y="174650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Text 117"/>
          <p:cNvSpPr/>
          <p:nvPr/>
        </p:nvSpPr>
        <p:spPr>
          <a:xfrm>
            <a:off x="553212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172200" y="174650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Text 119"/>
          <p:cNvSpPr/>
          <p:nvPr/>
        </p:nvSpPr>
        <p:spPr>
          <a:xfrm>
            <a:off x="617220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81228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3" name="Text 121"/>
          <p:cNvSpPr/>
          <p:nvPr/>
        </p:nvSpPr>
        <p:spPr>
          <a:xfrm>
            <a:off x="681228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745236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5" name="Text 123"/>
          <p:cNvSpPr/>
          <p:nvPr/>
        </p:nvSpPr>
        <p:spPr>
          <a:xfrm>
            <a:off x="745236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754880" y="2002536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553212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Text 126"/>
          <p:cNvSpPr/>
          <p:nvPr/>
        </p:nvSpPr>
        <p:spPr>
          <a:xfrm>
            <a:off x="553212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17220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0" name="Text 128"/>
          <p:cNvSpPr/>
          <p:nvPr/>
        </p:nvSpPr>
        <p:spPr>
          <a:xfrm>
            <a:off x="617220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6812280" y="2002536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2" name="Text 130"/>
          <p:cNvSpPr/>
          <p:nvPr/>
        </p:nvSpPr>
        <p:spPr>
          <a:xfrm>
            <a:off x="681228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7452360" y="2002536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4" name="Text 132"/>
          <p:cNvSpPr/>
          <p:nvPr/>
        </p:nvSpPr>
        <p:spPr>
          <a:xfrm>
            <a:off x="745236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4754880" y="2258568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553212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7" name="Text 135"/>
          <p:cNvSpPr/>
          <p:nvPr/>
        </p:nvSpPr>
        <p:spPr>
          <a:xfrm>
            <a:off x="553212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617220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9" name="Text 137"/>
          <p:cNvSpPr/>
          <p:nvPr/>
        </p:nvSpPr>
        <p:spPr>
          <a:xfrm>
            <a:off x="617220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81228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1" name="Text 139"/>
          <p:cNvSpPr/>
          <p:nvPr/>
        </p:nvSpPr>
        <p:spPr>
          <a:xfrm>
            <a:off x="681228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7452360" y="2258568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3" name="Text 141"/>
          <p:cNvSpPr/>
          <p:nvPr/>
        </p:nvSpPr>
        <p:spPr>
          <a:xfrm>
            <a:off x="745236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4754880" y="2514600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553212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" name="Text 144"/>
          <p:cNvSpPr/>
          <p:nvPr/>
        </p:nvSpPr>
        <p:spPr>
          <a:xfrm>
            <a:off x="553212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617220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" name="Text 146"/>
          <p:cNvSpPr/>
          <p:nvPr/>
        </p:nvSpPr>
        <p:spPr>
          <a:xfrm>
            <a:off x="617220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681228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" name="Text 148"/>
          <p:cNvSpPr/>
          <p:nvPr/>
        </p:nvSpPr>
        <p:spPr>
          <a:xfrm>
            <a:off x="681228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745236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2" name="Text 150"/>
          <p:cNvSpPr/>
          <p:nvPr/>
        </p:nvSpPr>
        <p:spPr>
          <a:xfrm>
            <a:off x="745236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4754880" y="2770632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600" dirty="0"/>
          </a:p>
        </p:txBody>
      </p:sp>
      <p:sp>
        <p:nvSpPr>
          <p:cNvPr id="154" name="Shape 152"/>
          <p:cNvSpPr/>
          <p:nvPr/>
        </p:nvSpPr>
        <p:spPr>
          <a:xfrm>
            <a:off x="553212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5" name="Text 153"/>
          <p:cNvSpPr/>
          <p:nvPr/>
        </p:nvSpPr>
        <p:spPr>
          <a:xfrm>
            <a:off x="553212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617220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7" name="Text 155"/>
          <p:cNvSpPr/>
          <p:nvPr/>
        </p:nvSpPr>
        <p:spPr>
          <a:xfrm>
            <a:off x="617220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81228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9" name="Text 157"/>
          <p:cNvSpPr/>
          <p:nvPr/>
        </p:nvSpPr>
        <p:spPr>
          <a:xfrm>
            <a:off x="681228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745236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1" name="Text 159"/>
          <p:cNvSpPr/>
          <p:nvPr/>
        </p:nvSpPr>
        <p:spPr>
          <a:xfrm>
            <a:off x="745236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4754880" y="3026664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600" dirty="0"/>
          </a:p>
        </p:txBody>
      </p:sp>
      <p:sp>
        <p:nvSpPr>
          <p:cNvPr id="163" name="Shape 161"/>
          <p:cNvSpPr/>
          <p:nvPr/>
        </p:nvSpPr>
        <p:spPr>
          <a:xfrm>
            <a:off x="553212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4" name="Text 162"/>
          <p:cNvSpPr/>
          <p:nvPr/>
        </p:nvSpPr>
        <p:spPr>
          <a:xfrm>
            <a:off x="553212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617220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6" name="Text 164"/>
          <p:cNvSpPr/>
          <p:nvPr/>
        </p:nvSpPr>
        <p:spPr>
          <a:xfrm>
            <a:off x="617220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681228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8" name="Text 166"/>
          <p:cNvSpPr/>
          <p:nvPr/>
        </p:nvSpPr>
        <p:spPr>
          <a:xfrm>
            <a:off x="681228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7452360" y="302666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0" name="Text 168"/>
          <p:cNvSpPr/>
          <p:nvPr/>
        </p:nvSpPr>
        <p:spPr>
          <a:xfrm>
            <a:off x="745236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3, non-biosimilar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7: 2L NSCLC Phase 3 Competitive Landscape — Post-IO/Chemo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7160" y="201168"/>
            <a:ext cx="8869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= First Results | 2L = post IO/chemo progression | Columns by primary mechanism class | Pipeline database April 2026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594360" y="594360"/>
            <a:ext cx="8458200" cy="0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4137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 Combos / Novel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41376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2331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/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Biomarker-selected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3316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18288" y="603504"/>
            <a:ext cx="548640" cy="1002182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8288" y="603504"/>
            <a:ext cx="548640" cy="106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(70%)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594360" y="603504"/>
            <a:ext cx="2819400" cy="106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3413760" y="603504"/>
            <a:ext cx="2819400" cy="106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233160" y="603504"/>
            <a:ext cx="2819400" cy="106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21792" y="608504"/>
            <a:ext cx="2764536" cy="128016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21792" y="60850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 | [PD-L1 ADC] | FR:Dec'29</a:t>
            </a:r>
            <a:endParaRPr lang="en-US" sz="500" dirty="0"/>
          </a:p>
        </p:txBody>
      </p:sp>
      <p:sp>
        <p:nvSpPr>
          <p:cNvPr id="17" name="Shape 15"/>
          <p:cNvSpPr/>
          <p:nvPr/>
        </p:nvSpPr>
        <p:spPr>
          <a:xfrm>
            <a:off x="621792" y="741242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21792" y="74124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TROPION-Lung17 [TROP2]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FR:Jan'29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621792" y="873980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21792" y="87398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Teliso-V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TeliMET NSCLC-01 [c-MET ADC, MET+]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FR:Mar'28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621792" y="1006718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21792" y="10067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TroFuse-004 [TROP2]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PCD'27 | FR:May'27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621792" y="1139456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621792" y="113945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SystImmune: Izalontamab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IZABRIGHT-Lung01 [EGFR/HER3 ADC]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FR:Sep'28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621792" y="1272194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21792" y="127219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TroFuse-009 [TROP2]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FR:Sep'28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621792" y="1404932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621792" y="140493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Teliso-adiz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M25-713 [c-MET ADC, MET+]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PCD'30 | FR:Sep'30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3441192" y="-500000"/>
            <a:ext cx="2764536" cy="12801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3441192" y="-50000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SMMT: Ivonescimab + chemo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 [PD1/VEGF bsAb]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PCD'25 | FR:May'25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3441192" y="608504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3441192" y="60850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| [PD1/IL-2] | FR:Jun'29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3441192" y="871851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3441192" y="87185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BeyondSpring: Plinabulin + doce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DUBLIN-4 [VDA]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PCD'29 | FR:Jun'29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3441192" y="1135198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3441192" y="113519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Candel: Aglatimagene + pembro | [Gene therapy] | FR:May'29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18288" y="1605686"/>
            <a:ext cx="548640" cy="1002182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18288" y="1665686"/>
            <a:ext cx="548640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non-sq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sq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94360" y="166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3413760" y="166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6233160" y="166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621792" y="1693118"/>
            <a:ext cx="2764536" cy="128016"/>
          </a:xfrm>
          <a:prstGeom prst="rect">
            <a:avLst/>
          </a:prstGeom>
          <a:solidFill>
            <a:srgbClr val="795548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621792" y="169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BioAtla: Mecbotamab-V + nivo | [AXL ADC] | FR:Jun'28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621792" y="1537670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621792" y="153767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Be6A Lung-01 [Integrin β6 ADC]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PCD'26 | FR:Mar'26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621792" y="1956465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621792" y="1956465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Fetrastobart-V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PADL1NK-005 [PD-L1 ADC]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FR:Mar'28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3441192" y="-500000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3441192" y="-50000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NVCR: TTFields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METIS [TTFields 150 kHz]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PCD'24 | FR:Mar'24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3441192" y="1693118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3441192" y="169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BeyondSpring: Plinabulin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DUBLIN-3 [VDA]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PCD'21 | FR:Aug'21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3441192" y="1834240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3441192" y="183424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OSE: OSE 2101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ARTEMIA [Cancer vaccine]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PCD'27 | FR:Jan'28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3441192" y="1975362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3441192" y="197536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ResQ302 [IL-15]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FR:Jan'29</a:t>
            </a:r>
            <a:endParaRPr lang="en-US" sz="500" dirty="0"/>
          </a:p>
        </p:txBody>
      </p:sp>
      <p:sp>
        <p:nvSpPr>
          <p:cNvPr id="58" name="Shape 56"/>
          <p:cNvSpPr/>
          <p:nvPr/>
        </p:nvSpPr>
        <p:spPr>
          <a:xfrm>
            <a:off x="3441192" y="2116484"/>
            <a:ext cx="2764536" cy="128016"/>
          </a:xfrm>
          <a:prstGeom prst="rect">
            <a:avLst/>
          </a:prstGeom>
          <a:solidFill>
            <a:srgbClr val="01579B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3441192" y="211648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ABBV: RC148 + doce | [PD1/VEGF bsAb] | FR:Jan'29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441192" y="2257606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3441192" y="225760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doce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ResQ201A [IL-15]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FR:Sep'28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6260592" y="1693118"/>
            <a:ext cx="2764536" cy="12801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6260592" y="169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| [KRAS G12C] | FR:Dec'27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6260592" y="1862464"/>
            <a:ext cx="2764536" cy="12801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6260592" y="186246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Daraxonrasib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RASolve-301 [pan-RAS]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PCD'27 | FR:Dec'27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6260592" y="2031810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6260592" y="203181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Krystal: KB707 (inhaled) | [IL-12/IL-2] | FR:Feb'28</a:t>
            </a:r>
            <a:endParaRPr lang="en-US" sz="500" dirty="0"/>
          </a:p>
        </p:txBody>
      </p:sp>
      <p:sp>
        <p:nvSpPr>
          <p:cNvPr id="70" name="Shape 68"/>
          <p:cNvSpPr/>
          <p:nvPr/>
        </p:nvSpPr>
        <p:spPr>
          <a:xfrm>
            <a:off x="6260592" y="2201156"/>
            <a:ext cx="2764536" cy="128016"/>
          </a:xfrm>
          <a:prstGeom prst="rect">
            <a:avLst/>
          </a:prstGeom>
          <a:solidFill>
            <a:srgbClr val="546E7A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6260592" y="220115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Tango: Vopimetostat | [PRMT5 inhib] | FR:Jun'29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6260592" y="2370502"/>
            <a:ext cx="2764536" cy="12801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6260592" y="237050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Krascendo 1 [KRAS G12C]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PCD'27 | FR:Sep'26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6260592" y="2539848"/>
            <a:ext cx="2764536" cy="128016"/>
          </a:xfrm>
          <a:prstGeom prst="rect">
            <a:avLst/>
          </a:prstGeom>
          <a:solidFill>
            <a:srgbClr val="4A148C">
              <a:alpha val="40000"/>
            </a:srgb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6260592" y="253984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Astellas: Setidegrasib | [KRAS G12D] | FR:Sep'29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18288" y="2607869"/>
            <a:ext cx="548640" cy="365760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18288" y="26678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594360" y="266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9" name="Shape 77"/>
          <p:cNvSpPr/>
          <p:nvPr/>
        </p:nvSpPr>
        <p:spPr>
          <a:xfrm>
            <a:off x="3413760" y="266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0" name="Shape 78"/>
          <p:cNvSpPr/>
          <p:nvPr/>
        </p:nvSpPr>
        <p:spPr>
          <a:xfrm>
            <a:off x="6233160" y="266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Shape 79"/>
          <p:cNvSpPr/>
          <p:nvPr/>
        </p:nvSpPr>
        <p:spPr>
          <a:xfrm>
            <a:off x="621792" y="2695301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2" name="Text 80"/>
          <p:cNvSpPr/>
          <p:nvPr/>
        </p:nvSpPr>
        <p:spPr>
          <a:xfrm>
            <a:off x="621792" y="269530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Henlius: HLX43 + HLX07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HLX43-NSCLC302 [PD-L1 ADC]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PCD'30 | FR:Jan'30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3441192" y="2695301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4" name="Text 82"/>
          <p:cNvSpPr/>
          <p:nvPr/>
        </p:nvSpPr>
        <p:spPr>
          <a:xfrm>
            <a:off x="3441192" y="269530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IVBIY: IBI363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MarsLight-11 [PD1/IL-2]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PCD'28 | FR:Nov'28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37160" y="3166781"/>
            <a:ext cx="9144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246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00" dirty="0"/>
          </a:p>
        </p:txBody>
      </p:sp>
      <p:sp>
        <p:nvSpPr>
          <p:cNvPr id="87" name="Shape 85"/>
          <p:cNvSpPr/>
          <p:nvPr/>
        </p:nvSpPr>
        <p:spPr>
          <a:xfrm>
            <a:off x="1280160" y="3166781"/>
            <a:ext cx="9144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8" name="Text 86"/>
          <p:cNvSpPr/>
          <p:nvPr/>
        </p:nvSpPr>
        <p:spPr>
          <a:xfrm>
            <a:off x="1389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2423160" y="3166781"/>
            <a:ext cx="914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0" name="Text 88"/>
          <p:cNvSpPr/>
          <p:nvPr/>
        </p:nvSpPr>
        <p:spPr>
          <a:xfrm>
            <a:off x="2532888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KRAS/RAS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-5000000" y="3166781"/>
            <a:ext cx="914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-5000000" y="316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3331464" y="3162244"/>
            <a:ext cx="914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4" name="Text 92"/>
          <p:cNvSpPr/>
          <p:nvPr/>
        </p:nvSpPr>
        <p:spPr>
          <a:xfrm>
            <a:off x="3441192" y="3162244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4474464" y="3162244"/>
            <a:ext cx="9144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6" name="Text 94"/>
          <p:cNvSpPr/>
          <p:nvPr/>
        </p:nvSpPr>
        <p:spPr>
          <a:xfrm>
            <a:off x="4584192" y="3162244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00" dirty="0"/>
          </a:p>
        </p:txBody>
      </p:sp>
      <p:sp>
        <p:nvSpPr>
          <p:cNvPr id="97" name="Text 95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= First Results | 2L = post IO/chemo progression | Source:</a:t>
            </a:r>
            <a:r>
              <a:rPr lang="zh-CN" alt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Faded bars = projected trials (no NCT registration; based on company guidance</a:t>
            </a:r>
            <a:r>
              <a:rPr lang="en-US" altLang="zh-CN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/oncology</a:t>
            </a:r>
            <a:r>
              <a:rPr lang="zh-CN" alt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r>
              <a:rPr lang="zh-CN" alt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zh-CN" alt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April 2026</a:t>
            </a:r>
            <a:endParaRPr lang="en-US" sz="500" dirty="0"/>
          </a:p>
        </p:txBody>
      </p:sp>
      <p:sp>
        <p:nvSpPr>
          <p:cNvPr id="200" name="Divider 1"/>
          <p:cNvSpPr/>
          <p:nvPr/>
        </p:nvSpPr>
        <p:spPr>
          <a:xfrm>
            <a:off x="82296" y="1565686"/>
            <a:ext cx="9053064" cy="0"/>
          </a:xfrm>
          <a:prstGeom prst="line">
            <a:avLst/>
          </a:prstGeom>
          <a:ln w="9525">
            <a:solidFill>
              <a:srgbClr val="808080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201" name="Divider 2"/>
          <p:cNvSpPr/>
          <p:nvPr/>
        </p:nvSpPr>
        <p:spPr>
          <a:xfrm>
            <a:off x="90936" y="2683775"/>
            <a:ext cx="9053064" cy="0"/>
          </a:xfrm>
          <a:prstGeom prst="line">
            <a:avLst/>
          </a:prstGeom>
          <a:ln w="9525">
            <a:solidFill>
              <a:srgbClr val="808080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60" name="Shape 58"/>
          <p:cNvSpPr/>
          <p:nvPr/>
        </p:nvSpPr>
        <p:spPr>
          <a:xfrm>
            <a:off x="3441192" y="2905613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3441192" y="2905613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Gotistobart | </a:t>
            </a: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PRESERVE-003 [anti-CTLA4]</a:t>
            </a: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PCD'27 | FR:Mar'26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93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6: Company Pipeline Footprint — Who Threatens Keytruda Most (# of Phase III trials)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vs concentration of competitive bets across mechanism classes.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00584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2801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2801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21945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21945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31089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31089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-500000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-500000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9377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9377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58521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58521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67665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7665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76809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76809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274320" y="1143000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274320" y="1143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 (8)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90488" y="1170432"/>
            <a:ext cx="237744" cy="237744"/>
          </a:xfrm>
          <a:prstGeom prst="ellipse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190488" y="1170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19288" y="1170432"/>
            <a:ext cx="237744" cy="23774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8019288" y="1170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143560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274320" y="1435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 (5)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51860" y="1467612"/>
            <a:ext cx="228600" cy="228600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3451860" y="14676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46036" y="1504188"/>
            <a:ext cx="155448" cy="155448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7146036" y="1504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060436" y="1504188"/>
            <a:ext cx="155448" cy="155448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8060436" y="1504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1728216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274320" y="17282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 (4)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1348" y="1778508"/>
            <a:ext cx="192024" cy="192024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1641348" y="17785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0148" y="1778508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3470148" y="17785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2020824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274320" y="2020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 (3)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84548" y="2071116"/>
            <a:ext cx="155448" cy="155448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4384548" y="207111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88436" y="2089404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 dirty="0"/>
          </a:p>
        </p:txBody>
      </p:sp>
      <p:sp>
        <p:nvSpPr>
          <p:cNvPr id="48" name="Text 46"/>
          <p:cNvSpPr/>
          <p:nvPr/>
        </p:nvSpPr>
        <p:spPr>
          <a:xfrm>
            <a:off x="3488436" y="208940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2313432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274320" y="2313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 (3)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23060" y="2345436"/>
            <a:ext cx="228600" cy="228600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1623060" y="23454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606040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274320" y="2606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 (3)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59636" y="2674620"/>
            <a:ext cx="155448" cy="155448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1659636" y="26746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13348" y="2656332"/>
            <a:ext cx="192024" cy="192024"/>
          </a:xfrm>
          <a:prstGeom prst="ellipse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6213348" y="265633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2898648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274320" y="2898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 (3)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55748" y="2948940"/>
            <a:ext cx="192024" cy="192024"/>
          </a:xfrm>
          <a:prstGeom prst="ellipse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2555748" y="29489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17236" y="2967228"/>
            <a:ext cx="155448" cy="155448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4" name="Text 62"/>
          <p:cNvSpPr/>
          <p:nvPr/>
        </p:nvSpPr>
        <p:spPr>
          <a:xfrm>
            <a:off x="5317236" y="29672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3191256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274320" y="3191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 (3)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280660" y="3223260"/>
            <a:ext cx="228600" cy="228600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5280660" y="32232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3483864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Text 68"/>
          <p:cNvSpPr/>
          <p:nvPr/>
        </p:nvSpPr>
        <p:spPr>
          <a:xfrm>
            <a:off x="274320" y="34838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 (2)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127748" y="3534156"/>
            <a:ext cx="192024" cy="192024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7127748" y="353415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4320" y="3776472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274320" y="3776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IVBIY (2)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042148" y="3826764"/>
            <a:ext cx="192024" cy="19202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8042148" y="382676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74320" y="4069080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Text 76"/>
          <p:cNvSpPr/>
          <p:nvPr/>
        </p:nvSpPr>
        <p:spPr>
          <a:xfrm>
            <a:off x="274320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 (2)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298948" y="4119372"/>
            <a:ext cx="192024" cy="192024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0" name="Text 78"/>
          <p:cNvSpPr/>
          <p:nvPr/>
        </p:nvSpPr>
        <p:spPr>
          <a:xfrm>
            <a:off x="5298948" y="411937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74320" y="4361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2" name="Text 80"/>
          <p:cNvSpPr/>
          <p:nvPr/>
        </p:nvSpPr>
        <p:spPr>
          <a:xfrm>
            <a:off x="274320" y="4361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 (2)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042148" y="4411980"/>
            <a:ext cx="192024" cy="19202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4" name="Text 82"/>
          <p:cNvSpPr/>
          <p:nvPr/>
        </p:nvSpPr>
        <p:spPr>
          <a:xfrm>
            <a:off x="8042148" y="441198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74320" y="4654296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274320" y="4654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 (2)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470148" y="4704588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8" name="Text 86"/>
          <p:cNvSpPr/>
          <p:nvPr/>
        </p:nvSpPr>
        <p:spPr>
          <a:xfrm>
            <a:off x="3470148" y="47045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only, non-biosimilar, 1L NSCLC | April 2026</a:t>
            </a:r>
            <a:endParaRPr lang="en-US" sz="500" dirty="0"/>
          </a:p>
        </p:txBody>
      </p:sp>
      <p:sp>
        <p:nvSpPr>
          <p:cNvPr id="91" name="Shape 9">
            <a:extLst>
              <a:ext uri="{FF2B5EF4-FFF2-40B4-BE49-F238E27FC236}">
                <a16:creationId xmlns:a16="http://schemas.microsoft.com/office/drawing/2014/main" id="{3BCAD061-33A0-E741-3D74-EAB702C01E49}"/>
              </a:ext>
            </a:extLst>
          </p:cNvPr>
          <p:cNvSpPr/>
          <p:nvPr/>
        </p:nvSpPr>
        <p:spPr>
          <a:xfrm>
            <a:off x="40233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0" name="Text 10">
            <a:extLst>
              <a:ext uri="{FF2B5EF4-FFF2-40B4-BE49-F238E27FC236}">
                <a16:creationId xmlns:a16="http://schemas.microsoft.com/office/drawing/2014/main" id="{9B14048A-8A4C-B02A-36DE-5C6527E74954}"/>
              </a:ext>
            </a:extLst>
          </p:cNvPr>
          <p:cNvSpPr/>
          <p:nvPr/>
        </p:nvSpPr>
        <p:spPr>
          <a:xfrm>
            <a:off x="4082796" y="877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275980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Methodology: Inclusion / Exclusion Criteria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3 clinical trials (US development stage)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First-line (1L) NSCLC — exhibits 1-6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Second-line (2L) NSCLC — exhibit 7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stages: Stage IV, ★ Stage III only, ○ Stage not specified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mechanism classes (IO, ADC, KRAS, VEGF, TIGIT, etc.)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59436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4846320" y="594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94183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Biosimilars (tracked separately in Exhibit 4)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Approved drugs in new trials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EGFR inhibitors (osimertinib, firmonertinib, etc.)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ALK inhibitors (alectinib, neladalkib, etc.)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ROS1/NTRK inhibitors (repotrectinib, </a:t>
            </a:r>
            <a:r>
              <a:rPr lang="en-US" sz="9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entrectinib</a:t>
            </a: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b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>
              <a:solidFill>
                <a:srgbClr val="1A1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90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inhibitors</a:t>
            </a:r>
            <a:endParaRPr lang="en-US" sz="900" dirty="0">
              <a:solidFill>
                <a:srgbClr val="1A1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400"/>
              </a:spcAft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HER2-mut targeted (Zongertinib, T-DXd mono, Sevabertinib)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EGFR-selected TROP2 ADC trials (e.g., Dato-DXd + osi)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0763E7-0970-2740-AC47-65B7A810A82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5dce395c-09b5-4626-80b7-72ffd3ef2b7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3183</Words>
  <Application>Microsoft Macintosh PowerPoint</Application>
  <PresentationFormat>On-screen Show (16:9)</PresentationFormat>
  <Paragraphs>514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NSCLC Competitive Landscape Exhibits</dc:title>
  <dc:subject>PptxGenJS Presentation</dc:subject>
  <dc:creator>NSCLC Pipeline Analysis</dc:creator>
  <cp:lastModifiedBy>Louisa Qiu</cp:lastModifiedBy>
  <cp:revision>9</cp:revision>
  <dcterms:created xsi:type="dcterms:W3CDTF">2026-04-07T02:22:42Z</dcterms:created>
  <dcterms:modified xsi:type="dcterms:W3CDTF">2026-04-15T07:30:18Z</dcterms:modified>
</cp:coreProperties>
</file>