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760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1600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161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Keytruda is expected to persist as the backbone of non-driver mutant NSCLC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3891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programs removed | Bars show active pipeline agents by expected readout timing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3657600" y="749808"/>
            <a:ext cx="8229600" cy="0"/>
          </a:xfrm>
          <a:prstGeom prst="line">
            <a:avLst/>
          </a:prstGeom>
          <a:noFill/>
          <a:ln w="254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" name="Shape 3"/>
          <p:cNvSpPr/>
          <p:nvPr/>
        </p:nvSpPr>
        <p:spPr>
          <a:xfrm>
            <a:off x="4334256" y="694944"/>
            <a:ext cx="109728" cy="109728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6" name="Text 4"/>
          <p:cNvSpPr/>
          <p:nvPr/>
        </p:nvSpPr>
        <p:spPr>
          <a:xfrm>
            <a:off x="3657600" y="8046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&gt;50% TPS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94576" y="694944"/>
            <a:ext cx="109728" cy="109728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/>
          <p:nvPr/>
        </p:nvSpPr>
        <p:spPr>
          <a:xfrm>
            <a:off x="6217920" y="8046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1-49% TPS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454896" y="694944"/>
            <a:ext cx="109728" cy="109728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0" name="Text 8"/>
          <p:cNvSpPr/>
          <p:nvPr/>
        </p:nvSpPr>
        <p:spPr>
          <a:xfrm>
            <a:off x="8778240" y="8046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TPS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6080" y="109728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Squamous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(70%)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926080" y="26517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non-sq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sq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926080" y="49377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Squamous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(30%)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926080" y="2286000"/>
            <a:ext cx="89611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5" name="Shape 13"/>
          <p:cNvSpPr/>
          <p:nvPr/>
        </p:nvSpPr>
        <p:spPr>
          <a:xfrm>
            <a:off x="2926080" y="4892040"/>
            <a:ext cx="89611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6" name="Shape 14"/>
          <p:cNvSpPr/>
          <p:nvPr/>
        </p:nvSpPr>
        <p:spPr>
          <a:xfrm>
            <a:off x="3840480" y="1097280"/>
            <a:ext cx="2560320" cy="256032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7" name="Text 15"/>
          <p:cNvSpPr/>
          <p:nvPr/>
        </p:nvSpPr>
        <p:spPr>
          <a:xfrm>
            <a:off x="3886200" y="10972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Rilvegostomig +/- Dato-DXd [PD1/TIGIT + TROP2] [2029]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3840480" y="1389888"/>
            <a:ext cx="2560320" cy="256032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9" name="Text 17"/>
          <p:cNvSpPr/>
          <p:nvPr/>
        </p:nvSpPr>
        <p:spPr>
          <a:xfrm>
            <a:off x="3886200" y="1389888"/>
            <a:ext cx="2468880" cy="256032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BMY: Opdualag (+chemo tbc) [PD1/LAG3] [2030+]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7772400" y="1097280"/>
            <a:ext cx="3931920" cy="25603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1" name="Text 19"/>
          <p:cNvSpPr/>
          <p:nvPr/>
        </p:nvSpPr>
        <p:spPr>
          <a:xfrm>
            <a:off x="7818120" y="1097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Dato-DXd + pembro +/- chemo [TROP2 + pembro] [2028]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7772400" y="1389888"/>
            <a:ext cx="3931920" cy="256032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3" name="Text 21"/>
          <p:cNvSpPr/>
          <p:nvPr/>
        </p:nvSpPr>
        <p:spPr>
          <a:xfrm>
            <a:off x="7818120" y="13898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BMY: Opdualag + chemo [PD1/LAG3] [2030+]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400800" y="1682496"/>
            <a:ext cx="5303520" cy="25603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5" name="Text 23"/>
          <p:cNvSpPr/>
          <p:nvPr/>
        </p:nvSpPr>
        <p:spPr>
          <a:xfrm>
            <a:off x="6446520" y="1682496"/>
            <a:ext cx="5212080" cy="256032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Limvoniplib + Budagaimab [GARP + PD1] + chemo [2032]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400800" y="1975104"/>
            <a:ext cx="5303520" cy="25603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7" name="Text 25"/>
          <p:cNvSpPr/>
          <p:nvPr/>
        </p:nvSpPr>
        <p:spPr>
          <a:xfrm>
            <a:off x="6446520" y="1975104"/>
            <a:ext cx="5212080" cy="256032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IBI363 (Innovent) [PD-1/IL-2 bispecific] + chemo [2027+]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3840480" y="2423160"/>
            <a:ext cx="7863840" cy="256032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9" name="Text 27"/>
          <p:cNvSpPr/>
          <p:nvPr/>
        </p:nvSpPr>
        <p:spPr>
          <a:xfrm>
            <a:off x="3886200" y="24231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GILD: Domvanalimab + Zimberelimab [TIGIT + PD1] + chemo [2027] — last major TIGIT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840480" y="2715768"/>
            <a:ext cx="7863840" cy="25603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1" name="Text 29"/>
          <p:cNvSpPr/>
          <p:nvPr/>
        </p:nvSpPr>
        <p:spPr>
          <a:xfrm>
            <a:off x="3886200" y="27157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Eftilagimod alpha + pembro [LAG3 + pembro] + chemo [2028] — TACTI-004 Ph3, futility Q1 2026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3840480" y="3008376"/>
            <a:ext cx="3657600" cy="256032"/>
          </a:xfrm>
          <a:prstGeom prst="rect">
            <a:avLst/>
          </a:prstGeom>
          <a:solidFill>
            <a:srgbClr val="1F3864"/>
          </a:solidFill>
          <a:ln w="254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3" name="Text 31"/>
          <p:cNvSpPr/>
          <p:nvPr/>
        </p:nvSpPr>
        <p:spPr>
          <a:xfrm>
            <a:off x="3886200" y="3008376"/>
            <a:ext cx="3566160" cy="256032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N-803 + pembro +/- chemo [IO-IL15 + pembro] [2026]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7772400" y="3008376"/>
            <a:ext cx="3931920" cy="256032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5" name="Text 33"/>
          <p:cNvSpPr/>
          <p:nvPr/>
        </p:nvSpPr>
        <p:spPr>
          <a:xfrm>
            <a:off x="7818120" y="3008376"/>
            <a:ext cx="3840480" cy="256032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Volrustomig + chemo [PD1/CTLA4] [2029]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6400800" y="3300984"/>
            <a:ext cx="5303520" cy="256032"/>
          </a:xfrm>
          <a:prstGeom prst="rect">
            <a:avLst/>
          </a:prstGeom>
          <a:solidFill>
            <a:srgbClr val="00959C"/>
          </a:solidFill>
          <a:ln w="254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7" name="Text 35"/>
          <p:cNvSpPr/>
          <p:nvPr/>
        </p:nvSpPr>
        <p:spPr>
          <a:xfrm>
            <a:off x="6446520" y="3300984"/>
            <a:ext cx="5212080" cy="256032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Dato-DXd + durvalumab [TROP2 + PD1] + chemo [2027] — TROPION-Lung04 ★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3840480" y="3593592"/>
            <a:ext cx="2926080" cy="32004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9" name="Text 37"/>
          <p:cNvSpPr/>
          <p:nvPr/>
        </p:nvSpPr>
        <p:spPr>
          <a:xfrm>
            <a:off x="3886200" y="35935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GILD: Trodelvy; MRK: Sac-TMT; Dato-DXd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[TROP2 + pembro] [2027-9]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3840480" y="3950208"/>
            <a:ext cx="2926080" cy="292608"/>
          </a:xfrm>
          <a:prstGeom prst="rect">
            <a:avLst/>
          </a:prstGeom>
          <a:solidFill>
            <a:srgbClr val="00959C"/>
          </a:solidFill>
          <a:ln w="254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1" name="Text 39"/>
          <p:cNvSpPr/>
          <p:nvPr/>
        </p:nvSpPr>
        <p:spPr>
          <a:xfrm>
            <a:off x="3886200" y="39502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Ivonescimab [PD1/VEGF] [2029+]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HARMONi-7 global Ph3 ★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7772400" y="3593592"/>
            <a:ext cx="3931920" cy="25603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43" name="Text 41"/>
          <p:cNvSpPr/>
          <p:nvPr/>
        </p:nvSpPr>
        <p:spPr>
          <a:xfrm>
            <a:off x="7818120" y="35935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TTFields (device) + pembro + chemo [2029]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7772400" y="3886200"/>
            <a:ext cx="3931920" cy="256032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45" name="Text 43"/>
          <p:cNvSpPr/>
          <p:nvPr/>
        </p:nvSpPr>
        <p:spPr>
          <a:xfrm>
            <a:off x="7818120" y="38862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BNT327/pumitamig (BioNTech/BMY) [PD-L1xVEGF] [2028+]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7772400" y="4178808"/>
            <a:ext cx="3931920" cy="25603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47" name="Text 45"/>
          <p:cNvSpPr/>
          <p:nvPr/>
        </p:nvSpPr>
        <p:spPr>
          <a:xfrm>
            <a:off x="7818120" y="41788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Lifileucel (TIL) + pembro? [TIL + pembro] TBC [2030]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3840480" y="4279392"/>
            <a:ext cx="7863840" cy="256032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49" name="Text 47"/>
          <p:cNvSpPr/>
          <p:nvPr/>
        </p:nvSpPr>
        <p:spPr>
          <a:xfrm>
            <a:off x="3886200" y="4279392"/>
            <a:ext cx="7772400" cy="256032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CAMPASS: Benmelstobart + anlotinib [PD-L1/VEGF] [2026] — China Ph3 beat pembro in PD-L1+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3840480" y="5029200"/>
            <a:ext cx="7863840" cy="256032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51" name="Text 49"/>
          <p:cNvSpPr/>
          <p:nvPr/>
        </p:nvSpPr>
        <p:spPr>
          <a:xfrm>
            <a:off x="3886200" y="50292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Ivonescimab [PD1/VEGF] + chemo [2028] — HARMONi-2 showed consistent sq benefit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3840480" y="5321808"/>
            <a:ext cx="7863840" cy="25603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53" name="Text 51"/>
          <p:cNvSpPr/>
          <p:nvPr/>
        </p:nvSpPr>
        <p:spPr>
          <a:xfrm>
            <a:off x="3886200" y="5321808"/>
            <a:ext cx="7772400" cy="256032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MRK: Sac-TMT + pembro [TROP2 + pembro] [2029]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6858000" y="5614416"/>
            <a:ext cx="4846320" cy="25603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55" name="Text 53"/>
          <p:cNvSpPr/>
          <p:nvPr/>
        </p:nvSpPr>
        <p:spPr>
          <a:xfrm>
            <a:off x="6903720" y="5614416"/>
            <a:ext cx="4754880" cy="256032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MRK: Calderasib + Keytruda QLEX [KRAS G12C + PD1] [2028+] — KANDLELIT-007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182880" y="777240"/>
            <a:ext cx="2651760" cy="1188720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57" name="Text 55"/>
          <p:cNvSpPr/>
          <p:nvPr/>
        </p:nvSpPr>
        <p:spPr>
          <a:xfrm>
            <a:off x="274320" y="804672"/>
            <a:ext cx="246888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</a:rPr>
              <a:t>Pembro+/-chemo SoC currently includes:
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• KRAS-mutant (25-30%) &amp;
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• HER2-mut (~3%) /+ve (~20%)
</a:t>
            </a:r>
            <a:endParaRPr lang="en-US" sz="800" dirty="0"/>
          </a:p>
          <a:p>
            <a:pPr marL="0" indent="0">
              <a:buNone/>
            </a:pPr>
            <a:r>
              <a:rPr lang="en-US" sz="700" b="1" dirty="0">
                <a:solidFill>
                  <a:srgbClr val="FFFF00"/>
                </a:solidFill>
              </a:rPr>
              <a:t>Zongertinib accel approved Feb 2026 for HER2-mut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182880" y="2103120"/>
            <a:ext cx="2651760" cy="114300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59" name="Text 57"/>
          <p:cNvSpPr/>
          <p:nvPr/>
        </p:nvSpPr>
        <p:spPr>
          <a:xfrm>
            <a:off x="274320" y="2130552"/>
            <a:ext cx="246888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</a:rPr>
              <a:t>1L KRAS mut popn — KRAS therapy layered on SoC:
</a:t>
            </a:r>
            <a:endParaRPr lang="en-US" sz="750" dirty="0"/>
          </a:p>
          <a:p>
            <a:pPr marL="0" indent="0">
              <a:buNone/>
            </a:pPr>
            <a:r>
              <a:rPr lang="en-US" sz="700" b="1" dirty="0">
                <a:solidFill>
                  <a:srgbClr val="FFFF00"/>
                </a:solidFill>
              </a:rPr>
              <a:t>• MK-1084 + Keytruda QLEX — KANDLELIT-007 Ph3 Jan 2026
</a:t>
            </a:r>
            <a:endParaRPr lang="en-US" sz="750" dirty="0"/>
          </a:p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</a:rPr>
              <a:t>• Olomorasib (LLY), Krazati/divarasib
</a:t>
            </a:r>
            <a:endParaRPr lang="en-US" sz="750" dirty="0"/>
          </a:p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</a:rPr>
              <a:t>• CodeBreaK 300 (AMGN) 1L Ph3 data 2H 2026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182880" y="3383280"/>
            <a:ext cx="2651760" cy="123444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61" name="Text 59"/>
          <p:cNvSpPr/>
          <p:nvPr/>
        </p:nvSpPr>
        <p:spPr>
          <a:xfrm>
            <a:off x="274320" y="3410712"/>
            <a:ext cx="2468880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</a:rPr>
              <a:t>1L HER2 mut popn (non-sq) — HER2 therapy displaces pembro:
</a:t>
            </a:r>
            <a:endParaRPr lang="en-US" sz="700" dirty="0"/>
          </a:p>
          <a:p>
            <a:pPr marL="0" indent="0">
              <a:buNone/>
            </a:pPr>
            <a:r>
              <a:rPr lang="en-US" sz="700" b="1" dirty="0">
                <a:solidFill>
                  <a:srgbClr val="FFFF00"/>
                </a:solidFill>
              </a:rPr>
              <a:t>• Zongertinib — accel approved Feb 2026 ✓
</a:t>
            </a:r>
            <a:endParaRPr lang="en-US" sz="700" dirty="0"/>
          </a:p>
          <a:p>
            <a:pPr marL="0" indent="0">
              <a:buNone/>
            </a:pPr>
            <a:r>
              <a:rPr lang="en-US" sz="700" b="1" dirty="0">
                <a:solidFill>
                  <a:srgbClr val="FFFF00"/>
                </a:solidFill>
              </a:rPr>
              <a:t>• DESTINY-Lung04 (Enhertu vs KN-189) 2026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</a:rPr>
              <a:t>• Sevabertinib (Bayer) SOHO-02 Ph3 [2027]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182880" y="4754880"/>
            <a:ext cx="2651760" cy="105156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63" name="Text 61"/>
          <p:cNvSpPr/>
          <p:nvPr/>
        </p:nvSpPr>
        <p:spPr>
          <a:xfrm>
            <a:off x="274320" y="4782312"/>
            <a:ext cx="2468880" cy="10058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</a:rPr>
              <a:t>MRK Defensive Milestones:
</a:t>
            </a:r>
            <a:endParaRPr lang="en-US" sz="750" dirty="0"/>
          </a:p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</a:rPr>
              <a:t>✓ QLEX subQ approved Sept 2025
</a:t>
            </a:r>
            <a:endParaRPr lang="en-US" sz="750" dirty="0"/>
          </a:p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</a:rPr>
              <a:t>✓ Perioperative labels (KN-671, KN-091)
</a:t>
            </a:r>
            <a:endParaRPr lang="en-US" sz="750" dirty="0"/>
          </a:p>
          <a:p>
            <a:pPr marL="0" indent="0">
              <a:buNone/>
            </a:pPr>
            <a:r>
              <a:rPr lang="en-US" sz="700" dirty="0">
                <a:solidFill>
                  <a:srgbClr val="FF9999"/>
                </a:solidFill>
              </a:rPr>
              <a:t>✕ KeyVibe (TIGIT) &amp; KEYFORM (LAG-3) disc.
</a:t>
            </a:r>
            <a:endParaRPr lang="en-US" sz="750" dirty="0"/>
          </a:p>
          <a:p>
            <a:pPr marL="0" indent="0">
              <a:buNone/>
            </a:pPr>
            <a:r>
              <a:rPr lang="en-US" sz="700" b="1" dirty="0">
                <a:solidFill>
                  <a:srgbClr val="FFFF00"/>
                </a:solidFill>
              </a:rPr>
              <a:t>⚠ Keytruda US LOE ~2028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274320" y="5989320"/>
            <a:ext cx="228600" cy="1188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65" name="Text 63"/>
          <p:cNvSpPr/>
          <p:nvPr/>
        </p:nvSpPr>
        <p:spPr>
          <a:xfrm>
            <a:off x="548640" y="597103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Pembro-additive (Keytruda stays)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2926080" y="5989320"/>
            <a:ext cx="228600" cy="118872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67" name="Text 65"/>
          <p:cNvSpPr/>
          <p:nvPr/>
        </p:nvSpPr>
        <p:spPr>
          <a:xfrm>
            <a:off x="3200400" y="59710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Potentially displacing (replaces Keytruda)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5943600" y="5989320"/>
            <a:ext cx="228600" cy="118872"/>
          </a:xfrm>
          <a:prstGeom prst="rect">
            <a:avLst/>
          </a:prstGeom>
          <a:solidFill>
            <a:srgbClr val="00959C"/>
          </a:solidFill>
          <a:ln w="1905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9" name="Text 67"/>
          <p:cNvSpPr/>
          <p:nvPr/>
        </p:nvSpPr>
        <p:spPr>
          <a:xfrm>
            <a:off x="6217920" y="5971032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catalyst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7315200" y="597103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= Highest displacement threat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3840480" y="614476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Pembro mono (+few pts + chemo)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8686800" y="614476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Pembro + chemo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274320" y="6327648"/>
            <a:ext cx="10972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ClinicalTrials.gov, FDA, company press releases, ASCO/ESMO/WCLC presentations. Updated March 2026.</a:t>
            </a:r>
            <a:endParaRPr lang="en-US" sz="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161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NSCLC competitive landscape across all treatment lanes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3891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1L and 2L+ settings | Driver-negative (IO) and driver-positive (EGFR, KRAS, HER2, ALK)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194560" y="749808"/>
            <a:ext cx="9692640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" name="Text 3"/>
          <p:cNvSpPr/>
          <p:nvPr/>
        </p:nvSpPr>
        <p:spPr>
          <a:xfrm>
            <a:off x="2286000" y="768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SOC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977640" y="76809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competitors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629400" y="76809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Near-term pipeline (2026-27)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646920" y="76809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Mid-term pipeline (2028+)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749808"/>
            <a:ext cx="0" cy="5486400"/>
          </a:xfrm>
          <a:prstGeom prst="line">
            <a:avLst/>
          </a:prstGeom>
          <a:noFill/>
          <a:ln w="6350">
            <a:solidFill>
              <a:srgbClr val="E0E0E0"/>
            </a:solidFill>
            <a:prstDash val="dash"/>
          </a:ln>
        </p:spPr>
        <p:txBody>
          <a:bodyPr/>
          <a:lstStyle/>
          <a:p>
            <a:endParaRPr lang="en-CN"/>
          </a:p>
        </p:txBody>
      </p:sp>
      <p:sp>
        <p:nvSpPr>
          <p:cNvPr id="10" name="Shape 8"/>
          <p:cNvSpPr/>
          <p:nvPr/>
        </p:nvSpPr>
        <p:spPr>
          <a:xfrm>
            <a:off x="6903720" y="749808"/>
            <a:ext cx="0" cy="5486400"/>
          </a:xfrm>
          <a:prstGeom prst="line">
            <a:avLst/>
          </a:prstGeom>
          <a:noFill/>
          <a:ln w="6350">
            <a:solidFill>
              <a:srgbClr val="E0E0E0"/>
            </a:solidFill>
            <a:prstDash val="dash"/>
          </a:ln>
        </p:spPr>
        <p:txBody>
          <a:bodyPr/>
          <a:lstStyle/>
          <a:p>
            <a:endParaRPr lang="en-CN"/>
          </a:p>
        </p:txBody>
      </p:sp>
      <p:sp>
        <p:nvSpPr>
          <p:cNvPr id="11" name="Shape 9"/>
          <p:cNvSpPr/>
          <p:nvPr/>
        </p:nvSpPr>
        <p:spPr>
          <a:xfrm>
            <a:off x="9235440" y="749808"/>
            <a:ext cx="0" cy="5486400"/>
          </a:xfrm>
          <a:prstGeom prst="line">
            <a:avLst/>
          </a:prstGeom>
          <a:noFill/>
          <a:ln w="6350">
            <a:solidFill>
              <a:srgbClr val="E0E0E0"/>
            </a:solidFill>
            <a:prstDash val="dash"/>
          </a:ln>
        </p:spPr>
        <p:txBody>
          <a:bodyPr/>
          <a:lstStyle/>
          <a:p>
            <a:endParaRPr lang="en-CN"/>
          </a:p>
        </p:txBody>
      </p:sp>
      <p:sp>
        <p:nvSpPr>
          <p:cNvPr id="12" name="Shape 10"/>
          <p:cNvSpPr/>
          <p:nvPr/>
        </p:nvSpPr>
        <p:spPr>
          <a:xfrm>
            <a:off x="182880" y="1005840"/>
            <a:ext cx="2011680" cy="68580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3" name="Text 11"/>
          <p:cNvSpPr/>
          <p:nvPr/>
        </p:nvSpPr>
        <p:spPr>
          <a:xfrm>
            <a:off x="228600" y="103327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 1L metastatic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" y="1207008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Driver-negative, ~50-60%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2377440" y="1051560"/>
            <a:ext cx="2011680" cy="201168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6" name="Text 14"/>
          <p:cNvSpPr/>
          <p:nvPr/>
        </p:nvSpPr>
        <p:spPr>
          <a:xfrm>
            <a:off x="2404872" y="1051560"/>
            <a:ext cx="19568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Keytruda + chemo (MRK) — dominant ~70%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2377440" y="1271016"/>
            <a:ext cx="2011680" cy="201168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8" name="Text 16"/>
          <p:cNvSpPr/>
          <p:nvPr/>
        </p:nvSpPr>
        <p:spPr>
          <a:xfrm>
            <a:off x="2404872" y="1271016"/>
            <a:ext cx="19568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Keytruda mono (TPS&gt;=50%) (MRK)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4709160" y="1051560"/>
            <a:ext cx="2743200" cy="201168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0" name="Text 18"/>
          <p:cNvSpPr/>
          <p:nvPr/>
        </p:nvSpPr>
        <p:spPr>
          <a:xfrm>
            <a:off x="4736592" y="1051560"/>
            <a:ext cx="268833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Opdivo + Yervoy +/- chemo (BMY) ~10-15%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4709160" y="1271016"/>
            <a:ext cx="2743200" cy="201168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2" name="Text 20"/>
          <p:cNvSpPr/>
          <p:nvPr/>
        </p:nvSpPr>
        <p:spPr>
          <a:xfrm>
            <a:off x="4736592" y="1271016"/>
            <a:ext cx="268833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Imfinzi + treme + chemo (AZN) ~3-5%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4709160" y="1490472"/>
            <a:ext cx="2743200" cy="201168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4" name="Text 22"/>
          <p:cNvSpPr/>
          <p:nvPr/>
        </p:nvSpPr>
        <p:spPr>
          <a:xfrm>
            <a:off x="4736592" y="1490472"/>
            <a:ext cx="268833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Tecentriq + bev + chemo (RHHBY) declining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7498080" y="1051560"/>
            <a:ext cx="2834640" cy="201168"/>
          </a:xfrm>
          <a:prstGeom prst="rect">
            <a:avLst/>
          </a:prstGeom>
          <a:solidFill>
            <a:srgbClr val="2F5496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6" name="Text 24"/>
          <p:cNvSpPr/>
          <p:nvPr/>
        </p:nvSpPr>
        <p:spPr>
          <a:xfrm>
            <a:off x="7525512" y="1051560"/>
            <a:ext cx="277977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GILD: Domvanalimab + zimberelimab + chemo [2027]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7498080" y="1271016"/>
            <a:ext cx="2834640" cy="201168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8" name="Text 26"/>
          <p:cNvSpPr/>
          <p:nvPr/>
        </p:nvSpPr>
        <p:spPr>
          <a:xfrm>
            <a:off x="7525512" y="1271016"/>
            <a:ext cx="277977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AZN: Dato-DXd + durva + chemo (TL04) [2027] ★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7498080" y="1490472"/>
            <a:ext cx="2834640" cy="201168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0" name="Text 28"/>
          <p:cNvSpPr/>
          <p:nvPr/>
        </p:nvSpPr>
        <p:spPr>
          <a:xfrm>
            <a:off x="7525512" y="1490472"/>
            <a:ext cx="277977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MRK: Efti + pembro + chemo (TACTI-004) [2028]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0424160" y="1051560"/>
            <a:ext cx="1554480" cy="201168"/>
          </a:xfrm>
          <a:prstGeom prst="rect">
            <a:avLst/>
          </a:prstGeom>
          <a:solidFill>
            <a:srgbClr val="E84C2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2" name="Text 30"/>
          <p:cNvSpPr/>
          <p:nvPr/>
        </p:nvSpPr>
        <p:spPr>
          <a:xfrm>
            <a:off x="10451592" y="1051560"/>
            <a:ext cx="14996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Ivonescimab + chemo ★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10424160" y="1271016"/>
            <a:ext cx="1554480" cy="201168"/>
          </a:xfrm>
          <a:prstGeom prst="rect">
            <a:avLst/>
          </a:prstGeom>
          <a:solidFill>
            <a:srgbClr val="88888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4" name="Text 32"/>
          <p:cNvSpPr/>
          <p:nvPr/>
        </p:nvSpPr>
        <p:spPr>
          <a:xfrm>
            <a:off x="10451592" y="1271016"/>
            <a:ext cx="14996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BNT327 (BNTX/BMY)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10424160" y="1490472"/>
            <a:ext cx="1554480" cy="201168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6" name="Text 34"/>
          <p:cNvSpPr/>
          <p:nvPr/>
        </p:nvSpPr>
        <p:spPr>
          <a:xfrm>
            <a:off x="10451592" y="1490472"/>
            <a:ext cx="14996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Sac-TMT + pembro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82880" y="1755648"/>
            <a:ext cx="117043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8" name="Shape 36"/>
          <p:cNvSpPr/>
          <p:nvPr/>
        </p:nvSpPr>
        <p:spPr>
          <a:xfrm>
            <a:off x="182880" y="1801368"/>
            <a:ext cx="2011680" cy="68580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9" name="Text 37"/>
          <p:cNvSpPr/>
          <p:nvPr/>
        </p:nvSpPr>
        <p:spPr>
          <a:xfrm>
            <a:off x="228600" y="18288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 1L metastatic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28600" y="2002536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~15% West, ~50% Asia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377440" y="1847088"/>
            <a:ext cx="2011680" cy="201168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42" name="Text 40"/>
          <p:cNvSpPr/>
          <p:nvPr/>
        </p:nvSpPr>
        <p:spPr>
          <a:xfrm>
            <a:off x="2404872" y="1847088"/>
            <a:ext cx="19568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Tagrisso + chemo (AZN) mOS 47.5mo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2377440" y="2066544"/>
            <a:ext cx="2011680" cy="201168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44" name="Text 42"/>
          <p:cNvSpPr/>
          <p:nvPr/>
        </p:nvSpPr>
        <p:spPr>
          <a:xfrm>
            <a:off x="2404872" y="2066544"/>
            <a:ext cx="19568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Rybrevant + Lazcluze (JNJ) OS HR 0.75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2377440" y="2286000"/>
            <a:ext cx="2011680" cy="201168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46" name="Text 44"/>
          <p:cNvSpPr/>
          <p:nvPr/>
        </p:nvSpPr>
        <p:spPr>
          <a:xfrm>
            <a:off x="2404872" y="2286000"/>
            <a:ext cx="19568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Tagrisso mono (AZN) — legacy, declining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4709160" y="1847088"/>
            <a:ext cx="2743200" cy="201168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48" name="Text 46"/>
          <p:cNvSpPr/>
          <p:nvPr/>
        </p:nvSpPr>
        <p:spPr>
          <a:xfrm>
            <a:off x="4736592" y="1847088"/>
            <a:ext cx="268833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JNJ subQ amivantamab (PALOMA-3) ramp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4709160" y="2066544"/>
            <a:ext cx="2743200" cy="201168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50" name="Text 48"/>
          <p:cNvSpPr/>
          <p:nvPr/>
        </p:nvSpPr>
        <p:spPr>
          <a:xfrm>
            <a:off x="4736592" y="2066544"/>
            <a:ext cx="268833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AZN: NeoADAURA (neoadj osi+chemo) data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7498080" y="1847088"/>
            <a:ext cx="2834640" cy="201168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52" name="Text 50"/>
          <p:cNvSpPr/>
          <p:nvPr/>
        </p:nvSpPr>
        <p:spPr>
          <a:xfrm>
            <a:off x="7525512" y="1847088"/>
            <a:ext cx="277977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AZN: TROPION-Lung14 (Dato-DXd+osi 1L) [2028]</a:t>
            </a:r>
            <a:endParaRPr lang="en-US" sz="650" dirty="0"/>
          </a:p>
        </p:txBody>
      </p:sp>
      <p:sp>
        <p:nvSpPr>
          <p:cNvPr id="53" name="Shape 51"/>
          <p:cNvSpPr/>
          <p:nvPr/>
        </p:nvSpPr>
        <p:spPr>
          <a:xfrm>
            <a:off x="7498080" y="2066544"/>
            <a:ext cx="2834640" cy="201168"/>
          </a:xfrm>
          <a:prstGeom prst="rect">
            <a:avLst/>
          </a:prstGeom>
          <a:solidFill>
            <a:srgbClr val="E84C2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54" name="Text 52"/>
          <p:cNvSpPr/>
          <p:nvPr/>
        </p:nvSpPr>
        <p:spPr>
          <a:xfrm>
            <a:off x="7525512" y="2066544"/>
            <a:ext cx="277977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Ivonescimab + chemo post-EGFR TKI (HARMONi)</a:t>
            </a:r>
            <a:endParaRPr lang="en-US" sz="650" dirty="0"/>
          </a:p>
        </p:txBody>
      </p:sp>
      <p:sp>
        <p:nvSpPr>
          <p:cNvPr id="55" name="Shape 53"/>
          <p:cNvSpPr/>
          <p:nvPr/>
        </p:nvSpPr>
        <p:spPr>
          <a:xfrm>
            <a:off x="10424160" y="1847088"/>
            <a:ext cx="1554480" cy="201168"/>
          </a:xfrm>
          <a:prstGeom prst="rect">
            <a:avLst/>
          </a:prstGeom>
          <a:solidFill>
            <a:srgbClr val="88888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56" name="Text 54"/>
          <p:cNvSpPr/>
          <p:nvPr/>
        </p:nvSpPr>
        <p:spPr>
          <a:xfrm>
            <a:off x="10451592" y="1847088"/>
            <a:ext cx="14996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4th-gen EGFR TKIs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82880" y="2551176"/>
            <a:ext cx="117043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8" name="Shape 56"/>
          <p:cNvSpPr/>
          <p:nvPr/>
        </p:nvSpPr>
        <p:spPr>
          <a:xfrm>
            <a:off x="182880" y="2596896"/>
            <a:ext cx="2011680" cy="68580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59" name="Text 57"/>
          <p:cNvSpPr/>
          <p:nvPr/>
        </p:nvSpPr>
        <p:spPr>
          <a:xfrm>
            <a:off x="228600" y="26243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EGFR 2L+ / post-TKI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228600" y="2798064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Post-resistance, high unmet need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2377440" y="2642616"/>
            <a:ext cx="2011680" cy="201168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62" name="Text 60"/>
          <p:cNvSpPr/>
          <p:nvPr/>
        </p:nvSpPr>
        <p:spPr>
          <a:xfrm>
            <a:off x="2404872" y="2642616"/>
            <a:ext cx="19568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Rybrevant + chemo (JNJ) MARIPOSA-2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2377440" y="2862072"/>
            <a:ext cx="2011680" cy="201168"/>
          </a:xfrm>
          <a:prstGeom prst="rect">
            <a:avLst/>
          </a:prstGeom>
          <a:solidFill>
            <a:srgbClr val="88888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64" name="Text 62"/>
          <p:cNvSpPr/>
          <p:nvPr/>
        </p:nvSpPr>
        <p:spPr>
          <a:xfrm>
            <a:off x="2404872" y="2862072"/>
            <a:ext cx="19568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Platinum chemo (legacy, poor outcomes)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4709160" y="2642616"/>
            <a:ext cx="2743200" cy="201168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66" name="Text 64"/>
          <p:cNvSpPr/>
          <p:nvPr/>
        </p:nvSpPr>
        <p:spPr>
          <a:xfrm>
            <a:off x="4736592" y="2642616"/>
            <a:ext cx="268833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AZN: Dato-DXd accel approved Jun 2025 (EGFR-mut)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4709160" y="2862072"/>
            <a:ext cx="2743200" cy="201168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68" name="Text 66"/>
          <p:cNvSpPr/>
          <p:nvPr/>
        </p:nvSpPr>
        <p:spPr>
          <a:xfrm>
            <a:off x="4736592" y="2862072"/>
            <a:ext cx="268833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MRK: Sac-TMT (OptiTROP-Lung03) final OS ELCC 2026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7498080" y="2642616"/>
            <a:ext cx="2834640" cy="201168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70" name="Text 68"/>
          <p:cNvSpPr/>
          <p:nvPr/>
        </p:nvSpPr>
        <p:spPr>
          <a:xfrm>
            <a:off x="7525512" y="2642616"/>
            <a:ext cx="277977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AZN: TROPION-Lung15 (Dato +/- osi) mid-2026 ★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7498080" y="2862072"/>
            <a:ext cx="2834640" cy="201168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72" name="Text 70"/>
          <p:cNvSpPr/>
          <p:nvPr/>
        </p:nvSpPr>
        <p:spPr>
          <a:xfrm>
            <a:off x="7525512" y="2862072"/>
            <a:ext cx="277977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BMY: Iza-bren (EGFR x HER3 ADC) BTD granted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7498080" y="3081528"/>
            <a:ext cx="2834640" cy="201168"/>
          </a:xfrm>
          <a:prstGeom prst="rect">
            <a:avLst/>
          </a:prstGeom>
          <a:solidFill>
            <a:srgbClr val="006666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74" name="Text 72"/>
          <p:cNvSpPr/>
          <p:nvPr/>
        </p:nvSpPr>
        <p:spPr>
          <a:xfrm>
            <a:off x="7525512" y="3081528"/>
            <a:ext cx="277977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Daiichi: Patritumab deruxtecan (HER3-DXd)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10424160" y="2642616"/>
            <a:ext cx="1554480" cy="201168"/>
          </a:xfrm>
          <a:prstGeom prst="rect">
            <a:avLst/>
          </a:prstGeom>
          <a:solidFill>
            <a:srgbClr val="88888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76" name="Text 74"/>
          <p:cNvSpPr/>
          <p:nvPr/>
        </p:nvSpPr>
        <p:spPr>
          <a:xfrm>
            <a:off x="10451592" y="2642616"/>
            <a:ext cx="14996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ADCs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182880" y="3346704"/>
            <a:ext cx="117043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8" name="Shape 76"/>
          <p:cNvSpPr/>
          <p:nvPr/>
        </p:nvSpPr>
        <p:spPr>
          <a:xfrm>
            <a:off x="182880" y="3392424"/>
            <a:ext cx="2011680" cy="68580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79" name="Text 77"/>
          <p:cNvSpPr/>
          <p:nvPr/>
        </p:nvSpPr>
        <p:spPr>
          <a:xfrm>
            <a:off x="228600" y="341985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 G12C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228600" y="3593592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~13% of NSCLC (non-sq)</a:t>
            </a:r>
            <a:endParaRPr lang="en-US" sz="700" dirty="0"/>
          </a:p>
        </p:txBody>
      </p:sp>
      <p:sp>
        <p:nvSpPr>
          <p:cNvPr id="81" name="Shape 79"/>
          <p:cNvSpPr/>
          <p:nvPr/>
        </p:nvSpPr>
        <p:spPr>
          <a:xfrm>
            <a:off x="2377440" y="3438144"/>
            <a:ext cx="2011680" cy="201168"/>
          </a:xfrm>
          <a:prstGeom prst="rect">
            <a:avLst/>
          </a:prstGeom>
          <a:solidFill>
            <a:srgbClr val="BF8F0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2" name="Text 80"/>
          <p:cNvSpPr/>
          <p:nvPr/>
        </p:nvSpPr>
        <p:spPr>
          <a:xfrm>
            <a:off x="2404872" y="3438144"/>
            <a:ext cx="19568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Lumakras 2L (AMGN) — modest PFS</a:t>
            </a:r>
            <a:endParaRPr lang="en-US" sz="650" dirty="0"/>
          </a:p>
        </p:txBody>
      </p:sp>
      <p:sp>
        <p:nvSpPr>
          <p:cNvPr id="83" name="Shape 81"/>
          <p:cNvSpPr/>
          <p:nvPr/>
        </p:nvSpPr>
        <p:spPr>
          <a:xfrm>
            <a:off x="2377440" y="3657600"/>
            <a:ext cx="2011680" cy="201168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4" name="Text 82"/>
          <p:cNvSpPr/>
          <p:nvPr/>
        </p:nvSpPr>
        <p:spPr>
          <a:xfrm>
            <a:off x="2404872" y="3657600"/>
            <a:ext cx="19568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Krazati 2L (BMY) — accelerated approval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709160" y="3438144"/>
            <a:ext cx="2743200" cy="201168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6" name="Text 84"/>
          <p:cNvSpPr/>
          <p:nvPr/>
        </p:nvSpPr>
        <p:spPr>
          <a:xfrm>
            <a:off x="4736592" y="3438144"/>
            <a:ext cx="268833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Keytruda + chemo is current 1L SOC for KRAS</a:t>
            </a:r>
            <a:endParaRPr lang="en-US" sz="650" dirty="0"/>
          </a:p>
        </p:txBody>
      </p:sp>
      <p:sp>
        <p:nvSpPr>
          <p:cNvPr id="87" name="Shape 85"/>
          <p:cNvSpPr/>
          <p:nvPr/>
        </p:nvSpPr>
        <p:spPr>
          <a:xfrm>
            <a:off x="7498080" y="3438144"/>
            <a:ext cx="2834640" cy="201168"/>
          </a:xfrm>
          <a:prstGeom prst="rect">
            <a:avLst/>
          </a:prstGeom>
          <a:solidFill>
            <a:srgbClr val="BF8F0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8" name="Text 86"/>
          <p:cNvSpPr/>
          <p:nvPr/>
        </p:nvSpPr>
        <p:spPr>
          <a:xfrm>
            <a:off x="7525512" y="3438144"/>
            <a:ext cx="277977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AMGN: CodeBreaK 300 (sotorasib 1L) [2H 2026]</a:t>
            </a:r>
            <a:endParaRPr lang="en-US" sz="650" dirty="0"/>
          </a:p>
        </p:txBody>
      </p:sp>
      <p:sp>
        <p:nvSpPr>
          <p:cNvPr id="89" name="Shape 87"/>
          <p:cNvSpPr/>
          <p:nvPr/>
        </p:nvSpPr>
        <p:spPr>
          <a:xfrm>
            <a:off x="7498080" y="3657600"/>
            <a:ext cx="2834640" cy="201168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90" name="Text 88"/>
          <p:cNvSpPr/>
          <p:nvPr/>
        </p:nvSpPr>
        <p:spPr>
          <a:xfrm>
            <a:off x="7525512" y="3657600"/>
            <a:ext cx="277977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BMY: KRYSTAL-7 (adagrasib+pembro 1L) [2H 2026]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7498080" y="3877056"/>
            <a:ext cx="2834640" cy="201168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92" name="Text 90"/>
          <p:cNvSpPr/>
          <p:nvPr/>
        </p:nvSpPr>
        <p:spPr>
          <a:xfrm>
            <a:off x="7525512" y="3877056"/>
            <a:ext cx="277977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MRK: KANDLELIT-007 (calderasib+QLEX 1L) [2028+]</a:t>
            </a:r>
            <a:endParaRPr lang="en-US" sz="650" dirty="0"/>
          </a:p>
        </p:txBody>
      </p:sp>
      <p:sp>
        <p:nvSpPr>
          <p:cNvPr id="93" name="Shape 91"/>
          <p:cNvSpPr/>
          <p:nvPr/>
        </p:nvSpPr>
        <p:spPr>
          <a:xfrm>
            <a:off x="10424160" y="3438144"/>
            <a:ext cx="1554480" cy="201168"/>
          </a:xfrm>
          <a:prstGeom prst="rect">
            <a:avLst/>
          </a:prstGeom>
          <a:solidFill>
            <a:srgbClr val="C0000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94" name="Text 92"/>
          <p:cNvSpPr/>
          <p:nvPr/>
        </p:nvSpPr>
        <p:spPr>
          <a:xfrm>
            <a:off x="10451592" y="3438144"/>
            <a:ext cx="14996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LLY: Olomorasib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10424160" y="3657600"/>
            <a:ext cx="1554480" cy="201168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96" name="Text 94"/>
          <p:cNvSpPr/>
          <p:nvPr/>
        </p:nvSpPr>
        <p:spPr>
          <a:xfrm>
            <a:off x="10451592" y="3657600"/>
            <a:ext cx="14996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RHHBY: Divarasib</a:t>
            </a:r>
            <a:endParaRPr lang="en-US" sz="650" dirty="0"/>
          </a:p>
        </p:txBody>
      </p:sp>
      <p:sp>
        <p:nvSpPr>
          <p:cNvPr id="97" name="Shape 95"/>
          <p:cNvSpPr/>
          <p:nvPr/>
        </p:nvSpPr>
        <p:spPr>
          <a:xfrm>
            <a:off x="182880" y="4142232"/>
            <a:ext cx="117043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8" name="Shape 96"/>
          <p:cNvSpPr/>
          <p:nvPr/>
        </p:nvSpPr>
        <p:spPr>
          <a:xfrm>
            <a:off x="182880" y="4187952"/>
            <a:ext cx="2011680" cy="68580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99" name="Text 97"/>
          <p:cNvSpPr/>
          <p:nvPr/>
        </p:nvSpPr>
        <p:spPr>
          <a:xfrm>
            <a:off x="228600" y="421538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HER2 / ALK / other</a:t>
            </a:r>
            <a:endParaRPr lang="en-US" sz="900" dirty="0"/>
          </a:p>
        </p:txBody>
      </p:sp>
      <p:sp>
        <p:nvSpPr>
          <p:cNvPr id="100" name="Text 98"/>
          <p:cNvSpPr/>
          <p:nvPr/>
        </p:nvSpPr>
        <p:spPr>
          <a:xfrm>
            <a:off x="228600" y="4389120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HER2 ~3%, ALK ~5%, misc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2377440" y="4233672"/>
            <a:ext cx="2011680" cy="201168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02" name="Text 100"/>
          <p:cNvSpPr/>
          <p:nvPr/>
        </p:nvSpPr>
        <p:spPr>
          <a:xfrm>
            <a:off x="2404872" y="4233672"/>
            <a:ext cx="19568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Alecensa (RHHBY) — ALK 1L + adj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377440" y="4453128"/>
            <a:ext cx="2011680" cy="201168"/>
          </a:xfrm>
          <a:prstGeom prst="rect">
            <a:avLst/>
          </a:prstGeom>
          <a:solidFill>
            <a:srgbClr val="548235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04" name="Text 102"/>
          <p:cNvSpPr/>
          <p:nvPr/>
        </p:nvSpPr>
        <p:spPr>
          <a:xfrm>
            <a:off x="2404872" y="4453128"/>
            <a:ext cx="19568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Lorbrena (PFE) — ALK 1L, best CNS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4709160" y="4233672"/>
            <a:ext cx="2743200" cy="201168"/>
          </a:xfrm>
          <a:prstGeom prst="rect">
            <a:avLst/>
          </a:prstGeom>
          <a:solidFill>
            <a:srgbClr val="40404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06" name="Text 104"/>
          <p:cNvSpPr/>
          <p:nvPr/>
        </p:nvSpPr>
        <p:spPr>
          <a:xfrm>
            <a:off x="4736592" y="4233672"/>
            <a:ext cx="268833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Zongertinib (BI) HER2 accel appr Feb 2026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4709160" y="4453128"/>
            <a:ext cx="2743200" cy="201168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08" name="Text 106"/>
          <p:cNvSpPr/>
          <p:nvPr/>
        </p:nvSpPr>
        <p:spPr>
          <a:xfrm>
            <a:off x="4736592" y="4453128"/>
            <a:ext cx="268833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Enhertu (AZN) HER2-mut 2L approved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4709160" y="4672584"/>
            <a:ext cx="2743200" cy="201168"/>
          </a:xfrm>
          <a:prstGeom prst="rect">
            <a:avLst/>
          </a:prstGeom>
          <a:solidFill>
            <a:srgbClr val="C0000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10" name="Text 108"/>
          <p:cNvSpPr/>
          <p:nvPr/>
        </p:nvSpPr>
        <p:spPr>
          <a:xfrm>
            <a:off x="4736592" y="4672584"/>
            <a:ext cx="268833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Retevmo (LLY) RET 1L/2L</a:t>
            </a:r>
            <a:endParaRPr lang="en-US" sz="650" dirty="0"/>
          </a:p>
        </p:txBody>
      </p:sp>
      <p:sp>
        <p:nvSpPr>
          <p:cNvPr id="111" name="Shape 109"/>
          <p:cNvSpPr/>
          <p:nvPr/>
        </p:nvSpPr>
        <p:spPr>
          <a:xfrm>
            <a:off x="7498080" y="4233672"/>
            <a:ext cx="2834640" cy="201168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12" name="Text 110"/>
          <p:cNvSpPr/>
          <p:nvPr/>
        </p:nvSpPr>
        <p:spPr>
          <a:xfrm>
            <a:off x="7525512" y="4233672"/>
            <a:ext cx="277977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DESTINY-Lung04 (Enhertu vs KN-189 1L HER2) [2026]</a:t>
            </a:r>
            <a:endParaRPr lang="en-US" sz="650" dirty="0"/>
          </a:p>
        </p:txBody>
      </p:sp>
      <p:sp>
        <p:nvSpPr>
          <p:cNvPr id="113" name="Shape 111"/>
          <p:cNvSpPr/>
          <p:nvPr/>
        </p:nvSpPr>
        <p:spPr>
          <a:xfrm>
            <a:off x="7498080" y="4453128"/>
            <a:ext cx="2834640" cy="201168"/>
          </a:xfrm>
          <a:prstGeom prst="rect">
            <a:avLst/>
          </a:prstGeom>
          <a:solidFill>
            <a:srgbClr val="40404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14" name="Text 112"/>
          <p:cNvSpPr/>
          <p:nvPr/>
        </p:nvSpPr>
        <p:spPr>
          <a:xfrm>
            <a:off x="7525512" y="4453128"/>
            <a:ext cx="277977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Beamion LUNG-2 (zongertinib Ph3 vs SOC) [2027]</a:t>
            </a:r>
            <a:endParaRPr lang="en-US" sz="650" dirty="0"/>
          </a:p>
        </p:txBody>
      </p:sp>
      <p:sp>
        <p:nvSpPr>
          <p:cNvPr id="115" name="Shape 113"/>
          <p:cNvSpPr/>
          <p:nvPr/>
        </p:nvSpPr>
        <p:spPr>
          <a:xfrm>
            <a:off x="7498080" y="4672584"/>
            <a:ext cx="2834640" cy="201168"/>
          </a:xfrm>
          <a:prstGeom prst="rect">
            <a:avLst/>
          </a:prstGeom>
          <a:solidFill>
            <a:srgbClr val="88888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16" name="Text 114"/>
          <p:cNvSpPr/>
          <p:nvPr/>
        </p:nvSpPr>
        <p:spPr>
          <a:xfrm>
            <a:off x="7525512" y="4672584"/>
            <a:ext cx="277977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Sevabertinib (Bayer) HER2 SOHO-02 [2027]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10424160" y="4233672"/>
            <a:ext cx="1554480" cy="201168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18" name="Text 116"/>
          <p:cNvSpPr/>
          <p:nvPr/>
        </p:nvSpPr>
        <p:spPr>
          <a:xfrm>
            <a:off x="10451592" y="4233672"/>
            <a:ext cx="14996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ALINA adj (RHHBY)</a:t>
            </a:r>
            <a:endParaRPr lang="en-US" sz="650" dirty="0"/>
          </a:p>
        </p:txBody>
      </p:sp>
      <p:sp>
        <p:nvSpPr>
          <p:cNvPr id="119" name="Shape 117"/>
          <p:cNvSpPr/>
          <p:nvPr/>
        </p:nvSpPr>
        <p:spPr>
          <a:xfrm>
            <a:off x="10424160" y="4453128"/>
            <a:ext cx="1554480" cy="201168"/>
          </a:xfrm>
          <a:prstGeom prst="rect">
            <a:avLst/>
          </a:prstGeom>
          <a:solidFill>
            <a:srgbClr val="767171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20" name="Text 118"/>
          <p:cNvSpPr/>
          <p:nvPr/>
        </p:nvSpPr>
        <p:spPr>
          <a:xfrm>
            <a:off x="10451592" y="4453128"/>
            <a:ext cx="14996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Tabrecta MET (NVS)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182880" y="4937760"/>
            <a:ext cx="117043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22" name="Shape 120"/>
          <p:cNvSpPr/>
          <p:nvPr/>
        </p:nvSpPr>
        <p:spPr>
          <a:xfrm>
            <a:off x="182880" y="4983480"/>
            <a:ext cx="2011680" cy="54864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23" name="Text 121"/>
          <p:cNvSpPr/>
          <p:nvPr/>
        </p:nvSpPr>
        <p:spPr>
          <a:xfrm>
            <a:off x="228600" y="501091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2L+ post-IO failure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228600" y="5184648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Driver-neg, highest unmet need</a:t>
            </a:r>
            <a:endParaRPr lang="en-US" sz="700" dirty="0"/>
          </a:p>
        </p:txBody>
      </p:sp>
      <p:sp>
        <p:nvSpPr>
          <p:cNvPr id="125" name="Shape 123"/>
          <p:cNvSpPr/>
          <p:nvPr/>
        </p:nvSpPr>
        <p:spPr>
          <a:xfrm>
            <a:off x="2377440" y="5029200"/>
            <a:ext cx="2011680" cy="201168"/>
          </a:xfrm>
          <a:prstGeom prst="rect">
            <a:avLst/>
          </a:prstGeom>
          <a:solidFill>
            <a:srgbClr val="88888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26" name="Text 124"/>
          <p:cNvSpPr/>
          <p:nvPr/>
        </p:nvSpPr>
        <p:spPr>
          <a:xfrm>
            <a:off x="2404872" y="5029200"/>
            <a:ext cx="19568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Docetaxel +/- ramucirumab (poor, mPFS ~4mo)</a:t>
            </a:r>
            <a:endParaRPr lang="en-US" sz="650" dirty="0"/>
          </a:p>
        </p:txBody>
      </p:sp>
      <p:sp>
        <p:nvSpPr>
          <p:cNvPr id="127" name="Shape 125"/>
          <p:cNvSpPr/>
          <p:nvPr/>
        </p:nvSpPr>
        <p:spPr>
          <a:xfrm>
            <a:off x="4709160" y="5029200"/>
            <a:ext cx="2743200" cy="201168"/>
          </a:xfrm>
          <a:prstGeom prst="rect">
            <a:avLst/>
          </a:prstGeom>
          <a:solidFill>
            <a:srgbClr val="843C0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28" name="Text 126"/>
          <p:cNvSpPr/>
          <p:nvPr/>
        </p:nvSpPr>
        <p:spPr>
          <a:xfrm>
            <a:off x="4736592" y="5029200"/>
            <a:ext cx="268833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Teliso-V (ABBV) c-Met ADC accel appr May 2025</a:t>
            </a:r>
            <a:endParaRPr lang="en-US" sz="650" dirty="0"/>
          </a:p>
        </p:txBody>
      </p:sp>
      <p:sp>
        <p:nvSpPr>
          <p:cNvPr id="129" name="Shape 127"/>
          <p:cNvSpPr/>
          <p:nvPr/>
        </p:nvSpPr>
        <p:spPr>
          <a:xfrm>
            <a:off x="4709160" y="5248656"/>
            <a:ext cx="2743200" cy="201168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30" name="Text 128"/>
          <p:cNvSpPr/>
          <p:nvPr/>
        </p:nvSpPr>
        <p:spPr>
          <a:xfrm>
            <a:off x="4736592" y="5248656"/>
            <a:ext cx="268833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Dato-DXd (AZN) EGFR-mut accel appr Jun 2025</a:t>
            </a:r>
            <a:endParaRPr lang="en-US" sz="650" dirty="0"/>
          </a:p>
        </p:txBody>
      </p:sp>
      <p:sp>
        <p:nvSpPr>
          <p:cNvPr id="131" name="Shape 129"/>
          <p:cNvSpPr/>
          <p:nvPr/>
        </p:nvSpPr>
        <p:spPr>
          <a:xfrm>
            <a:off x="7498080" y="5029200"/>
            <a:ext cx="2834640" cy="201168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32" name="Text 130"/>
          <p:cNvSpPr/>
          <p:nvPr/>
        </p:nvSpPr>
        <p:spPr>
          <a:xfrm>
            <a:off x="7525512" y="5029200"/>
            <a:ext cx="277977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Dato-DXd broader non-sq approval pending [2026]</a:t>
            </a:r>
            <a:endParaRPr lang="en-US" sz="650" dirty="0"/>
          </a:p>
        </p:txBody>
      </p:sp>
      <p:sp>
        <p:nvSpPr>
          <p:cNvPr id="133" name="Shape 131"/>
          <p:cNvSpPr/>
          <p:nvPr/>
        </p:nvSpPr>
        <p:spPr>
          <a:xfrm>
            <a:off x="7498080" y="5248656"/>
            <a:ext cx="2834640" cy="201168"/>
          </a:xfrm>
          <a:prstGeom prst="rect">
            <a:avLst/>
          </a:prstGeom>
          <a:solidFill>
            <a:srgbClr val="006666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34" name="Text 132"/>
          <p:cNvSpPr/>
          <p:nvPr/>
        </p:nvSpPr>
        <p:spPr>
          <a:xfrm>
            <a:off x="7525512" y="5248656"/>
            <a:ext cx="277977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Patritumab deruxtecan HER3-DXd Ph3 [2027-28]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10424160" y="5029200"/>
            <a:ext cx="1554480" cy="201168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36" name="Text 134"/>
          <p:cNvSpPr/>
          <p:nvPr/>
        </p:nvSpPr>
        <p:spPr>
          <a:xfrm>
            <a:off x="10451592" y="5029200"/>
            <a:ext cx="14996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ADC + IO combos</a:t>
            </a:r>
            <a:endParaRPr lang="en-US" sz="650" dirty="0"/>
          </a:p>
        </p:txBody>
      </p:sp>
      <p:sp>
        <p:nvSpPr>
          <p:cNvPr id="137" name="Shape 135"/>
          <p:cNvSpPr/>
          <p:nvPr/>
        </p:nvSpPr>
        <p:spPr>
          <a:xfrm>
            <a:off x="10424160" y="5248656"/>
            <a:ext cx="1554480" cy="201168"/>
          </a:xfrm>
          <a:prstGeom prst="rect">
            <a:avLst/>
          </a:prstGeom>
          <a:solidFill>
            <a:srgbClr val="88888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38" name="Text 136"/>
          <p:cNvSpPr/>
          <p:nvPr/>
        </p:nvSpPr>
        <p:spPr>
          <a:xfrm>
            <a:off x="10451592" y="5248656"/>
            <a:ext cx="14996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 mechanisms</a:t>
            </a:r>
            <a:endParaRPr lang="en-US" sz="650" dirty="0"/>
          </a:p>
        </p:txBody>
      </p:sp>
      <p:sp>
        <p:nvSpPr>
          <p:cNvPr id="139" name="Shape 137"/>
          <p:cNvSpPr/>
          <p:nvPr/>
        </p:nvSpPr>
        <p:spPr>
          <a:xfrm>
            <a:off x="182880" y="5596128"/>
            <a:ext cx="117043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40" name="Shape 138"/>
          <p:cNvSpPr/>
          <p:nvPr/>
        </p:nvSpPr>
        <p:spPr>
          <a:xfrm>
            <a:off x="182880" y="5641848"/>
            <a:ext cx="2011680" cy="50292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41" name="Text 139"/>
          <p:cNvSpPr/>
          <p:nvPr/>
        </p:nvSpPr>
        <p:spPr>
          <a:xfrm>
            <a:off x="228600" y="56692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Perioperative (I-IIIA)</a:t>
            </a:r>
            <a:endParaRPr lang="en-US" sz="900" dirty="0"/>
          </a:p>
        </p:txBody>
      </p:sp>
      <p:sp>
        <p:nvSpPr>
          <p:cNvPr id="142" name="Text 140"/>
          <p:cNvSpPr/>
          <p:nvPr/>
        </p:nvSpPr>
        <p:spPr>
          <a:xfrm>
            <a:off x="228600" y="5843016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 + adj, fastest growing</a:t>
            </a:r>
            <a:endParaRPr lang="en-US" sz="700" dirty="0"/>
          </a:p>
        </p:txBody>
      </p:sp>
      <p:sp>
        <p:nvSpPr>
          <p:cNvPr id="143" name="Shape 141"/>
          <p:cNvSpPr/>
          <p:nvPr/>
        </p:nvSpPr>
        <p:spPr>
          <a:xfrm>
            <a:off x="2377440" y="5687568"/>
            <a:ext cx="2011680" cy="201168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44" name="Text 142"/>
          <p:cNvSpPr/>
          <p:nvPr/>
        </p:nvSpPr>
        <p:spPr>
          <a:xfrm>
            <a:off x="2404872" y="5687568"/>
            <a:ext cx="19568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Keytruda sandwich (MRK) KN-671 — leader</a:t>
            </a:r>
            <a:endParaRPr lang="en-US" sz="650" dirty="0"/>
          </a:p>
        </p:txBody>
      </p:sp>
      <p:sp>
        <p:nvSpPr>
          <p:cNvPr id="145" name="Shape 143"/>
          <p:cNvSpPr/>
          <p:nvPr/>
        </p:nvSpPr>
        <p:spPr>
          <a:xfrm>
            <a:off x="2377440" y="5907024"/>
            <a:ext cx="2011680" cy="201168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46" name="Text 144"/>
          <p:cNvSpPr/>
          <p:nvPr/>
        </p:nvSpPr>
        <p:spPr>
          <a:xfrm>
            <a:off x="2404872" y="5907024"/>
            <a:ext cx="19568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Tagrisso adj 3yr (AZN) ADAURA — EGFR+</a:t>
            </a:r>
            <a:endParaRPr lang="en-US" sz="650" dirty="0"/>
          </a:p>
        </p:txBody>
      </p:sp>
      <p:sp>
        <p:nvSpPr>
          <p:cNvPr id="147" name="Shape 145"/>
          <p:cNvSpPr/>
          <p:nvPr/>
        </p:nvSpPr>
        <p:spPr>
          <a:xfrm>
            <a:off x="4709160" y="5687568"/>
            <a:ext cx="2743200" cy="201168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48" name="Text 146"/>
          <p:cNvSpPr/>
          <p:nvPr/>
        </p:nvSpPr>
        <p:spPr>
          <a:xfrm>
            <a:off x="4736592" y="5687568"/>
            <a:ext cx="268833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Opdivo neo+adj (BMY) CM-77T best pCR</a:t>
            </a:r>
            <a:endParaRPr lang="en-US" sz="650" dirty="0"/>
          </a:p>
        </p:txBody>
      </p:sp>
      <p:sp>
        <p:nvSpPr>
          <p:cNvPr id="149" name="Shape 147"/>
          <p:cNvSpPr/>
          <p:nvPr/>
        </p:nvSpPr>
        <p:spPr>
          <a:xfrm>
            <a:off x="4709160" y="5907024"/>
            <a:ext cx="2743200" cy="201168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50" name="Text 148"/>
          <p:cNvSpPr/>
          <p:nvPr/>
        </p:nvSpPr>
        <p:spPr>
          <a:xfrm>
            <a:off x="4736592" y="5907024"/>
            <a:ext cx="268833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Imfinzi sandwich (AZN) AEGEAN</a:t>
            </a:r>
            <a:endParaRPr lang="en-US" sz="650" dirty="0"/>
          </a:p>
        </p:txBody>
      </p:sp>
      <p:sp>
        <p:nvSpPr>
          <p:cNvPr id="151" name="Shape 149"/>
          <p:cNvSpPr/>
          <p:nvPr/>
        </p:nvSpPr>
        <p:spPr>
          <a:xfrm>
            <a:off x="7498080" y="5687568"/>
            <a:ext cx="2834640" cy="201168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52" name="Text 150"/>
          <p:cNvSpPr/>
          <p:nvPr/>
        </p:nvSpPr>
        <p:spPr>
          <a:xfrm>
            <a:off x="7525512" y="5687568"/>
            <a:ext cx="277977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Alecensa adj ALK+ (RHHBY) ALINA</a:t>
            </a:r>
            <a:endParaRPr lang="en-US" sz="650" dirty="0"/>
          </a:p>
        </p:txBody>
      </p:sp>
      <p:sp>
        <p:nvSpPr>
          <p:cNvPr id="153" name="Shape 151"/>
          <p:cNvSpPr/>
          <p:nvPr/>
        </p:nvSpPr>
        <p:spPr>
          <a:xfrm>
            <a:off x="7498080" y="5907024"/>
            <a:ext cx="2834640" cy="201168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54" name="Text 152"/>
          <p:cNvSpPr/>
          <p:nvPr/>
        </p:nvSpPr>
        <p:spPr>
          <a:xfrm>
            <a:off x="7525512" y="5907024"/>
            <a:ext cx="277977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NeoADAURA osi+chemo neoadj EGFR+</a:t>
            </a:r>
            <a:endParaRPr lang="en-US" sz="650" dirty="0"/>
          </a:p>
        </p:txBody>
      </p:sp>
      <p:sp>
        <p:nvSpPr>
          <p:cNvPr id="155" name="Shape 153"/>
          <p:cNvSpPr/>
          <p:nvPr/>
        </p:nvSpPr>
        <p:spPr>
          <a:xfrm>
            <a:off x="10424160" y="5687568"/>
            <a:ext cx="1554480" cy="201168"/>
          </a:xfrm>
          <a:prstGeom prst="rect">
            <a:avLst/>
          </a:prstGeom>
          <a:solidFill>
            <a:srgbClr val="88888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56" name="Text 154"/>
          <p:cNvSpPr/>
          <p:nvPr/>
        </p:nvSpPr>
        <p:spPr>
          <a:xfrm>
            <a:off x="10451592" y="5687568"/>
            <a:ext cx="1499616" cy="2011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targeted adj</a:t>
            </a:r>
            <a:endParaRPr lang="en-US" sz="650" dirty="0"/>
          </a:p>
        </p:txBody>
      </p:sp>
      <p:sp>
        <p:nvSpPr>
          <p:cNvPr id="157" name="Shape 155"/>
          <p:cNvSpPr/>
          <p:nvPr/>
        </p:nvSpPr>
        <p:spPr>
          <a:xfrm>
            <a:off x="274320" y="6355080"/>
            <a:ext cx="182880" cy="109728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58" name="Text 156"/>
          <p:cNvSpPr/>
          <p:nvPr/>
        </p:nvSpPr>
        <p:spPr>
          <a:xfrm>
            <a:off x="475488" y="633679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MRK</a:t>
            </a:r>
            <a:endParaRPr lang="en-US" sz="600" dirty="0"/>
          </a:p>
        </p:txBody>
      </p:sp>
      <p:sp>
        <p:nvSpPr>
          <p:cNvPr id="159" name="Shape 157"/>
          <p:cNvSpPr/>
          <p:nvPr/>
        </p:nvSpPr>
        <p:spPr>
          <a:xfrm>
            <a:off x="1069848" y="6355080"/>
            <a:ext cx="182880" cy="109728"/>
          </a:xfrm>
          <a:prstGeom prst="rect">
            <a:avLst/>
          </a:prstGeom>
          <a:solidFill>
            <a:srgbClr val="00959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60" name="Text 158"/>
          <p:cNvSpPr/>
          <p:nvPr/>
        </p:nvSpPr>
        <p:spPr>
          <a:xfrm>
            <a:off x="1271016" y="633679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AZN</a:t>
            </a:r>
            <a:endParaRPr lang="en-US" sz="600" dirty="0"/>
          </a:p>
        </p:txBody>
      </p:sp>
      <p:sp>
        <p:nvSpPr>
          <p:cNvPr id="161" name="Shape 159"/>
          <p:cNvSpPr/>
          <p:nvPr/>
        </p:nvSpPr>
        <p:spPr>
          <a:xfrm>
            <a:off x="1865376" y="6355080"/>
            <a:ext cx="182880" cy="109728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62" name="Text 160"/>
          <p:cNvSpPr/>
          <p:nvPr/>
        </p:nvSpPr>
        <p:spPr>
          <a:xfrm>
            <a:off x="2066544" y="633679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JNJ</a:t>
            </a:r>
            <a:endParaRPr lang="en-US" sz="600" dirty="0"/>
          </a:p>
        </p:txBody>
      </p:sp>
      <p:sp>
        <p:nvSpPr>
          <p:cNvPr id="163" name="Shape 161"/>
          <p:cNvSpPr/>
          <p:nvPr/>
        </p:nvSpPr>
        <p:spPr>
          <a:xfrm>
            <a:off x="2660904" y="6355080"/>
            <a:ext cx="182880" cy="109728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64" name="Text 162"/>
          <p:cNvSpPr/>
          <p:nvPr/>
        </p:nvSpPr>
        <p:spPr>
          <a:xfrm>
            <a:off x="2862072" y="633679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BMY</a:t>
            </a:r>
            <a:endParaRPr lang="en-US" sz="600" dirty="0"/>
          </a:p>
        </p:txBody>
      </p:sp>
      <p:sp>
        <p:nvSpPr>
          <p:cNvPr id="165" name="Shape 163"/>
          <p:cNvSpPr/>
          <p:nvPr/>
        </p:nvSpPr>
        <p:spPr>
          <a:xfrm>
            <a:off x="3456432" y="6355080"/>
            <a:ext cx="182880" cy="109728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66" name="Text 164"/>
          <p:cNvSpPr/>
          <p:nvPr/>
        </p:nvSpPr>
        <p:spPr>
          <a:xfrm>
            <a:off x="3657600" y="633679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RHHBY</a:t>
            </a:r>
            <a:endParaRPr lang="en-US" sz="600" dirty="0"/>
          </a:p>
        </p:txBody>
      </p:sp>
      <p:sp>
        <p:nvSpPr>
          <p:cNvPr id="167" name="Shape 165"/>
          <p:cNvSpPr/>
          <p:nvPr/>
        </p:nvSpPr>
        <p:spPr>
          <a:xfrm>
            <a:off x="4251960" y="6355080"/>
            <a:ext cx="182880" cy="109728"/>
          </a:xfrm>
          <a:prstGeom prst="rect">
            <a:avLst/>
          </a:prstGeom>
          <a:solidFill>
            <a:srgbClr val="548235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68" name="Text 166"/>
          <p:cNvSpPr/>
          <p:nvPr/>
        </p:nvSpPr>
        <p:spPr>
          <a:xfrm>
            <a:off x="4453128" y="633679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PFE</a:t>
            </a:r>
            <a:endParaRPr lang="en-US" sz="600" dirty="0"/>
          </a:p>
        </p:txBody>
      </p:sp>
      <p:sp>
        <p:nvSpPr>
          <p:cNvPr id="169" name="Shape 167"/>
          <p:cNvSpPr/>
          <p:nvPr/>
        </p:nvSpPr>
        <p:spPr>
          <a:xfrm>
            <a:off x="5047488" y="6355080"/>
            <a:ext cx="182880" cy="109728"/>
          </a:xfrm>
          <a:prstGeom prst="rect">
            <a:avLst/>
          </a:prstGeom>
          <a:solidFill>
            <a:srgbClr val="BF8F0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70" name="Text 168"/>
          <p:cNvSpPr/>
          <p:nvPr/>
        </p:nvSpPr>
        <p:spPr>
          <a:xfrm>
            <a:off x="5248656" y="633679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AMGN</a:t>
            </a:r>
            <a:endParaRPr lang="en-US" sz="600" dirty="0"/>
          </a:p>
        </p:txBody>
      </p:sp>
      <p:sp>
        <p:nvSpPr>
          <p:cNvPr id="171" name="Shape 169"/>
          <p:cNvSpPr/>
          <p:nvPr/>
        </p:nvSpPr>
        <p:spPr>
          <a:xfrm>
            <a:off x="5843016" y="6355080"/>
            <a:ext cx="182880" cy="109728"/>
          </a:xfrm>
          <a:prstGeom prst="rect">
            <a:avLst/>
          </a:prstGeom>
          <a:solidFill>
            <a:srgbClr val="C0000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72" name="Text 170"/>
          <p:cNvSpPr/>
          <p:nvPr/>
        </p:nvSpPr>
        <p:spPr>
          <a:xfrm>
            <a:off x="6044184" y="633679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LLY</a:t>
            </a:r>
            <a:endParaRPr lang="en-US" sz="600" dirty="0"/>
          </a:p>
        </p:txBody>
      </p:sp>
      <p:sp>
        <p:nvSpPr>
          <p:cNvPr id="173" name="Shape 171"/>
          <p:cNvSpPr/>
          <p:nvPr/>
        </p:nvSpPr>
        <p:spPr>
          <a:xfrm>
            <a:off x="6638544" y="6355080"/>
            <a:ext cx="182880" cy="109728"/>
          </a:xfrm>
          <a:prstGeom prst="rect">
            <a:avLst/>
          </a:prstGeom>
          <a:solidFill>
            <a:srgbClr val="2F5496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74" name="Text 172"/>
          <p:cNvSpPr/>
          <p:nvPr/>
        </p:nvSpPr>
        <p:spPr>
          <a:xfrm>
            <a:off x="6839712" y="633679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GILD</a:t>
            </a:r>
            <a:endParaRPr lang="en-US" sz="600" dirty="0"/>
          </a:p>
        </p:txBody>
      </p:sp>
      <p:sp>
        <p:nvSpPr>
          <p:cNvPr id="175" name="Shape 173"/>
          <p:cNvSpPr/>
          <p:nvPr/>
        </p:nvSpPr>
        <p:spPr>
          <a:xfrm>
            <a:off x="7434072" y="6355080"/>
            <a:ext cx="182880" cy="109728"/>
          </a:xfrm>
          <a:prstGeom prst="rect">
            <a:avLst/>
          </a:prstGeom>
          <a:solidFill>
            <a:srgbClr val="843C0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76" name="Text 174"/>
          <p:cNvSpPr/>
          <p:nvPr/>
        </p:nvSpPr>
        <p:spPr>
          <a:xfrm>
            <a:off x="7635240" y="633679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ABBV</a:t>
            </a:r>
            <a:endParaRPr lang="en-US" sz="600" dirty="0"/>
          </a:p>
        </p:txBody>
      </p:sp>
      <p:sp>
        <p:nvSpPr>
          <p:cNvPr id="177" name="Shape 175"/>
          <p:cNvSpPr/>
          <p:nvPr/>
        </p:nvSpPr>
        <p:spPr>
          <a:xfrm>
            <a:off x="8229600" y="6355080"/>
            <a:ext cx="182880" cy="109728"/>
          </a:xfrm>
          <a:prstGeom prst="rect">
            <a:avLst/>
          </a:prstGeom>
          <a:solidFill>
            <a:srgbClr val="40404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78" name="Text 176"/>
          <p:cNvSpPr/>
          <p:nvPr/>
        </p:nvSpPr>
        <p:spPr>
          <a:xfrm>
            <a:off x="8430768" y="633679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</a:t>
            </a:r>
            <a:endParaRPr lang="en-US" sz="600" dirty="0"/>
          </a:p>
        </p:txBody>
      </p:sp>
      <p:sp>
        <p:nvSpPr>
          <p:cNvPr id="179" name="Shape 177"/>
          <p:cNvSpPr/>
          <p:nvPr/>
        </p:nvSpPr>
        <p:spPr>
          <a:xfrm>
            <a:off x="9025128" y="6355080"/>
            <a:ext cx="182880" cy="109728"/>
          </a:xfrm>
          <a:prstGeom prst="rect">
            <a:avLst/>
          </a:prstGeom>
          <a:solidFill>
            <a:srgbClr val="E84C2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80" name="Text 178"/>
          <p:cNvSpPr/>
          <p:nvPr/>
        </p:nvSpPr>
        <p:spPr>
          <a:xfrm>
            <a:off x="9226296" y="633679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SMMT</a:t>
            </a:r>
            <a:endParaRPr lang="en-US" sz="600" dirty="0"/>
          </a:p>
        </p:txBody>
      </p:sp>
      <p:sp>
        <p:nvSpPr>
          <p:cNvPr id="181" name="Shape 179"/>
          <p:cNvSpPr/>
          <p:nvPr/>
        </p:nvSpPr>
        <p:spPr>
          <a:xfrm>
            <a:off x="9820656" y="6355080"/>
            <a:ext cx="182880" cy="109728"/>
          </a:xfrm>
          <a:prstGeom prst="rect">
            <a:avLst/>
          </a:prstGeom>
          <a:solidFill>
            <a:srgbClr val="006666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82" name="Text 180"/>
          <p:cNvSpPr/>
          <p:nvPr/>
        </p:nvSpPr>
        <p:spPr>
          <a:xfrm>
            <a:off x="10021824" y="633679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Daiichi</a:t>
            </a:r>
            <a:endParaRPr lang="en-US" sz="600" dirty="0"/>
          </a:p>
        </p:txBody>
      </p:sp>
      <p:sp>
        <p:nvSpPr>
          <p:cNvPr id="183" name="Shape 181"/>
          <p:cNvSpPr/>
          <p:nvPr/>
        </p:nvSpPr>
        <p:spPr>
          <a:xfrm>
            <a:off x="10616184" y="6355080"/>
            <a:ext cx="182880" cy="109728"/>
          </a:xfrm>
          <a:prstGeom prst="rect">
            <a:avLst/>
          </a:prstGeom>
          <a:solidFill>
            <a:srgbClr val="767171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84" name="Text 182"/>
          <p:cNvSpPr/>
          <p:nvPr/>
        </p:nvSpPr>
        <p:spPr>
          <a:xfrm>
            <a:off x="10817352" y="633679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NVS</a:t>
            </a:r>
            <a:endParaRPr lang="en-US" sz="600" dirty="0"/>
          </a:p>
        </p:txBody>
      </p:sp>
      <p:sp>
        <p:nvSpPr>
          <p:cNvPr id="185" name="Shape 183"/>
          <p:cNvSpPr/>
          <p:nvPr/>
        </p:nvSpPr>
        <p:spPr>
          <a:xfrm>
            <a:off x="11411712" y="6355080"/>
            <a:ext cx="182880" cy="109728"/>
          </a:xfrm>
          <a:prstGeom prst="rect">
            <a:avLst/>
          </a:prstGeom>
          <a:solidFill>
            <a:srgbClr val="88888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86" name="Text 184"/>
          <p:cNvSpPr/>
          <p:nvPr/>
        </p:nvSpPr>
        <p:spPr>
          <a:xfrm>
            <a:off x="11612880" y="633679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</a:t>
            </a:r>
            <a:endParaRPr lang="en-US" sz="600" dirty="0"/>
          </a:p>
        </p:txBody>
      </p:sp>
      <p:sp>
        <p:nvSpPr>
          <p:cNvPr id="187" name="Text 185"/>
          <p:cNvSpPr/>
          <p:nvPr/>
        </p:nvSpPr>
        <p:spPr>
          <a:xfrm>
            <a:off x="274320" y="6510528"/>
            <a:ext cx="114300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= Key displacement catalyst  |  Source: ClinicalTrials.gov, FDA, company filings, ASCO/ESMO/WCLC 2024-2025. </a:t>
            </a:r>
            <a:endParaRPr lang="en-US" sz="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1206</Words>
  <Application>Microsoft Macintosh PowerPoint</Application>
  <PresentationFormat>Widescreen</PresentationFormat>
  <Paragraphs>158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NSCLC Competitive Landscape</dc:title>
  <dc:subject>PptxGenJS Presentation</dc:subject>
  <dc:creator>NSCLC Coverage</dc:creator>
  <cp:lastModifiedBy>Louisa Qiu</cp:lastModifiedBy>
  <cp:revision>2</cp:revision>
  <dcterms:created xsi:type="dcterms:W3CDTF">2026-03-27T19:01:51Z</dcterms:created>
  <dcterms:modified xsi:type="dcterms:W3CDTF">2026-03-27T19:53:57Z</dcterms:modified>
</cp:coreProperties>
</file>