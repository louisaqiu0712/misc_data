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1: 1L NSCLC Phase 3 Competitive Landscape — Histology × PD-L1 TPS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365760" y="484632"/>
            <a:ext cx="11430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only | Biosimilars excluded | Threats to Keytruda SoC | Source: pipeline database, ClinicalTrials.gov | March 2026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834640" y="914400"/>
            <a:ext cx="8869680" cy="0"/>
          </a:xfrm>
          <a:prstGeom prst="line">
            <a:avLst/>
          </a:prstGeom>
          <a:noFill/>
          <a:ln w="25400">
            <a:solidFill>
              <a:srgbClr val="0020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88920" y="877824"/>
            <a:ext cx="91440" cy="91440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6" name="Shape 4"/>
          <p:cNvSpPr/>
          <p:nvPr/>
        </p:nvSpPr>
        <p:spPr>
          <a:xfrm>
            <a:off x="5745480" y="877824"/>
            <a:ext cx="91440" cy="91440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7" name="Shape 5"/>
          <p:cNvSpPr/>
          <p:nvPr/>
        </p:nvSpPr>
        <p:spPr>
          <a:xfrm>
            <a:off x="8702040" y="877824"/>
            <a:ext cx="91440" cy="91440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8" name="Shape 6"/>
          <p:cNvSpPr/>
          <p:nvPr/>
        </p:nvSpPr>
        <p:spPr>
          <a:xfrm>
            <a:off x="11658600" y="877824"/>
            <a:ext cx="91440" cy="91440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9" name="Text 7"/>
          <p:cNvSpPr/>
          <p:nvPr/>
        </p:nvSpPr>
        <p:spPr>
          <a:xfrm>
            <a:off x="2834640" y="694944"/>
            <a:ext cx="295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≥50% TPS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(pembro mono)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91200" y="694944"/>
            <a:ext cx="295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1–49% TPS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(pembro+chemo)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747760" y="694944"/>
            <a:ext cx="295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(&lt;1%)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(pembro+chemo)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176272" y="1078992"/>
            <a:ext cx="658368" cy="1664208"/>
          </a:xfrm>
          <a:prstGeom prst="rect">
            <a:avLst/>
          </a:prstGeom>
          <a:solidFill>
            <a:srgbClr val="001540"/>
          </a:solidFill>
          <a:ln/>
        </p:spPr>
      </p:sp>
      <p:sp>
        <p:nvSpPr>
          <p:cNvPr id="13" name="Text 11"/>
          <p:cNvSpPr/>
          <p:nvPr/>
        </p:nvSpPr>
        <p:spPr>
          <a:xfrm>
            <a:off x="2176272" y="1078992"/>
            <a:ext cx="658368" cy="1664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Squamous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(70%)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834640" y="1078992"/>
            <a:ext cx="8869680" cy="1664208"/>
          </a:xfrm>
          <a:prstGeom prst="rect">
            <a:avLst/>
          </a:prstGeom>
          <a:solidFill>
            <a:srgbClr val="F5F8FF"/>
          </a:solidFill>
          <a:ln w="6350">
            <a:solidFill>
              <a:srgbClr val="B0BEC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91200" y="1078992"/>
            <a:ext cx="0" cy="1664208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7760" y="1078992"/>
            <a:ext cx="0" cy="1664208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176272" y="2743200"/>
            <a:ext cx="658368" cy="3127248"/>
          </a:xfrm>
          <a:prstGeom prst="rect">
            <a:avLst/>
          </a:prstGeom>
          <a:solidFill>
            <a:srgbClr val="001540"/>
          </a:solidFill>
          <a:ln/>
        </p:spPr>
      </p:sp>
      <p:sp>
        <p:nvSpPr>
          <p:cNvPr id="18" name="Text 16"/>
          <p:cNvSpPr/>
          <p:nvPr/>
        </p:nvSpPr>
        <p:spPr>
          <a:xfrm>
            <a:off x="2176272" y="2743200"/>
            <a:ext cx="658368" cy="3127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non-sq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sq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834640" y="2743200"/>
            <a:ext cx="8869680" cy="3127248"/>
          </a:xfrm>
          <a:prstGeom prst="rect">
            <a:avLst/>
          </a:prstGeom>
          <a:solidFill>
            <a:srgbClr val="EDF2FF"/>
          </a:solidFill>
          <a:ln w="6350">
            <a:solidFill>
              <a:srgbClr val="B0BEC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91200" y="2743200"/>
            <a:ext cx="0" cy="3127248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747760" y="2743200"/>
            <a:ext cx="0" cy="3127248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176272" y="5870448"/>
            <a:ext cx="658368" cy="493776"/>
          </a:xfrm>
          <a:prstGeom prst="rect">
            <a:avLst/>
          </a:prstGeom>
          <a:solidFill>
            <a:srgbClr val="001540"/>
          </a:solidFill>
          <a:ln/>
        </p:spPr>
      </p:sp>
      <p:sp>
        <p:nvSpPr>
          <p:cNvPr id="23" name="Text 21"/>
          <p:cNvSpPr/>
          <p:nvPr/>
        </p:nvSpPr>
        <p:spPr>
          <a:xfrm>
            <a:off x="2176272" y="5870448"/>
            <a:ext cx="65836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Squamous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(30%)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834640" y="5870448"/>
            <a:ext cx="8869680" cy="493776"/>
          </a:xfrm>
          <a:prstGeom prst="rect">
            <a:avLst/>
          </a:prstGeom>
          <a:solidFill>
            <a:srgbClr val="F5F8FF"/>
          </a:solidFill>
          <a:ln w="6350">
            <a:solidFill>
              <a:srgbClr val="B0BEC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91200" y="5870448"/>
            <a:ext cx="0" cy="493776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8747760" y="5870448"/>
            <a:ext cx="0" cy="493776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2880360" y="1106424"/>
            <a:ext cx="2865120" cy="132588"/>
          </a:xfrm>
          <a:prstGeom prst="rect">
            <a:avLst/>
          </a:prstGeom>
          <a:solidFill>
            <a:srgbClr val="007A85"/>
          </a:solidFill>
          <a:ln/>
        </p:spPr>
      </p:sp>
      <p:sp>
        <p:nvSpPr>
          <p:cNvPr id="28" name="Text 26"/>
          <p:cNvSpPr/>
          <p:nvPr/>
        </p:nvSpPr>
        <p:spPr>
          <a:xfrm>
            <a:off x="2916936" y="1106424"/>
            <a:ext cx="279196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AZN: Rilvegostomig +/- Dato-DXd [TIGIT+TROP2] PCD'29 (FR:'28)</a:t>
            </a:r>
            <a:endParaRPr lang="en-US" sz="550" dirty="0"/>
          </a:p>
        </p:txBody>
      </p:sp>
      <p:sp>
        <p:nvSpPr>
          <p:cNvPr id="29" name="Shape 27"/>
          <p:cNvSpPr/>
          <p:nvPr/>
        </p:nvSpPr>
        <p:spPr>
          <a:xfrm>
            <a:off x="2880360" y="1252728"/>
            <a:ext cx="2865120" cy="132588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30" name="Text 28"/>
          <p:cNvSpPr/>
          <p:nvPr/>
        </p:nvSpPr>
        <p:spPr>
          <a:xfrm>
            <a:off x="2916936" y="1252728"/>
            <a:ext cx="279196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DSNKY: Dato-DXd + pembro [TROP2+PD1] PCD'28 (FR:Sep'26)</a:t>
            </a:r>
            <a:endParaRPr lang="en-US" sz="550" dirty="0"/>
          </a:p>
        </p:txBody>
      </p:sp>
      <p:sp>
        <p:nvSpPr>
          <p:cNvPr id="31" name="Shape 29"/>
          <p:cNvSpPr/>
          <p:nvPr/>
        </p:nvSpPr>
        <p:spPr>
          <a:xfrm>
            <a:off x="2880360" y="1248156"/>
            <a:ext cx="8778240" cy="0"/>
          </a:xfrm>
          <a:prstGeom prst="line">
            <a:avLst/>
          </a:prstGeom>
          <a:noFill/>
          <a:ln w="9525">
            <a:solidFill>
              <a:srgbClr val="90A4AE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2880360" y="1399032"/>
            <a:ext cx="5821680" cy="132588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33" name="Text 31"/>
          <p:cNvSpPr/>
          <p:nvPr/>
        </p:nvSpPr>
        <p:spPr>
          <a:xfrm>
            <a:off x="2916936" y="1399032"/>
            <a:ext cx="574852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 ≥1%  BMY: Relatlimab/Nivo FDC + chemo [LAG3+PD1] PCD'30 (FR:'30)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2880360" y="1545336"/>
            <a:ext cx="5821680" cy="132588"/>
          </a:xfrm>
          <a:prstGeom prst="rect">
            <a:avLst/>
          </a:prstGeom>
          <a:solidFill>
            <a:srgbClr val="007A85"/>
          </a:solidFill>
          <a:ln/>
        </p:spPr>
      </p:sp>
      <p:sp>
        <p:nvSpPr>
          <p:cNvPr id="35" name="Text 33"/>
          <p:cNvSpPr/>
          <p:nvPr/>
        </p:nvSpPr>
        <p:spPr>
          <a:xfrm>
            <a:off x="2916936" y="1545336"/>
            <a:ext cx="574852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 ≥1%  AZN: Rilvegostomig + chemo [TIGIT/PD1] PCD'29 (FR:'29)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5836920" y="1691640"/>
            <a:ext cx="5821680" cy="132588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37" name="Text 35"/>
          <p:cNvSpPr/>
          <p:nvPr/>
        </p:nvSpPr>
        <p:spPr>
          <a:xfrm>
            <a:off x="5873496" y="1691640"/>
            <a:ext cx="574852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TPS &lt;50%  DSNKY: T-DXd + pembro [HER2+PD1] PCD'30 (FR:'30)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5836920" y="1837944"/>
            <a:ext cx="5821680" cy="132588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39" name="Text 37"/>
          <p:cNvSpPr/>
          <p:nvPr/>
        </p:nvSpPr>
        <p:spPr>
          <a:xfrm>
            <a:off x="5873496" y="1837944"/>
            <a:ext cx="574852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TPS &lt;50%  DSNKY: Dato-DXd + pembro [TROP2+PD1] PCD'29 (FR:Sep'26)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2880360" y="1833372"/>
            <a:ext cx="8778240" cy="0"/>
          </a:xfrm>
          <a:prstGeom prst="line">
            <a:avLst/>
          </a:prstGeom>
          <a:noFill/>
          <a:ln w="9525">
            <a:solidFill>
              <a:srgbClr val="90A4AE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880360" y="1984248"/>
            <a:ext cx="8778240" cy="132588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42" name="Text 40"/>
          <p:cNvSpPr/>
          <p:nvPr/>
        </p:nvSpPr>
        <p:spPr>
          <a:xfrm>
            <a:off x="2916936" y="1984248"/>
            <a:ext cx="870508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DSNKY: Dato-DXd + durvalumab + carbo [TROP2+PD-L1] PCD'27 (FR:Jun'26)</a:t>
            </a:r>
            <a:endParaRPr lang="en-US" sz="550" dirty="0"/>
          </a:p>
        </p:txBody>
      </p:sp>
      <p:sp>
        <p:nvSpPr>
          <p:cNvPr id="43" name="Shape 41"/>
          <p:cNvSpPr/>
          <p:nvPr/>
        </p:nvSpPr>
        <p:spPr>
          <a:xfrm>
            <a:off x="2880360" y="2130552"/>
            <a:ext cx="8778240" cy="132588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44" name="Text 42"/>
          <p:cNvSpPr/>
          <p:nvPr/>
        </p:nvSpPr>
        <p:spPr>
          <a:xfrm>
            <a:off x="2916936" y="2130552"/>
            <a:ext cx="870508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ABBV: Livmoniplimab + Budigalimab + chemo [GARP+PD1] PCD'31 (FR:'30)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2880360" y="2276856"/>
            <a:ext cx="8778240" cy="132588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46" name="Text 44"/>
          <p:cNvSpPr/>
          <p:nvPr/>
        </p:nvSpPr>
        <p:spPr>
          <a:xfrm>
            <a:off x="2916936" y="2276856"/>
            <a:ext cx="870508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Calderasib + subQ pembro [KRAS G12C] PCD'29 (FR:'29)</a:t>
            </a:r>
            <a:endParaRPr lang="en-US" sz="550" dirty="0"/>
          </a:p>
        </p:txBody>
      </p:sp>
      <p:sp>
        <p:nvSpPr>
          <p:cNvPr id="47" name="Shape 45"/>
          <p:cNvSpPr/>
          <p:nvPr/>
        </p:nvSpPr>
        <p:spPr>
          <a:xfrm>
            <a:off x="2880360" y="2423160"/>
            <a:ext cx="8778240" cy="132588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48" name="Text 46"/>
          <p:cNvSpPr/>
          <p:nvPr/>
        </p:nvSpPr>
        <p:spPr>
          <a:xfrm>
            <a:off x="2916936" y="2423160"/>
            <a:ext cx="870508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RHHBY: Divarasib + pembro [KRAS G12C] PCD'28 (FR:'28)</a:t>
            </a:r>
            <a:endParaRPr lang="en-US" sz="550" dirty="0"/>
          </a:p>
        </p:txBody>
      </p:sp>
      <p:sp>
        <p:nvSpPr>
          <p:cNvPr id="49" name="Shape 47"/>
          <p:cNvSpPr/>
          <p:nvPr/>
        </p:nvSpPr>
        <p:spPr>
          <a:xfrm>
            <a:off x="2880360" y="2569464"/>
            <a:ext cx="8778240" cy="132588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50" name="Text 48"/>
          <p:cNvSpPr/>
          <p:nvPr/>
        </p:nvSpPr>
        <p:spPr>
          <a:xfrm>
            <a:off x="2916936" y="2569464"/>
            <a:ext cx="870508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AMGN: Sotorasib + chemo [KRAS G12C] PCD'26 (FR:May'26)</a:t>
            </a:r>
            <a:endParaRPr lang="en-US" sz="550" dirty="0"/>
          </a:p>
        </p:txBody>
      </p:sp>
      <p:sp>
        <p:nvSpPr>
          <p:cNvPr id="51" name="Shape 49"/>
          <p:cNvSpPr/>
          <p:nvPr/>
        </p:nvSpPr>
        <p:spPr>
          <a:xfrm>
            <a:off x="2880360" y="2770632"/>
            <a:ext cx="2865120" cy="132588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52" name="Text 50"/>
          <p:cNvSpPr/>
          <p:nvPr/>
        </p:nvSpPr>
        <p:spPr>
          <a:xfrm>
            <a:off x="2916936" y="2770632"/>
            <a:ext cx="279196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SMMT: Ivonescimab [PD1/VEGF] PCD'28 (FR:'28)</a:t>
            </a:r>
            <a:endParaRPr lang="en-US" sz="550" dirty="0"/>
          </a:p>
        </p:txBody>
      </p:sp>
      <p:sp>
        <p:nvSpPr>
          <p:cNvPr id="53" name="Shape 51"/>
          <p:cNvSpPr/>
          <p:nvPr/>
        </p:nvSpPr>
        <p:spPr>
          <a:xfrm>
            <a:off x="2880360" y="2916936"/>
            <a:ext cx="2865120" cy="132588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54" name="Text 52"/>
          <p:cNvSpPr/>
          <p:nvPr/>
        </p:nvSpPr>
        <p:spPr>
          <a:xfrm>
            <a:off x="2916936" y="2916936"/>
            <a:ext cx="279196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Sac-TMT + pembro [TROP2+PD1] PCD'28 (FR:'27)</a:t>
            </a:r>
            <a:endParaRPr lang="en-US" sz="550" dirty="0"/>
          </a:p>
        </p:txBody>
      </p:sp>
      <p:sp>
        <p:nvSpPr>
          <p:cNvPr id="55" name="Shape 53"/>
          <p:cNvSpPr/>
          <p:nvPr/>
        </p:nvSpPr>
        <p:spPr>
          <a:xfrm>
            <a:off x="2880360" y="3063240"/>
            <a:ext cx="2865120" cy="132588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56" name="Text 54"/>
          <p:cNvSpPr/>
          <p:nvPr/>
        </p:nvSpPr>
        <p:spPr>
          <a:xfrm>
            <a:off x="2916936" y="3063240"/>
            <a:ext cx="279196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GILD: Sac-gov + pembro [TROP2+PD1] PCD'27 (FR:Nov'26)</a:t>
            </a:r>
            <a:endParaRPr lang="en-US" sz="550" dirty="0"/>
          </a:p>
        </p:txBody>
      </p:sp>
      <p:sp>
        <p:nvSpPr>
          <p:cNvPr id="57" name="Shape 55"/>
          <p:cNvSpPr/>
          <p:nvPr/>
        </p:nvSpPr>
        <p:spPr>
          <a:xfrm>
            <a:off x="2880360" y="3209544"/>
            <a:ext cx="2865120" cy="132588"/>
          </a:xfrm>
          <a:prstGeom prst="rect">
            <a:avLst/>
          </a:prstGeom>
          <a:solidFill>
            <a:srgbClr val="007A85"/>
          </a:solidFill>
          <a:ln/>
        </p:spPr>
      </p:sp>
      <p:sp>
        <p:nvSpPr>
          <p:cNvPr id="58" name="Text 56"/>
          <p:cNvSpPr/>
          <p:nvPr/>
        </p:nvSpPr>
        <p:spPr>
          <a:xfrm>
            <a:off x="2916936" y="3209544"/>
            <a:ext cx="279196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AZN: Rilvegostomig [TIGIT/PD1] PCD'30 (FR:'29)</a:t>
            </a:r>
            <a:endParaRPr lang="en-US" sz="550" dirty="0"/>
          </a:p>
        </p:txBody>
      </p:sp>
      <p:sp>
        <p:nvSpPr>
          <p:cNvPr id="59" name="Shape 57"/>
          <p:cNvSpPr/>
          <p:nvPr/>
        </p:nvSpPr>
        <p:spPr>
          <a:xfrm>
            <a:off x="2880360" y="3355848"/>
            <a:ext cx="2865120" cy="132588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60" name="Text 58"/>
          <p:cNvSpPr/>
          <p:nvPr/>
        </p:nvSpPr>
        <p:spPr>
          <a:xfrm>
            <a:off x="2916936" y="3355848"/>
            <a:ext cx="279196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REGN: Fianlimab + cemiplimab [LAG3+PD1] PCD'30 (FR:'29)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2880360" y="3502152"/>
            <a:ext cx="2865120" cy="132588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62" name="Text 60"/>
          <p:cNvSpPr/>
          <p:nvPr/>
        </p:nvSpPr>
        <p:spPr>
          <a:xfrm>
            <a:off x="2916936" y="3502152"/>
            <a:ext cx="279196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BMY: Adagrasib + pembro [KRAS G12C] PCD'28 (FR:'27)</a:t>
            </a:r>
            <a:endParaRPr lang="en-US" sz="550" dirty="0"/>
          </a:p>
        </p:txBody>
      </p:sp>
      <p:sp>
        <p:nvSpPr>
          <p:cNvPr id="63" name="Shape 61"/>
          <p:cNvSpPr/>
          <p:nvPr/>
        </p:nvSpPr>
        <p:spPr>
          <a:xfrm>
            <a:off x="2880360" y="3648456"/>
            <a:ext cx="2865120" cy="132588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64" name="Text 62"/>
          <p:cNvSpPr/>
          <p:nvPr/>
        </p:nvSpPr>
        <p:spPr>
          <a:xfrm>
            <a:off x="2916936" y="3648456"/>
            <a:ext cx="279196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LLY: Olomorasib + pembro [KRAS G12C] PCD'27 (FR:Sep'26)</a:t>
            </a:r>
            <a:endParaRPr lang="en-US" sz="550" dirty="0"/>
          </a:p>
        </p:txBody>
      </p:sp>
      <p:sp>
        <p:nvSpPr>
          <p:cNvPr id="65" name="Shape 63"/>
          <p:cNvSpPr/>
          <p:nvPr/>
        </p:nvSpPr>
        <p:spPr>
          <a:xfrm>
            <a:off x="2880360" y="3794760"/>
            <a:ext cx="2865120" cy="132588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66" name="Text 64"/>
          <p:cNvSpPr/>
          <p:nvPr/>
        </p:nvSpPr>
        <p:spPr>
          <a:xfrm>
            <a:off x="2916936" y="3794760"/>
            <a:ext cx="279196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Calderasib + pembro [KRAS G12C] PCD'29 (FR:'28)</a:t>
            </a:r>
            <a:endParaRPr lang="en-US" sz="550" dirty="0"/>
          </a:p>
        </p:txBody>
      </p:sp>
      <p:sp>
        <p:nvSpPr>
          <p:cNvPr id="67" name="Shape 65"/>
          <p:cNvSpPr/>
          <p:nvPr/>
        </p:nvSpPr>
        <p:spPr>
          <a:xfrm>
            <a:off x="2880360" y="3941064"/>
            <a:ext cx="2865120" cy="132588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68" name="Text 66"/>
          <p:cNvSpPr/>
          <p:nvPr/>
        </p:nvSpPr>
        <p:spPr>
          <a:xfrm>
            <a:off x="2916936" y="3941064"/>
            <a:ext cx="279196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PFE: Sigvotatug vedotin + pembro [ADC+PD1] PCD'28 (FR:'27)</a:t>
            </a:r>
            <a:endParaRPr lang="en-US" sz="550" dirty="0"/>
          </a:p>
        </p:txBody>
      </p:sp>
      <p:sp>
        <p:nvSpPr>
          <p:cNvPr id="69" name="Shape 67"/>
          <p:cNvSpPr/>
          <p:nvPr/>
        </p:nvSpPr>
        <p:spPr>
          <a:xfrm>
            <a:off x="2880360" y="3936492"/>
            <a:ext cx="8778240" cy="0"/>
          </a:xfrm>
          <a:prstGeom prst="line">
            <a:avLst/>
          </a:prstGeom>
          <a:noFill/>
          <a:ln w="9525">
            <a:solidFill>
              <a:srgbClr val="90A4AE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2880360" y="4087368"/>
            <a:ext cx="5821680" cy="132588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71" name="Text 69"/>
          <p:cNvSpPr/>
          <p:nvPr/>
        </p:nvSpPr>
        <p:spPr>
          <a:xfrm>
            <a:off x="2916936" y="4087368"/>
            <a:ext cx="574852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TPS ≥1%  IBRX: N-803 + pembro [IO-IL15] PCD'26 (FR:Sep'26)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5836920" y="4233672"/>
            <a:ext cx="5821680" cy="132588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73" name="Text 71"/>
          <p:cNvSpPr/>
          <p:nvPr/>
        </p:nvSpPr>
        <p:spPr>
          <a:xfrm>
            <a:off x="5873496" y="4233672"/>
            <a:ext cx="574852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TPS &lt;50%  AZN: Volrustomig + chemo [PD1/CTLA4] PCD'28 (FR:'27)</a:t>
            </a:r>
            <a:endParaRPr lang="en-US" sz="550" dirty="0"/>
          </a:p>
        </p:txBody>
      </p:sp>
      <p:sp>
        <p:nvSpPr>
          <p:cNvPr id="74" name="Shape 72"/>
          <p:cNvSpPr/>
          <p:nvPr/>
        </p:nvSpPr>
        <p:spPr>
          <a:xfrm>
            <a:off x="5836920" y="4379976"/>
            <a:ext cx="5821680" cy="132588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75" name="Text 73"/>
          <p:cNvSpPr/>
          <p:nvPr/>
        </p:nvSpPr>
        <p:spPr>
          <a:xfrm>
            <a:off x="5873496" y="4379976"/>
            <a:ext cx="574852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TPS &lt;50%  BMY: Adagrasib + pembro [KRAS G12C] (FR:'29)</a:t>
            </a:r>
            <a:endParaRPr lang="en-US" sz="550" dirty="0"/>
          </a:p>
        </p:txBody>
      </p:sp>
      <p:sp>
        <p:nvSpPr>
          <p:cNvPr id="76" name="Shape 74"/>
          <p:cNvSpPr/>
          <p:nvPr/>
        </p:nvSpPr>
        <p:spPr>
          <a:xfrm>
            <a:off x="2880360" y="4375404"/>
            <a:ext cx="8778240" cy="0"/>
          </a:xfrm>
          <a:prstGeom prst="line">
            <a:avLst/>
          </a:prstGeom>
          <a:noFill/>
          <a:ln w="9525">
            <a:solidFill>
              <a:srgbClr val="90A4AE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2880360" y="4526280"/>
            <a:ext cx="8778240" cy="132588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78" name="Text 76"/>
          <p:cNvSpPr/>
          <p:nvPr/>
        </p:nvSpPr>
        <p:spPr>
          <a:xfrm>
            <a:off x="2916936" y="4526280"/>
            <a:ext cx="870508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SMMT: Ivonescimab + chemo [PD1/VEGF] PCD'28 (FR:Apr'26)</a:t>
            </a:r>
            <a:endParaRPr lang="en-US" sz="550" dirty="0"/>
          </a:p>
        </p:txBody>
      </p:sp>
      <p:sp>
        <p:nvSpPr>
          <p:cNvPr id="79" name="Shape 77"/>
          <p:cNvSpPr/>
          <p:nvPr/>
        </p:nvSpPr>
        <p:spPr>
          <a:xfrm>
            <a:off x="2880360" y="4672584"/>
            <a:ext cx="8778240" cy="132588"/>
          </a:xfrm>
          <a:prstGeom prst="rect">
            <a:avLst/>
          </a:prstGeom>
          <a:solidFill>
            <a:srgbClr val="007A85"/>
          </a:solidFill>
          <a:ln/>
        </p:spPr>
      </p:sp>
      <p:sp>
        <p:nvSpPr>
          <p:cNvPr id="80" name="Text 78"/>
          <p:cNvSpPr/>
          <p:nvPr/>
        </p:nvSpPr>
        <p:spPr>
          <a:xfrm>
            <a:off x="2916936" y="4672584"/>
            <a:ext cx="870508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RCUS/GILD: Domvanalimab + Zimberelimab + chemo [TIGIT+PD1] PCD'28 (FR:'27)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>
            <a:off x="2880360" y="4818888"/>
            <a:ext cx="8778240" cy="132588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82" name="Text 80"/>
          <p:cNvSpPr/>
          <p:nvPr/>
        </p:nvSpPr>
        <p:spPr>
          <a:xfrm>
            <a:off x="2916936" y="4818888"/>
            <a:ext cx="870508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REGN: Fianlimab + cemiplimab + chemo [LAG3+PD1] PCD'30 (FR:'29)</a:t>
            </a:r>
            <a:endParaRPr lang="en-US" sz="550" dirty="0"/>
          </a:p>
        </p:txBody>
      </p:sp>
      <p:sp>
        <p:nvSpPr>
          <p:cNvPr id="83" name="Shape 81"/>
          <p:cNvSpPr/>
          <p:nvPr/>
        </p:nvSpPr>
        <p:spPr>
          <a:xfrm>
            <a:off x="2880360" y="4965192"/>
            <a:ext cx="8778240" cy="132588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84" name="Text 82"/>
          <p:cNvSpPr/>
          <p:nvPr/>
        </p:nvSpPr>
        <p:spPr>
          <a:xfrm>
            <a:off x="2916936" y="4965192"/>
            <a:ext cx="870508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BNTX: Pumitamig + chemo [PD-L1/VEGF] PCD'29 (FR:'29)</a:t>
            </a:r>
            <a:endParaRPr lang="en-US" sz="550" dirty="0"/>
          </a:p>
        </p:txBody>
      </p:sp>
      <p:sp>
        <p:nvSpPr>
          <p:cNvPr id="85" name="Shape 83"/>
          <p:cNvSpPr/>
          <p:nvPr/>
        </p:nvSpPr>
        <p:spPr>
          <a:xfrm>
            <a:off x="2880360" y="5111496"/>
            <a:ext cx="8778240" cy="132588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86" name="Text 84"/>
          <p:cNvSpPr/>
          <p:nvPr/>
        </p:nvSpPr>
        <p:spPr>
          <a:xfrm>
            <a:off x="2916936" y="5111496"/>
            <a:ext cx="870508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PFE: PF-08634404 [PD1/VEGF] PCD'29 (FR:'29)</a:t>
            </a:r>
            <a:endParaRPr lang="en-US" sz="550" dirty="0"/>
          </a:p>
        </p:txBody>
      </p:sp>
      <p:sp>
        <p:nvSpPr>
          <p:cNvPr id="87" name="Shape 85"/>
          <p:cNvSpPr/>
          <p:nvPr/>
        </p:nvSpPr>
        <p:spPr>
          <a:xfrm>
            <a:off x="2880360" y="5257800"/>
            <a:ext cx="8778240" cy="132588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88" name="Text 86"/>
          <p:cNvSpPr/>
          <p:nvPr/>
        </p:nvSpPr>
        <p:spPr>
          <a:xfrm>
            <a:off x="2916936" y="5257800"/>
            <a:ext cx="870508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BMY: Navlimetostat + pembro + chemo [PRMT5] PCD'31 (FR:'31)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2880360" y="5404104"/>
            <a:ext cx="8778240" cy="132588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90" name="Text 88"/>
          <p:cNvSpPr/>
          <p:nvPr/>
        </p:nvSpPr>
        <p:spPr>
          <a:xfrm>
            <a:off x="2916936" y="5404104"/>
            <a:ext cx="870508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DSNKY: T-DXd mono [HER2 ADC, HER2-mut] PCD'26 (FR:Mar'26)</a:t>
            </a:r>
            <a:endParaRPr lang="en-US" sz="550" dirty="0"/>
          </a:p>
        </p:txBody>
      </p:sp>
      <p:sp>
        <p:nvSpPr>
          <p:cNvPr id="91" name="Shape 89"/>
          <p:cNvSpPr/>
          <p:nvPr/>
        </p:nvSpPr>
        <p:spPr>
          <a:xfrm>
            <a:off x="2880360" y="5550408"/>
            <a:ext cx="8778240" cy="132588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92" name="Text 90"/>
          <p:cNvSpPr/>
          <p:nvPr/>
        </p:nvSpPr>
        <p:spPr>
          <a:xfrm>
            <a:off x="2916936" y="5550408"/>
            <a:ext cx="870508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BI: Zongertinib [HER2 TKI, HER2-mut] PCD'26 (FR:Oct'26)</a:t>
            </a:r>
            <a:endParaRPr lang="en-US" sz="550" dirty="0"/>
          </a:p>
        </p:txBody>
      </p:sp>
      <p:sp>
        <p:nvSpPr>
          <p:cNvPr id="93" name="Shape 91"/>
          <p:cNvSpPr/>
          <p:nvPr/>
        </p:nvSpPr>
        <p:spPr>
          <a:xfrm>
            <a:off x="2880360" y="5696712"/>
            <a:ext cx="8778240" cy="132588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94" name="Text 92"/>
          <p:cNvSpPr/>
          <p:nvPr/>
        </p:nvSpPr>
        <p:spPr>
          <a:xfrm>
            <a:off x="2916936" y="5696712"/>
            <a:ext cx="870508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Bayer: Sevabertinib [pan-ErbB TKI, HER2-mut] PCD'27 (FR:'27)</a:t>
            </a:r>
            <a:endParaRPr lang="en-US" sz="550" dirty="0"/>
          </a:p>
        </p:txBody>
      </p:sp>
      <p:sp>
        <p:nvSpPr>
          <p:cNvPr id="95" name="Shape 93"/>
          <p:cNvSpPr/>
          <p:nvPr/>
        </p:nvSpPr>
        <p:spPr>
          <a:xfrm>
            <a:off x="2880360" y="5897880"/>
            <a:ext cx="5821680" cy="132588"/>
          </a:xfrm>
          <a:prstGeom prst="rect">
            <a:avLst/>
          </a:prstGeom>
          <a:solidFill>
            <a:srgbClr val="007A85"/>
          </a:solidFill>
          <a:ln/>
        </p:spPr>
      </p:sp>
      <p:sp>
        <p:nvSpPr>
          <p:cNvPr id="96" name="Text 94"/>
          <p:cNvSpPr/>
          <p:nvPr/>
        </p:nvSpPr>
        <p:spPr>
          <a:xfrm>
            <a:off x="2916936" y="5897880"/>
            <a:ext cx="574852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 ≥1%  AZN: Rilvegostomig + chemo [TIGIT/PD1] PCD'29 (FR:'29)</a:t>
            </a:r>
            <a:endParaRPr lang="en-US" sz="550" dirty="0"/>
          </a:p>
        </p:txBody>
      </p:sp>
      <p:sp>
        <p:nvSpPr>
          <p:cNvPr id="97" name="Shape 95"/>
          <p:cNvSpPr/>
          <p:nvPr/>
        </p:nvSpPr>
        <p:spPr>
          <a:xfrm>
            <a:off x="2880360" y="5893308"/>
            <a:ext cx="8778240" cy="0"/>
          </a:xfrm>
          <a:prstGeom prst="line">
            <a:avLst/>
          </a:prstGeom>
          <a:noFill/>
          <a:ln w="9525">
            <a:solidFill>
              <a:srgbClr val="90A4AE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>
            <a:off x="2880360" y="6044184"/>
            <a:ext cx="8778240" cy="132588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99" name="Text 97"/>
          <p:cNvSpPr/>
          <p:nvPr/>
        </p:nvSpPr>
        <p:spPr>
          <a:xfrm>
            <a:off x="2916936" y="6044184"/>
            <a:ext cx="870508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SMMT: Ivonescimab + chemo [PD1/VEGF] PCD'28 (FR:Apr'26)</a:t>
            </a:r>
            <a:endParaRPr lang="en-US" sz="550" dirty="0"/>
          </a:p>
        </p:txBody>
      </p:sp>
      <p:sp>
        <p:nvSpPr>
          <p:cNvPr id="100" name="Shape 98"/>
          <p:cNvSpPr/>
          <p:nvPr/>
        </p:nvSpPr>
        <p:spPr>
          <a:xfrm>
            <a:off x="2880360" y="6190488"/>
            <a:ext cx="8778240" cy="132588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101" name="Text 99"/>
          <p:cNvSpPr/>
          <p:nvPr/>
        </p:nvSpPr>
        <p:spPr>
          <a:xfrm>
            <a:off x="2916936" y="6190488"/>
            <a:ext cx="870508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Sac-TMT + pembro [TROP2+PD1] PCD'29 (FR:'28)</a:t>
            </a:r>
            <a:endParaRPr lang="en-US" sz="550" dirty="0"/>
          </a:p>
        </p:txBody>
      </p:sp>
      <p:sp>
        <p:nvSpPr>
          <p:cNvPr id="102" name="Shape 100"/>
          <p:cNvSpPr/>
          <p:nvPr/>
        </p:nvSpPr>
        <p:spPr>
          <a:xfrm>
            <a:off x="274320" y="1078992"/>
            <a:ext cx="1737360" cy="1005840"/>
          </a:xfrm>
          <a:prstGeom prst="rect">
            <a:avLst/>
          </a:prstGeom>
          <a:solidFill>
            <a:srgbClr val="F0F5FF"/>
          </a:solidFill>
          <a:ln w="12700">
            <a:solidFill>
              <a:srgbClr val="00206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29184" y="1115568"/>
            <a:ext cx="16276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Keytruda SoC: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≥50%: Pembro mono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1-49%: Pembro + chemo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Neg: Pembro + chemo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Incl KRAS-mut (25-30%)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Incl HER2-mut (~3%)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274320" y="2176272"/>
            <a:ext cx="1737360" cy="91440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05" name="Text 103"/>
          <p:cNvSpPr/>
          <p:nvPr/>
        </p:nvSpPr>
        <p:spPr>
          <a:xfrm>
            <a:off x="329184" y="2221992"/>
            <a:ext cx="162763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 layering = pembro-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supportive</a:t>
            </a:r>
            <a:endParaRPr lang="en-US" sz="750" dirty="0"/>
          </a:p>
          <a:p>
            <a:pPr indent="0" marL="0">
              <a:buNone/>
            </a:pPr>
            <a:r>
              <a:rPr lang="en-US" sz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 KRAS inh ON TOP of pembro+chemo. Not a displacement risk.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274320" y="3227832"/>
            <a:ext cx="1737360" cy="109728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07" name="Text 105"/>
          <p:cNvSpPr/>
          <p:nvPr/>
        </p:nvSpPr>
        <p:spPr>
          <a:xfrm>
            <a:off x="329184" y="3273552"/>
            <a:ext cx="16276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00B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Displacement threats:</a:t>
            </a:r>
            <a:endParaRPr lang="en-US" sz="750" dirty="0"/>
          </a:p>
          <a:p>
            <a:pPr indent="0" marL="0">
              <a:buNone/>
            </a:pPr>
            <a:r>
              <a:rPr lang="en-US" sz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PD1/VEGF bispecifics &amp; TROP2 ADC monotherapy aim to REPLACE pembro.</a:t>
            </a:r>
            <a:endParaRPr lang="en-US" sz="750" dirty="0"/>
          </a:p>
          <a:p>
            <a:pPr indent="0" marL="0">
              <a:buNone/>
            </a:pPr>
            <a:r>
              <a:rPr lang="en-US" sz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750" dirty="0"/>
          </a:p>
          <a:p>
            <a:pPr indent="0" marL="0">
              <a:buNone/>
            </a:pPr>
            <a:r>
              <a:rPr lang="en-US" sz="6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Q: does the regimen still include pembro?</a:t>
            </a:r>
            <a:endParaRPr lang="en-US" sz="750" dirty="0"/>
          </a:p>
        </p:txBody>
      </p:sp>
      <p:sp>
        <p:nvSpPr>
          <p:cNvPr id="108" name="Shape 106"/>
          <p:cNvSpPr/>
          <p:nvPr/>
        </p:nvSpPr>
        <p:spPr>
          <a:xfrm>
            <a:off x="2834640" y="6419088"/>
            <a:ext cx="109728" cy="109728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109" name="Text 107"/>
          <p:cNvSpPr/>
          <p:nvPr/>
        </p:nvSpPr>
        <p:spPr>
          <a:xfrm>
            <a:off x="2962656" y="6419088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TROP2/ADC</a:t>
            </a:r>
            <a:endParaRPr lang="en-US" sz="550" dirty="0"/>
          </a:p>
        </p:txBody>
      </p:sp>
      <p:sp>
        <p:nvSpPr>
          <p:cNvPr id="110" name="Shape 108"/>
          <p:cNvSpPr/>
          <p:nvPr/>
        </p:nvSpPr>
        <p:spPr>
          <a:xfrm>
            <a:off x="3675888" y="6419088"/>
            <a:ext cx="109728" cy="109728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111" name="Text 109"/>
          <p:cNvSpPr/>
          <p:nvPr/>
        </p:nvSpPr>
        <p:spPr>
          <a:xfrm>
            <a:off x="3803904" y="6419088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</a:t>
            </a:r>
            <a:endParaRPr lang="en-US" sz="550" dirty="0"/>
          </a:p>
        </p:txBody>
      </p:sp>
      <p:sp>
        <p:nvSpPr>
          <p:cNvPr id="112" name="Shape 110"/>
          <p:cNvSpPr/>
          <p:nvPr/>
        </p:nvSpPr>
        <p:spPr>
          <a:xfrm>
            <a:off x="4517136" y="6419088"/>
            <a:ext cx="109728" cy="1097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13" name="Text 111"/>
          <p:cNvSpPr/>
          <p:nvPr/>
        </p:nvSpPr>
        <p:spPr>
          <a:xfrm>
            <a:off x="4645152" y="6419088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EGFR/MET</a:t>
            </a:r>
            <a:endParaRPr lang="en-US" sz="550" dirty="0"/>
          </a:p>
        </p:txBody>
      </p:sp>
      <p:sp>
        <p:nvSpPr>
          <p:cNvPr id="114" name="Shape 112"/>
          <p:cNvSpPr/>
          <p:nvPr/>
        </p:nvSpPr>
        <p:spPr>
          <a:xfrm>
            <a:off x="5358384" y="6419088"/>
            <a:ext cx="109728" cy="109728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115" name="Text 113"/>
          <p:cNvSpPr/>
          <p:nvPr/>
        </p:nvSpPr>
        <p:spPr>
          <a:xfrm>
            <a:off x="5486400" y="6419088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</a:t>
            </a:r>
            <a:endParaRPr lang="en-US" sz="550" dirty="0"/>
          </a:p>
        </p:txBody>
      </p:sp>
      <p:sp>
        <p:nvSpPr>
          <p:cNvPr id="116" name="Shape 114"/>
          <p:cNvSpPr/>
          <p:nvPr/>
        </p:nvSpPr>
        <p:spPr>
          <a:xfrm>
            <a:off x="6199632" y="6419088"/>
            <a:ext cx="109728" cy="109728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117" name="Text 115"/>
          <p:cNvSpPr/>
          <p:nvPr/>
        </p:nvSpPr>
        <p:spPr>
          <a:xfrm>
            <a:off x="6327648" y="6419088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PD1/VEGF</a:t>
            </a:r>
            <a:endParaRPr lang="en-US" sz="550" dirty="0"/>
          </a:p>
        </p:txBody>
      </p:sp>
      <p:sp>
        <p:nvSpPr>
          <p:cNvPr id="118" name="Shape 116"/>
          <p:cNvSpPr/>
          <p:nvPr/>
        </p:nvSpPr>
        <p:spPr>
          <a:xfrm>
            <a:off x="7040880" y="6419088"/>
            <a:ext cx="109728" cy="109728"/>
          </a:xfrm>
          <a:prstGeom prst="rect">
            <a:avLst/>
          </a:prstGeom>
          <a:solidFill>
            <a:srgbClr val="007A85"/>
          </a:solidFill>
          <a:ln/>
        </p:spPr>
      </p:sp>
      <p:sp>
        <p:nvSpPr>
          <p:cNvPr id="119" name="Text 117"/>
          <p:cNvSpPr/>
          <p:nvPr/>
        </p:nvSpPr>
        <p:spPr>
          <a:xfrm>
            <a:off x="7168896" y="6419088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TIGIT</a:t>
            </a:r>
            <a:endParaRPr lang="en-US" sz="550" dirty="0"/>
          </a:p>
        </p:txBody>
      </p:sp>
      <p:sp>
        <p:nvSpPr>
          <p:cNvPr id="120" name="Shape 118"/>
          <p:cNvSpPr/>
          <p:nvPr/>
        </p:nvSpPr>
        <p:spPr>
          <a:xfrm>
            <a:off x="7882128" y="6419088"/>
            <a:ext cx="109728" cy="109728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21" name="Text 119"/>
          <p:cNvSpPr/>
          <p:nvPr/>
        </p:nvSpPr>
        <p:spPr>
          <a:xfrm>
            <a:off x="8010144" y="6419088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IO/Novel</a:t>
            </a:r>
            <a:endParaRPr lang="en-US" sz="550" dirty="0"/>
          </a:p>
        </p:txBody>
      </p:sp>
      <p:sp>
        <p:nvSpPr>
          <p:cNvPr id="122" name="Text 120"/>
          <p:cNvSpPr/>
          <p:nvPr/>
        </p:nvSpPr>
        <p:spPr>
          <a:xfrm>
            <a:off x="2834640" y="6547104"/>
            <a:ext cx="886968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= Primary Completion Date | FR = First Results | ALL-COMERS bars span full TPS spectrum | TC ≥1% / TPS &lt;50% bars span indicated columns</a:t>
            </a:r>
            <a:endParaRPr lang="en-US" sz="500" dirty="0"/>
          </a:p>
        </p:txBody>
      </p:sp>
      <p:sp>
        <p:nvSpPr>
          <p:cNvPr id="123" name="Text 121"/>
          <p:cNvSpPr/>
          <p:nvPr/>
        </p:nvSpPr>
        <p:spPr>
          <a:xfrm>
            <a:off x="365760" y="6675120"/>
            <a:ext cx="114300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Pipeline database, ClinicalTrials.gov | Phase 3, non-biosimilar | March 2026</a:t>
            </a:r>
            <a:endParaRPr lang="en-US" sz="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2: 1L vs 2L Pipeline Density by Mechanism — Phase 3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365760" y="530352"/>
            <a:ext cx="11430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competitive intensity greatest? Which mechanisms threaten Keytruda's different patient segments?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1L Phase 3 (66 drugs)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09360" y="91440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 Phase 3 (32 drugs)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 Checkpoint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645920" y="1325880"/>
            <a:ext cx="3939540" cy="292608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8" name="Text 6"/>
          <p:cNvSpPr/>
          <p:nvPr/>
        </p:nvSpPr>
        <p:spPr>
          <a:xfrm>
            <a:off x="1645920" y="1325880"/>
            <a:ext cx="39395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309360" y="13258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 Checkpoint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498080" y="1325880"/>
            <a:ext cx="2148840" cy="292608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0" y="132588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6916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KRAS/RAS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645920" y="1691640"/>
            <a:ext cx="4297680" cy="292608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14" name="Text 12"/>
          <p:cNvSpPr/>
          <p:nvPr/>
        </p:nvSpPr>
        <p:spPr>
          <a:xfrm>
            <a:off x="1645920" y="16916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09360" y="16916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KRAS/RAS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498080" y="1691640"/>
            <a:ext cx="1432560" cy="292608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0" y="1691640"/>
            <a:ext cx="1432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20574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TROP2/ADC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645920" y="2057400"/>
            <a:ext cx="2865120" cy="292608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20" name="Text 18"/>
          <p:cNvSpPr/>
          <p:nvPr/>
        </p:nvSpPr>
        <p:spPr>
          <a:xfrm>
            <a:off x="1645920" y="2057400"/>
            <a:ext cx="286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09360" y="20574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TROP2/ADC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498080" y="2057400"/>
            <a:ext cx="1432560" cy="292608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23" name="Text 21"/>
          <p:cNvSpPr/>
          <p:nvPr/>
        </p:nvSpPr>
        <p:spPr>
          <a:xfrm>
            <a:off x="7498080" y="2057400"/>
            <a:ext cx="1432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24231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Cytokine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645920" y="2423160"/>
            <a:ext cx="1432560" cy="292608"/>
          </a:xfrm>
          <a:prstGeom prst="rect">
            <a:avLst/>
          </a:prstGeom>
          <a:solidFill>
            <a:srgbClr val="880E4F"/>
          </a:solidFill>
          <a:ln/>
        </p:spPr>
      </p:sp>
      <p:sp>
        <p:nvSpPr>
          <p:cNvPr id="26" name="Text 24"/>
          <p:cNvSpPr/>
          <p:nvPr/>
        </p:nvSpPr>
        <p:spPr>
          <a:xfrm>
            <a:off x="1645920" y="2423160"/>
            <a:ext cx="1432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309360" y="24231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Cytokine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498080" y="2423160"/>
            <a:ext cx="1790700" cy="292608"/>
          </a:xfrm>
          <a:prstGeom prst="rect">
            <a:avLst/>
          </a:prstGeom>
          <a:solidFill>
            <a:srgbClr val="880E4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0" y="2423160"/>
            <a:ext cx="1790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27889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1645920" y="2788920"/>
            <a:ext cx="2148840" cy="292608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32" name="Text 30"/>
          <p:cNvSpPr/>
          <p:nvPr/>
        </p:nvSpPr>
        <p:spPr>
          <a:xfrm>
            <a:off x="1645920" y="278892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09360" y="27889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498080" y="2788920"/>
            <a:ext cx="716280" cy="292608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35" name="Text 33"/>
          <p:cNvSpPr/>
          <p:nvPr/>
        </p:nvSpPr>
        <p:spPr>
          <a:xfrm>
            <a:off x="7498080" y="2788920"/>
            <a:ext cx="71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31546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1645920" y="3154680"/>
            <a:ext cx="143256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1645920" y="3154680"/>
            <a:ext cx="1432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09360" y="31546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7498080" y="3154680"/>
            <a:ext cx="107442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1" name="Text 39"/>
          <p:cNvSpPr/>
          <p:nvPr/>
        </p:nvSpPr>
        <p:spPr>
          <a:xfrm>
            <a:off x="7498080" y="3154680"/>
            <a:ext cx="10744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57200" y="35204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Other/Novel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645920" y="3520440"/>
            <a:ext cx="358140" cy="292608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44" name="Text 42"/>
          <p:cNvSpPr/>
          <p:nvPr/>
        </p:nvSpPr>
        <p:spPr>
          <a:xfrm>
            <a:off x="1645920" y="3520440"/>
            <a:ext cx="3581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09360" y="35204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Other/Novel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7498080" y="3520440"/>
            <a:ext cx="2148840" cy="292608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47" name="Text 45"/>
          <p:cNvSpPr/>
          <p:nvPr/>
        </p:nvSpPr>
        <p:spPr>
          <a:xfrm>
            <a:off x="7498080" y="352044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57200" y="38862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PD1/VEGF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1645920" y="3886200"/>
            <a:ext cx="1432560" cy="292608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50" name="Text 48"/>
          <p:cNvSpPr/>
          <p:nvPr/>
        </p:nvSpPr>
        <p:spPr>
          <a:xfrm>
            <a:off x="1645920" y="3886200"/>
            <a:ext cx="1432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309360" y="38862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PD1/VEGF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498080" y="3886200"/>
            <a:ext cx="358140" cy="292608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53" name="Text 51"/>
          <p:cNvSpPr/>
          <p:nvPr/>
        </p:nvSpPr>
        <p:spPr>
          <a:xfrm>
            <a:off x="7498080" y="3886200"/>
            <a:ext cx="3581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57200" y="42519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TIGIT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1645920" y="4251960"/>
            <a:ext cx="1790700" cy="292608"/>
          </a:xfrm>
          <a:prstGeom prst="rect">
            <a:avLst/>
          </a:prstGeom>
          <a:solidFill>
            <a:srgbClr val="007A85"/>
          </a:solidFill>
          <a:ln/>
        </p:spPr>
      </p:sp>
      <p:sp>
        <p:nvSpPr>
          <p:cNvPr id="56" name="Text 54"/>
          <p:cNvSpPr/>
          <p:nvPr/>
        </p:nvSpPr>
        <p:spPr>
          <a:xfrm>
            <a:off x="1645920" y="4251960"/>
            <a:ext cx="1790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309360" y="42519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TIGIT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7543800" y="4251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46177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ALK/ROS1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645920" y="4617720"/>
            <a:ext cx="1432560" cy="292608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61" name="Text 59"/>
          <p:cNvSpPr/>
          <p:nvPr/>
        </p:nvSpPr>
        <p:spPr>
          <a:xfrm>
            <a:off x="1645920" y="4617720"/>
            <a:ext cx="1432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309360" y="46177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ALK/ROS1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543800" y="46177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457200" y="49834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LAG3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1645920" y="4983480"/>
            <a:ext cx="1074420" cy="292608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66" name="Text 64"/>
          <p:cNvSpPr/>
          <p:nvPr/>
        </p:nvSpPr>
        <p:spPr>
          <a:xfrm>
            <a:off x="1645920" y="4983480"/>
            <a:ext cx="10744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309360" y="49834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LAG3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7543800" y="498348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457200" y="53492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VEGF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1645920" y="5349240"/>
            <a:ext cx="1074420" cy="292608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71" name="Text 69"/>
          <p:cNvSpPr/>
          <p:nvPr/>
        </p:nvSpPr>
        <p:spPr>
          <a:xfrm>
            <a:off x="1645920" y="5349240"/>
            <a:ext cx="10744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6309360" y="53492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VEGF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7543800" y="534924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457200" y="57150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CTLA4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645920" y="5715000"/>
            <a:ext cx="358140" cy="292608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76" name="Text 74"/>
          <p:cNvSpPr/>
          <p:nvPr/>
        </p:nvSpPr>
        <p:spPr>
          <a:xfrm>
            <a:off x="1645920" y="5715000"/>
            <a:ext cx="3581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6309360" y="57150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CTLA4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7498080" y="5715000"/>
            <a:ext cx="358140" cy="292608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79" name="Text 77"/>
          <p:cNvSpPr/>
          <p:nvPr/>
        </p:nvSpPr>
        <p:spPr>
          <a:xfrm>
            <a:off x="7498080" y="5715000"/>
            <a:ext cx="3581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5943600" y="1188720"/>
            <a:ext cx="0" cy="4937760"/>
          </a:xfrm>
          <a:prstGeom prst="line">
            <a:avLst/>
          </a:prstGeom>
          <a:noFill/>
          <a:ln w="25400">
            <a:solidFill>
              <a:srgbClr val="00206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65760" y="6629400"/>
            <a:ext cx="114300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Pipeline database | Phase 3 only, biosimilars excluded | March 2026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3: Phase 3 Catalyst Timeline — Time to Readout from Today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365760" y="530352"/>
            <a:ext cx="11430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Bars = remaining time from today (Mar 2026) to PCD. First Results date in parentheses — may precede PCD.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560320" y="1051560"/>
            <a:ext cx="9144000" cy="0"/>
          </a:xfrm>
          <a:prstGeom prst="line">
            <a:avLst/>
          </a:prstGeom>
          <a:noFill/>
          <a:ln w="19050">
            <a:solidFill>
              <a:srgbClr val="0020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1033272"/>
            <a:ext cx="0" cy="73152"/>
          </a:xfrm>
          <a:prstGeom prst="line">
            <a:avLst/>
          </a:prstGeom>
          <a:noFill/>
          <a:ln w="25400">
            <a:solidFill>
              <a:srgbClr val="D32F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945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'26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389120" y="1014984"/>
            <a:ext cx="0" cy="73152"/>
          </a:xfrm>
          <a:prstGeom prst="line">
            <a:avLst/>
          </a:prstGeom>
          <a:noFill/>
          <a:ln w="12700">
            <a:solidFill>
              <a:srgbClr val="0020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0" y="83210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27520" y="1014984"/>
            <a:ext cx="0" cy="73152"/>
          </a:xfrm>
          <a:prstGeom prst="line">
            <a:avLst/>
          </a:prstGeom>
          <a:noFill/>
          <a:ln w="12700">
            <a:solidFill>
              <a:srgbClr val="0020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53200" y="83210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9265920" y="1014984"/>
            <a:ext cx="0" cy="73152"/>
          </a:xfrm>
          <a:prstGeom prst="line">
            <a:avLst/>
          </a:prstGeom>
          <a:noFill/>
          <a:ln w="12700">
            <a:solidFill>
              <a:srgbClr val="0020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91600" y="83210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1704320" y="1014984"/>
            <a:ext cx="0" cy="73152"/>
          </a:xfrm>
          <a:prstGeom prst="line">
            <a:avLst/>
          </a:prstGeom>
          <a:noFill/>
          <a:ln w="12700">
            <a:solidFill>
              <a:srgbClr val="0020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0" y="83210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37160" y="118872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15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PD1/VEGF Bispecifics — pembro replacement risk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2560320" y="1380744"/>
            <a:ext cx="9144000" cy="0"/>
          </a:xfrm>
          <a:prstGeom prst="line">
            <a:avLst/>
          </a:prstGeom>
          <a:noFill/>
          <a:ln w="6350">
            <a:solidFill>
              <a:srgbClr val="01579B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91440" y="1408176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SMMT: Ivonescimab (all-comers+chemo)  (FR:Apr'26)</a:t>
            </a:r>
            <a:endParaRPr lang="en-US" sz="600" dirty="0"/>
          </a:p>
        </p:txBody>
      </p:sp>
      <p:sp>
        <p:nvSpPr>
          <p:cNvPr id="18" name="Shape 16"/>
          <p:cNvSpPr/>
          <p:nvPr/>
        </p:nvSpPr>
        <p:spPr>
          <a:xfrm>
            <a:off x="2560320" y="1408176"/>
            <a:ext cx="6461760" cy="137160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19" name="Text 17"/>
          <p:cNvSpPr/>
          <p:nvPr/>
        </p:nvSpPr>
        <p:spPr>
          <a:xfrm>
            <a:off x="9058656" y="1408176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015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'28</a:t>
            </a:r>
            <a:endParaRPr lang="en-US" sz="550" dirty="0"/>
          </a:p>
        </p:txBody>
      </p:sp>
      <p:sp>
        <p:nvSpPr>
          <p:cNvPr id="20" name="Text 18"/>
          <p:cNvSpPr/>
          <p:nvPr/>
        </p:nvSpPr>
        <p:spPr>
          <a:xfrm>
            <a:off x="91440" y="1563624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SMMT: Ivonescimab (≥50% TPS)  (FR:'28)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2560320" y="1563624"/>
            <a:ext cx="4998720" cy="137160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22" name="Text 20"/>
          <p:cNvSpPr/>
          <p:nvPr/>
        </p:nvSpPr>
        <p:spPr>
          <a:xfrm>
            <a:off x="7595616" y="1563624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015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'28</a:t>
            </a:r>
            <a:endParaRPr lang="en-US" sz="550" dirty="0"/>
          </a:p>
        </p:txBody>
      </p:sp>
      <p:sp>
        <p:nvSpPr>
          <p:cNvPr id="23" name="Text 21"/>
          <p:cNvSpPr/>
          <p:nvPr/>
        </p:nvSpPr>
        <p:spPr>
          <a:xfrm>
            <a:off x="91440" y="1719072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BNTX: Pumitamig + chemo  (FR:'29)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2560320" y="1719072"/>
            <a:ext cx="6949440" cy="137160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25" name="Text 23"/>
          <p:cNvSpPr/>
          <p:nvPr/>
        </p:nvSpPr>
        <p:spPr>
          <a:xfrm>
            <a:off x="9546336" y="1719072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015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'29</a:t>
            </a:r>
            <a:endParaRPr lang="en-US" sz="550" dirty="0"/>
          </a:p>
        </p:txBody>
      </p:sp>
      <p:sp>
        <p:nvSpPr>
          <p:cNvPr id="26" name="Text 24"/>
          <p:cNvSpPr/>
          <p:nvPr/>
        </p:nvSpPr>
        <p:spPr>
          <a:xfrm>
            <a:off x="91440" y="1874520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PFE: PF-08634404 (mono)  (FR:'29)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2560320" y="1874520"/>
            <a:ext cx="6949440" cy="137160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28" name="Text 26"/>
          <p:cNvSpPr/>
          <p:nvPr/>
        </p:nvSpPr>
        <p:spPr>
          <a:xfrm>
            <a:off x="9546336" y="187452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015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'29</a:t>
            </a:r>
            <a:endParaRPr lang="en-US" sz="550" dirty="0"/>
          </a:p>
        </p:txBody>
      </p:sp>
      <p:sp>
        <p:nvSpPr>
          <p:cNvPr id="29" name="Text 27"/>
          <p:cNvSpPr/>
          <p:nvPr/>
        </p:nvSpPr>
        <p:spPr>
          <a:xfrm>
            <a:off x="137160" y="206654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 Inhibitors — pembro-additive (layering on SoC)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2560320" y="2258568"/>
            <a:ext cx="9144000" cy="0"/>
          </a:xfrm>
          <a:prstGeom prst="line">
            <a:avLst/>
          </a:prstGeom>
          <a:noFill/>
          <a:ln w="6350">
            <a:solidFill>
              <a:srgbClr val="4A148C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91440" y="2286000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AMGN: Sotorasib + chemo  (FR:May'26)</a:t>
            </a:r>
            <a:endParaRPr lang="en-US" sz="600" dirty="0"/>
          </a:p>
        </p:txBody>
      </p:sp>
      <p:sp>
        <p:nvSpPr>
          <p:cNvPr id="32" name="Shape 30"/>
          <p:cNvSpPr/>
          <p:nvPr/>
        </p:nvSpPr>
        <p:spPr>
          <a:xfrm>
            <a:off x="2560320" y="2286000"/>
            <a:ext cx="609600" cy="137160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33" name="Text 31"/>
          <p:cNvSpPr/>
          <p:nvPr/>
        </p:nvSpPr>
        <p:spPr>
          <a:xfrm>
            <a:off x="3206496" y="228600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'26</a:t>
            </a:r>
            <a:endParaRPr lang="en-US" sz="550" dirty="0"/>
          </a:p>
        </p:txBody>
      </p:sp>
      <p:sp>
        <p:nvSpPr>
          <p:cNvPr id="34" name="Text 32"/>
          <p:cNvSpPr/>
          <p:nvPr/>
        </p:nvSpPr>
        <p:spPr>
          <a:xfrm>
            <a:off x="91440" y="2441448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LLY: Olomorasib + pembro  (FR:Sep'26)</a:t>
            </a:r>
            <a:endParaRPr lang="en-US" sz="600" dirty="0"/>
          </a:p>
        </p:txBody>
      </p:sp>
      <p:sp>
        <p:nvSpPr>
          <p:cNvPr id="35" name="Shape 33"/>
          <p:cNvSpPr/>
          <p:nvPr/>
        </p:nvSpPr>
        <p:spPr>
          <a:xfrm>
            <a:off x="2560320" y="2441448"/>
            <a:ext cx="3779520" cy="137160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36" name="Text 34"/>
          <p:cNvSpPr/>
          <p:nvPr/>
        </p:nvSpPr>
        <p:spPr>
          <a:xfrm>
            <a:off x="6376416" y="2441448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'27</a:t>
            </a:r>
            <a:endParaRPr lang="en-US" sz="550" dirty="0"/>
          </a:p>
        </p:txBody>
      </p:sp>
      <p:sp>
        <p:nvSpPr>
          <p:cNvPr id="37" name="Text 35"/>
          <p:cNvSpPr/>
          <p:nvPr/>
        </p:nvSpPr>
        <p:spPr>
          <a:xfrm>
            <a:off x="91440" y="2596896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BMY: Adagrasib + pembro  (FR:'27)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2560320" y="2596896"/>
            <a:ext cx="6217920" cy="137160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39" name="Text 37"/>
          <p:cNvSpPr/>
          <p:nvPr/>
        </p:nvSpPr>
        <p:spPr>
          <a:xfrm>
            <a:off x="8814816" y="2596896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'28</a:t>
            </a:r>
            <a:endParaRPr lang="en-US" sz="550" dirty="0"/>
          </a:p>
        </p:txBody>
      </p:sp>
      <p:sp>
        <p:nvSpPr>
          <p:cNvPr id="40" name="Text 38"/>
          <p:cNvSpPr/>
          <p:nvPr/>
        </p:nvSpPr>
        <p:spPr>
          <a:xfrm>
            <a:off x="91440" y="2752344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RHHBY: Divarasib + pembro  (FR:'28)</a:t>
            </a:r>
            <a:endParaRPr lang="en-US" sz="600" dirty="0"/>
          </a:p>
        </p:txBody>
      </p:sp>
      <p:sp>
        <p:nvSpPr>
          <p:cNvPr id="41" name="Shape 39"/>
          <p:cNvSpPr/>
          <p:nvPr/>
        </p:nvSpPr>
        <p:spPr>
          <a:xfrm>
            <a:off x="2560320" y="2752344"/>
            <a:ext cx="6461760" cy="137160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42" name="Text 40"/>
          <p:cNvSpPr/>
          <p:nvPr/>
        </p:nvSpPr>
        <p:spPr>
          <a:xfrm>
            <a:off x="9058656" y="2752344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'28</a:t>
            </a:r>
            <a:endParaRPr lang="en-US" sz="550" dirty="0"/>
          </a:p>
        </p:txBody>
      </p:sp>
      <p:sp>
        <p:nvSpPr>
          <p:cNvPr id="43" name="Text 41"/>
          <p:cNvSpPr/>
          <p:nvPr/>
        </p:nvSpPr>
        <p:spPr>
          <a:xfrm>
            <a:off x="91440" y="2907792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Calderasib + pembro  (FR:'28)</a:t>
            </a:r>
            <a:endParaRPr lang="en-US" sz="600" dirty="0"/>
          </a:p>
        </p:txBody>
      </p:sp>
      <p:sp>
        <p:nvSpPr>
          <p:cNvPr id="44" name="Shape 42"/>
          <p:cNvSpPr/>
          <p:nvPr/>
        </p:nvSpPr>
        <p:spPr>
          <a:xfrm>
            <a:off x="2560320" y="2907792"/>
            <a:ext cx="6949440" cy="137160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45" name="Text 43"/>
          <p:cNvSpPr/>
          <p:nvPr/>
        </p:nvSpPr>
        <p:spPr>
          <a:xfrm>
            <a:off x="9546336" y="2907792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'29</a:t>
            </a:r>
            <a:endParaRPr lang="en-US" sz="550" dirty="0"/>
          </a:p>
        </p:txBody>
      </p:sp>
      <p:sp>
        <p:nvSpPr>
          <p:cNvPr id="46" name="Text 44"/>
          <p:cNvSpPr/>
          <p:nvPr/>
        </p:nvSpPr>
        <p:spPr>
          <a:xfrm>
            <a:off x="137160" y="309981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B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TROP2/ADC Combos — chemo backbone displacement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2560320" y="3291840"/>
            <a:ext cx="9144000" cy="0"/>
          </a:xfrm>
          <a:prstGeom prst="line">
            <a:avLst/>
          </a:prstGeom>
          <a:noFill/>
          <a:ln w="6350">
            <a:solidFill>
              <a:srgbClr val="00B0B9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91440" y="3319272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DSNKY: Dato-DXd + durvalumab + carbo  (FR:Jun'26)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2560320" y="3319272"/>
            <a:ext cx="3779520" cy="137160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50" name="Text 48"/>
          <p:cNvSpPr/>
          <p:nvPr/>
        </p:nvSpPr>
        <p:spPr>
          <a:xfrm>
            <a:off x="6376416" y="3319272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00B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'27</a:t>
            </a:r>
            <a:endParaRPr lang="en-US" sz="550" dirty="0"/>
          </a:p>
        </p:txBody>
      </p:sp>
      <p:sp>
        <p:nvSpPr>
          <p:cNvPr id="51" name="Text 49"/>
          <p:cNvSpPr/>
          <p:nvPr/>
        </p:nvSpPr>
        <p:spPr>
          <a:xfrm>
            <a:off x="91440" y="3474720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GILD: Sac-gov + pembro  (FR:Nov'26)</a:t>
            </a:r>
            <a:endParaRPr lang="en-US" sz="600" dirty="0"/>
          </a:p>
        </p:txBody>
      </p:sp>
      <p:sp>
        <p:nvSpPr>
          <p:cNvPr id="52" name="Shape 50"/>
          <p:cNvSpPr/>
          <p:nvPr/>
        </p:nvSpPr>
        <p:spPr>
          <a:xfrm>
            <a:off x="2560320" y="3474720"/>
            <a:ext cx="1828800" cy="137160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53" name="Text 51"/>
          <p:cNvSpPr/>
          <p:nvPr/>
        </p:nvSpPr>
        <p:spPr>
          <a:xfrm>
            <a:off x="4425696" y="347472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00B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'27</a:t>
            </a:r>
            <a:endParaRPr lang="en-US" sz="550" dirty="0"/>
          </a:p>
        </p:txBody>
      </p:sp>
      <p:sp>
        <p:nvSpPr>
          <p:cNvPr id="54" name="Text 52"/>
          <p:cNvSpPr/>
          <p:nvPr/>
        </p:nvSpPr>
        <p:spPr>
          <a:xfrm>
            <a:off x="91440" y="3630168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Sac-TMT + pembro  (FR:'27)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2560320" y="3630168"/>
            <a:ext cx="4511040" cy="137160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56" name="Text 54"/>
          <p:cNvSpPr/>
          <p:nvPr/>
        </p:nvSpPr>
        <p:spPr>
          <a:xfrm>
            <a:off x="7107936" y="3630168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00B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'28</a:t>
            </a:r>
            <a:endParaRPr lang="en-US" sz="550" dirty="0"/>
          </a:p>
        </p:txBody>
      </p:sp>
      <p:sp>
        <p:nvSpPr>
          <p:cNvPr id="57" name="Text 55"/>
          <p:cNvSpPr/>
          <p:nvPr/>
        </p:nvSpPr>
        <p:spPr>
          <a:xfrm>
            <a:off x="91440" y="3785616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DSNKY: Dato-DXd + pembro (TPS ≥50%)  (FR:Sep'26)</a:t>
            </a:r>
            <a:endParaRPr lang="en-US" sz="600" dirty="0"/>
          </a:p>
        </p:txBody>
      </p:sp>
      <p:sp>
        <p:nvSpPr>
          <p:cNvPr id="58" name="Shape 56"/>
          <p:cNvSpPr/>
          <p:nvPr/>
        </p:nvSpPr>
        <p:spPr>
          <a:xfrm>
            <a:off x="2560320" y="3785616"/>
            <a:ext cx="4754880" cy="137160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59" name="Text 57"/>
          <p:cNvSpPr/>
          <p:nvPr/>
        </p:nvSpPr>
        <p:spPr>
          <a:xfrm>
            <a:off x="7351776" y="3785616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00B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'28</a:t>
            </a:r>
            <a:endParaRPr lang="en-US" sz="550" dirty="0"/>
          </a:p>
        </p:txBody>
      </p:sp>
      <p:sp>
        <p:nvSpPr>
          <p:cNvPr id="60" name="Text 58"/>
          <p:cNvSpPr/>
          <p:nvPr/>
        </p:nvSpPr>
        <p:spPr>
          <a:xfrm>
            <a:off x="91440" y="3941064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DSNKY: Dato-DXd + pembro (TPS &lt;50%)  (FR:Sep'26)</a:t>
            </a:r>
            <a:endParaRPr lang="en-US" sz="600" dirty="0"/>
          </a:p>
        </p:txBody>
      </p:sp>
      <p:sp>
        <p:nvSpPr>
          <p:cNvPr id="61" name="Shape 59"/>
          <p:cNvSpPr/>
          <p:nvPr/>
        </p:nvSpPr>
        <p:spPr>
          <a:xfrm>
            <a:off x="2560320" y="3941064"/>
            <a:ext cx="7680960" cy="137160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62" name="Text 60"/>
          <p:cNvSpPr/>
          <p:nvPr/>
        </p:nvSpPr>
        <p:spPr>
          <a:xfrm>
            <a:off x="10277856" y="3941064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00B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'29</a:t>
            </a:r>
            <a:endParaRPr lang="en-US" sz="550" dirty="0"/>
          </a:p>
        </p:txBody>
      </p:sp>
      <p:sp>
        <p:nvSpPr>
          <p:cNvPr id="63" name="Text 61"/>
          <p:cNvSpPr/>
          <p:nvPr/>
        </p:nvSpPr>
        <p:spPr>
          <a:xfrm>
            <a:off x="137160" y="413308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B1F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HER2-mut Targeted — pulling patients out of pembro SoC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2560320" y="4325112"/>
            <a:ext cx="9144000" cy="0"/>
          </a:xfrm>
          <a:prstGeom prst="line">
            <a:avLst/>
          </a:prstGeom>
          <a:noFill/>
          <a:ln w="6350">
            <a:solidFill>
              <a:srgbClr val="7B1FA2"/>
            </a:solidFill>
            <a:prstDash val="dash"/>
          </a:ln>
        </p:spPr>
      </p:sp>
      <p:sp>
        <p:nvSpPr>
          <p:cNvPr id="65" name="Text 63"/>
          <p:cNvSpPr/>
          <p:nvPr/>
        </p:nvSpPr>
        <p:spPr>
          <a:xfrm>
            <a:off x="91440" y="4352544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DSNKY: T-DXd mono (DESTINY-Lung04)  (FR:Mar'26)</a:t>
            </a:r>
            <a:endParaRPr lang="en-US" sz="600" dirty="0"/>
          </a:p>
        </p:txBody>
      </p:sp>
      <p:sp>
        <p:nvSpPr>
          <p:cNvPr id="66" name="Shape 64"/>
          <p:cNvSpPr/>
          <p:nvPr/>
        </p:nvSpPr>
        <p:spPr>
          <a:xfrm>
            <a:off x="2560320" y="4352544"/>
            <a:ext cx="137160" cy="137160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67" name="Text 65"/>
          <p:cNvSpPr/>
          <p:nvPr/>
        </p:nvSpPr>
        <p:spPr>
          <a:xfrm>
            <a:off x="2474976" y="4352544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7B1F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'26</a:t>
            </a:r>
            <a:endParaRPr lang="en-US" sz="550" dirty="0"/>
          </a:p>
        </p:txBody>
      </p:sp>
      <p:sp>
        <p:nvSpPr>
          <p:cNvPr id="68" name="Text 66"/>
          <p:cNvSpPr/>
          <p:nvPr/>
        </p:nvSpPr>
        <p:spPr>
          <a:xfrm>
            <a:off x="91440" y="4507992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BI: Zongertinib (Beamion LUNG-2)  (FR:Oct'26)</a:t>
            </a:r>
            <a:endParaRPr lang="en-US" sz="600" dirty="0"/>
          </a:p>
        </p:txBody>
      </p:sp>
      <p:sp>
        <p:nvSpPr>
          <p:cNvPr id="69" name="Shape 67"/>
          <p:cNvSpPr/>
          <p:nvPr/>
        </p:nvSpPr>
        <p:spPr>
          <a:xfrm>
            <a:off x="2560320" y="4507992"/>
            <a:ext cx="1584960" cy="137160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70" name="Text 68"/>
          <p:cNvSpPr/>
          <p:nvPr/>
        </p:nvSpPr>
        <p:spPr>
          <a:xfrm>
            <a:off x="4181856" y="4507992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7B1F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'26</a:t>
            </a:r>
            <a:endParaRPr lang="en-US" sz="550" dirty="0"/>
          </a:p>
        </p:txBody>
      </p:sp>
      <p:sp>
        <p:nvSpPr>
          <p:cNvPr id="71" name="Text 69"/>
          <p:cNvSpPr/>
          <p:nvPr/>
        </p:nvSpPr>
        <p:spPr>
          <a:xfrm>
            <a:off x="91440" y="4663440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Bayer: Sevabertinib (SOHO-02)  (FR:'27)</a:t>
            </a:r>
            <a:endParaRPr lang="en-US" sz="600" dirty="0"/>
          </a:p>
        </p:txBody>
      </p:sp>
      <p:sp>
        <p:nvSpPr>
          <p:cNvPr id="72" name="Shape 70"/>
          <p:cNvSpPr/>
          <p:nvPr/>
        </p:nvSpPr>
        <p:spPr>
          <a:xfrm>
            <a:off x="2560320" y="4663440"/>
            <a:ext cx="3779520" cy="137160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73" name="Text 71"/>
          <p:cNvSpPr/>
          <p:nvPr/>
        </p:nvSpPr>
        <p:spPr>
          <a:xfrm>
            <a:off x="6376416" y="466344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7B1F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'27</a:t>
            </a:r>
            <a:endParaRPr lang="en-US" sz="550" dirty="0"/>
          </a:p>
        </p:txBody>
      </p:sp>
      <p:sp>
        <p:nvSpPr>
          <p:cNvPr id="74" name="Text 72"/>
          <p:cNvSpPr/>
          <p:nvPr/>
        </p:nvSpPr>
        <p:spPr>
          <a:xfrm>
            <a:off x="137160" y="485546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7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TIGIT Combos — debated class after tiragolumab failure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2560320" y="5047488"/>
            <a:ext cx="9144000" cy="0"/>
          </a:xfrm>
          <a:prstGeom prst="line">
            <a:avLst/>
          </a:prstGeom>
          <a:noFill/>
          <a:ln w="6350">
            <a:solidFill>
              <a:srgbClr val="007A85"/>
            </a:solidFill>
            <a:prstDash val="dash"/>
          </a:ln>
        </p:spPr>
      </p:sp>
      <p:sp>
        <p:nvSpPr>
          <p:cNvPr id="76" name="Text 74"/>
          <p:cNvSpPr/>
          <p:nvPr/>
        </p:nvSpPr>
        <p:spPr>
          <a:xfrm>
            <a:off x="91440" y="5074920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RCUS/GILD: Domvanalimab + Zimb + chemo  (FR:'27)</a:t>
            </a:r>
            <a:endParaRPr lang="en-US" sz="600" dirty="0"/>
          </a:p>
        </p:txBody>
      </p:sp>
      <p:sp>
        <p:nvSpPr>
          <p:cNvPr id="77" name="Shape 75"/>
          <p:cNvSpPr/>
          <p:nvPr/>
        </p:nvSpPr>
        <p:spPr>
          <a:xfrm>
            <a:off x="2560320" y="5074920"/>
            <a:ext cx="5242560" cy="137160"/>
          </a:xfrm>
          <a:prstGeom prst="rect">
            <a:avLst/>
          </a:prstGeom>
          <a:solidFill>
            <a:srgbClr val="007A85"/>
          </a:solidFill>
          <a:ln/>
        </p:spPr>
      </p:sp>
      <p:sp>
        <p:nvSpPr>
          <p:cNvPr id="78" name="Text 76"/>
          <p:cNvSpPr/>
          <p:nvPr/>
        </p:nvSpPr>
        <p:spPr>
          <a:xfrm>
            <a:off x="7839456" y="507492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007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'28</a:t>
            </a:r>
            <a:endParaRPr lang="en-US" sz="550" dirty="0"/>
          </a:p>
        </p:txBody>
      </p:sp>
      <p:sp>
        <p:nvSpPr>
          <p:cNvPr id="79" name="Text 77"/>
          <p:cNvSpPr/>
          <p:nvPr/>
        </p:nvSpPr>
        <p:spPr>
          <a:xfrm>
            <a:off x="91440" y="5230368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AZN: Rilvegostomig +/- Dato-DXd  (FR:'28)</a:t>
            </a:r>
            <a:endParaRPr lang="en-US" sz="600" dirty="0"/>
          </a:p>
        </p:txBody>
      </p:sp>
      <p:sp>
        <p:nvSpPr>
          <p:cNvPr id="80" name="Shape 78"/>
          <p:cNvSpPr/>
          <p:nvPr/>
        </p:nvSpPr>
        <p:spPr>
          <a:xfrm>
            <a:off x="2560320" y="5230368"/>
            <a:ext cx="8900160" cy="137160"/>
          </a:xfrm>
          <a:prstGeom prst="rect">
            <a:avLst/>
          </a:prstGeom>
          <a:solidFill>
            <a:srgbClr val="007A85"/>
          </a:solidFill>
          <a:ln/>
        </p:spPr>
      </p:sp>
      <p:sp>
        <p:nvSpPr>
          <p:cNvPr id="81" name="Text 79"/>
          <p:cNvSpPr/>
          <p:nvPr/>
        </p:nvSpPr>
        <p:spPr>
          <a:xfrm>
            <a:off x="11497056" y="5230368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007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'29</a:t>
            </a:r>
            <a:endParaRPr lang="en-US" sz="550" dirty="0"/>
          </a:p>
        </p:txBody>
      </p:sp>
      <p:sp>
        <p:nvSpPr>
          <p:cNvPr id="82" name="Text 80"/>
          <p:cNvSpPr/>
          <p:nvPr/>
        </p:nvSpPr>
        <p:spPr>
          <a:xfrm>
            <a:off x="137160" y="542239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Pembro Biosimilars — direct Keytruda revenue threat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2560320" y="5614416"/>
            <a:ext cx="9144000" cy="0"/>
          </a:xfrm>
          <a:prstGeom prst="line">
            <a:avLst/>
          </a:prstGeom>
          <a:noFill/>
          <a:ln w="6350">
            <a:solidFill>
              <a:srgbClr val="D32F2F"/>
            </a:solidFill>
            <a:prstDash val="dash"/>
          </a:ln>
        </p:spPr>
      </p:sp>
      <p:sp>
        <p:nvSpPr>
          <p:cNvPr id="84" name="Text 82"/>
          <p:cNvSpPr/>
          <p:nvPr/>
        </p:nvSpPr>
        <p:spPr>
          <a:xfrm>
            <a:off x="91440" y="5641848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Bioepis: Pembro biosimilar  (FR:Mar'26)</a:t>
            </a:r>
            <a:endParaRPr lang="en-US" sz="600" dirty="0"/>
          </a:p>
        </p:txBody>
      </p:sp>
      <p:sp>
        <p:nvSpPr>
          <p:cNvPr id="85" name="Shape 83"/>
          <p:cNvSpPr/>
          <p:nvPr/>
        </p:nvSpPr>
        <p:spPr>
          <a:xfrm>
            <a:off x="2560320" y="5641848"/>
            <a:ext cx="137160" cy="13716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86" name="Text 84"/>
          <p:cNvSpPr/>
          <p:nvPr/>
        </p:nvSpPr>
        <p:spPr>
          <a:xfrm>
            <a:off x="2474976" y="5641848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'26</a:t>
            </a:r>
            <a:endParaRPr lang="en-US" sz="550" dirty="0"/>
          </a:p>
        </p:txBody>
      </p:sp>
      <p:sp>
        <p:nvSpPr>
          <p:cNvPr id="87" name="Text 85"/>
          <p:cNvSpPr/>
          <p:nvPr/>
        </p:nvSpPr>
        <p:spPr>
          <a:xfrm>
            <a:off x="91440" y="5797296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mAbxience: Pembro biosimilar  (FR:May'26)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2560320" y="5797296"/>
            <a:ext cx="609600" cy="13716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89" name="Text 87"/>
          <p:cNvSpPr/>
          <p:nvPr/>
        </p:nvSpPr>
        <p:spPr>
          <a:xfrm>
            <a:off x="3206496" y="5797296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'26</a:t>
            </a:r>
            <a:endParaRPr lang="en-US" sz="550" dirty="0"/>
          </a:p>
        </p:txBody>
      </p:sp>
      <p:sp>
        <p:nvSpPr>
          <p:cNvPr id="90" name="Text 88"/>
          <p:cNvSpPr/>
          <p:nvPr/>
        </p:nvSpPr>
        <p:spPr>
          <a:xfrm>
            <a:off x="91440" y="5952744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Celltrion: Pembro biosimilar  (FR:'27)</a:t>
            </a:r>
            <a:endParaRPr lang="en-US" sz="600" dirty="0"/>
          </a:p>
        </p:txBody>
      </p:sp>
      <p:sp>
        <p:nvSpPr>
          <p:cNvPr id="91" name="Shape 89"/>
          <p:cNvSpPr/>
          <p:nvPr/>
        </p:nvSpPr>
        <p:spPr>
          <a:xfrm>
            <a:off x="2560320" y="5952744"/>
            <a:ext cx="2072640" cy="13716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92" name="Text 90"/>
          <p:cNvSpPr/>
          <p:nvPr/>
        </p:nvSpPr>
        <p:spPr>
          <a:xfrm>
            <a:off x="4669536" y="5952744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'27</a:t>
            </a:r>
            <a:endParaRPr lang="en-US" sz="550" dirty="0"/>
          </a:p>
        </p:txBody>
      </p:sp>
      <p:sp>
        <p:nvSpPr>
          <p:cNvPr id="93" name="Text 91"/>
          <p:cNvSpPr/>
          <p:nvPr/>
        </p:nvSpPr>
        <p:spPr>
          <a:xfrm>
            <a:off x="91440" y="6108192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Amgen: Pembro biosimilar  (FR:'28)</a:t>
            </a:r>
            <a:endParaRPr lang="en-US" sz="600" dirty="0"/>
          </a:p>
        </p:txBody>
      </p:sp>
      <p:sp>
        <p:nvSpPr>
          <p:cNvPr id="94" name="Shape 92"/>
          <p:cNvSpPr/>
          <p:nvPr/>
        </p:nvSpPr>
        <p:spPr>
          <a:xfrm>
            <a:off x="2560320" y="6108192"/>
            <a:ext cx="4511040" cy="13716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95" name="Text 93"/>
          <p:cNvSpPr/>
          <p:nvPr/>
        </p:nvSpPr>
        <p:spPr>
          <a:xfrm>
            <a:off x="7107936" y="6108192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'28</a:t>
            </a:r>
            <a:endParaRPr lang="en-US" sz="550" dirty="0"/>
          </a:p>
        </p:txBody>
      </p:sp>
      <p:sp>
        <p:nvSpPr>
          <p:cNvPr id="96" name="Text 94"/>
          <p:cNvSpPr/>
          <p:nvPr/>
        </p:nvSpPr>
        <p:spPr>
          <a:xfrm>
            <a:off x="365760" y="6629400"/>
            <a:ext cx="114300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ClinicalTrials.gov primary completion dates &amp; first results dates | Phase 3 only | March 2026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4: Biosimilar Threat Tracker — Keytruda Revenue Erosion Timeline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365760" y="530352"/>
            <a:ext cx="11430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does Keytruda lose exclusivity? How many biosimilars are coming? Bevacizumab erosion as a template.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1188720"/>
                <a:gridCol w="914400"/>
                <a:gridCol w="1097280"/>
                <a:gridCol w="41148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Originator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Biosimilar Sponsor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Stage 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PCD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Results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Threat Level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2004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20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Pembrolizumab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20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(MRK) Keytruda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20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$25B+ global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Samsung Bioepis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F36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III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Feb 2026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 2026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█████████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mAbxience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F36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III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 2026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 2026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█████████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Celltrion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F36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III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 2027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 2027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████████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Amgen (AMGN)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F36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III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Feb 2028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 2028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██████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20040">
                <a:tc rowSpan="7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20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Bevacizumab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20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(RHHBY) Avastin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20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Genericized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Amgen (AMGN)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5E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6BB6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Pfizer (PFE)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5E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6BB6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Sandoz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5E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6BB6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Amneal Pharma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5E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6BB6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Celltrion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5E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6BB6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Biocon Biologics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5E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6BB6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Prestige Biopharma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F36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III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Feb 2026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6BB6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6629400"/>
            <a:ext cx="114300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Pipeline database, ClinicalTrials.gov | March 2026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5: Target × Biomarker Heat Map — Where Keytruda Faces the Most Competition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365760" y="530352"/>
            <a:ext cx="11430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target-biomarker intersections are most crowded? Where is Keytruda's competitive moat thinnest?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52669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1L Phase 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914400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005840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↓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1188720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PD-L1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≥50%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1810512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0" name="Text 8"/>
          <p:cNvSpPr/>
          <p:nvPr/>
        </p:nvSpPr>
        <p:spPr>
          <a:xfrm>
            <a:off x="1810512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PD-L1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1-49%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2432304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2" name="Text 10"/>
          <p:cNvSpPr/>
          <p:nvPr/>
        </p:nvSpPr>
        <p:spPr>
          <a:xfrm>
            <a:off x="2432304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G12C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3054096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4" name="Text 12"/>
          <p:cNvSpPr/>
          <p:nvPr/>
        </p:nvSpPr>
        <p:spPr>
          <a:xfrm>
            <a:off x="3054096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675888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6" name="Text 14"/>
          <p:cNvSpPr/>
          <p:nvPr/>
        </p:nvSpPr>
        <p:spPr>
          <a:xfrm>
            <a:off x="3675888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297680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8" name="Text 16"/>
          <p:cNvSpPr/>
          <p:nvPr/>
        </p:nvSpPr>
        <p:spPr>
          <a:xfrm>
            <a:off x="4297680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919472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20" name="Text 18"/>
          <p:cNvSpPr/>
          <p:nvPr/>
        </p:nvSpPr>
        <p:spPr>
          <a:xfrm>
            <a:off x="4919472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(all)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274320" y="1335024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22" name="Text 20"/>
          <p:cNvSpPr/>
          <p:nvPr/>
        </p:nvSpPr>
        <p:spPr>
          <a:xfrm>
            <a:off x="274320" y="133502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PD-1/PD-L1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88720" y="1335024"/>
            <a:ext cx="621792" cy="329184"/>
          </a:xfrm>
          <a:prstGeom prst="rect">
            <a:avLst/>
          </a:prstGeom>
          <a:solidFill>
            <a:srgbClr val="002060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88720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810512" y="1335024"/>
            <a:ext cx="621792" cy="329184"/>
          </a:xfrm>
          <a:prstGeom prst="rect">
            <a:avLst/>
          </a:prstGeom>
          <a:solidFill>
            <a:srgbClr val="007A85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10512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432304" y="1335024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32304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054096" y="133502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54096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75888" y="133502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75888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97680" y="1335024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97680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919472" y="1335024"/>
            <a:ext cx="621792" cy="329184"/>
          </a:xfrm>
          <a:prstGeom prst="rect">
            <a:avLst/>
          </a:prstGeom>
          <a:solidFill>
            <a:srgbClr val="002060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19472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74320" y="1664208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38" name="Text 36"/>
          <p:cNvSpPr/>
          <p:nvPr/>
        </p:nvSpPr>
        <p:spPr>
          <a:xfrm>
            <a:off x="274320" y="166420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TIGIT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1188720" y="1664208"/>
            <a:ext cx="621792" cy="329184"/>
          </a:xfrm>
          <a:prstGeom prst="rect">
            <a:avLst/>
          </a:prstGeom>
          <a:solidFill>
            <a:srgbClr val="80DEE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0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810512" y="1664208"/>
            <a:ext cx="621792" cy="329184"/>
          </a:xfrm>
          <a:prstGeom prst="rect">
            <a:avLst/>
          </a:prstGeom>
          <a:solidFill>
            <a:srgbClr val="80DEE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810512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432304" y="166420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32304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054096" y="166420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54096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675888" y="166420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75888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297680" y="166420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97680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919472" y="1664208"/>
            <a:ext cx="621792" cy="329184"/>
          </a:xfrm>
          <a:prstGeom prst="rect">
            <a:avLst/>
          </a:prstGeom>
          <a:solidFill>
            <a:srgbClr val="80DEE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19472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74320" y="1993392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54" name="Text 52"/>
          <p:cNvSpPr/>
          <p:nvPr/>
        </p:nvSpPr>
        <p:spPr>
          <a:xfrm>
            <a:off x="274320" y="1993392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TROP2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1188720" y="1993392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188720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810512" y="1993392"/>
            <a:ext cx="621792" cy="329184"/>
          </a:xfrm>
          <a:prstGeom prst="rect">
            <a:avLst/>
          </a:prstGeom>
          <a:solidFill>
            <a:srgbClr val="80DEE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810512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432304" y="199339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432304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054096" y="199339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054096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675888" y="199339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75888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297680" y="199339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297680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919472" y="1993392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919472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274320" y="2322576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70" name="Text 68"/>
          <p:cNvSpPr/>
          <p:nvPr/>
        </p:nvSpPr>
        <p:spPr>
          <a:xfrm>
            <a:off x="274320" y="232257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 G12C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1188720" y="2322576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188720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1810512" y="2322576"/>
            <a:ext cx="621792" cy="329184"/>
          </a:xfrm>
          <a:prstGeom prst="rect">
            <a:avLst/>
          </a:prstGeom>
          <a:solidFill>
            <a:srgbClr val="80DEE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810512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2432304" y="2322576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432304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3054096" y="2322576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054096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3675888" y="2322576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675888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297680" y="2322576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297680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919472" y="2322576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919472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274320" y="2651760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86" name="Text 84"/>
          <p:cNvSpPr/>
          <p:nvPr/>
        </p:nvSpPr>
        <p:spPr>
          <a:xfrm>
            <a:off x="274320" y="2651760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VEGF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1188720" y="2651760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188720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1810512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810512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2432304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432304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3054096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054096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3675888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675888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297680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297680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4919472" y="2651760"/>
            <a:ext cx="621792" cy="329184"/>
          </a:xfrm>
          <a:prstGeom prst="rect">
            <a:avLst/>
          </a:prstGeom>
          <a:solidFill>
            <a:srgbClr val="007A85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919472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274320" y="2980944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102" name="Text 100"/>
          <p:cNvSpPr/>
          <p:nvPr/>
        </p:nvSpPr>
        <p:spPr>
          <a:xfrm>
            <a:off x="274320" y="298094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LAG-3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1188720" y="2980944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188720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1810512" y="2980944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810512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2432304" y="298094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2432304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3054096" y="298094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3054096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3675888" y="298094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675888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4297680" y="298094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297680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4919472" y="2980944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919472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274320" y="3310128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118" name="Text 116"/>
          <p:cNvSpPr/>
          <p:nvPr/>
        </p:nvSpPr>
        <p:spPr>
          <a:xfrm>
            <a:off x="274320" y="331012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1188720" y="331012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88720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1810512" y="331012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810512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23" name="Shape 121"/>
          <p:cNvSpPr/>
          <p:nvPr/>
        </p:nvSpPr>
        <p:spPr>
          <a:xfrm>
            <a:off x="2432304" y="331012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2432304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3054096" y="3310128"/>
            <a:ext cx="621792" cy="329184"/>
          </a:xfrm>
          <a:prstGeom prst="rect">
            <a:avLst/>
          </a:prstGeom>
          <a:solidFill>
            <a:srgbClr val="007A85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054096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27" name="Shape 125"/>
          <p:cNvSpPr/>
          <p:nvPr/>
        </p:nvSpPr>
        <p:spPr>
          <a:xfrm>
            <a:off x="3675888" y="331012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3675888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29" name="Shape 127"/>
          <p:cNvSpPr/>
          <p:nvPr/>
        </p:nvSpPr>
        <p:spPr>
          <a:xfrm>
            <a:off x="4297680" y="331012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97680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31" name="Shape 129"/>
          <p:cNvSpPr/>
          <p:nvPr/>
        </p:nvSpPr>
        <p:spPr>
          <a:xfrm>
            <a:off x="4919472" y="3310128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919472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33" name="Shape 131"/>
          <p:cNvSpPr/>
          <p:nvPr/>
        </p:nvSpPr>
        <p:spPr>
          <a:xfrm>
            <a:off x="274320" y="3639312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134" name="Text 132"/>
          <p:cNvSpPr/>
          <p:nvPr/>
        </p:nvSpPr>
        <p:spPr>
          <a:xfrm>
            <a:off x="274320" y="3639312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</a:t>
            </a:r>
            <a:endParaRPr lang="en-US" sz="800" dirty="0"/>
          </a:p>
        </p:txBody>
      </p:sp>
      <p:sp>
        <p:nvSpPr>
          <p:cNvPr id="135" name="Shape 133"/>
          <p:cNvSpPr/>
          <p:nvPr/>
        </p:nvSpPr>
        <p:spPr>
          <a:xfrm>
            <a:off x="1188720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1188720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37" name="Shape 135"/>
          <p:cNvSpPr/>
          <p:nvPr/>
        </p:nvSpPr>
        <p:spPr>
          <a:xfrm>
            <a:off x="1810512" y="3639312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1810512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9" name="Shape 137"/>
          <p:cNvSpPr/>
          <p:nvPr/>
        </p:nvSpPr>
        <p:spPr>
          <a:xfrm>
            <a:off x="2432304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2432304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41" name="Shape 139"/>
          <p:cNvSpPr/>
          <p:nvPr/>
        </p:nvSpPr>
        <p:spPr>
          <a:xfrm>
            <a:off x="3054096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3054096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43" name="Shape 141"/>
          <p:cNvSpPr/>
          <p:nvPr/>
        </p:nvSpPr>
        <p:spPr>
          <a:xfrm>
            <a:off x="3675888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3675888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45" name="Shape 143"/>
          <p:cNvSpPr/>
          <p:nvPr/>
        </p:nvSpPr>
        <p:spPr>
          <a:xfrm>
            <a:off x="4297680" y="3639312"/>
            <a:ext cx="621792" cy="329184"/>
          </a:xfrm>
          <a:prstGeom prst="rect">
            <a:avLst/>
          </a:prstGeom>
          <a:solidFill>
            <a:srgbClr val="007A85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97680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47" name="Shape 145"/>
          <p:cNvSpPr/>
          <p:nvPr/>
        </p:nvSpPr>
        <p:spPr>
          <a:xfrm>
            <a:off x="4919472" y="3639312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919472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49" name="Text 147"/>
          <p:cNvSpPr/>
          <p:nvPr/>
        </p:nvSpPr>
        <p:spPr>
          <a:xfrm>
            <a:off x="6309360" y="749808"/>
            <a:ext cx="52669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 Phase 3</a:t>
            </a:r>
            <a:endParaRPr lang="en-US" sz="1100" dirty="0"/>
          </a:p>
        </p:txBody>
      </p:sp>
      <p:sp>
        <p:nvSpPr>
          <p:cNvPr id="150" name="Shape 148"/>
          <p:cNvSpPr/>
          <p:nvPr/>
        </p:nvSpPr>
        <p:spPr>
          <a:xfrm>
            <a:off x="6309360" y="1005840"/>
            <a:ext cx="914400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51" name="Text 149"/>
          <p:cNvSpPr/>
          <p:nvPr/>
        </p:nvSpPr>
        <p:spPr>
          <a:xfrm>
            <a:off x="6309360" y="1005840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↓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7223760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53" name="Text 151"/>
          <p:cNvSpPr/>
          <p:nvPr/>
        </p:nvSpPr>
        <p:spPr>
          <a:xfrm>
            <a:off x="7223760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PD-L1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≥50%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7845552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55" name="Text 153"/>
          <p:cNvSpPr/>
          <p:nvPr/>
        </p:nvSpPr>
        <p:spPr>
          <a:xfrm>
            <a:off x="7845552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PD-L1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1-49%</a:t>
            </a:r>
            <a:endParaRPr lang="en-US" sz="700" dirty="0"/>
          </a:p>
        </p:txBody>
      </p:sp>
      <p:sp>
        <p:nvSpPr>
          <p:cNvPr id="156" name="Shape 154"/>
          <p:cNvSpPr/>
          <p:nvPr/>
        </p:nvSpPr>
        <p:spPr>
          <a:xfrm>
            <a:off x="8467344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57" name="Text 155"/>
          <p:cNvSpPr/>
          <p:nvPr/>
        </p:nvSpPr>
        <p:spPr>
          <a:xfrm>
            <a:off x="8467344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G12C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9089136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59" name="Text 157"/>
          <p:cNvSpPr/>
          <p:nvPr/>
        </p:nvSpPr>
        <p:spPr>
          <a:xfrm>
            <a:off x="9089136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710928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61" name="Text 159"/>
          <p:cNvSpPr/>
          <p:nvPr/>
        </p:nvSpPr>
        <p:spPr>
          <a:xfrm>
            <a:off x="9710928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</a:t>
            </a:r>
            <a:endParaRPr lang="en-US" sz="700" dirty="0"/>
          </a:p>
        </p:txBody>
      </p:sp>
      <p:sp>
        <p:nvSpPr>
          <p:cNvPr id="162" name="Shape 160"/>
          <p:cNvSpPr/>
          <p:nvPr/>
        </p:nvSpPr>
        <p:spPr>
          <a:xfrm>
            <a:off x="10332720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63" name="Text 161"/>
          <p:cNvSpPr/>
          <p:nvPr/>
        </p:nvSpPr>
        <p:spPr>
          <a:xfrm>
            <a:off x="10332720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10954512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65" name="Text 163"/>
          <p:cNvSpPr/>
          <p:nvPr/>
        </p:nvSpPr>
        <p:spPr>
          <a:xfrm>
            <a:off x="10954512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(all)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6309360" y="1335024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167" name="Text 165"/>
          <p:cNvSpPr/>
          <p:nvPr/>
        </p:nvSpPr>
        <p:spPr>
          <a:xfrm>
            <a:off x="6309360" y="133502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PD-1/PD-L1</a:t>
            </a:r>
            <a:endParaRPr lang="en-US" sz="800" dirty="0"/>
          </a:p>
        </p:txBody>
      </p:sp>
      <p:sp>
        <p:nvSpPr>
          <p:cNvPr id="168" name="Shape 166"/>
          <p:cNvSpPr/>
          <p:nvPr/>
        </p:nvSpPr>
        <p:spPr>
          <a:xfrm>
            <a:off x="7223760" y="133502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7223760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70" name="Shape 168"/>
          <p:cNvSpPr/>
          <p:nvPr/>
        </p:nvSpPr>
        <p:spPr>
          <a:xfrm>
            <a:off x="7845552" y="1335024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7845552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72" name="Shape 170"/>
          <p:cNvSpPr/>
          <p:nvPr/>
        </p:nvSpPr>
        <p:spPr>
          <a:xfrm>
            <a:off x="8467344" y="1335024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8467344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74" name="Shape 172"/>
          <p:cNvSpPr/>
          <p:nvPr/>
        </p:nvSpPr>
        <p:spPr>
          <a:xfrm>
            <a:off x="9089136" y="133502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9089136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76" name="Shape 174"/>
          <p:cNvSpPr/>
          <p:nvPr/>
        </p:nvSpPr>
        <p:spPr>
          <a:xfrm>
            <a:off x="9710928" y="133502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710928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78" name="Shape 176"/>
          <p:cNvSpPr/>
          <p:nvPr/>
        </p:nvSpPr>
        <p:spPr>
          <a:xfrm>
            <a:off x="10332720" y="133502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332720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80" name="Shape 178"/>
          <p:cNvSpPr/>
          <p:nvPr/>
        </p:nvSpPr>
        <p:spPr>
          <a:xfrm>
            <a:off x="10954512" y="1335024"/>
            <a:ext cx="621792" cy="329184"/>
          </a:xfrm>
          <a:prstGeom prst="rect">
            <a:avLst/>
          </a:prstGeom>
          <a:solidFill>
            <a:srgbClr val="002060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10954512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182" name="Shape 180"/>
          <p:cNvSpPr/>
          <p:nvPr/>
        </p:nvSpPr>
        <p:spPr>
          <a:xfrm>
            <a:off x="6309360" y="1664208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183" name="Text 181"/>
          <p:cNvSpPr/>
          <p:nvPr/>
        </p:nvSpPr>
        <p:spPr>
          <a:xfrm>
            <a:off x="6309360" y="166420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</a:t>
            </a:r>
            <a:endParaRPr lang="en-US" sz="800" dirty="0"/>
          </a:p>
        </p:txBody>
      </p:sp>
      <p:sp>
        <p:nvSpPr>
          <p:cNvPr id="184" name="Shape 182"/>
          <p:cNvSpPr/>
          <p:nvPr/>
        </p:nvSpPr>
        <p:spPr>
          <a:xfrm>
            <a:off x="7223760" y="166420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7223760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86" name="Shape 184"/>
          <p:cNvSpPr/>
          <p:nvPr/>
        </p:nvSpPr>
        <p:spPr>
          <a:xfrm>
            <a:off x="7845552" y="166420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7845552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88" name="Shape 186"/>
          <p:cNvSpPr/>
          <p:nvPr/>
        </p:nvSpPr>
        <p:spPr>
          <a:xfrm>
            <a:off x="8467344" y="166420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89" name="Text 187"/>
          <p:cNvSpPr/>
          <p:nvPr/>
        </p:nvSpPr>
        <p:spPr>
          <a:xfrm>
            <a:off x="8467344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90" name="Shape 188"/>
          <p:cNvSpPr/>
          <p:nvPr/>
        </p:nvSpPr>
        <p:spPr>
          <a:xfrm>
            <a:off x="9089136" y="1664208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9089136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92" name="Shape 190"/>
          <p:cNvSpPr/>
          <p:nvPr/>
        </p:nvSpPr>
        <p:spPr>
          <a:xfrm>
            <a:off x="9710928" y="166420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9710928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94" name="Shape 192"/>
          <p:cNvSpPr/>
          <p:nvPr/>
        </p:nvSpPr>
        <p:spPr>
          <a:xfrm>
            <a:off x="10332720" y="166420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10332720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96" name="Shape 194"/>
          <p:cNvSpPr/>
          <p:nvPr/>
        </p:nvSpPr>
        <p:spPr>
          <a:xfrm>
            <a:off x="10954512" y="1664208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10954512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98" name="Shape 196"/>
          <p:cNvSpPr/>
          <p:nvPr/>
        </p:nvSpPr>
        <p:spPr>
          <a:xfrm>
            <a:off x="6309360" y="1993392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199" name="Text 197"/>
          <p:cNvSpPr/>
          <p:nvPr/>
        </p:nvSpPr>
        <p:spPr>
          <a:xfrm>
            <a:off x="6309360" y="1993392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TROP2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7223760" y="199339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7223760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02" name="Shape 200"/>
          <p:cNvSpPr/>
          <p:nvPr/>
        </p:nvSpPr>
        <p:spPr>
          <a:xfrm>
            <a:off x="7845552" y="199339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7845552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04" name="Shape 202"/>
          <p:cNvSpPr/>
          <p:nvPr/>
        </p:nvSpPr>
        <p:spPr>
          <a:xfrm>
            <a:off x="8467344" y="199339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8467344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06" name="Shape 204"/>
          <p:cNvSpPr/>
          <p:nvPr/>
        </p:nvSpPr>
        <p:spPr>
          <a:xfrm>
            <a:off x="9089136" y="199339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9089136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08" name="Shape 206"/>
          <p:cNvSpPr/>
          <p:nvPr/>
        </p:nvSpPr>
        <p:spPr>
          <a:xfrm>
            <a:off x="9710928" y="199339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9710928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10" name="Shape 208"/>
          <p:cNvSpPr/>
          <p:nvPr/>
        </p:nvSpPr>
        <p:spPr>
          <a:xfrm>
            <a:off x="10332720" y="199339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332720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12" name="Shape 210"/>
          <p:cNvSpPr/>
          <p:nvPr/>
        </p:nvSpPr>
        <p:spPr>
          <a:xfrm>
            <a:off x="10954512" y="1993392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10954512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14" name="Shape 212"/>
          <p:cNvSpPr/>
          <p:nvPr/>
        </p:nvSpPr>
        <p:spPr>
          <a:xfrm>
            <a:off x="6309360" y="2322576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215" name="Text 213"/>
          <p:cNvSpPr/>
          <p:nvPr/>
        </p:nvSpPr>
        <p:spPr>
          <a:xfrm>
            <a:off x="6309360" y="232257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KRAS/RAS</a:t>
            </a:r>
            <a:endParaRPr lang="en-US" sz="800" dirty="0"/>
          </a:p>
        </p:txBody>
      </p:sp>
      <p:sp>
        <p:nvSpPr>
          <p:cNvPr id="216" name="Shape 214"/>
          <p:cNvSpPr/>
          <p:nvPr/>
        </p:nvSpPr>
        <p:spPr>
          <a:xfrm>
            <a:off x="7223760" y="2322576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7223760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18" name="Shape 216"/>
          <p:cNvSpPr/>
          <p:nvPr/>
        </p:nvSpPr>
        <p:spPr>
          <a:xfrm>
            <a:off x="7845552" y="2322576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19" name="Text 217"/>
          <p:cNvSpPr/>
          <p:nvPr/>
        </p:nvSpPr>
        <p:spPr>
          <a:xfrm>
            <a:off x="7845552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20" name="Shape 218"/>
          <p:cNvSpPr/>
          <p:nvPr/>
        </p:nvSpPr>
        <p:spPr>
          <a:xfrm>
            <a:off x="8467344" y="2322576"/>
            <a:ext cx="621792" cy="329184"/>
          </a:xfrm>
          <a:prstGeom prst="rect">
            <a:avLst/>
          </a:prstGeom>
          <a:solidFill>
            <a:srgbClr val="80DEE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467344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2" name="Shape 220"/>
          <p:cNvSpPr/>
          <p:nvPr/>
        </p:nvSpPr>
        <p:spPr>
          <a:xfrm>
            <a:off x="9089136" y="2322576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9089136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24" name="Shape 222"/>
          <p:cNvSpPr/>
          <p:nvPr/>
        </p:nvSpPr>
        <p:spPr>
          <a:xfrm>
            <a:off x="9710928" y="2322576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9710928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26" name="Shape 224"/>
          <p:cNvSpPr/>
          <p:nvPr/>
        </p:nvSpPr>
        <p:spPr>
          <a:xfrm>
            <a:off x="10332720" y="2322576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27" name="Text 225"/>
          <p:cNvSpPr/>
          <p:nvPr/>
        </p:nvSpPr>
        <p:spPr>
          <a:xfrm>
            <a:off x="10332720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28" name="Shape 226"/>
          <p:cNvSpPr/>
          <p:nvPr/>
        </p:nvSpPr>
        <p:spPr>
          <a:xfrm>
            <a:off x="10954512" y="2322576"/>
            <a:ext cx="621792" cy="329184"/>
          </a:xfrm>
          <a:prstGeom prst="rect">
            <a:avLst/>
          </a:prstGeom>
          <a:solidFill>
            <a:srgbClr val="80DEE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29" name="Text 227"/>
          <p:cNvSpPr/>
          <p:nvPr/>
        </p:nvSpPr>
        <p:spPr>
          <a:xfrm>
            <a:off x="10954512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30" name="Shape 228"/>
          <p:cNvSpPr/>
          <p:nvPr/>
        </p:nvSpPr>
        <p:spPr>
          <a:xfrm>
            <a:off x="6309360" y="2651760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231" name="Text 229"/>
          <p:cNvSpPr/>
          <p:nvPr/>
        </p:nvSpPr>
        <p:spPr>
          <a:xfrm>
            <a:off x="6309360" y="2651760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Cytokine</a:t>
            </a:r>
            <a:endParaRPr lang="en-US" sz="800" dirty="0"/>
          </a:p>
        </p:txBody>
      </p:sp>
      <p:sp>
        <p:nvSpPr>
          <p:cNvPr id="232" name="Shape 230"/>
          <p:cNvSpPr/>
          <p:nvPr/>
        </p:nvSpPr>
        <p:spPr>
          <a:xfrm>
            <a:off x="7223760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33" name="Text 231"/>
          <p:cNvSpPr/>
          <p:nvPr/>
        </p:nvSpPr>
        <p:spPr>
          <a:xfrm>
            <a:off x="7223760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34" name="Shape 232"/>
          <p:cNvSpPr/>
          <p:nvPr/>
        </p:nvSpPr>
        <p:spPr>
          <a:xfrm>
            <a:off x="7845552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35" name="Text 233"/>
          <p:cNvSpPr/>
          <p:nvPr/>
        </p:nvSpPr>
        <p:spPr>
          <a:xfrm>
            <a:off x="7845552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36" name="Shape 234"/>
          <p:cNvSpPr/>
          <p:nvPr/>
        </p:nvSpPr>
        <p:spPr>
          <a:xfrm>
            <a:off x="8467344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8467344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38" name="Shape 236"/>
          <p:cNvSpPr/>
          <p:nvPr/>
        </p:nvSpPr>
        <p:spPr>
          <a:xfrm>
            <a:off x="9089136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39" name="Text 237"/>
          <p:cNvSpPr/>
          <p:nvPr/>
        </p:nvSpPr>
        <p:spPr>
          <a:xfrm>
            <a:off x="9089136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40" name="Shape 238"/>
          <p:cNvSpPr/>
          <p:nvPr/>
        </p:nvSpPr>
        <p:spPr>
          <a:xfrm>
            <a:off x="9710928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9710928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42" name="Shape 240"/>
          <p:cNvSpPr/>
          <p:nvPr/>
        </p:nvSpPr>
        <p:spPr>
          <a:xfrm>
            <a:off x="10332720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10332720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44" name="Shape 242"/>
          <p:cNvSpPr/>
          <p:nvPr/>
        </p:nvSpPr>
        <p:spPr>
          <a:xfrm>
            <a:off x="10954512" y="2651760"/>
            <a:ext cx="621792" cy="329184"/>
          </a:xfrm>
          <a:prstGeom prst="rect">
            <a:avLst/>
          </a:prstGeom>
          <a:solidFill>
            <a:srgbClr val="007A85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45" name="Text 243"/>
          <p:cNvSpPr/>
          <p:nvPr/>
        </p:nvSpPr>
        <p:spPr>
          <a:xfrm>
            <a:off x="10954512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46" name="Shape 244"/>
          <p:cNvSpPr/>
          <p:nvPr/>
        </p:nvSpPr>
        <p:spPr>
          <a:xfrm>
            <a:off x="6309360" y="2980944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247" name="Text 245"/>
          <p:cNvSpPr/>
          <p:nvPr/>
        </p:nvSpPr>
        <p:spPr>
          <a:xfrm>
            <a:off x="6309360" y="298094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VEGF</a:t>
            </a:r>
            <a:endParaRPr lang="en-US" sz="800" dirty="0"/>
          </a:p>
        </p:txBody>
      </p:sp>
      <p:sp>
        <p:nvSpPr>
          <p:cNvPr id="248" name="Shape 246"/>
          <p:cNvSpPr/>
          <p:nvPr/>
        </p:nvSpPr>
        <p:spPr>
          <a:xfrm>
            <a:off x="7223760" y="298094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49" name="Text 247"/>
          <p:cNvSpPr/>
          <p:nvPr/>
        </p:nvSpPr>
        <p:spPr>
          <a:xfrm>
            <a:off x="7223760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50" name="Shape 248"/>
          <p:cNvSpPr/>
          <p:nvPr/>
        </p:nvSpPr>
        <p:spPr>
          <a:xfrm>
            <a:off x="7845552" y="298094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51" name="Text 249"/>
          <p:cNvSpPr/>
          <p:nvPr/>
        </p:nvSpPr>
        <p:spPr>
          <a:xfrm>
            <a:off x="7845552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52" name="Shape 250"/>
          <p:cNvSpPr/>
          <p:nvPr/>
        </p:nvSpPr>
        <p:spPr>
          <a:xfrm>
            <a:off x="8467344" y="298094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53" name="Text 251"/>
          <p:cNvSpPr/>
          <p:nvPr/>
        </p:nvSpPr>
        <p:spPr>
          <a:xfrm>
            <a:off x="8467344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54" name="Shape 252"/>
          <p:cNvSpPr/>
          <p:nvPr/>
        </p:nvSpPr>
        <p:spPr>
          <a:xfrm>
            <a:off x="9089136" y="298094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55" name="Text 253"/>
          <p:cNvSpPr/>
          <p:nvPr/>
        </p:nvSpPr>
        <p:spPr>
          <a:xfrm>
            <a:off x="9089136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56" name="Shape 254"/>
          <p:cNvSpPr/>
          <p:nvPr/>
        </p:nvSpPr>
        <p:spPr>
          <a:xfrm>
            <a:off x="9710928" y="298094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57" name="Text 255"/>
          <p:cNvSpPr/>
          <p:nvPr/>
        </p:nvSpPr>
        <p:spPr>
          <a:xfrm>
            <a:off x="9710928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58" name="Shape 256"/>
          <p:cNvSpPr/>
          <p:nvPr/>
        </p:nvSpPr>
        <p:spPr>
          <a:xfrm>
            <a:off x="10332720" y="298094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59" name="Text 257"/>
          <p:cNvSpPr/>
          <p:nvPr/>
        </p:nvSpPr>
        <p:spPr>
          <a:xfrm>
            <a:off x="10332720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60" name="Shape 258"/>
          <p:cNvSpPr/>
          <p:nvPr/>
        </p:nvSpPr>
        <p:spPr>
          <a:xfrm>
            <a:off x="10954512" y="2980944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61" name="Text 259"/>
          <p:cNvSpPr/>
          <p:nvPr/>
        </p:nvSpPr>
        <p:spPr>
          <a:xfrm>
            <a:off x="10954512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62" name="Shape 260"/>
          <p:cNvSpPr/>
          <p:nvPr/>
        </p:nvSpPr>
        <p:spPr>
          <a:xfrm>
            <a:off x="6309360" y="3310128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263" name="Text 261"/>
          <p:cNvSpPr/>
          <p:nvPr/>
        </p:nvSpPr>
        <p:spPr>
          <a:xfrm>
            <a:off x="6309360" y="331012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</a:t>
            </a:r>
            <a:endParaRPr lang="en-US" sz="800" dirty="0"/>
          </a:p>
        </p:txBody>
      </p:sp>
      <p:sp>
        <p:nvSpPr>
          <p:cNvPr id="264" name="Shape 262"/>
          <p:cNvSpPr/>
          <p:nvPr/>
        </p:nvSpPr>
        <p:spPr>
          <a:xfrm>
            <a:off x="7223760" y="331012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65" name="Text 263"/>
          <p:cNvSpPr/>
          <p:nvPr/>
        </p:nvSpPr>
        <p:spPr>
          <a:xfrm>
            <a:off x="7223760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66" name="Shape 264"/>
          <p:cNvSpPr/>
          <p:nvPr/>
        </p:nvSpPr>
        <p:spPr>
          <a:xfrm>
            <a:off x="7845552" y="331012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67" name="Text 265"/>
          <p:cNvSpPr/>
          <p:nvPr/>
        </p:nvSpPr>
        <p:spPr>
          <a:xfrm>
            <a:off x="7845552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68" name="Shape 266"/>
          <p:cNvSpPr/>
          <p:nvPr/>
        </p:nvSpPr>
        <p:spPr>
          <a:xfrm>
            <a:off x="8467344" y="331012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69" name="Text 267"/>
          <p:cNvSpPr/>
          <p:nvPr/>
        </p:nvSpPr>
        <p:spPr>
          <a:xfrm>
            <a:off x="8467344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70" name="Shape 268"/>
          <p:cNvSpPr/>
          <p:nvPr/>
        </p:nvSpPr>
        <p:spPr>
          <a:xfrm>
            <a:off x="9089136" y="331012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71" name="Text 269"/>
          <p:cNvSpPr/>
          <p:nvPr/>
        </p:nvSpPr>
        <p:spPr>
          <a:xfrm>
            <a:off x="9089136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72" name="Shape 270"/>
          <p:cNvSpPr/>
          <p:nvPr/>
        </p:nvSpPr>
        <p:spPr>
          <a:xfrm>
            <a:off x="9710928" y="331012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>
            <a:off x="9710928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74" name="Shape 272"/>
          <p:cNvSpPr/>
          <p:nvPr/>
        </p:nvSpPr>
        <p:spPr>
          <a:xfrm>
            <a:off x="10332720" y="3310128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75" name="Text 273"/>
          <p:cNvSpPr/>
          <p:nvPr/>
        </p:nvSpPr>
        <p:spPr>
          <a:xfrm>
            <a:off x="10332720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76" name="Shape 274"/>
          <p:cNvSpPr/>
          <p:nvPr/>
        </p:nvSpPr>
        <p:spPr>
          <a:xfrm>
            <a:off x="10954512" y="3310128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77" name="Text 275"/>
          <p:cNvSpPr/>
          <p:nvPr/>
        </p:nvSpPr>
        <p:spPr>
          <a:xfrm>
            <a:off x="10954512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78" name="Shape 276"/>
          <p:cNvSpPr/>
          <p:nvPr/>
        </p:nvSpPr>
        <p:spPr>
          <a:xfrm>
            <a:off x="6309360" y="3639312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279" name="Text 277"/>
          <p:cNvSpPr/>
          <p:nvPr/>
        </p:nvSpPr>
        <p:spPr>
          <a:xfrm>
            <a:off x="6309360" y="3639312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TIGIT</a:t>
            </a:r>
            <a:endParaRPr lang="en-US" sz="800" dirty="0"/>
          </a:p>
        </p:txBody>
      </p:sp>
      <p:sp>
        <p:nvSpPr>
          <p:cNvPr id="280" name="Shape 278"/>
          <p:cNvSpPr/>
          <p:nvPr/>
        </p:nvSpPr>
        <p:spPr>
          <a:xfrm>
            <a:off x="7223760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81" name="Text 279"/>
          <p:cNvSpPr/>
          <p:nvPr/>
        </p:nvSpPr>
        <p:spPr>
          <a:xfrm>
            <a:off x="7223760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82" name="Shape 280"/>
          <p:cNvSpPr/>
          <p:nvPr/>
        </p:nvSpPr>
        <p:spPr>
          <a:xfrm>
            <a:off x="7845552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83" name="Text 281"/>
          <p:cNvSpPr/>
          <p:nvPr/>
        </p:nvSpPr>
        <p:spPr>
          <a:xfrm>
            <a:off x="7845552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84" name="Shape 282"/>
          <p:cNvSpPr/>
          <p:nvPr/>
        </p:nvSpPr>
        <p:spPr>
          <a:xfrm>
            <a:off x="8467344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85" name="Text 283"/>
          <p:cNvSpPr/>
          <p:nvPr/>
        </p:nvSpPr>
        <p:spPr>
          <a:xfrm>
            <a:off x="8467344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86" name="Shape 284"/>
          <p:cNvSpPr/>
          <p:nvPr/>
        </p:nvSpPr>
        <p:spPr>
          <a:xfrm>
            <a:off x="9089136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87" name="Text 285"/>
          <p:cNvSpPr/>
          <p:nvPr/>
        </p:nvSpPr>
        <p:spPr>
          <a:xfrm>
            <a:off x="9089136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88" name="Shape 286"/>
          <p:cNvSpPr/>
          <p:nvPr/>
        </p:nvSpPr>
        <p:spPr>
          <a:xfrm>
            <a:off x="9710928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89" name="Text 287"/>
          <p:cNvSpPr/>
          <p:nvPr/>
        </p:nvSpPr>
        <p:spPr>
          <a:xfrm>
            <a:off x="9710928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90" name="Shape 288"/>
          <p:cNvSpPr/>
          <p:nvPr/>
        </p:nvSpPr>
        <p:spPr>
          <a:xfrm>
            <a:off x="10332720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91" name="Text 289"/>
          <p:cNvSpPr/>
          <p:nvPr/>
        </p:nvSpPr>
        <p:spPr>
          <a:xfrm>
            <a:off x="10332720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92" name="Shape 290"/>
          <p:cNvSpPr/>
          <p:nvPr/>
        </p:nvSpPr>
        <p:spPr>
          <a:xfrm>
            <a:off x="10954512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93" name="Text 291"/>
          <p:cNvSpPr/>
          <p:nvPr/>
        </p:nvSpPr>
        <p:spPr>
          <a:xfrm>
            <a:off x="10954512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94" name="Text 292"/>
          <p:cNvSpPr/>
          <p:nvPr/>
        </p:nvSpPr>
        <p:spPr>
          <a:xfrm>
            <a:off x="365760" y="466344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Intensity:</a:t>
            </a:r>
            <a:endParaRPr lang="en-US" sz="800" dirty="0"/>
          </a:p>
        </p:txBody>
      </p:sp>
      <p:sp>
        <p:nvSpPr>
          <p:cNvPr id="295" name="Shape 293"/>
          <p:cNvSpPr/>
          <p:nvPr/>
        </p:nvSpPr>
        <p:spPr>
          <a:xfrm>
            <a:off x="1005840" y="4663440"/>
            <a:ext cx="411480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96" name="Text 294"/>
          <p:cNvSpPr/>
          <p:nvPr/>
        </p:nvSpPr>
        <p:spPr>
          <a:xfrm>
            <a:off x="1005840" y="466344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00" dirty="0"/>
          </a:p>
        </p:txBody>
      </p:sp>
      <p:sp>
        <p:nvSpPr>
          <p:cNvPr id="297" name="Shape 295"/>
          <p:cNvSpPr/>
          <p:nvPr/>
        </p:nvSpPr>
        <p:spPr>
          <a:xfrm>
            <a:off x="1508760" y="4663440"/>
            <a:ext cx="411480" cy="182880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98" name="Text 296"/>
          <p:cNvSpPr/>
          <p:nvPr/>
        </p:nvSpPr>
        <p:spPr>
          <a:xfrm>
            <a:off x="1508760" y="466344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00" dirty="0"/>
          </a:p>
        </p:txBody>
      </p:sp>
      <p:sp>
        <p:nvSpPr>
          <p:cNvPr id="299" name="Shape 297"/>
          <p:cNvSpPr/>
          <p:nvPr/>
        </p:nvSpPr>
        <p:spPr>
          <a:xfrm>
            <a:off x="2011680" y="4663440"/>
            <a:ext cx="411480" cy="182880"/>
          </a:xfrm>
          <a:prstGeom prst="rect">
            <a:avLst/>
          </a:prstGeom>
          <a:solidFill>
            <a:srgbClr val="80DEE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300" name="Text 298"/>
          <p:cNvSpPr/>
          <p:nvPr/>
        </p:nvSpPr>
        <p:spPr>
          <a:xfrm>
            <a:off x="2011680" y="466344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00" dirty="0"/>
          </a:p>
        </p:txBody>
      </p:sp>
      <p:sp>
        <p:nvSpPr>
          <p:cNvPr id="301" name="Shape 299"/>
          <p:cNvSpPr/>
          <p:nvPr/>
        </p:nvSpPr>
        <p:spPr>
          <a:xfrm>
            <a:off x="2514600" y="4663440"/>
            <a:ext cx="411480" cy="182880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302" name="Text 300"/>
          <p:cNvSpPr/>
          <p:nvPr/>
        </p:nvSpPr>
        <p:spPr>
          <a:xfrm>
            <a:off x="2514600" y="466344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3-4</a:t>
            </a:r>
            <a:endParaRPr lang="en-US" sz="700" dirty="0"/>
          </a:p>
        </p:txBody>
      </p:sp>
      <p:sp>
        <p:nvSpPr>
          <p:cNvPr id="303" name="Shape 301"/>
          <p:cNvSpPr/>
          <p:nvPr/>
        </p:nvSpPr>
        <p:spPr>
          <a:xfrm>
            <a:off x="3017520" y="4663440"/>
            <a:ext cx="411480" cy="182880"/>
          </a:xfrm>
          <a:prstGeom prst="rect">
            <a:avLst/>
          </a:prstGeom>
          <a:solidFill>
            <a:srgbClr val="007A85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304" name="Text 302"/>
          <p:cNvSpPr/>
          <p:nvPr/>
        </p:nvSpPr>
        <p:spPr>
          <a:xfrm>
            <a:off x="3017520" y="466344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5-7</a:t>
            </a:r>
            <a:endParaRPr lang="en-US" sz="700" dirty="0"/>
          </a:p>
        </p:txBody>
      </p:sp>
      <p:sp>
        <p:nvSpPr>
          <p:cNvPr id="305" name="Shape 303"/>
          <p:cNvSpPr/>
          <p:nvPr/>
        </p:nvSpPr>
        <p:spPr>
          <a:xfrm>
            <a:off x="3520440" y="4663440"/>
            <a:ext cx="411480" cy="182880"/>
          </a:xfrm>
          <a:prstGeom prst="rect">
            <a:avLst/>
          </a:prstGeom>
          <a:solidFill>
            <a:srgbClr val="002060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306" name="Text 304"/>
          <p:cNvSpPr/>
          <p:nvPr/>
        </p:nvSpPr>
        <p:spPr>
          <a:xfrm>
            <a:off x="3520440" y="466344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8+</a:t>
            </a:r>
            <a:endParaRPr lang="en-US" sz="700" dirty="0"/>
          </a:p>
        </p:txBody>
      </p:sp>
      <p:sp>
        <p:nvSpPr>
          <p:cNvPr id="307" name="Text 305"/>
          <p:cNvSpPr/>
          <p:nvPr/>
        </p:nvSpPr>
        <p:spPr>
          <a:xfrm>
            <a:off x="365760" y="6629400"/>
            <a:ext cx="114300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Pipeline database | Phase 3, non-biosimilar | March 2026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6: Company Pipeline Footprint — Who Threatens Keytruda's Position Most?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365760" y="530352"/>
            <a:ext cx="11430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companies have the most shots on goal against Keytruda's SoC? Breadth vs concentration of competitive bets.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560320" y="960120"/>
            <a:ext cx="1554480" cy="41148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5" name="Text 3"/>
          <p:cNvSpPr/>
          <p:nvPr/>
        </p:nvSpPr>
        <p:spPr>
          <a:xfrm>
            <a:off x="2560320" y="9601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114800" y="960120"/>
            <a:ext cx="1554480" cy="41148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0" y="9601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KRAS/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0" y="960120"/>
            <a:ext cx="1554480" cy="41148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0" y="9601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TROP2/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223760" y="960120"/>
            <a:ext cx="1554480" cy="41148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0" y="9601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VEGF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bispec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778240" y="960120"/>
            <a:ext cx="1554480" cy="41148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0" y="9601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TIGIT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0332720" y="960120"/>
            <a:ext cx="1554480" cy="41148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5" name="Text 13"/>
          <p:cNvSpPr/>
          <p:nvPr/>
        </p:nvSpPr>
        <p:spPr>
          <a:xfrm>
            <a:off x="10332720" y="9601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EGFR/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463040" y="1371600"/>
            <a:ext cx="1097280" cy="5029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7" name="Text 15"/>
          <p:cNvSpPr/>
          <p:nvPr/>
        </p:nvSpPr>
        <p:spPr>
          <a:xfrm>
            <a:off x="1463040" y="137160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AZN (9 drugs)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60320" y="137160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95244" y="1380744"/>
            <a:ext cx="484632" cy="484632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20" name="Text 18"/>
          <p:cNvSpPr/>
          <p:nvPr/>
        </p:nvSpPr>
        <p:spPr>
          <a:xfrm>
            <a:off x="3095244" y="1380744"/>
            <a:ext cx="484632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114800" y="137160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0" y="137160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32220" y="1508760"/>
            <a:ext cx="228600" cy="228600"/>
          </a:xfrm>
          <a:prstGeom prst="ellipse">
            <a:avLst/>
          </a:prstGeom>
          <a:solidFill>
            <a:srgbClr val="00B0B9"/>
          </a:solidFill>
          <a:ln/>
        </p:spPr>
      </p:sp>
      <p:sp>
        <p:nvSpPr>
          <p:cNvPr id="24" name="Text 22"/>
          <p:cNvSpPr/>
          <p:nvPr/>
        </p:nvSpPr>
        <p:spPr>
          <a:xfrm>
            <a:off x="6332220" y="150876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223760" y="137160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78240" y="137160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77172" y="1444752"/>
            <a:ext cx="356616" cy="356616"/>
          </a:xfrm>
          <a:prstGeom prst="ellipse">
            <a:avLst/>
          </a:prstGeom>
          <a:solidFill>
            <a:srgbClr val="007A85"/>
          </a:solidFill>
          <a:ln/>
        </p:spPr>
      </p:sp>
      <p:sp>
        <p:nvSpPr>
          <p:cNvPr id="28" name="Text 26"/>
          <p:cNvSpPr/>
          <p:nvPr/>
        </p:nvSpPr>
        <p:spPr>
          <a:xfrm>
            <a:off x="9377172" y="1444752"/>
            <a:ext cx="35661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0332720" y="137160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463040" y="1874520"/>
            <a:ext cx="10972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463040" y="187452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DSNKY (6)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560320" y="187452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91256" y="1979676"/>
            <a:ext cx="292608" cy="292608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34" name="Text 32"/>
          <p:cNvSpPr/>
          <p:nvPr/>
        </p:nvSpPr>
        <p:spPr>
          <a:xfrm>
            <a:off x="3191256" y="19796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14800" y="187452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69280" y="187452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68212" y="1947672"/>
            <a:ext cx="356616" cy="356616"/>
          </a:xfrm>
          <a:prstGeom prst="ellipse">
            <a:avLst/>
          </a:prstGeom>
          <a:solidFill>
            <a:srgbClr val="00B0B9"/>
          </a:solidFill>
          <a:ln/>
        </p:spPr>
      </p:sp>
      <p:sp>
        <p:nvSpPr>
          <p:cNvPr id="38" name="Text 36"/>
          <p:cNvSpPr/>
          <p:nvPr/>
        </p:nvSpPr>
        <p:spPr>
          <a:xfrm>
            <a:off x="6268212" y="1947672"/>
            <a:ext cx="35661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23760" y="187452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778240" y="187452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332720" y="187452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995660" y="2011680"/>
            <a:ext cx="228600" cy="228600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43" name="Text 41"/>
          <p:cNvSpPr/>
          <p:nvPr/>
        </p:nvSpPr>
        <p:spPr>
          <a:xfrm>
            <a:off x="10995660" y="201168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463040" y="2377440"/>
            <a:ext cx="1097280" cy="5029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5" name="Text 43"/>
          <p:cNvSpPr/>
          <p:nvPr/>
        </p:nvSpPr>
        <p:spPr>
          <a:xfrm>
            <a:off x="1463040" y="237744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BMY (6)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560320" y="237744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59252" y="2450592"/>
            <a:ext cx="356616" cy="356616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48" name="Text 46"/>
          <p:cNvSpPr/>
          <p:nvPr/>
        </p:nvSpPr>
        <p:spPr>
          <a:xfrm>
            <a:off x="3159252" y="2450592"/>
            <a:ext cx="35661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14800" y="237744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713732" y="2450592"/>
            <a:ext cx="356616" cy="356616"/>
          </a:xfrm>
          <a:prstGeom prst="ellipse">
            <a:avLst/>
          </a:prstGeom>
          <a:solidFill>
            <a:srgbClr val="4A148C"/>
          </a:solidFill>
          <a:ln/>
        </p:spPr>
      </p:sp>
      <p:sp>
        <p:nvSpPr>
          <p:cNvPr id="51" name="Text 49"/>
          <p:cNvSpPr/>
          <p:nvPr/>
        </p:nvSpPr>
        <p:spPr>
          <a:xfrm>
            <a:off x="4713732" y="2450592"/>
            <a:ext cx="35661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669280" y="237744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223760" y="237744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778240" y="237744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332720" y="237744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463040" y="2880360"/>
            <a:ext cx="10972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/>
          <p:nvPr/>
        </p:nvSpPr>
        <p:spPr>
          <a:xfrm>
            <a:off x="1463040" y="288036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 (4)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2560320" y="288036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23260" y="3017520"/>
            <a:ext cx="228600" cy="228600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60" name="Text 58"/>
          <p:cNvSpPr/>
          <p:nvPr/>
        </p:nvSpPr>
        <p:spPr>
          <a:xfrm>
            <a:off x="3223260" y="30175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114800" y="288036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745736" y="2985516"/>
            <a:ext cx="292608" cy="292608"/>
          </a:xfrm>
          <a:prstGeom prst="ellipse">
            <a:avLst/>
          </a:prstGeom>
          <a:solidFill>
            <a:srgbClr val="4A148C"/>
          </a:solidFill>
          <a:ln/>
        </p:spPr>
      </p:sp>
      <p:sp>
        <p:nvSpPr>
          <p:cNvPr id="63" name="Text 61"/>
          <p:cNvSpPr/>
          <p:nvPr/>
        </p:nvSpPr>
        <p:spPr>
          <a:xfrm>
            <a:off x="4745736" y="298551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669280" y="288036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00216" y="2985516"/>
            <a:ext cx="292608" cy="292608"/>
          </a:xfrm>
          <a:prstGeom prst="ellipse">
            <a:avLst/>
          </a:prstGeom>
          <a:solidFill>
            <a:srgbClr val="00B0B9"/>
          </a:solidFill>
          <a:ln/>
        </p:spPr>
      </p:sp>
      <p:sp>
        <p:nvSpPr>
          <p:cNvPr id="66" name="Text 64"/>
          <p:cNvSpPr/>
          <p:nvPr/>
        </p:nvSpPr>
        <p:spPr>
          <a:xfrm>
            <a:off x="6300216" y="298551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223760" y="288036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778240" y="288036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332720" y="288036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463040" y="3383280"/>
            <a:ext cx="1097280" cy="5029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71" name="Text 69"/>
          <p:cNvSpPr/>
          <p:nvPr/>
        </p:nvSpPr>
        <p:spPr>
          <a:xfrm>
            <a:off x="1463040" y="338328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SMMT (2)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2560320" y="338328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114800" y="338328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669280" y="338328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223760" y="338328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854696" y="3488436"/>
            <a:ext cx="292608" cy="292608"/>
          </a:xfrm>
          <a:prstGeom prst="ellipse">
            <a:avLst/>
          </a:prstGeom>
          <a:solidFill>
            <a:srgbClr val="01579B"/>
          </a:solidFill>
          <a:ln/>
        </p:spPr>
      </p:sp>
      <p:sp>
        <p:nvSpPr>
          <p:cNvPr id="77" name="Text 75"/>
          <p:cNvSpPr/>
          <p:nvPr/>
        </p:nvSpPr>
        <p:spPr>
          <a:xfrm>
            <a:off x="7854696" y="348843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8778240" y="338328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332720" y="338328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463040" y="3886200"/>
            <a:ext cx="10972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Text 79"/>
          <p:cNvSpPr/>
          <p:nvPr/>
        </p:nvSpPr>
        <p:spPr>
          <a:xfrm>
            <a:off x="1463040" y="388620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REGN (2)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2560320" y="388620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191256" y="3991356"/>
            <a:ext cx="292608" cy="292608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84" name="Text 82"/>
          <p:cNvSpPr/>
          <p:nvPr/>
        </p:nvSpPr>
        <p:spPr>
          <a:xfrm>
            <a:off x="3191256" y="399135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4114800" y="388620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669280" y="388620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223760" y="388620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778240" y="388620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0332720" y="388620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463040" y="4389120"/>
            <a:ext cx="1097280" cy="5029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1" name="Text 89"/>
          <p:cNvSpPr/>
          <p:nvPr/>
        </p:nvSpPr>
        <p:spPr>
          <a:xfrm>
            <a:off x="1463040" y="438912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LLY (2)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2560320" y="438912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114800" y="438912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745736" y="4494276"/>
            <a:ext cx="292608" cy="292608"/>
          </a:xfrm>
          <a:prstGeom prst="ellipse">
            <a:avLst/>
          </a:prstGeom>
          <a:solidFill>
            <a:srgbClr val="4A148C"/>
          </a:solidFill>
          <a:ln/>
        </p:spPr>
      </p:sp>
      <p:sp>
        <p:nvSpPr>
          <p:cNvPr id="95" name="Text 93"/>
          <p:cNvSpPr/>
          <p:nvPr/>
        </p:nvSpPr>
        <p:spPr>
          <a:xfrm>
            <a:off x="4745736" y="44942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669280" y="438912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223760" y="438912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778240" y="438912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0332720" y="438912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463040" y="4892040"/>
            <a:ext cx="10972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1" name="Text 99"/>
          <p:cNvSpPr/>
          <p:nvPr/>
        </p:nvSpPr>
        <p:spPr>
          <a:xfrm>
            <a:off x="1463040" y="489204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GILD (1+)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2560320" y="489204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4114800" y="489204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9280" y="489204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332220" y="5029200"/>
            <a:ext cx="228600" cy="228600"/>
          </a:xfrm>
          <a:prstGeom prst="ellipse">
            <a:avLst/>
          </a:prstGeom>
          <a:solidFill>
            <a:srgbClr val="00B0B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332220" y="502920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7223760" y="489204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778240" y="489204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441180" y="5029200"/>
            <a:ext cx="228600" cy="228600"/>
          </a:xfrm>
          <a:prstGeom prst="ellipse">
            <a:avLst/>
          </a:prstGeom>
          <a:solidFill>
            <a:srgbClr val="007A85"/>
          </a:solidFill>
          <a:ln/>
        </p:spPr>
      </p:sp>
      <p:sp>
        <p:nvSpPr>
          <p:cNvPr id="110" name="Text 108"/>
          <p:cNvSpPr/>
          <p:nvPr/>
        </p:nvSpPr>
        <p:spPr>
          <a:xfrm>
            <a:off x="9441180" y="502920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10332720" y="489204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1463040" y="5394960"/>
            <a:ext cx="1097280" cy="5029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13" name="Text 111"/>
          <p:cNvSpPr/>
          <p:nvPr/>
        </p:nvSpPr>
        <p:spPr>
          <a:xfrm>
            <a:off x="1463040" y="539496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PFE (3)</a:t>
            </a:r>
            <a:endParaRPr lang="en-US" sz="900" dirty="0"/>
          </a:p>
        </p:txBody>
      </p:sp>
      <p:sp>
        <p:nvSpPr>
          <p:cNvPr id="114" name="Shape 112"/>
          <p:cNvSpPr/>
          <p:nvPr/>
        </p:nvSpPr>
        <p:spPr>
          <a:xfrm>
            <a:off x="2560320" y="539496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223260" y="5532120"/>
            <a:ext cx="228600" cy="228600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116" name="Text 114"/>
          <p:cNvSpPr/>
          <p:nvPr/>
        </p:nvSpPr>
        <p:spPr>
          <a:xfrm>
            <a:off x="3223260" y="55321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4114800" y="539496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669280" y="539496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223760" y="539496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886700" y="5532120"/>
            <a:ext cx="228600" cy="228600"/>
          </a:xfrm>
          <a:prstGeom prst="ellipse">
            <a:avLst/>
          </a:prstGeom>
          <a:solidFill>
            <a:srgbClr val="01579B"/>
          </a:solidFill>
          <a:ln/>
        </p:spPr>
      </p:sp>
      <p:sp>
        <p:nvSpPr>
          <p:cNvPr id="121" name="Text 119"/>
          <p:cNvSpPr/>
          <p:nvPr/>
        </p:nvSpPr>
        <p:spPr>
          <a:xfrm>
            <a:off x="7886700" y="55321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8778240" y="539496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10332720" y="539496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10995660" y="5532120"/>
            <a:ext cx="228600" cy="228600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125" name="Text 123"/>
          <p:cNvSpPr/>
          <p:nvPr/>
        </p:nvSpPr>
        <p:spPr>
          <a:xfrm>
            <a:off x="10995660" y="55321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365760" y="6629400"/>
            <a:ext cx="114300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Pipeline database | Phase 3 only, non-biosimilar | March 2026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7: 2L NSCLC Phase 3 Competitive Landscape — Histology × Mechanism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365760" y="484632"/>
            <a:ext cx="11430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only | Post-IO/chemo setting | Biosimilars excluded | Source: pipeline database, ClinicalTrials.gov | March 2026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834640" y="914400"/>
            <a:ext cx="8869680" cy="0"/>
          </a:xfrm>
          <a:prstGeom prst="line">
            <a:avLst/>
          </a:prstGeom>
          <a:noFill/>
          <a:ln w="25400">
            <a:solidFill>
              <a:srgbClr val="0020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88920" y="877824"/>
            <a:ext cx="91440" cy="91440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6" name="Shape 4"/>
          <p:cNvSpPr/>
          <p:nvPr/>
        </p:nvSpPr>
        <p:spPr>
          <a:xfrm>
            <a:off x="5745480" y="877824"/>
            <a:ext cx="91440" cy="91440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7" name="Shape 5"/>
          <p:cNvSpPr/>
          <p:nvPr/>
        </p:nvSpPr>
        <p:spPr>
          <a:xfrm>
            <a:off x="8702040" y="877824"/>
            <a:ext cx="91440" cy="91440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8" name="Shape 6"/>
          <p:cNvSpPr/>
          <p:nvPr/>
        </p:nvSpPr>
        <p:spPr>
          <a:xfrm>
            <a:off x="11658600" y="877824"/>
            <a:ext cx="91440" cy="91440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9" name="Text 7"/>
          <p:cNvSpPr/>
          <p:nvPr/>
        </p:nvSpPr>
        <p:spPr>
          <a:xfrm>
            <a:off x="2834640" y="694944"/>
            <a:ext cx="295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ADCs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91200" y="694944"/>
            <a:ext cx="295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 Combos / Novel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747760" y="694944"/>
            <a:ext cx="295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/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Biomarker-selected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176272" y="1078992"/>
            <a:ext cx="658368" cy="1609344"/>
          </a:xfrm>
          <a:prstGeom prst="rect">
            <a:avLst/>
          </a:prstGeom>
          <a:solidFill>
            <a:srgbClr val="001540"/>
          </a:solidFill>
          <a:ln/>
        </p:spPr>
      </p:sp>
      <p:sp>
        <p:nvSpPr>
          <p:cNvPr id="13" name="Text 11"/>
          <p:cNvSpPr/>
          <p:nvPr/>
        </p:nvSpPr>
        <p:spPr>
          <a:xfrm>
            <a:off x="2176272" y="1078992"/>
            <a:ext cx="658368" cy="1609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Squamous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(70%)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834640" y="1078992"/>
            <a:ext cx="8869680" cy="1609344"/>
          </a:xfrm>
          <a:prstGeom prst="rect">
            <a:avLst/>
          </a:prstGeom>
          <a:solidFill>
            <a:srgbClr val="F5F8FF"/>
          </a:solidFill>
          <a:ln w="6350">
            <a:solidFill>
              <a:srgbClr val="B0BEC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91200" y="1078992"/>
            <a:ext cx="0" cy="1609344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7760" y="1078992"/>
            <a:ext cx="0" cy="1609344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176272" y="2688336"/>
            <a:ext cx="658368" cy="1225296"/>
          </a:xfrm>
          <a:prstGeom prst="rect">
            <a:avLst/>
          </a:prstGeom>
          <a:solidFill>
            <a:srgbClr val="001540"/>
          </a:solidFill>
          <a:ln/>
        </p:spPr>
      </p:sp>
      <p:sp>
        <p:nvSpPr>
          <p:cNvPr id="18" name="Text 16"/>
          <p:cNvSpPr/>
          <p:nvPr/>
        </p:nvSpPr>
        <p:spPr>
          <a:xfrm>
            <a:off x="2176272" y="2688336"/>
            <a:ext cx="658368" cy="1225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non-sq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sq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834640" y="2688336"/>
            <a:ext cx="8869680" cy="1225296"/>
          </a:xfrm>
          <a:prstGeom prst="rect">
            <a:avLst/>
          </a:prstGeom>
          <a:solidFill>
            <a:srgbClr val="EDF2FF"/>
          </a:solidFill>
          <a:ln w="6350">
            <a:solidFill>
              <a:srgbClr val="B0BEC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91200" y="2688336"/>
            <a:ext cx="0" cy="1225296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747760" y="2688336"/>
            <a:ext cx="0" cy="1225296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176272" y="3913632"/>
            <a:ext cx="658368" cy="457200"/>
          </a:xfrm>
          <a:prstGeom prst="rect">
            <a:avLst/>
          </a:prstGeom>
          <a:solidFill>
            <a:srgbClr val="001540"/>
          </a:solidFill>
          <a:ln/>
        </p:spPr>
      </p:sp>
      <p:sp>
        <p:nvSpPr>
          <p:cNvPr id="23" name="Text 21"/>
          <p:cNvSpPr/>
          <p:nvPr/>
        </p:nvSpPr>
        <p:spPr>
          <a:xfrm>
            <a:off x="2176272" y="3913632"/>
            <a:ext cx="658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Squamous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(30%)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834640" y="3913632"/>
            <a:ext cx="8869680" cy="457200"/>
          </a:xfrm>
          <a:prstGeom prst="rect">
            <a:avLst/>
          </a:prstGeom>
          <a:solidFill>
            <a:srgbClr val="F5F8FF"/>
          </a:solidFill>
          <a:ln w="6350">
            <a:solidFill>
              <a:srgbClr val="B0BEC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91200" y="3913632"/>
            <a:ext cx="0" cy="457200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8747760" y="3913632"/>
            <a:ext cx="0" cy="457200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2880360" y="1115568"/>
            <a:ext cx="2865120" cy="173736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28" name="Text 26"/>
          <p:cNvSpPr/>
          <p:nvPr/>
        </p:nvSpPr>
        <p:spPr>
          <a:xfrm>
            <a:off x="2916936" y="1115568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DSNKY: Dato-DXd + osi  [TROP2, EGFR-mut] (FR:Sep'26)</a:t>
            </a:r>
            <a:endParaRPr lang="en-US" sz="620" dirty="0"/>
          </a:p>
        </p:txBody>
      </p:sp>
      <p:sp>
        <p:nvSpPr>
          <p:cNvPr id="29" name="Shape 27"/>
          <p:cNvSpPr/>
          <p:nvPr/>
        </p:nvSpPr>
        <p:spPr>
          <a:xfrm>
            <a:off x="2880360" y="1307592"/>
            <a:ext cx="2865120" cy="173736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30" name="Text 28"/>
          <p:cNvSpPr/>
          <p:nvPr/>
        </p:nvSpPr>
        <p:spPr>
          <a:xfrm>
            <a:off x="2916936" y="1307592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Sac-TMT  [TROP2 ADC] (FR:'27)</a:t>
            </a:r>
            <a:endParaRPr lang="en-US" sz="620" dirty="0"/>
          </a:p>
        </p:txBody>
      </p:sp>
      <p:sp>
        <p:nvSpPr>
          <p:cNvPr id="31" name="Shape 29"/>
          <p:cNvSpPr/>
          <p:nvPr/>
        </p:nvSpPr>
        <p:spPr>
          <a:xfrm>
            <a:off x="2880360" y="1499616"/>
            <a:ext cx="2865120" cy="173736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32" name="Text 30"/>
          <p:cNvSpPr/>
          <p:nvPr/>
        </p:nvSpPr>
        <p:spPr>
          <a:xfrm>
            <a:off x="2916936" y="1499616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ABBV: Teliso Vedotin  [c-MET ADC, MET+] (FR:'28)</a:t>
            </a:r>
            <a:endParaRPr lang="en-US" sz="620" dirty="0"/>
          </a:p>
        </p:txBody>
      </p:sp>
      <p:sp>
        <p:nvSpPr>
          <p:cNvPr id="33" name="Shape 31"/>
          <p:cNvSpPr/>
          <p:nvPr/>
        </p:nvSpPr>
        <p:spPr>
          <a:xfrm>
            <a:off x="2880360" y="1691640"/>
            <a:ext cx="2865120" cy="173736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4" name="Text 32"/>
          <p:cNvSpPr/>
          <p:nvPr/>
        </p:nvSpPr>
        <p:spPr>
          <a:xfrm>
            <a:off x="2916936" y="1691640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SystImmune: Izalontamab  [EGFR/HER3 ADC] (FR:'28)</a:t>
            </a:r>
            <a:endParaRPr lang="en-US" sz="620" dirty="0"/>
          </a:p>
        </p:txBody>
      </p:sp>
      <p:sp>
        <p:nvSpPr>
          <p:cNvPr id="35" name="Shape 33"/>
          <p:cNvSpPr/>
          <p:nvPr/>
        </p:nvSpPr>
        <p:spPr>
          <a:xfrm>
            <a:off x="2880360" y="1883664"/>
            <a:ext cx="2865120" cy="173736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36" name="Text 34"/>
          <p:cNvSpPr/>
          <p:nvPr/>
        </p:nvSpPr>
        <p:spPr>
          <a:xfrm>
            <a:off x="2916936" y="1883664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Sac-TMT  [TROP2, EGFR-mut] (FR:'28)</a:t>
            </a:r>
            <a:endParaRPr lang="en-US" sz="620" dirty="0"/>
          </a:p>
        </p:txBody>
      </p:sp>
      <p:sp>
        <p:nvSpPr>
          <p:cNvPr id="37" name="Shape 35"/>
          <p:cNvSpPr/>
          <p:nvPr/>
        </p:nvSpPr>
        <p:spPr>
          <a:xfrm>
            <a:off x="2880360" y="2075688"/>
            <a:ext cx="2865120" cy="173736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38" name="Text 36"/>
          <p:cNvSpPr/>
          <p:nvPr/>
        </p:nvSpPr>
        <p:spPr>
          <a:xfrm>
            <a:off x="2916936" y="2075688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DSNKY: Dato-DXd  [TROP2 ADC] (FR:'28)</a:t>
            </a:r>
            <a:endParaRPr lang="en-US" sz="620" dirty="0"/>
          </a:p>
        </p:txBody>
      </p:sp>
      <p:sp>
        <p:nvSpPr>
          <p:cNvPr id="39" name="Shape 37"/>
          <p:cNvSpPr/>
          <p:nvPr/>
        </p:nvSpPr>
        <p:spPr>
          <a:xfrm>
            <a:off x="2880360" y="2267712"/>
            <a:ext cx="2865120" cy="173736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40" name="Text 38"/>
          <p:cNvSpPr/>
          <p:nvPr/>
        </p:nvSpPr>
        <p:spPr>
          <a:xfrm>
            <a:off x="2916936" y="2267712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Henlius: HLX43  [PD-L1 ADC] (FR:'29)</a:t>
            </a:r>
            <a:endParaRPr lang="en-US" sz="620" dirty="0"/>
          </a:p>
        </p:txBody>
      </p:sp>
      <p:sp>
        <p:nvSpPr>
          <p:cNvPr id="41" name="Shape 39"/>
          <p:cNvSpPr/>
          <p:nvPr/>
        </p:nvSpPr>
        <p:spPr>
          <a:xfrm>
            <a:off x="2880360" y="2459736"/>
            <a:ext cx="2865120" cy="173736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42" name="Text 40"/>
          <p:cNvSpPr/>
          <p:nvPr/>
        </p:nvSpPr>
        <p:spPr>
          <a:xfrm>
            <a:off x="2916936" y="2459736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ABBV: Teliso-adizutecan  [c-MET ADC] (FR:'30)</a:t>
            </a:r>
            <a:endParaRPr lang="en-US" sz="620" dirty="0"/>
          </a:p>
        </p:txBody>
      </p:sp>
      <p:sp>
        <p:nvSpPr>
          <p:cNvPr id="43" name="Shape 41"/>
          <p:cNvSpPr/>
          <p:nvPr/>
        </p:nvSpPr>
        <p:spPr>
          <a:xfrm>
            <a:off x="5836920" y="1115568"/>
            <a:ext cx="2865120" cy="173736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44" name="Text 42"/>
          <p:cNvSpPr/>
          <p:nvPr/>
        </p:nvSpPr>
        <p:spPr>
          <a:xfrm>
            <a:off x="5873496" y="1115568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IVBIY: IBI363  [PD1/IL-2] (FR:'29)</a:t>
            </a:r>
            <a:endParaRPr lang="en-US" sz="620" dirty="0"/>
          </a:p>
        </p:txBody>
      </p:sp>
      <p:sp>
        <p:nvSpPr>
          <p:cNvPr id="45" name="Shape 43"/>
          <p:cNvSpPr/>
          <p:nvPr/>
        </p:nvSpPr>
        <p:spPr>
          <a:xfrm>
            <a:off x="5836920" y="1307592"/>
            <a:ext cx="2865120" cy="173736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46" name="Text 44"/>
          <p:cNvSpPr/>
          <p:nvPr/>
        </p:nvSpPr>
        <p:spPr>
          <a:xfrm>
            <a:off x="5873496" y="1307592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Candel: Aglatimagene + pembro  [Gene therapy] (FR:'29)</a:t>
            </a:r>
            <a:endParaRPr lang="en-US" sz="620" dirty="0"/>
          </a:p>
        </p:txBody>
      </p:sp>
      <p:sp>
        <p:nvSpPr>
          <p:cNvPr id="47" name="Shape 45"/>
          <p:cNvSpPr/>
          <p:nvPr/>
        </p:nvSpPr>
        <p:spPr>
          <a:xfrm>
            <a:off x="5836920" y="1499616"/>
            <a:ext cx="2865120" cy="173736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48" name="Text 46"/>
          <p:cNvSpPr/>
          <p:nvPr/>
        </p:nvSpPr>
        <p:spPr>
          <a:xfrm>
            <a:off x="5873496" y="1499616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BeyondSpring: Plinabulin + doce  [VDA] (FR:'29)</a:t>
            </a:r>
            <a:endParaRPr lang="en-US" sz="620" dirty="0"/>
          </a:p>
        </p:txBody>
      </p:sp>
      <p:sp>
        <p:nvSpPr>
          <p:cNvPr id="49" name="Shape 47"/>
          <p:cNvSpPr/>
          <p:nvPr/>
        </p:nvSpPr>
        <p:spPr>
          <a:xfrm>
            <a:off x="5836920" y="1691640"/>
            <a:ext cx="2865120" cy="173736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50" name="Text 48"/>
          <p:cNvSpPr/>
          <p:nvPr/>
        </p:nvSpPr>
        <p:spPr>
          <a:xfrm>
            <a:off x="5873496" y="1691640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Eikon: EIK1001 + pembro + chemo  [TLR7/8] (FR:'30)</a:t>
            </a:r>
            <a:endParaRPr lang="en-US" sz="620" dirty="0"/>
          </a:p>
        </p:txBody>
      </p:sp>
      <p:sp>
        <p:nvSpPr>
          <p:cNvPr id="51" name="Shape 49"/>
          <p:cNvSpPr/>
          <p:nvPr/>
        </p:nvSpPr>
        <p:spPr>
          <a:xfrm>
            <a:off x="8793480" y="1115568"/>
            <a:ext cx="2865120" cy="173736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52" name="Text 50"/>
          <p:cNvSpPr/>
          <p:nvPr/>
        </p:nvSpPr>
        <p:spPr>
          <a:xfrm>
            <a:off x="8830056" y="1115568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AZN: Savolitinib + osi  [MET inhib, EGFR-mut] (FR:Jun'26)</a:t>
            </a:r>
            <a:endParaRPr lang="en-US" sz="620" dirty="0"/>
          </a:p>
        </p:txBody>
      </p:sp>
      <p:sp>
        <p:nvSpPr>
          <p:cNvPr id="53" name="Shape 51"/>
          <p:cNvSpPr/>
          <p:nvPr/>
        </p:nvSpPr>
        <p:spPr>
          <a:xfrm>
            <a:off x="8793480" y="1307592"/>
            <a:ext cx="2865120" cy="173736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54" name="Text 52"/>
          <p:cNvSpPr/>
          <p:nvPr/>
        </p:nvSpPr>
        <p:spPr>
          <a:xfrm>
            <a:off x="8830056" y="1307592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HengRui: Pyrotinib  [HER2, Exon20-mut] (FR:Feb'26)</a:t>
            </a:r>
            <a:endParaRPr lang="en-US" sz="620" dirty="0"/>
          </a:p>
        </p:txBody>
      </p:sp>
      <p:sp>
        <p:nvSpPr>
          <p:cNvPr id="55" name="Shape 53"/>
          <p:cNvSpPr/>
          <p:nvPr/>
        </p:nvSpPr>
        <p:spPr>
          <a:xfrm>
            <a:off x="8793480" y="1499616"/>
            <a:ext cx="2865120" cy="173736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56" name="Text 54"/>
          <p:cNvSpPr/>
          <p:nvPr/>
        </p:nvSpPr>
        <p:spPr>
          <a:xfrm>
            <a:off x="8830056" y="1499616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BDTX: Silevertinib  [EGFR inhib] (FR:'29)</a:t>
            </a:r>
            <a:endParaRPr lang="en-US" sz="620" dirty="0"/>
          </a:p>
        </p:txBody>
      </p:sp>
      <p:sp>
        <p:nvSpPr>
          <p:cNvPr id="57" name="Shape 55"/>
          <p:cNvSpPr/>
          <p:nvPr/>
        </p:nvSpPr>
        <p:spPr>
          <a:xfrm>
            <a:off x="2880360" y="2724912"/>
            <a:ext cx="2865120" cy="173736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58" name="Text 56"/>
          <p:cNvSpPr/>
          <p:nvPr/>
        </p:nvSpPr>
        <p:spPr>
          <a:xfrm>
            <a:off x="2916936" y="2724912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PFE: Sigvotatug vedotin  [Integrin β6 ADC] (FR:Feb'26)</a:t>
            </a:r>
            <a:endParaRPr lang="en-US" sz="620" dirty="0"/>
          </a:p>
        </p:txBody>
      </p:sp>
      <p:sp>
        <p:nvSpPr>
          <p:cNvPr id="59" name="Shape 57"/>
          <p:cNvSpPr/>
          <p:nvPr/>
        </p:nvSpPr>
        <p:spPr>
          <a:xfrm>
            <a:off x="2880360" y="2916936"/>
            <a:ext cx="2865120" cy="173736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60" name="Text 58"/>
          <p:cNvSpPr/>
          <p:nvPr/>
        </p:nvSpPr>
        <p:spPr>
          <a:xfrm>
            <a:off x="2916936" y="2916936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PFE: Fetrastobart vedotin  [PD-L1 ADC, TPS≥1%] (FR:'28)</a:t>
            </a:r>
            <a:endParaRPr lang="en-US" sz="620" dirty="0"/>
          </a:p>
        </p:txBody>
      </p:sp>
      <p:sp>
        <p:nvSpPr>
          <p:cNvPr id="61" name="Shape 59"/>
          <p:cNvSpPr/>
          <p:nvPr/>
        </p:nvSpPr>
        <p:spPr>
          <a:xfrm>
            <a:off x="2880360" y="3108960"/>
            <a:ext cx="2865120" cy="173736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62" name="Text 60"/>
          <p:cNvSpPr/>
          <p:nvPr/>
        </p:nvSpPr>
        <p:spPr>
          <a:xfrm>
            <a:off x="2916936" y="3108960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BioAtla: Mecbotamab vedotin + nivo  [AXL ADC] (FR:'28)</a:t>
            </a:r>
            <a:endParaRPr lang="en-US" sz="620" dirty="0"/>
          </a:p>
        </p:txBody>
      </p:sp>
      <p:sp>
        <p:nvSpPr>
          <p:cNvPr id="63" name="Shape 61"/>
          <p:cNvSpPr/>
          <p:nvPr/>
        </p:nvSpPr>
        <p:spPr>
          <a:xfrm>
            <a:off x="5836920" y="2724912"/>
            <a:ext cx="2865120" cy="173736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64" name="Text 62"/>
          <p:cNvSpPr/>
          <p:nvPr/>
        </p:nvSpPr>
        <p:spPr>
          <a:xfrm>
            <a:off x="5873496" y="2724912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BNTX: Gotistobart  [anti-CTLA4] (FR:Feb'26)</a:t>
            </a:r>
            <a:endParaRPr lang="en-US" sz="620" dirty="0"/>
          </a:p>
        </p:txBody>
      </p:sp>
      <p:sp>
        <p:nvSpPr>
          <p:cNvPr id="65" name="Shape 63"/>
          <p:cNvSpPr/>
          <p:nvPr/>
        </p:nvSpPr>
        <p:spPr>
          <a:xfrm>
            <a:off x="5836920" y="2916936"/>
            <a:ext cx="2865120" cy="173736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66" name="Text 64"/>
          <p:cNvSpPr/>
          <p:nvPr/>
        </p:nvSpPr>
        <p:spPr>
          <a:xfrm>
            <a:off x="5873496" y="2916936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OSE: Tedopi/OSE 2101  [cancer vaccine, HLA-A2] (FR:'27)</a:t>
            </a:r>
            <a:endParaRPr lang="en-US" sz="620" dirty="0"/>
          </a:p>
        </p:txBody>
      </p:sp>
      <p:sp>
        <p:nvSpPr>
          <p:cNvPr id="67" name="Shape 65"/>
          <p:cNvSpPr/>
          <p:nvPr/>
        </p:nvSpPr>
        <p:spPr>
          <a:xfrm>
            <a:off x="5836920" y="3108960"/>
            <a:ext cx="2865120" cy="173736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68" name="Text 66"/>
          <p:cNvSpPr/>
          <p:nvPr/>
        </p:nvSpPr>
        <p:spPr>
          <a:xfrm>
            <a:off x="5873496" y="3108960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IBRX: Nogapendekin alfa + doce  [IL-15] (FR:'28)</a:t>
            </a:r>
            <a:endParaRPr lang="en-US" sz="620" dirty="0"/>
          </a:p>
        </p:txBody>
      </p:sp>
      <p:sp>
        <p:nvSpPr>
          <p:cNvPr id="69" name="Shape 67"/>
          <p:cNvSpPr/>
          <p:nvPr/>
        </p:nvSpPr>
        <p:spPr>
          <a:xfrm>
            <a:off x="5836920" y="3300984"/>
            <a:ext cx="2865120" cy="173736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70" name="Text 68"/>
          <p:cNvSpPr/>
          <p:nvPr/>
        </p:nvSpPr>
        <p:spPr>
          <a:xfrm>
            <a:off x="5873496" y="3300984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ABBV: RC148 + doce  [PD1/VEGF bsAb] (FR:'28)</a:t>
            </a:r>
            <a:endParaRPr lang="en-US" sz="620" dirty="0"/>
          </a:p>
        </p:txBody>
      </p:sp>
      <p:sp>
        <p:nvSpPr>
          <p:cNvPr id="71" name="Shape 69"/>
          <p:cNvSpPr/>
          <p:nvPr/>
        </p:nvSpPr>
        <p:spPr>
          <a:xfrm>
            <a:off x="5836920" y="3493008"/>
            <a:ext cx="2865120" cy="173736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72" name="Text 70"/>
          <p:cNvSpPr/>
          <p:nvPr/>
        </p:nvSpPr>
        <p:spPr>
          <a:xfrm>
            <a:off x="5873496" y="3493008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IBRX: Nogapendekin alfa + pembro  [IL-15] (FR:'29)</a:t>
            </a:r>
            <a:endParaRPr lang="en-US" sz="620" dirty="0"/>
          </a:p>
        </p:txBody>
      </p:sp>
      <p:sp>
        <p:nvSpPr>
          <p:cNvPr id="73" name="Shape 71"/>
          <p:cNvSpPr/>
          <p:nvPr/>
        </p:nvSpPr>
        <p:spPr>
          <a:xfrm>
            <a:off x="8793480" y="2724912"/>
            <a:ext cx="2865120" cy="173736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74" name="Text 72"/>
          <p:cNvSpPr/>
          <p:nvPr/>
        </p:nvSpPr>
        <p:spPr>
          <a:xfrm>
            <a:off x="8830056" y="2724912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RHHBY: Divarasib  [KRAS G12C] (FR:Aug'26)</a:t>
            </a:r>
            <a:endParaRPr lang="en-US" sz="620" dirty="0"/>
          </a:p>
        </p:txBody>
      </p:sp>
      <p:sp>
        <p:nvSpPr>
          <p:cNvPr id="75" name="Shape 73"/>
          <p:cNvSpPr/>
          <p:nvPr/>
        </p:nvSpPr>
        <p:spPr>
          <a:xfrm>
            <a:off x="8793480" y="2916936"/>
            <a:ext cx="2865120" cy="173736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76" name="Text 74"/>
          <p:cNvSpPr/>
          <p:nvPr/>
        </p:nvSpPr>
        <p:spPr>
          <a:xfrm>
            <a:off x="8830056" y="2916936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AMGN: Sotorasib  [KRAS G12C] (FR:'27)</a:t>
            </a:r>
            <a:endParaRPr lang="en-US" sz="620" dirty="0"/>
          </a:p>
        </p:txBody>
      </p:sp>
      <p:sp>
        <p:nvSpPr>
          <p:cNvPr id="77" name="Shape 75"/>
          <p:cNvSpPr/>
          <p:nvPr/>
        </p:nvSpPr>
        <p:spPr>
          <a:xfrm>
            <a:off x="8793480" y="3108960"/>
            <a:ext cx="2865120" cy="173736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78" name="Text 76"/>
          <p:cNvSpPr/>
          <p:nvPr/>
        </p:nvSpPr>
        <p:spPr>
          <a:xfrm>
            <a:off x="8830056" y="3108960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RVMD: Daraxonrasib  [pan-RAS] (FR:'27)</a:t>
            </a:r>
            <a:endParaRPr lang="en-US" sz="620" dirty="0"/>
          </a:p>
        </p:txBody>
      </p:sp>
      <p:sp>
        <p:nvSpPr>
          <p:cNvPr id="79" name="Shape 77"/>
          <p:cNvSpPr/>
          <p:nvPr/>
        </p:nvSpPr>
        <p:spPr>
          <a:xfrm>
            <a:off x="8793480" y="3300984"/>
            <a:ext cx="2865120" cy="173736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80" name="Text 78"/>
          <p:cNvSpPr/>
          <p:nvPr/>
        </p:nvSpPr>
        <p:spPr>
          <a:xfrm>
            <a:off x="8830056" y="3300984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Krystal: KB707 inhaled  [IL-12/IL-2] (FR:'28)</a:t>
            </a:r>
            <a:endParaRPr lang="en-US" sz="620" dirty="0"/>
          </a:p>
        </p:txBody>
      </p:sp>
      <p:sp>
        <p:nvSpPr>
          <p:cNvPr id="81" name="Shape 79"/>
          <p:cNvSpPr/>
          <p:nvPr/>
        </p:nvSpPr>
        <p:spPr>
          <a:xfrm>
            <a:off x="8793480" y="3493008"/>
            <a:ext cx="2865120" cy="173736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82" name="Text 80"/>
          <p:cNvSpPr/>
          <p:nvPr/>
        </p:nvSpPr>
        <p:spPr>
          <a:xfrm>
            <a:off x="8830056" y="3493008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Astellas: Setidegrasib  [KRAS G12D] (FR:'29)</a:t>
            </a:r>
            <a:endParaRPr lang="en-US" sz="620" dirty="0"/>
          </a:p>
        </p:txBody>
      </p:sp>
      <p:sp>
        <p:nvSpPr>
          <p:cNvPr id="83" name="Shape 81"/>
          <p:cNvSpPr/>
          <p:nvPr/>
        </p:nvSpPr>
        <p:spPr>
          <a:xfrm>
            <a:off x="8793480" y="3685032"/>
            <a:ext cx="2865120" cy="173736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84" name="Text 82"/>
          <p:cNvSpPr/>
          <p:nvPr/>
        </p:nvSpPr>
        <p:spPr>
          <a:xfrm>
            <a:off x="8830056" y="3685032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Tango: Vopimetostat  [PRMT5 inhib] (FR:'29)</a:t>
            </a:r>
            <a:endParaRPr lang="en-US" sz="620" dirty="0"/>
          </a:p>
        </p:txBody>
      </p:sp>
      <p:sp>
        <p:nvSpPr>
          <p:cNvPr id="85" name="Shape 83"/>
          <p:cNvSpPr/>
          <p:nvPr/>
        </p:nvSpPr>
        <p:spPr>
          <a:xfrm>
            <a:off x="2880360" y="3950208"/>
            <a:ext cx="2865120" cy="173736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86" name="Text 84"/>
          <p:cNvSpPr/>
          <p:nvPr/>
        </p:nvSpPr>
        <p:spPr>
          <a:xfrm>
            <a:off x="2916936" y="3950208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Henlius: HLX43 + HLX07  [PD-L1 ADC] (FR:'29)</a:t>
            </a:r>
            <a:endParaRPr lang="en-US" sz="620" dirty="0"/>
          </a:p>
        </p:txBody>
      </p:sp>
      <p:sp>
        <p:nvSpPr>
          <p:cNvPr id="87" name="Shape 85"/>
          <p:cNvSpPr/>
          <p:nvPr/>
        </p:nvSpPr>
        <p:spPr>
          <a:xfrm>
            <a:off x="5836920" y="3950208"/>
            <a:ext cx="2865120" cy="173736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88" name="Text 86"/>
          <p:cNvSpPr/>
          <p:nvPr/>
        </p:nvSpPr>
        <p:spPr>
          <a:xfrm>
            <a:off x="5873496" y="3950208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IVBIY: IBI363  [PD1/IL-2] (FR:'28)</a:t>
            </a:r>
            <a:endParaRPr lang="en-US" sz="620" dirty="0"/>
          </a:p>
        </p:txBody>
      </p:sp>
      <p:sp>
        <p:nvSpPr>
          <p:cNvPr id="89" name="Shape 87"/>
          <p:cNvSpPr/>
          <p:nvPr/>
        </p:nvSpPr>
        <p:spPr>
          <a:xfrm>
            <a:off x="274320" y="1078992"/>
            <a:ext cx="1737360" cy="1005840"/>
          </a:xfrm>
          <a:prstGeom prst="rect">
            <a:avLst/>
          </a:prstGeom>
          <a:solidFill>
            <a:srgbClr val="F0F5FF"/>
          </a:solidFill>
          <a:ln w="12700">
            <a:solidFill>
              <a:srgbClr val="00206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329184" y="1115568"/>
            <a:ext cx="16276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 SoC (post-Keytruda):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Docetaxel ± ramucirumab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Or targeted if actionable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mutation (KRAS, MET, etc.)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ADCs emerging as new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 facto 2L SoC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274320" y="2176272"/>
            <a:ext cx="1737360" cy="91440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92" name="Text 90"/>
          <p:cNvSpPr/>
          <p:nvPr/>
        </p:nvSpPr>
        <p:spPr>
          <a:xfrm>
            <a:off x="329184" y="2221992"/>
            <a:ext cx="162763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EGFR-mutant 2L is a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sub-market</a:t>
            </a:r>
            <a:endParaRPr lang="en-US" sz="750" dirty="0"/>
          </a:p>
          <a:p>
            <a:pPr indent="0" marL="0">
              <a:buNone/>
            </a:pPr>
            <a:r>
              <a:rPr lang="en-US" sz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Post-osimertinib EGFR-mut patients are a large, defined niche with multiple TROP2/MET ADC trials.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274320" y="3227832"/>
            <a:ext cx="1737360" cy="109728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94" name="Text 92"/>
          <p:cNvSpPr/>
          <p:nvPr/>
        </p:nvSpPr>
        <p:spPr>
          <a:xfrm>
            <a:off x="329184" y="3273552"/>
            <a:ext cx="16276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00B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ADC wave is the key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00B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 theme</a:t>
            </a:r>
            <a:endParaRPr lang="en-US" sz="750" dirty="0"/>
          </a:p>
          <a:p>
            <a:pPr indent="0" marL="0">
              <a:buNone/>
            </a:pPr>
            <a:r>
              <a:rPr lang="en-US" sz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TROP2, MET, PD-L1, EGFR/HER3 ADCs all in Phase 3. Whoever wins 2L unselected displaces docetaxel.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2834640" y="4443984"/>
            <a:ext cx="118872" cy="118872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96" name="Text 94"/>
          <p:cNvSpPr/>
          <p:nvPr/>
        </p:nvSpPr>
        <p:spPr>
          <a:xfrm>
            <a:off x="2980944" y="4443984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TROP2/ADC</a:t>
            </a:r>
            <a:endParaRPr lang="en-US" sz="650" dirty="0"/>
          </a:p>
        </p:txBody>
      </p:sp>
      <p:sp>
        <p:nvSpPr>
          <p:cNvPr id="97" name="Shape 95"/>
          <p:cNvSpPr/>
          <p:nvPr/>
        </p:nvSpPr>
        <p:spPr>
          <a:xfrm>
            <a:off x="3730752" y="4443984"/>
            <a:ext cx="118872" cy="118872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98" name="Text 96"/>
          <p:cNvSpPr/>
          <p:nvPr/>
        </p:nvSpPr>
        <p:spPr>
          <a:xfrm>
            <a:off x="3877056" y="4443984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4626864" y="4443984"/>
            <a:ext cx="118872" cy="1188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00" name="Text 98"/>
          <p:cNvSpPr/>
          <p:nvPr/>
        </p:nvSpPr>
        <p:spPr>
          <a:xfrm>
            <a:off x="4773168" y="4443984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EGFR/MET</a:t>
            </a:r>
            <a:endParaRPr lang="en-US" sz="650" dirty="0"/>
          </a:p>
        </p:txBody>
      </p:sp>
      <p:sp>
        <p:nvSpPr>
          <p:cNvPr id="101" name="Shape 99"/>
          <p:cNvSpPr/>
          <p:nvPr/>
        </p:nvSpPr>
        <p:spPr>
          <a:xfrm>
            <a:off x="5522976" y="4443984"/>
            <a:ext cx="118872" cy="118872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102" name="Text 100"/>
          <p:cNvSpPr/>
          <p:nvPr/>
        </p:nvSpPr>
        <p:spPr>
          <a:xfrm>
            <a:off x="5669280" y="4443984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6419088" y="4443984"/>
            <a:ext cx="118872" cy="118872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565392" y="4443984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PD1/VEGF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7315200" y="4443984"/>
            <a:ext cx="118872" cy="118872"/>
          </a:xfrm>
          <a:prstGeom prst="rect">
            <a:avLst/>
          </a:prstGeom>
          <a:solidFill>
            <a:srgbClr val="007A85"/>
          </a:solidFill>
          <a:ln/>
        </p:spPr>
      </p:sp>
      <p:sp>
        <p:nvSpPr>
          <p:cNvPr id="106" name="Text 104"/>
          <p:cNvSpPr/>
          <p:nvPr/>
        </p:nvSpPr>
        <p:spPr>
          <a:xfrm>
            <a:off x="7461504" y="4443984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TIGIT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8211312" y="4443984"/>
            <a:ext cx="118872" cy="118872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08" name="Text 106"/>
          <p:cNvSpPr/>
          <p:nvPr/>
        </p:nvSpPr>
        <p:spPr>
          <a:xfrm>
            <a:off x="8357616" y="4443984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IO/Novel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9107424" y="4443984"/>
            <a:ext cx="118872" cy="118872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110" name="Text 108"/>
          <p:cNvSpPr/>
          <p:nvPr/>
        </p:nvSpPr>
        <p:spPr>
          <a:xfrm>
            <a:off x="9253728" y="4443984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</a:t>
            </a:r>
            <a:endParaRPr lang="en-US" sz="650" dirty="0"/>
          </a:p>
        </p:txBody>
      </p:sp>
      <p:sp>
        <p:nvSpPr>
          <p:cNvPr id="111" name="Text 109"/>
          <p:cNvSpPr/>
          <p:nvPr/>
        </p:nvSpPr>
        <p:spPr>
          <a:xfrm>
            <a:off x="2834640" y="4599432"/>
            <a:ext cx="88696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 = First Results  |  2L = post IO/chemo progression  |  Columns by primary mechanism class</a:t>
            </a:r>
            <a:endParaRPr lang="en-US" sz="600" dirty="0"/>
          </a:p>
        </p:txBody>
      </p:sp>
      <p:sp>
        <p:nvSpPr>
          <p:cNvPr id="112" name="Text 110"/>
          <p:cNvSpPr/>
          <p:nvPr/>
        </p:nvSpPr>
        <p:spPr>
          <a:xfrm>
            <a:off x="365760" y="6629400"/>
            <a:ext cx="114300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Pipeline database, ClinicalTrials.gov | Phase 3, non-biosimilar, 2L NSCLC | March 2026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NSCLC Competitive Landscape Exhibits</dc:title>
  <dc:subject>PptxGenJS Presentation</dc:subject>
  <dc:creator>Equity Research</dc:creator>
  <cp:lastModifiedBy>Equity Research</cp:lastModifiedBy>
  <cp:revision>1</cp:revision>
  <dcterms:created xsi:type="dcterms:W3CDTF">2026-04-06T19:18:59Z</dcterms:created>
  <dcterms:modified xsi:type="dcterms:W3CDTF">2026-04-06T19:18:59Z</dcterms:modified>
</cp:coreProperties>
</file>