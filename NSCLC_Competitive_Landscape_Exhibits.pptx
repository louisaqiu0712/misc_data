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11430000" cy="365760"/>
          </a:xfrm>
          <a:prstGeom prst="rect">
            <a:avLst/>
          </a:prstGeom>
          <a:noFill/>
          <a:ln/>
        </p:spPr>
        <p:txBody>
          <a:bodyPr wrap="square" rtlCol="0" anchor="ctr"/>
          <a:lstStyle/>
          <a:p>
            <a:pPr indent="0" marL="0">
              <a:buNone/>
            </a:pPr>
            <a:r>
              <a:rPr lang="en-US" sz="1350" b="1" dirty="0">
                <a:solidFill>
                  <a:srgbClr val="002060"/>
                </a:solidFill>
                <a:latin typeface="Arial" pitchFamily="34" charset="0"/>
                <a:ea typeface="Arial" pitchFamily="34" charset="-122"/>
                <a:cs typeface="Arial" pitchFamily="34" charset="-120"/>
              </a:rPr>
              <a:t>Exhibit 1: 1L NSCLC Phase 3 Competitive Landscape — Histology × PD-L1 TPS</a:t>
            </a:r>
            <a:endParaRPr lang="en-US" sz="1350" dirty="0"/>
          </a:p>
        </p:txBody>
      </p:sp>
      <p:sp>
        <p:nvSpPr>
          <p:cNvPr id="3" name="Text 1"/>
          <p:cNvSpPr/>
          <p:nvPr/>
        </p:nvSpPr>
        <p:spPr>
          <a:xfrm>
            <a:off x="365760" y="530352"/>
            <a:ext cx="11430000" cy="182880"/>
          </a:xfrm>
          <a:prstGeom prst="rect">
            <a:avLst/>
          </a:prstGeom>
          <a:noFill/>
          <a:ln/>
        </p:spPr>
        <p:txBody>
          <a:bodyPr wrap="square" rtlCol="0" anchor="ctr"/>
          <a:lstStyle/>
          <a:p>
            <a:pPr indent="0" marL="0">
              <a:buNone/>
            </a:pPr>
            <a:r>
              <a:rPr lang="en-US" sz="700" i="1" dirty="0">
                <a:solidFill>
                  <a:srgbClr val="999999"/>
                </a:solidFill>
                <a:latin typeface="Arial" pitchFamily="34" charset="0"/>
                <a:ea typeface="Arial" pitchFamily="34" charset="-122"/>
                <a:cs typeface="Arial" pitchFamily="34" charset="-120"/>
              </a:rPr>
              <a:t>Phase 3 only | Biosimilars excluded | Threats to pembrolizumab SoC | Source: pipeline database, ClinicalTrials.gov | March 2026</a:t>
            </a:r>
            <a:endParaRPr lang="en-US" sz="700" dirty="0"/>
          </a:p>
        </p:txBody>
      </p:sp>
      <p:sp>
        <p:nvSpPr>
          <p:cNvPr id="4" name="Shape 2"/>
          <p:cNvSpPr/>
          <p:nvPr/>
        </p:nvSpPr>
        <p:spPr>
          <a:xfrm>
            <a:off x="2834640" y="548640"/>
            <a:ext cx="8869680" cy="0"/>
          </a:xfrm>
          <a:prstGeom prst="line">
            <a:avLst/>
          </a:prstGeom>
          <a:noFill/>
          <a:ln w="25400">
            <a:solidFill>
              <a:srgbClr val="002060"/>
            </a:solidFill>
            <a:prstDash val="solid"/>
          </a:ln>
        </p:spPr>
      </p:sp>
      <p:sp>
        <p:nvSpPr>
          <p:cNvPr id="5" name="Shape 3"/>
          <p:cNvSpPr/>
          <p:nvPr/>
        </p:nvSpPr>
        <p:spPr>
          <a:xfrm>
            <a:off x="2788920" y="502920"/>
            <a:ext cx="91440" cy="91440"/>
          </a:xfrm>
          <a:prstGeom prst="ellipse">
            <a:avLst/>
          </a:prstGeom>
          <a:solidFill>
            <a:srgbClr val="002060"/>
          </a:solidFill>
          <a:ln/>
        </p:spPr>
      </p:sp>
      <p:sp>
        <p:nvSpPr>
          <p:cNvPr id="6" name="Shape 4"/>
          <p:cNvSpPr/>
          <p:nvPr/>
        </p:nvSpPr>
        <p:spPr>
          <a:xfrm>
            <a:off x="5745480" y="502920"/>
            <a:ext cx="91440" cy="91440"/>
          </a:xfrm>
          <a:prstGeom prst="ellipse">
            <a:avLst/>
          </a:prstGeom>
          <a:solidFill>
            <a:srgbClr val="002060"/>
          </a:solidFill>
          <a:ln/>
        </p:spPr>
      </p:sp>
      <p:sp>
        <p:nvSpPr>
          <p:cNvPr id="7" name="Shape 5"/>
          <p:cNvSpPr/>
          <p:nvPr/>
        </p:nvSpPr>
        <p:spPr>
          <a:xfrm>
            <a:off x="8702040" y="502920"/>
            <a:ext cx="91440" cy="91440"/>
          </a:xfrm>
          <a:prstGeom prst="ellipse">
            <a:avLst/>
          </a:prstGeom>
          <a:solidFill>
            <a:srgbClr val="002060"/>
          </a:solidFill>
          <a:ln/>
        </p:spPr>
      </p:sp>
      <p:sp>
        <p:nvSpPr>
          <p:cNvPr id="8" name="Shape 6"/>
          <p:cNvSpPr/>
          <p:nvPr/>
        </p:nvSpPr>
        <p:spPr>
          <a:xfrm>
            <a:off x="11658600" y="502920"/>
            <a:ext cx="91440" cy="91440"/>
          </a:xfrm>
          <a:prstGeom prst="ellipse">
            <a:avLst/>
          </a:prstGeom>
          <a:solidFill>
            <a:srgbClr val="002060"/>
          </a:solidFill>
          <a:ln/>
        </p:spPr>
      </p:sp>
      <p:sp>
        <p:nvSpPr>
          <p:cNvPr id="9" name="Text 7"/>
          <p:cNvSpPr/>
          <p:nvPr/>
        </p:nvSpPr>
        <p:spPr>
          <a:xfrm>
            <a:off x="2834640" y="301752"/>
            <a:ext cx="2956560" cy="256032"/>
          </a:xfrm>
          <a:prstGeom prst="rect">
            <a:avLst/>
          </a:prstGeom>
          <a:noFill/>
          <a:ln/>
        </p:spPr>
        <p:txBody>
          <a:bodyPr wrap="square" rtlCol="0" anchor="ctr"/>
          <a:lstStyle/>
          <a:p>
            <a:pPr algn="ctr" indent="0" marL="0">
              <a:buNone/>
            </a:pPr>
            <a:r>
              <a:rPr lang="en-US" sz="800" b="1" dirty="0">
                <a:solidFill>
                  <a:srgbClr val="002060"/>
                </a:solidFill>
                <a:latin typeface="Arial" pitchFamily="34" charset="0"/>
                <a:ea typeface="Arial" pitchFamily="34" charset="-122"/>
                <a:cs typeface="Arial" pitchFamily="34" charset="-120"/>
              </a:rPr>
              <a:t>≥50% TPS</a:t>
            </a:r>
            <a:endParaRPr lang="en-US" sz="800" dirty="0"/>
          </a:p>
          <a:p>
            <a:pPr algn="ctr" indent="0" marL="0">
              <a:buNone/>
            </a:pPr>
            <a:r>
              <a:rPr lang="en-US" sz="800" b="1" dirty="0">
                <a:solidFill>
                  <a:srgbClr val="002060"/>
                </a:solidFill>
                <a:latin typeface="Arial" pitchFamily="34" charset="0"/>
                <a:ea typeface="Arial" pitchFamily="34" charset="-122"/>
                <a:cs typeface="Arial" pitchFamily="34" charset="-120"/>
              </a:rPr>
              <a:t>(pembro mono)</a:t>
            </a:r>
            <a:endParaRPr lang="en-US" sz="800" dirty="0"/>
          </a:p>
        </p:txBody>
      </p:sp>
      <p:sp>
        <p:nvSpPr>
          <p:cNvPr id="10" name="Text 8"/>
          <p:cNvSpPr/>
          <p:nvPr/>
        </p:nvSpPr>
        <p:spPr>
          <a:xfrm>
            <a:off x="5791200" y="301752"/>
            <a:ext cx="2956560" cy="256032"/>
          </a:xfrm>
          <a:prstGeom prst="rect">
            <a:avLst/>
          </a:prstGeom>
          <a:noFill/>
          <a:ln/>
        </p:spPr>
        <p:txBody>
          <a:bodyPr wrap="square" rtlCol="0" anchor="ctr"/>
          <a:lstStyle/>
          <a:p>
            <a:pPr algn="ctr" indent="0" marL="0">
              <a:buNone/>
            </a:pPr>
            <a:r>
              <a:rPr lang="en-US" sz="800" b="1" dirty="0">
                <a:solidFill>
                  <a:srgbClr val="002060"/>
                </a:solidFill>
                <a:latin typeface="Arial" pitchFamily="34" charset="0"/>
                <a:ea typeface="Arial" pitchFamily="34" charset="-122"/>
                <a:cs typeface="Arial" pitchFamily="34" charset="-120"/>
              </a:rPr>
              <a:t>1–49% TPS</a:t>
            </a:r>
            <a:endParaRPr lang="en-US" sz="800" dirty="0"/>
          </a:p>
          <a:p>
            <a:pPr algn="ctr" indent="0" marL="0">
              <a:buNone/>
            </a:pPr>
            <a:r>
              <a:rPr lang="en-US" sz="800" b="1" dirty="0">
                <a:solidFill>
                  <a:srgbClr val="002060"/>
                </a:solidFill>
                <a:latin typeface="Arial" pitchFamily="34" charset="0"/>
                <a:ea typeface="Arial" pitchFamily="34" charset="-122"/>
                <a:cs typeface="Arial" pitchFamily="34" charset="-120"/>
              </a:rPr>
              <a:t>(pembro+chemo)</a:t>
            </a:r>
            <a:endParaRPr lang="en-US" sz="800" dirty="0"/>
          </a:p>
        </p:txBody>
      </p:sp>
      <p:sp>
        <p:nvSpPr>
          <p:cNvPr id="11" name="Text 9"/>
          <p:cNvSpPr/>
          <p:nvPr/>
        </p:nvSpPr>
        <p:spPr>
          <a:xfrm>
            <a:off x="8747760" y="301752"/>
            <a:ext cx="2956560" cy="256032"/>
          </a:xfrm>
          <a:prstGeom prst="rect">
            <a:avLst/>
          </a:prstGeom>
          <a:noFill/>
          <a:ln/>
        </p:spPr>
        <p:txBody>
          <a:bodyPr wrap="square" rtlCol="0" anchor="ctr"/>
          <a:lstStyle/>
          <a:p>
            <a:pPr algn="ctr" indent="0" marL="0">
              <a:buNone/>
            </a:pPr>
            <a:r>
              <a:rPr lang="en-US" sz="800" b="1" dirty="0">
                <a:solidFill>
                  <a:srgbClr val="002060"/>
                </a:solidFill>
                <a:latin typeface="Arial" pitchFamily="34" charset="0"/>
                <a:ea typeface="Arial" pitchFamily="34" charset="-122"/>
                <a:cs typeface="Arial" pitchFamily="34" charset="-120"/>
              </a:rPr>
              <a:t>Negative (&lt;1%)</a:t>
            </a:r>
            <a:endParaRPr lang="en-US" sz="800" dirty="0"/>
          </a:p>
          <a:p>
            <a:pPr algn="ctr" indent="0" marL="0">
              <a:buNone/>
            </a:pPr>
            <a:r>
              <a:rPr lang="en-US" sz="800" b="1" dirty="0">
                <a:solidFill>
                  <a:srgbClr val="002060"/>
                </a:solidFill>
                <a:latin typeface="Arial" pitchFamily="34" charset="0"/>
                <a:ea typeface="Arial" pitchFamily="34" charset="-122"/>
                <a:cs typeface="Arial" pitchFamily="34" charset="-120"/>
              </a:rPr>
              <a:t>(pembro+chemo)</a:t>
            </a:r>
            <a:endParaRPr lang="en-US" sz="800" dirty="0"/>
          </a:p>
        </p:txBody>
      </p:sp>
      <p:sp>
        <p:nvSpPr>
          <p:cNvPr id="12" name="Shape 10"/>
          <p:cNvSpPr/>
          <p:nvPr/>
        </p:nvSpPr>
        <p:spPr>
          <a:xfrm>
            <a:off x="2176272" y="868680"/>
            <a:ext cx="658368" cy="1417320"/>
          </a:xfrm>
          <a:prstGeom prst="rect">
            <a:avLst/>
          </a:prstGeom>
          <a:solidFill>
            <a:srgbClr val="001540"/>
          </a:solidFill>
          <a:ln/>
        </p:spPr>
      </p:sp>
      <p:sp>
        <p:nvSpPr>
          <p:cNvPr id="13" name="Text 11"/>
          <p:cNvSpPr/>
          <p:nvPr/>
        </p:nvSpPr>
        <p:spPr>
          <a:xfrm>
            <a:off x="2176272" y="868680"/>
            <a:ext cx="658368" cy="141732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Non-</a:t>
            </a:r>
            <a:endParaRPr lang="en-US" sz="800" dirty="0"/>
          </a:p>
          <a:p>
            <a:pPr algn="ctr" indent="0" marL="0">
              <a:buNone/>
            </a:pPr>
            <a:r>
              <a:rPr lang="en-US" sz="800" b="1" dirty="0">
                <a:solidFill>
                  <a:srgbClr val="FFFFFF"/>
                </a:solidFill>
                <a:latin typeface="Arial" pitchFamily="34" charset="0"/>
                <a:ea typeface="Arial" pitchFamily="34" charset="-122"/>
                <a:cs typeface="Arial" pitchFamily="34" charset="-120"/>
              </a:rPr>
              <a:t>Squamous</a:t>
            </a:r>
            <a:endParaRPr lang="en-US" sz="800" dirty="0"/>
          </a:p>
          <a:p>
            <a:pPr algn="ctr" indent="0" marL="0">
              <a:buNone/>
            </a:pPr>
            <a:r>
              <a:rPr lang="en-US" sz="800" b="1" dirty="0">
                <a:solidFill>
                  <a:srgbClr val="FFFFFF"/>
                </a:solidFill>
                <a:latin typeface="Arial" pitchFamily="34" charset="0"/>
                <a:ea typeface="Arial" pitchFamily="34" charset="-122"/>
                <a:cs typeface="Arial" pitchFamily="34" charset="-120"/>
              </a:rPr>
              <a:t>(70%)</a:t>
            </a:r>
            <a:endParaRPr lang="en-US" sz="800" dirty="0"/>
          </a:p>
          <a:p>
            <a:pPr algn="ctr" indent="0" marL="0">
              <a:buNone/>
            </a:pPr>
            <a:r>
              <a:rPr lang="en-US" sz="800" b="1" dirty="0">
                <a:solidFill>
                  <a:srgbClr val="FFFFFF"/>
                </a:solidFill>
                <a:latin typeface="Arial" pitchFamily="34" charset="0"/>
                <a:ea typeface="Arial" pitchFamily="34" charset="-122"/>
                <a:cs typeface="Arial" pitchFamily="34" charset="-120"/>
              </a:rPr>
              <a:t>only</a:t>
            </a:r>
            <a:endParaRPr lang="en-US" sz="800" dirty="0"/>
          </a:p>
        </p:txBody>
      </p:sp>
      <p:sp>
        <p:nvSpPr>
          <p:cNvPr id="14" name="Shape 12"/>
          <p:cNvSpPr/>
          <p:nvPr/>
        </p:nvSpPr>
        <p:spPr>
          <a:xfrm>
            <a:off x="2834640" y="868680"/>
            <a:ext cx="8869680" cy="1417320"/>
          </a:xfrm>
          <a:prstGeom prst="rect">
            <a:avLst/>
          </a:prstGeom>
          <a:solidFill>
            <a:srgbClr val="F5F8FF"/>
          </a:solidFill>
          <a:ln w="6350">
            <a:solidFill>
              <a:srgbClr val="B0BEC5"/>
            </a:solidFill>
            <a:prstDash val="solid"/>
          </a:ln>
        </p:spPr>
      </p:sp>
      <p:sp>
        <p:nvSpPr>
          <p:cNvPr id="15" name="Shape 13"/>
          <p:cNvSpPr/>
          <p:nvPr/>
        </p:nvSpPr>
        <p:spPr>
          <a:xfrm>
            <a:off x="5791200" y="868680"/>
            <a:ext cx="0" cy="1417320"/>
          </a:xfrm>
          <a:prstGeom prst="line">
            <a:avLst/>
          </a:prstGeom>
          <a:noFill/>
          <a:ln w="6350">
            <a:solidFill>
              <a:srgbClr val="B0BEC5"/>
            </a:solidFill>
            <a:prstDash val="dash"/>
          </a:ln>
        </p:spPr>
      </p:sp>
      <p:sp>
        <p:nvSpPr>
          <p:cNvPr id="16" name="Shape 14"/>
          <p:cNvSpPr/>
          <p:nvPr/>
        </p:nvSpPr>
        <p:spPr>
          <a:xfrm>
            <a:off x="8747760" y="868680"/>
            <a:ext cx="0" cy="1417320"/>
          </a:xfrm>
          <a:prstGeom prst="line">
            <a:avLst/>
          </a:prstGeom>
          <a:noFill/>
          <a:ln w="6350">
            <a:solidFill>
              <a:srgbClr val="B0BEC5"/>
            </a:solidFill>
            <a:prstDash val="dash"/>
          </a:ln>
        </p:spPr>
      </p:sp>
      <p:sp>
        <p:nvSpPr>
          <p:cNvPr id="17" name="Shape 15"/>
          <p:cNvSpPr/>
          <p:nvPr/>
        </p:nvSpPr>
        <p:spPr>
          <a:xfrm>
            <a:off x="2176272" y="2286000"/>
            <a:ext cx="658368" cy="2953512"/>
          </a:xfrm>
          <a:prstGeom prst="rect">
            <a:avLst/>
          </a:prstGeom>
          <a:solidFill>
            <a:srgbClr val="001540"/>
          </a:solidFill>
          <a:ln/>
        </p:spPr>
      </p:sp>
      <p:sp>
        <p:nvSpPr>
          <p:cNvPr id="18" name="Text 16"/>
          <p:cNvSpPr/>
          <p:nvPr/>
        </p:nvSpPr>
        <p:spPr>
          <a:xfrm>
            <a:off x="2176272" y="2286000"/>
            <a:ext cx="658368" cy="295351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Both</a:t>
            </a:r>
            <a:endParaRPr lang="en-US" sz="800" dirty="0"/>
          </a:p>
          <a:p>
            <a:pPr algn="ctr" indent="0" marL="0">
              <a:buNone/>
            </a:pPr>
            <a:r>
              <a:rPr lang="en-US" sz="800" b="1" dirty="0">
                <a:solidFill>
                  <a:srgbClr val="FFFFFF"/>
                </a:solidFill>
                <a:latin typeface="Arial" pitchFamily="34" charset="0"/>
                <a:ea typeface="Arial" pitchFamily="34" charset="-122"/>
                <a:cs typeface="Arial" pitchFamily="34" charset="-120"/>
              </a:rPr>
              <a:t>non-sq</a:t>
            </a:r>
            <a:endParaRPr lang="en-US" sz="800" dirty="0"/>
          </a:p>
          <a:p>
            <a:pPr algn="ctr" indent="0" marL="0">
              <a:buNone/>
            </a:pPr>
            <a:r>
              <a:rPr lang="en-US" sz="800" b="1" dirty="0">
                <a:solidFill>
                  <a:srgbClr val="FFFFFF"/>
                </a:solidFill>
                <a:latin typeface="Arial" pitchFamily="34" charset="0"/>
                <a:ea typeface="Arial" pitchFamily="34" charset="-122"/>
                <a:cs typeface="Arial" pitchFamily="34" charset="-120"/>
              </a:rPr>
              <a:t>&amp; sq</a:t>
            </a:r>
            <a:endParaRPr lang="en-US" sz="800" dirty="0"/>
          </a:p>
        </p:txBody>
      </p:sp>
      <p:sp>
        <p:nvSpPr>
          <p:cNvPr id="19" name="Shape 17"/>
          <p:cNvSpPr/>
          <p:nvPr/>
        </p:nvSpPr>
        <p:spPr>
          <a:xfrm>
            <a:off x="2834640" y="2286000"/>
            <a:ext cx="8869680" cy="2953512"/>
          </a:xfrm>
          <a:prstGeom prst="rect">
            <a:avLst/>
          </a:prstGeom>
          <a:solidFill>
            <a:srgbClr val="EDF2FF"/>
          </a:solidFill>
          <a:ln w="6350">
            <a:solidFill>
              <a:srgbClr val="B0BEC5"/>
            </a:solidFill>
            <a:prstDash val="solid"/>
          </a:ln>
        </p:spPr>
      </p:sp>
      <p:sp>
        <p:nvSpPr>
          <p:cNvPr id="20" name="Shape 18"/>
          <p:cNvSpPr/>
          <p:nvPr/>
        </p:nvSpPr>
        <p:spPr>
          <a:xfrm>
            <a:off x="5791200" y="2286000"/>
            <a:ext cx="0" cy="2953512"/>
          </a:xfrm>
          <a:prstGeom prst="line">
            <a:avLst/>
          </a:prstGeom>
          <a:noFill/>
          <a:ln w="6350">
            <a:solidFill>
              <a:srgbClr val="B0BEC5"/>
            </a:solidFill>
            <a:prstDash val="dash"/>
          </a:ln>
        </p:spPr>
      </p:sp>
      <p:sp>
        <p:nvSpPr>
          <p:cNvPr id="21" name="Shape 19"/>
          <p:cNvSpPr/>
          <p:nvPr/>
        </p:nvSpPr>
        <p:spPr>
          <a:xfrm>
            <a:off x="8747760" y="2286000"/>
            <a:ext cx="0" cy="2953512"/>
          </a:xfrm>
          <a:prstGeom prst="line">
            <a:avLst/>
          </a:prstGeom>
          <a:noFill/>
          <a:ln w="6350">
            <a:solidFill>
              <a:srgbClr val="B0BEC5"/>
            </a:solidFill>
            <a:prstDash val="dash"/>
          </a:ln>
        </p:spPr>
      </p:sp>
      <p:sp>
        <p:nvSpPr>
          <p:cNvPr id="22" name="Shape 20"/>
          <p:cNvSpPr/>
          <p:nvPr/>
        </p:nvSpPr>
        <p:spPr>
          <a:xfrm>
            <a:off x="2176272" y="5239512"/>
            <a:ext cx="658368" cy="649224"/>
          </a:xfrm>
          <a:prstGeom prst="rect">
            <a:avLst/>
          </a:prstGeom>
          <a:solidFill>
            <a:srgbClr val="001540"/>
          </a:solidFill>
          <a:ln/>
        </p:spPr>
      </p:sp>
      <p:sp>
        <p:nvSpPr>
          <p:cNvPr id="23" name="Text 21"/>
          <p:cNvSpPr/>
          <p:nvPr/>
        </p:nvSpPr>
        <p:spPr>
          <a:xfrm>
            <a:off x="2176272" y="5239512"/>
            <a:ext cx="658368" cy="649224"/>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Squamous</a:t>
            </a:r>
            <a:endParaRPr lang="en-US" sz="800" dirty="0"/>
          </a:p>
          <a:p>
            <a:pPr algn="ctr" indent="0" marL="0">
              <a:buNone/>
            </a:pPr>
            <a:r>
              <a:rPr lang="en-US" sz="800" b="1" dirty="0">
                <a:solidFill>
                  <a:srgbClr val="FFFFFF"/>
                </a:solidFill>
                <a:latin typeface="Arial" pitchFamily="34" charset="0"/>
                <a:ea typeface="Arial" pitchFamily="34" charset="-122"/>
                <a:cs typeface="Arial" pitchFamily="34" charset="-120"/>
              </a:rPr>
              <a:t>(30%)</a:t>
            </a:r>
            <a:endParaRPr lang="en-US" sz="800" dirty="0"/>
          </a:p>
          <a:p>
            <a:pPr algn="ctr" indent="0" marL="0">
              <a:buNone/>
            </a:pPr>
            <a:r>
              <a:rPr lang="en-US" sz="800" b="1" dirty="0">
                <a:solidFill>
                  <a:srgbClr val="FFFFFF"/>
                </a:solidFill>
                <a:latin typeface="Arial" pitchFamily="34" charset="0"/>
                <a:ea typeface="Arial" pitchFamily="34" charset="-122"/>
                <a:cs typeface="Arial" pitchFamily="34" charset="-120"/>
              </a:rPr>
              <a:t>only</a:t>
            </a:r>
            <a:endParaRPr lang="en-US" sz="800" dirty="0"/>
          </a:p>
        </p:txBody>
      </p:sp>
      <p:sp>
        <p:nvSpPr>
          <p:cNvPr id="24" name="Shape 22"/>
          <p:cNvSpPr/>
          <p:nvPr/>
        </p:nvSpPr>
        <p:spPr>
          <a:xfrm>
            <a:off x="2834640" y="5239512"/>
            <a:ext cx="8869680" cy="649224"/>
          </a:xfrm>
          <a:prstGeom prst="rect">
            <a:avLst/>
          </a:prstGeom>
          <a:solidFill>
            <a:srgbClr val="F5F8FF"/>
          </a:solidFill>
          <a:ln w="6350">
            <a:solidFill>
              <a:srgbClr val="B0BEC5"/>
            </a:solidFill>
            <a:prstDash val="solid"/>
          </a:ln>
        </p:spPr>
      </p:sp>
      <p:sp>
        <p:nvSpPr>
          <p:cNvPr id="25" name="Shape 23"/>
          <p:cNvSpPr/>
          <p:nvPr/>
        </p:nvSpPr>
        <p:spPr>
          <a:xfrm>
            <a:off x="5791200" y="5239512"/>
            <a:ext cx="0" cy="649224"/>
          </a:xfrm>
          <a:prstGeom prst="line">
            <a:avLst/>
          </a:prstGeom>
          <a:noFill/>
          <a:ln w="6350">
            <a:solidFill>
              <a:srgbClr val="B0BEC5"/>
            </a:solidFill>
            <a:prstDash val="dash"/>
          </a:ln>
        </p:spPr>
      </p:sp>
      <p:sp>
        <p:nvSpPr>
          <p:cNvPr id="26" name="Shape 24"/>
          <p:cNvSpPr/>
          <p:nvPr/>
        </p:nvSpPr>
        <p:spPr>
          <a:xfrm>
            <a:off x="8747760" y="5239512"/>
            <a:ext cx="0" cy="649224"/>
          </a:xfrm>
          <a:prstGeom prst="line">
            <a:avLst/>
          </a:prstGeom>
          <a:noFill/>
          <a:ln w="6350">
            <a:solidFill>
              <a:srgbClr val="B0BEC5"/>
            </a:solidFill>
            <a:prstDash val="dash"/>
          </a:ln>
        </p:spPr>
      </p:sp>
      <p:sp>
        <p:nvSpPr>
          <p:cNvPr id="27" name="Shape 25"/>
          <p:cNvSpPr/>
          <p:nvPr/>
        </p:nvSpPr>
        <p:spPr>
          <a:xfrm>
            <a:off x="2880360" y="905256"/>
            <a:ext cx="2865120" cy="173736"/>
          </a:xfrm>
          <a:prstGeom prst="rect">
            <a:avLst/>
          </a:prstGeom>
          <a:solidFill>
            <a:srgbClr val="007A85"/>
          </a:solidFill>
          <a:ln/>
        </p:spPr>
      </p:sp>
      <p:sp>
        <p:nvSpPr>
          <p:cNvPr id="28" name="Text 26"/>
          <p:cNvSpPr/>
          <p:nvPr/>
        </p:nvSpPr>
        <p:spPr>
          <a:xfrm>
            <a:off x="2916936" y="905256"/>
            <a:ext cx="279196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AZN: Rilvegostomig +/- Dato-DXd  [TIGIT+TROP2] '29</a:t>
            </a:r>
            <a:endParaRPr lang="en-US" sz="650" dirty="0"/>
          </a:p>
        </p:txBody>
      </p:sp>
      <p:sp>
        <p:nvSpPr>
          <p:cNvPr id="29" name="Shape 27"/>
          <p:cNvSpPr/>
          <p:nvPr/>
        </p:nvSpPr>
        <p:spPr>
          <a:xfrm>
            <a:off x="5836920" y="905256"/>
            <a:ext cx="2865120" cy="173736"/>
          </a:xfrm>
          <a:prstGeom prst="rect">
            <a:avLst/>
          </a:prstGeom>
          <a:solidFill>
            <a:srgbClr val="00B0B9"/>
          </a:solidFill>
          <a:ln/>
        </p:spPr>
      </p:sp>
      <p:sp>
        <p:nvSpPr>
          <p:cNvPr id="30" name="Text 28"/>
          <p:cNvSpPr/>
          <p:nvPr/>
        </p:nvSpPr>
        <p:spPr>
          <a:xfrm>
            <a:off x="5873496" y="905256"/>
            <a:ext cx="279196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DSNKY: Dato-DXd + pembro  [TROP2+PD1] '28</a:t>
            </a:r>
            <a:endParaRPr lang="en-US" sz="650" dirty="0"/>
          </a:p>
        </p:txBody>
      </p:sp>
      <p:sp>
        <p:nvSpPr>
          <p:cNvPr id="31" name="Shape 29"/>
          <p:cNvSpPr/>
          <p:nvPr/>
        </p:nvSpPr>
        <p:spPr>
          <a:xfrm>
            <a:off x="5836920" y="1097280"/>
            <a:ext cx="2865120" cy="173736"/>
          </a:xfrm>
          <a:prstGeom prst="rect">
            <a:avLst/>
          </a:prstGeom>
          <a:solidFill>
            <a:srgbClr val="1B5E20"/>
          </a:solidFill>
          <a:ln/>
        </p:spPr>
      </p:sp>
      <p:sp>
        <p:nvSpPr>
          <p:cNvPr id="32" name="Text 30"/>
          <p:cNvSpPr/>
          <p:nvPr/>
        </p:nvSpPr>
        <p:spPr>
          <a:xfrm>
            <a:off x="5873496" y="1097280"/>
            <a:ext cx="279196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BMY: Relatlimab/Nivo FDC + chemo  [LAG3+PD1] '28</a:t>
            </a:r>
            <a:endParaRPr lang="en-US" sz="650" dirty="0"/>
          </a:p>
        </p:txBody>
      </p:sp>
      <p:sp>
        <p:nvSpPr>
          <p:cNvPr id="33" name="Shape 31"/>
          <p:cNvSpPr/>
          <p:nvPr/>
        </p:nvSpPr>
        <p:spPr>
          <a:xfrm>
            <a:off x="5836920" y="1289304"/>
            <a:ext cx="2865120" cy="173736"/>
          </a:xfrm>
          <a:prstGeom prst="rect">
            <a:avLst/>
          </a:prstGeom>
          <a:solidFill>
            <a:srgbClr val="7B1FA2"/>
          </a:solidFill>
          <a:ln/>
        </p:spPr>
      </p:sp>
      <p:sp>
        <p:nvSpPr>
          <p:cNvPr id="34" name="Text 32"/>
          <p:cNvSpPr/>
          <p:nvPr/>
        </p:nvSpPr>
        <p:spPr>
          <a:xfrm>
            <a:off x="5873496" y="1289304"/>
            <a:ext cx="279196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DSNKY: T-DXd + pembro  [HER2+PD1] '28</a:t>
            </a:r>
            <a:endParaRPr lang="en-US" sz="650" dirty="0"/>
          </a:p>
        </p:txBody>
      </p:sp>
      <p:sp>
        <p:nvSpPr>
          <p:cNvPr id="35" name="Shape 33"/>
          <p:cNvSpPr/>
          <p:nvPr/>
        </p:nvSpPr>
        <p:spPr>
          <a:xfrm>
            <a:off x="2880360" y="1476756"/>
            <a:ext cx="8778240" cy="0"/>
          </a:xfrm>
          <a:prstGeom prst="line">
            <a:avLst/>
          </a:prstGeom>
          <a:noFill/>
          <a:ln w="9525">
            <a:solidFill>
              <a:srgbClr val="90A4AE"/>
            </a:solidFill>
            <a:prstDash val="dash"/>
          </a:ln>
        </p:spPr>
      </p:sp>
      <p:sp>
        <p:nvSpPr>
          <p:cNvPr id="36" name="Shape 34"/>
          <p:cNvSpPr/>
          <p:nvPr/>
        </p:nvSpPr>
        <p:spPr>
          <a:xfrm>
            <a:off x="2880360" y="1481328"/>
            <a:ext cx="8778240" cy="173736"/>
          </a:xfrm>
          <a:prstGeom prst="rect">
            <a:avLst/>
          </a:prstGeom>
          <a:solidFill>
            <a:srgbClr val="00B0B9"/>
          </a:solidFill>
          <a:ln/>
        </p:spPr>
      </p:sp>
      <p:sp>
        <p:nvSpPr>
          <p:cNvPr id="37" name="Text 35"/>
          <p:cNvSpPr/>
          <p:nvPr/>
        </p:nvSpPr>
        <p:spPr>
          <a:xfrm>
            <a:off x="2916936" y="1481328"/>
            <a:ext cx="870508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ALL-COMERS    DSNKY: Dato-DXd + pembro +/- chemo  [TROP2+PD1] '28</a:t>
            </a:r>
            <a:endParaRPr lang="en-US" sz="650" dirty="0"/>
          </a:p>
        </p:txBody>
      </p:sp>
      <p:sp>
        <p:nvSpPr>
          <p:cNvPr id="38" name="Shape 36"/>
          <p:cNvSpPr/>
          <p:nvPr/>
        </p:nvSpPr>
        <p:spPr>
          <a:xfrm>
            <a:off x="2880360" y="1673352"/>
            <a:ext cx="8778240" cy="173736"/>
          </a:xfrm>
          <a:prstGeom prst="rect">
            <a:avLst/>
          </a:prstGeom>
          <a:solidFill>
            <a:srgbClr val="1B5E20"/>
          </a:solidFill>
          <a:ln/>
        </p:spPr>
      </p:sp>
      <p:sp>
        <p:nvSpPr>
          <p:cNvPr id="39" name="Text 37"/>
          <p:cNvSpPr/>
          <p:nvPr/>
        </p:nvSpPr>
        <p:spPr>
          <a:xfrm>
            <a:off x="2916936" y="1673352"/>
            <a:ext cx="870508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ALL-COMERS    ABBV: Livmoniplimab + Budigalimab + chemo  [GARP+PD1] '32</a:t>
            </a:r>
            <a:endParaRPr lang="en-US" sz="650" dirty="0"/>
          </a:p>
        </p:txBody>
      </p:sp>
      <p:sp>
        <p:nvSpPr>
          <p:cNvPr id="40" name="Shape 38"/>
          <p:cNvSpPr/>
          <p:nvPr/>
        </p:nvSpPr>
        <p:spPr>
          <a:xfrm>
            <a:off x="2880360" y="1865376"/>
            <a:ext cx="8778240" cy="173736"/>
          </a:xfrm>
          <a:prstGeom prst="rect">
            <a:avLst/>
          </a:prstGeom>
          <a:solidFill>
            <a:srgbClr val="4A148C"/>
          </a:solidFill>
          <a:ln/>
        </p:spPr>
      </p:sp>
      <p:sp>
        <p:nvSpPr>
          <p:cNvPr id="41" name="Text 39"/>
          <p:cNvSpPr/>
          <p:nvPr/>
        </p:nvSpPr>
        <p:spPr>
          <a:xfrm>
            <a:off x="2916936" y="1865376"/>
            <a:ext cx="870508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ALL-COMERS    MRK: Calderasib + pembro +/- chemo  [KRAS G12C] '28</a:t>
            </a:r>
            <a:endParaRPr lang="en-US" sz="650" dirty="0"/>
          </a:p>
        </p:txBody>
      </p:sp>
      <p:sp>
        <p:nvSpPr>
          <p:cNvPr id="42" name="Shape 40"/>
          <p:cNvSpPr/>
          <p:nvPr/>
        </p:nvSpPr>
        <p:spPr>
          <a:xfrm>
            <a:off x="2880360" y="2057400"/>
            <a:ext cx="8778240" cy="173736"/>
          </a:xfrm>
          <a:prstGeom prst="rect">
            <a:avLst/>
          </a:prstGeom>
          <a:solidFill>
            <a:srgbClr val="4A148C"/>
          </a:solidFill>
          <a:ln/>
        </p:spPr>
      </p:sp>
      <p:sp>
        <p:nvSpPr>
          <p:cNvPr id="43" name="Text 41"/>
          <p:cNvSpPr/>
          <p:nvPr/>
        </p:nvSpPr>
        <p:spPr>
          <a:xfrm>
            <a:off x="2916936" y="2057400"/>
            <a:ext cx="870508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ALL-COMERS    RHHBY: Divarasib + pembro  [KRAS G12C] '28</a:t>
            </a:r>
            <a:endParaRPr lang="en-US" sz="650" dirty="0"/>
          </a:p>
        </p:txBody>
      </p:sp>
      <p:sp>
        <p:nvSpPr>
          <p:cNvPr id="44" name="Shape 42"/>
          <p:cNvSpPr/>
          <p:nvPr/>
        </p:nvSpPr>
        <p:spPr>
          <a:xfrm>
            <a:off x="2880360" y="2322576"/>
            <a:ext cx="2865120" cy="173736"/>
          </a:xfrm>
          <a:prstGeom prst="rect">
            <a:avLst/>
          </a:prstGeom>
          <a:solidFill>
            <a:srgbClr val="01579B"/>
          </a:solidFill>
          <a:ln/>
        </p:spPr>
      </p:sp>
      <p:sp>
        <p:nvSpPr>
          <p:cNvPr id="45" name="Text 43"/>
          <p:cNvSpPr/>
          <p:nvPr/>
        </p:nvSpPr>
        <p:spPr>
          <a:xfrm>
            <a:off x="2916936" y="2322576"/>
            <a:ext cx="279196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SMMT: Ivonescimab  [PD1/VEGF] '28</a:t>
            </a:r>
            <a:endParaRPr lang="en-US" sz="650" dirty="0"/>
          </a:p>
        </p:txBody>
      </p:sp>
      <p:sp>
        <p:nvSpPr>
          <p:cNvPr id="46" name="Shape 44"/>
          <p:cNvSpPr/>
          <p:nvPr/>
        </p:nvSpPr>
        <p:spPr>
          <a:xfrm>
            <a:off x="2880360" y="2514600"/>
            <a:ext cx="2865120" cy="173736"/>
          </a:xfrm>
          <a:prstGeom prst="rect">
            <a:avLst/>
          </a:prstGeom>
          <a:solidFill>
            <a:srgbClr val="00B0B9"/>
          </a:solidFill>
          <a:ln/>
        </p:spPr>
      </p:sp>
      <p:sp>
        <p:nvSpPr>
          <p:cNvPr id="47" name="Text 45"/>
          <p:cNvSpPr/>
          <p:nvPr/>
        </p:nvSpPr>
        <p:spPr>
          <a:xfrm>
            <a:off x="2916936" y="2514600"/>
            <a:ext cx="279196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MRK: Sac-TMT + pembro  [TROP2+PD1] '27</a:t>
            </a:r>
            <a:endParaRPr lang="en-US" sz="650" dirty="0"/>
          </a:p>
        </p:txBody>
      </p:sp>
      <p:sp>
        <p:nvSpPr>
          <p:cNvPr id="48" name="Shape 46"/>
          <p:cNvSpPr/>
          <p:nvPr/>
        </p:nvSpPr>
        <p:spPr>
          <a:xfrm>
            <a:off x="2880360" y="2706624"/>
            <a:ext cx="2865120" cy="173736"/>
          </a:xfrm>
          <a:prstGeom prst="rect">
            <a:avLst/>
          </a:prstGeom>
          <a:solidFill>
            <a:srgbClr val="00B0B9"/>
          </a:solidFill>
          <a:ln/>
        </p:spPr>
      </p:sp>
      <p:sp>
        <p:nvSpPr>
          <p:cNvPr id="49" name="Text 47"/>
          <p:cNvSpPr/>
          <p:nvPr/>
        </p:nvSpPr>
        <p:spPr>
          <a:xfrm>
            <a:off x="2916936" y="2706624"/>
            <a:ext cx="279196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GILD: Sac-gov + pembro  [TROP2+PD1] '27</a:t>
            </a:r>
            <a:endParaRPr lang="en-US" sz="650" dirty="0"/>
          </a:p>
        </p:txBody>
      </p:sp>
      <p:sp>
        <p:nvSpPr>
          <p:cNvPr id="50" name="Shape 48"/>
          <p:cNvSpPr/>
          <p:nvPr/>
        </p:nvSpPr>
        <p:spPr>
          <a:xfrm>
            <a:off x="2880360" y="2898648"/>
            <a:ext cx="2865120" cy="173736"/>
          </a:xfrm>
          <a:prstGeom prst="rect">
            <a:avLst/>
          </a:prstGeom>
          <a:solidFill>
            <a:srgbClr val="007A85"/>
          </a:solidFill>
          <a:ln/>
        </p:spPr>
      </p:sp>
      <p:sp>
        <p:nvSpPr>
          <p:cNvPr id="51" name="Text 49"/>
          <p:cNvSpPr/>
          <p:nvPr/>
        </p:nvSpPr>
        <p:spPr>
          <a:xfrm>
            <a:off x="2916936" y="2898648"/>
            <a:ext cx="279196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AZN: Rilvegostomig  [TIGIT/PD1] '29</a:t>
            </a:r>
            <a:endParaRPr lang="en-US" sz="650" dirty="0"/>
          </a:p>
        </p:txBody>
      </p:sp>
      <p:sp>
        <p:nvSpPr>
          <p:cNvPr id="52" name="Shape 50"/>
          <p:cNvSpPr/>
          <p:nvPr/>
        </p:nvSpPr>
        <p:spPr>
          <a:xfrm>
            <a:off x="2880360" y="3090672"/>
            <a:ext cx="2865120" cy="173736"/>
          </a:xfrm>
          <a:prstGeom prst="rect">
            <a:avLst/>
          </a:prstGeom>
          <a:solidFill>
            <a:srgbClr val="1B5E20"/>
          </a:solidFill>
          <a:ln/>
        </p:spPr>
      </p:sp>
      <p:sp>
        <p:nvSpPr>
          <p:cNvPr id="53" name="Text 51"/>
          <p:cNvSpPr/>
          <p:nvPr/>
        </p:nvSpPr>
        <p:spPr>
          <a:xfrm>
            <a:off x="2916936" y="3090672"/>
            <a:ext cx="279196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REGN: Fianlimab + cemiplimab  [LAG3+PD1] '26</a:t>
            </a:r>
            <a:endParaRPr lang="en-US" sz="650" dirty="0"/>
          </a:p>
        </p:txBody>
      </p:sp>
      <p:sp>
        <p:nvSpPr>
          <p:cNvPr id="54" name="Shape 52"/>
          <p:cNvSpPr/>
          <p:nvPr/>
        </p:nvSpPr>
        <p:spPr>
          <a:xfrm>
            <a:off x="2880360" y="3282696"/>
            <a:ext cx="2865120" cy="173736"/>
          </a:xfrm>
          <a:prstGeom prst="rect">
            <a:avLst/>
          </a:prstGeom>
          <a:solidFill>
            <a:srgbClr val="4A148C"/>
          </a:solidFill>
          <a:ln/>
        </p:spPr>
      </p:sp>
      <p:sp>
        <p:nvSpPr>
          <p:cNvPr id="55" name="Text 53"/>
          <p:cNvSpPr/>
          <p:nvPr/>
        </p:nvSpPr>
        <p:spPr>
          <a:xfrm>
            <a:off x="2916936" y="3282696"/>
            <a:ext cx="279196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BMY: Adagrasib + pembro  [KRAS G12C] '26</a:t>
            </a:r>
            <a:endParaRPr lang="en-US" sz="650" dirty="0"/>
          </a:p>
        </p:txBody>
      </p:sp>
      <p:sp>
        <p:nvSpPr>
          <p:cNvPr id="56" name="Shape 54"/>
          <p:cNvSpPr/>
          <p:nvPr/>
        </p:nvSpPr>
        <p:spPr>
          <a:xfrm>
            <a:off x="2880360" y="3474720"/>
            <a:ext cx="2865120" cy="173736"/>
          </a:xfrm>
          <a:prstGeom prst="rect">
            <a:avLst/>
          </a:prstGeom>
          <a:solidFill>
            <a:srgbClr val="4A148C"/>
          </a:solidFill>
          <a:ln/>
        </p:spPr>
      </p:sp>
      <p:sp>
        <p:nvSpPr>
          <p:cNvPr id="57" name="Text 55"/>
          <p:cNvSpPr/>
          <p:nvPr/>
        </p:nvSpPr>
        <p:spPr>
          <a:xfrm>
            <a:off x="2916936" y="3474720"/>
            <a:ext cx="279196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LLY: Olomorasib + pembro  [KRAS G12C] '28</a:t>
            </a:r>
            <a:endParaRPr lang="en-US" sz="650" dirty="0"/>
          </a:p>
        </p:txBody>
      </p:sp>
      <p:sp>
        <p:nvSpPr>
          <p:cNvPr id="58" name="Shape 56"/>
          <p:cNvSpPr/>
          <p:nvPr/>
        </p:nvSpPr>
        <p:spPr>
          <a:xfrm>
            <a:off x="2880360" y="3666744"/>
            <a:ext cx="2865120" cy="173736"/>
          </a:xfrm>
          <a:prstGeom prst="rect">
            <a:avLst/>
          </a:prstGeom>
          <a:solidFill>
            <a:srgbClr val="4A148C"/>
          </a:solidFill>
          <a:ln/>
        </p:spPr>
      </p:sp>
      <p:sp>
        <p:nvSpPr>
          <p:cNvPr id="59" name="Text 57"/>
          <p:cNvSpPr/>
          <p:nvPr/>
        </p:nvSpPr>
        <p:spPr>
          <a:xfrm>
            <a:off x="2916936" y="3666744"/>
            <a:ext cx="279196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MRK: Calderasib + pembro  [KRAS G12C] '28</a:t>
            </a:r>
            <a:endParaRPr lang="en-US" sz="650" dirty="0"/>
          </a:p>
        </p:txBody>
      </p:sp>
      <p:sp>
        <p:nvSpPr>
          <p:cNvPr id="60" name="Shape 58"/>
          <p:cNvSpPr/>
          <p:nvPr/>
        </p:nvSpPr>
        <p:spPr>
          <a:xfrm>
            <a:off x="2880360" y="3858768"/>
            <a:ext cx="2865120" cy="173736"/>
          </a:xfrm>
          <a:prstGeom prst="rect">
            <a:avLst/>
          </a:prstGeom>
          <a:solidFill>
            <a:srgbClr val="00B0B9"/>
          </a:solidFill>
          <a:ln/>
        </p:spPr>
      </p:sp>
      <p:sp>
        <p:nvSpPr>
          <p:cNvPr id="61" name="Text 59"/>
          <p:cNvSpPr/>
          <p:nvPr/>
        </p:nvSpPr>
        <p:spPr>
          <a:xfrm>
            <a:off x="2916936" y="3858768"/>
            <a:ext cx="279196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PFE: Sigvotatug vedotin + pembro  [ADC+PD1] '27</a:t>
            </a:r>
            <a:endParaRPr lang="en-US" sz="650" dirty="0"/>
          </a:p>
        </p:txBody>
      </p:sp>
      <p:sp>
        <p:nvSpPr>
          <p:cNvPr id="62" name="Shape 60"/>
          <p:cNvSpPr/>
          <p:nvPr/>
        </p:nvSpPr>
        <p:spPr>
          <a:xfrm>
            <a:off x="5836920" y="2322576"/>
            <a:ext cx="2865120" cy="173736"/>
          </a:xfrm>
          <a:prstGeom prst="rect">
            <a:avLst/>
          </a:prstGeom>
          <a:solidFill>
            <a:srgbClr val="BF360C"/>
          </a:solidFill>
          <a:ln/>
        </p:spPr>
      </p:sp>
      <p:sp>
        <p:nvSpPr>
          <p:cNvPr id="63" name="Text 61"/>
          <p:cNvSpPr/>
          <p:nvPr/>
        </p:nvSpPr>
        <p:spPr>
          <a:xfrm>
            <a:off x="5873496" y="2322576"/>
            <a:ext cx="279196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AZN: Volrustomig + chemo  [PD1/CTLA4] '28</a:t>
            </a:r>
            <a:endParaRPr lang="en-US" sz="650" dirty="0"/>
          </a:p>
        </p:txBody>
      </p:sp>
      <p:sp>
        <p:nvSpPr>
          <p:cNvPr id="64" name="Shape 62"/>
          <p:cNvSpPr/>
          <p:nvPr/>
        </p:nvSpPr>
        <p:spPr>
          <a:xfrm>
            <a:off x="5836920" y="2514600"/>
            <a:ext cx="2865120" cy="173736"/>
          </a:xfrm>
          <a:prstGeom prst="rect">
            <a:avLst/>
          </a:prstGeom>
          <a:solidFill>
            <a:srgbClr val="007A85"/>
          </a:solidFill>
          <a:ln/>
        </p:spPr>
      </p:sp>
      <p:sp>
        <p:nvSpPr>
          <p:cNvPr id="65" name="Text 63"/>
          <p:cNvSpPr/>
          <p:nvPr/>
        </p:nvSpPr>
        <p:spPr>
          <a:xfrm>
            <a:off x="5873496" y="2514600"/>
            <a:ext cx="279196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RCUS/GILD: Domvanalimab + Zimb + chemo  [TIGIT] '27</a:t>
            </a:r>
            <a:endParaRPr lang="en-US" sz="650" dirty="0"/>
          </a:p>
        </p:txBody>
      </p:sp>
      <p:sp>
        <p:nvSpPr>
          <p:cNvPr id="66" name="Shape 64"/>
          <p:cNvSpPr/>
          <p:nvPr/>
        </p:nvSpPr>
        <p:spPr>
          <a:xfrm>
            <a:off x="5836920" y="2706624"/>
            <a:ext cx="2865120" cy="173736"/>
          </a:xfrm>
          <a:prstGeom prst="rect">
            <a:avLst/>
          </a:prstGeom>
          <a:solidFill>
            <a:srgbClr val="880E4F"/>
          </a:solidFill>
          <a:ln/>
        </p:spPr>
      </p:sp>
      <p:sp>
        <p:nvSpPr>
          <p:cNvPr id="67" name="Text 65"/>
          <p:cNvSpPr/>
          <p:nvPr/>
        </p:nvSpPr>
        <p:spPr>
          <a:xfrm>
            <a:off x="5873496" y="2706624"/>
            <a:ext cx="279196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IBRX: N-803 + pembro +/- chemo  [IO-IL15] '26</a:t>
            </a:r>
            <a:endParaRPr lang="en-US" sz="650" dirty="0"/>
          </a:p>
        </p:txBody>
      </p:sp>
      <p:sp>
        <p:nvSpPr>
          <p:cNvPr id="68" name="Shape 66"/>
          <p:cNvSpPr/>
          <p:nvPr/>
        </p:nvSpPr>
        <p:spPr>
          <a:xfrm>
            <a:off x="5836920" y="2898648"/>
            <a:ext cx="2865120" cy="173736"/>
          </a:xfrm>
          <a:prstGeom prst="rect">
            <a:avLst/>
          </a:prstGeom>
          <a:solidFill>
            <a:srgbClr val="4A148C"/>
          </a:solidFill>
          <a:ln/>
        </p:spPr>
      </p:sp>
      <p:sp>
        <p:nvSpPr>
          <p:cNvPr id="69" name="Text 67"/>
          <p:cNvSpPr/>
          <p:nvPr/>
        </p:nvSpPr>
        <p:spPr>
          <a:xfrm>
            <a:off x="5873496" y="2898648"/>
            <a:ext cx="279196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BMY: Adagrasib + pembro  [KRAS G12C] '29</a:t>
            </a:r>
            <a:endParaRPr lang="en-US" sz="650" dirty="0"/>
          </a:p>
        </p:txBody>
      </p:sp>
      <p:sp>
        <p:nvSpPr>
          <p:cNvPr id="70" name="Shape 68"/>
          <p:cNvSpPr/>
          <p:nvPr/>
        </p:nvSpPr>
        <p:spPr>
          <a:xfrm>
            <a:off x="5836920" y="3090672"/>
            <a:ext cx="2865120" cy="173736"/>
          </a:xfrm>
          <a:prstGeom prst="rect">
            <a:avLst/>
          </a:prstGeom>
          <a:solidFill>
            <a:srgbClr val="1B5E20"/>
          </a:solidFill>
          <a:ln/>
        </p:spPr>
      </p:sp>
      <p:sp>
        <p:nvSpPr>
          <p:cNvPr id="71" name="Text 69"/>
          <p:cNvSpPr/>
          <p:nvPr/>
        </p:nvSpPr>
        <p:spPr>
          <a:xfrm>
            <a:off x="5873496" y="3090672"/>
            <a:ext cx="279196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REGN: Fianlimab + chemo  [LAG3+PD1] '28</a:t>
            </a:r>
            <a:endParaRPr lang="en-US" sz="650" dirty="0"/>
          </a:p>
        </p:txBody>
      </p:sp>
      <p:sp>
        <p:nvSpPr>
          <p:cNvPr id="72" name="Shape 70"/>
          <p:cNvSpPr/>
          <p:nvPr/>
        </p:nvSpPr>
        <p:spPr>
          <a:xfrm>
            <a:off x="2880360" y="4046220"/>
            <a:ext cx="8778240" cy="0"/>
          </a:xfrm>
          <a:prstGeom prst="line">
            <a:avLst/>
          </a:prstGeom>
          <a:noFill/>
          <a:ln w="9525">
            <a:solidFill>
              <a:srgbClr val="90A4AE"/>
            </a:solidFill>
            <a:prstDash val="dash"/>
          </a:ln>
        </p:spPr>
      </p:sp>
      <p:sp>
        <p:nvSpPr>
          <p:cNvPr id="73" name="Shape 71"/>
          <p:cNvSpPr/>
          <p:nvPr/>
        </p:nvSpPr>
        <p:spPr>
          <a:xfrm>
            <a:off x="2880360" y="4050792"/>
            <a:ext cx="8778240" cy="173736"/>
          </a:xfrm>
          <a:prstGeom prst="rect">
            <a:avLst/>
          </a:prstGeom>
          <a:solidFill>
            <a:srgbClr val="01579B"/>
          </a:solidFill>
          <a:ln/>
        </p:spPr>
      </p:sp>
      <p:sp>
        <p:nvSpPr>
          <p:cNvPr id="74" name="Text 72"/>
          <p:cNvSpPr/>
          <p:nvPr/>
        </p:nvSpPr>
        <p:spPr>
          <a:xfrm>
            <a:off x="2916936" y="4050792"/>
            <a:ext cx="870508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ALL-COMERS    SMMT: Ivonescimab + chemo  [PD1/VEGF] '26</a:t>
            </a:r>
            <a:endParaRPr lang="en-US" sz="650" dirty="0"/>
          </a:p>
        </p:txBody>
      </p:sp>
      <p:sp>
        <p:nvSpPr>
          <p:cNvPr id="75" name="Shape 73"/>
          <p:cNvSpPr/>
          <p:nvPr/>
        </p:nvSpPr>
        <p:spPr>
          <a:xfrm>
            <a:off x="2880360" y="4242816"/>
            <a:ext cx="8778240" cy="173736"/>
          </a:xfrm>
          <a:prstGeom prst="rect">
            <a:avLst/>
          </a:prstGeom>
          <a:solidFill>
            <a:srgbClr val="007A85"/>
          </a:solidFill>
          <a:ln/>
        </p:spPr>
      </p:sp>
      <p:sp>
        <p:nvSpPr>
          <p:cNvPr id="76" name="Text 74"/>
          <p:cNvSpPr/>
          <p:nvPr/>
        </p:nvSpPr>
        <p:spPr>
          <a:xfrm>
            <a:off x="2916936" y="4242816"/>
            <a:ext cx="870508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ALL-COMERS    RCUS: Domvanalimab + pembro + chemo  [TIGIT+PD1] '27</a:t>
            </a:r>
            <a:endParaRPr lang="en-US" sz="650" dirty="0"/>
          </a:p>
        </p:txBody>
      </p:sp>
      <p:sp>
        <p:nvSpPr>
          <p:cNvPr id="77" name="Shape 75"/>
          <p:cNvSpPr/>
          <p:nvPr/>
        </p:nvSpPr>
        <p:spPr>
          <a:xfrm>
            <a:off x="2880360" y="4434840"/>
            <a:ext cx="8778240" cy="173736"/>
          </a:xfrm>
          <a:prstGeom prst="rect">
            <a:avLst/>
          </a:prstGeom>
          <a:solidFill>
            <a:srgbClr val="1B5E20"/>
          </a:solidFill>
          <a:ln/>
        </p:spPr>
      </p:sp>
      <p:sp>
        <p:nvSpPr>
          <p:cNvPr id="78" name="Text 76"/>
          <p:cNvSpPr/>
          <p:nvPr/>
        </p:nvSpPr>
        <p:spPr>
          <a:xfrm>
            <a:off x="2916936" y="4434840"/>
            <a:ext cx="870508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ALL-COMERS    REGN: Fianlimab + cemiplimab + chemo  [LAG3+PD1] '28</a:t>
            </a:r>
            <a:endParaRPr lang="en-US" sz="650" dirty="0"/>
          </a:p>
        </p:txBody>
      </p:sp>
      <p:sp>
        <p:nvSpPr>
          <p:cNvPr id="79" name="Shape 77"/>
          <p:cNvSpPr/>
          <p:nvPr/>
        </p:nvSpPr>
        <p:spPr>
          <a:xfrm>
            <a:off x="2880360" y="4626864"/>
            <a:ext cx="8778240" cy="173736"/>
          </a:xfrm>
          <a:prstGeom prst="rect">
            <a:avLst/>
          </a:prstGeom>
          <a:solidFill>
            <a:srgbClr val="01579B"/>
          </a:solidFill>
          <a:ln/>
        </p:spPr>
      </p:sp>
      <p:sp>
        <p:nvSpPr>
          <p:cNvPr id="80" name="Text 78"/>
          <p:cNvSpPr/>
          <p:nvPr/>
        </p:nvSpPr>
        <p:spPr>
          <a:xfrm>
            <a:off x="2916936" y="4626864"/>
            <a:ext cx="870508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ALL-COMERS    BNTX: Pumitamig + chemo  [PD-L1/VEGF] '28</a:t>
            </a:r>
            <a:endParaRPr lang="en-US" sz="650" dirty="0"/>
          </a:p>
        </p:txBody>
      </p:sp>
      <p:sp>
        <p:nvSpPr>
          <p:cNvPr id="81" name="Shape 79"/>
          <p:cNvSpPr/>
          <p:nvPr/>
        </p:nvSpPr>
        <p:spPr>
          <a:xfrm>
            <a:off x="2880360" y="4818888"/>
            <a:ext cx="8778240" cy="173736"/>
          </a:xfrm>
          <a:prstGeom prst="rect">
            <a:avLst/>
          </a:prstGeom>
          <a:solidFill>
            <a:srgbClr val="01579B"/>
          </a:solidFill>
          <a:ln/>
        </p:spPr>
      </p:sp>
      <p:sp>
        <p:nvSpPr>
          <p:cNvPr id="82" name="Text 80"/>
          <p:cNvSpPr/>
          <p:nvPr/>
        </p:nvSpPr>
        <p:spPr>
          <a:xfrm>
            <a:off x="2916936" y="4818888"/>
            <a:ext cx="870508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ALL-COMERS    PFE: PF-08634404 + chemo  [PD1/VEGF] '29</a:t>
            </a:r>
            <a:endParaRPr lang="en-US" sz="650" dirty="0"/>
          </a:p>
        </p:txBody>
      </p:sp>
      <p:sp>
        <p:nvSpPr>
          <p:cNvPr id="83" name="Shape 81"/>
          <p:cNvSpPr/>
          <p:nvPr/>
        </p:nvSpPr>
        <p:spPr>
          <a:xfrm>
            <a:off x="2880360" y="5010912"/>
            <a:ext cx="8778240" cy="173736"/>
          </a:xfrm>
          <a:prstGeom prst="rect">
            <a:avLst/>
          </a:prstGeom>
          <a:solidFill>
            <a:srgbClr val="002060"/>
          </a:solidFill>
          <a:ln/>
        </p:spPr>
      </p:sp>
      <p:sp>
        <p:nvSpPr>
          <p:cNvPr id="84" name="Text 82"/>
          <p:cNvSpPr/>
          <p:nvPr/>
        </p:nvSpPr>
        <p:spPr>
          <a:xfrm>
            <a:off x="2916936" y="5010912"/>
            <a:ext cx="870508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ALL-COMERS    BMY: Navlimetostat + pembro + chemo  [PRMT5] '28</a:t>
            </a:r>
            <a:endParaRPr lang="en-US" sz="650" dirty="0"/>
          </a:p>
        </p:txBody>
      </p:sp>
      <p:sp>
        <p:nvSpPr>
          <p:cNvPr id="85" name="Shape 83"/>
          <p:cNvSpPr/>
          <p:nvPr/>
        </p:nvSpPr>
        <p:spPr>
          <a:xfrm>
            <a:off x="5836920" y="5276088"/>
            <a:ext cx="2865120" cy="173736"/>
          </a:xfrm>
          <a:prstGeom prst="rect">
            <a:avLst/>
          </a:prstGeom>
          <a:solidFill>
            <a:srgbClr val="007A85"/>
          </a:solidFill>
          <a:ln/>
        </p:spPr>
      </p:sp>
      <p:sp>
        <p:nvSpPr>
          <p:cNvPr id="86" name="Text 84"/>
          <p:cNvSpPr/>
          <p:nvPr/>
        </p:nvSpPr>
        <p:spPr>
          <a:xfrm>
            <a:off x="5873496" y="5276088"/>
            <a:ext cx="279196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AZN: Rilvegostomig + chemo  [TIGIT/PD1] '28</a:t>
            </a:r>
            <a:endParaRPr lang="en-US" sz="650" dirty="0"/>
          </a:p>
        </p:txBody>
      </p:sp>
      <p:sp>
        <p:nvSpPr>
          <p:cNvPr id="87" name="Shape 85"/>
          <p:cNvSpPr/>
          <p:nvPr/>
        </p:nvSpPr>
        <p:spPr>
          <a:xfrm>
            <a:off x="2880360" y="5463540"/>
            <a:ext cx="8778240" cy="0"/>
          </a:xfrm>
          <a:prstGeom prst="line">
            <a:avLst/>
          </a:prstGeom>
          <a:noFill/>
          <a:ln w="9525">
            <a:solidFill>
              <a:srgbClr val="90A4AE"/>
            </a:solidFill>
            <a:prstDash val="dash"/>
          </a:ln>
        </p:spPr>
      </p:sp>
      <p:sp>
        <p:nvSpPr>
          <p:cNvPr id="88" name="Shape 86"/>
          <p:cNvSpPr/>
          <p:nvPr/>
        </p:nvSpPr>
        <p:spPr>
          <a:xfrm>
            <a:off x="2880360" y="5468112"/>
            <a:ext cx="8778240" cy="173736"/>
          </a:xfrm>
          <a:prstGeom prst="rect">
            <a:avLst/>
          </a:prstGeom>
          <a:solidFill>
            <a:srgbClr val="01579B"/>
          </a:solidFill>
          <a:ln/>
        </p:spPr>
      </p:sp>
      <p:sp>
        <p:nvSpPr>
          <p:cNvPr id="89" name="Text 87"/>
          <p:cNvSpPr/>
          <p:nvPr/>
        </p:nvSpPr>
        <p:spPr>
          <a:xfrm>
            <a:off x="2916936" y="5468112"/>
            <a:ext cx="870508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ALL-COMERS    SMMT: Ivonescimab + chemo  [PD1/VEGF] '28</a:t>
            </a:r>
            <a:endParaRPr lang="en-US" sz="650" dirty="0"/>
          </a:p>
        </p:txBody>
      </p:sp>
      <p:sp>
        <p:nvSpPr>
          <p:cNvPr id="90" name="Shape 88"/>
          <p:cNvSpPr/>
          <p:nvPr/>
        </p:nvSpPr>
        <p:spPr>
          <a:xfrm>
            <a:off x="2880360" y="5660136"/>
            <a:ext cx="8778240" cy="173736"/>
          </a:xfrm>
          <a:prstGeom prst="rect">
            <a:avLst/>
          </a:prstGeom>
          <a:solidFill>
            <a:srgbClr val="00B0B9"/>
          </a:solidFill>
          <a:ln/>
        </p:spPr>
      </p:sp>
      <p:sp>
        <p:nvSpPr>
          <p:cNvPr id="91" name="Text 89"/>
          <p:cNvSpPr/>
          <p:nvPr/>
        </p:nvSpPr>
        <p:spPr>
          <a:xfrm>
            <a:off x="2916936" y="5660136"/>
            <a:ext cx="8705088" cy="173736"/>
          </a:xfrm>
          <a:prstGeom prst="rect">
            <a:avLst/>
          </a:prstGeom>
          <a:noFill/>
          <a:ln/>
        </p:spPr>
        <p:txBody>
          <a:bodyPr wrap="square" lIns="0" tIns="0" rIns="0" bIns="0" rtlCol="0" anchor="ctr"/>
          <a:lstStyle/>
          <a:p>
            <a:pPr algn="l" indent="0" marL="0">
              <a:buNone/>
            </a:pPr>
            <a:r>
              <a:rPr lang="en-US" sz="650" dirty="0">
                <a:solidFill>
                  <a:srgbClr val="FFFFFF"/>
                </a:solidFill>
                <a:latin typeface="Arial" pitchFamily="34" charset="0"/>
                <a:ea typeface="Arial" pitchFamily="34" charset="-122"/>
                <a:cs typeface="Arial" pitchFamily="34" charset="-120"/>
              </a:rPr>
              <a:t>ALL-COMERS    MRK: Sac-TMT + pembro  [TROP2+PD1] '29</a:t>
            </a:r>
            <a:endParaRPr lang="en-US" sz="650" dirty="0"/>
          </a:p>
        </p:txBody>
      </p:sp>
      <p:sp>
        <p:nvSpPr>
          <p:cNvPr id="92" name="Shape 90"/>
          <p:cNvSpPr/>
          <p:nvPr/>
        </p:nvSpPr>
        <p:spPr>
          <a:xfrm>
            <a:off x="274320" y="868680"/>
            <a:ext cx="1737360" cy="1005840"/>
          </a:xfrm>
          <a:prstGeom prst="rect">
            <a:avLst/>
          </a:prstGeom>
          <a:solidFill>
            <a:srgbClr val="F0F5FF"/>
          </a:solidFill>
          <a:ln w="12700">
            <a:solidFill>
              <a:srgbClr val="002060"/>
            </a:solidFill>
            <a:prstDash val="solid"/>
          </a:ln>
        </p:spPr>
      </p:sp>
      <p:sp>
        <p:nvSpPr>
          <p:cNvPr id="93" name="Text 91"/>
          <p:cNvSpPr/>
          <p:nvPr/>
        </p:nvSpPr>
        <p:spPr>
          <a:xfrm>
            <a:off x="329184" y="905256"/>
            <a:ext cx="1627632" cy="914400"/>
          </a:xfrm>
          <a:prstGeom prst="rect">
            <a:avLst/>
          </a:prstGeom>
          <a:noFill/>
          <a:ln/>
        </p:spPr>
        <p:txBody>
          <a:bodyPr wrap="square" rtlCol="0" anchor="t"/>
          <a:lstStyle/>
          <a:p>
            <a:pPr indent="0" marL="0">
              <a:buNone/>
            </a:pPr>
            <a:r>
              <a:rPr lang="en-US" sz="750" b="1" dirty="0">
                <a:solidFill>
                  <a:srgbClr val="002060"/>
                </a:solidFill>
                <a:latin typeface="Arial" pitchFamily="34" charset="0"/>
                <a:ea typeface="Arial" pitchFamily="34" charset="-122"/>
                <a:cs typeface="Arial" pitchFamily="34" charset="-120"/>
              </a:rPr>
              <a:t>Current Keytruda SoC:</a:t>
            </a:r>
            <a:endParaRPr lang="en-US" sz="750" dirty="0"/>
          </a:p>
          <a:p>
            <a:pPr indent="0" marL="0">
              <a:buNone/>
            </a:pPr>
            <a:r>
              <a:rPr lang="en-US" sz="650" dirty="0">
                <a:solidFill>
                  <a:srgbClr val="002060"/>
                </a:solidFill>
                <a:latin typeface="Arial" pitchFamily="34" charset="0"/>
                <a:ea typeface="Arial" pitchFamily="34" charset="-122"/>
                <a:cs typeface="Arial" pitchFamily="34" charset="-120"/>
              </a:rPr>
              <a:t>• ≥50%: Pembro mono</a:t>
            </a:r>
            <a:endParaRPr lang="en-US" sz="750" dirty="0"/>
          </a:p>
          <a:p>
            <a:pPr indent="0" marL="0">
              <a:buNone/>
            </a:pPr>
            <a:r>
              <a:rPr lang="en-US" sz="650" dirty="0">
                <a:solidFill>
                  <a:srgbClr val="002060"/>
                </a:solidFill>
                <a:latin typeface="Arial" pitchFamily="34" charset="0"/>
                <a:ea typeface="Arial" pitchFamily="34" charset="-122"/>
                <a:cs typeface="Arial" pitchFamily="34" charset="-120"/>
              </a:rPr>
              <a:t>• 1-49%: Pembro + chemo</a:t>
            </a:r>
            <a:endParaRPr lang="en-US" sz="750" dirty="0"/>
          </a:p>
          <a:p>
            <a:pPr indent="0" marL="0">
              <a:buNone/>
            </a:pPr>
            <a:r>
              <a:rPr lang="en-US" sz="650" dirty="0">
                <a:solidFill>
                  <a:srgbClr val="002060"/>
                </a:solidFill>
                <a:latin typeface="Arial" pitchFamily="34" charset="0"/>
                <a:ea typeface="Arial" pitchFamily="34" charset="-122"/>
                <a:cs typeface="Arial" pitchFamily="34" charset="-120"/>
              </a:rPr>
              <a:t>• Neg: Pembro + chemo</a:t>
            </a:r>
            <a:endParaRPr lang="en-US" sz="750" dirty="0"/>
          </a:p>
          <a:p>
            <a:pPr indent="0" marL="0">
              <a:buNone/>
            </a:pPr>
            <a:r>
              <a:rPr lang="en-US" sz="650" dirty="0">
                <a:solidFill>
                  <a:srgbClr val="002060"/>
                </a:solidFill>
                <a:latin typeface="Arial" pitchFamily="34" charset="0"/>
                <a:ea typeface="Arial" pitchFamily="34" charset="-122"/>
                <a:cs typeface="Arial" pitchFamily="34" charset="-120"/>
              </a:rPr>
              <a:t>• Incl KRAS-mut (25-30%)</a:t>
            </a:r>
            <a:endParaRPr lang="en-US" sz="750" dirty="0"/>
          </a:p>
          <a:p>
            <a:pPr indent="0" marL="0">
              <a:buNone/>
            </a:pPr>
            <a:r>
              <a:rPr lang="en-US" sz="650" dirty="0">
                <a:solidFill>
                  <a:srgbClr val="002060"/>
                </a:solidFill>
                <a:latin typeface="Arial" pitchFamily="34" charset="0"/>
                <a:ea typeface="Arial" pitchFamily="34" charset="-122"/>
                <a:cs typeface="Arial" pitchFamily="34" charset="-120"/>
              </a:rPr>
              <a:t>• Incl HER2-mut (~3%)</a:t>
            </a:r>
            <a:endParaRPr lang="en-US" sz="750" dirty="0"/>
          </a:p>
        </p:txBody>
      </p:sp>
      <p:sp>
        <p:nvSpPr>
          <p:cNvPr id="94" name="Shape 92"/>
          <p:cNvSpPr/>
          <p:nvPr/>
        </p:nvSpPr>
        <p:spPr>
          <a:xfrm>
            <a:off x="274320" y="1965960"/>
            <a:ext cx="1737360" cy="914400"/>
          </a:xfrm>
          <a:prstGeom prst="rect">
            <a:avLst/>
          </a:prstGeom>
          <a:solidFill>
            <a:srgbClr val="002060"/>
          </a:solidFill>
          <a:ln/>
        </p:spPr>
      </p:sp>
      <p:sp>
        <p:nvSpPr>
          <p:cNvPr id="95" name="Text 93"/>
          <p:cNvSpPr/>
          <p:nvPr/>
        </p:nvSpPr>
        <p:spPr>
          <a:xfrm>
            <a:off x="329184" y="2011680"/>
            <a:ext cx="1627632" cy="822960"/>
          </a:xfrm>
          <a:prstGeom prst="rect">
            <a:avLst/>
          </a:prstGeom>
          <a:noFill/>
          <a:ln/>
        </p:spPr>
        <p:txBody>
          <a:bodyPr wrap="square" rtlCol="0" anchor="t"/>
          <a:lstStyle/>
          <a:p>
            <a:pPr indent="0" marL="0">
              <a:buNone/>
            </a:pPr>
            <a:r>
              <a:rPr lang="en-US" sz="750" b="1" dirty="0">
                <a:solidFill>
                  <a:srgbClr val="FFFFFF"/>
                </a:solidFill>
                <a:latin typeface="Arial" pitchFamily="34" charset="0"/>
                <a:ea typeface="Arial" pitchFamily="34" charset="-122"/>
                <a:cs typeface="Arial" pitchFamily="34" charset="-120"/>
              </a:rPr>
              <a:t>KRAS layering = pembro-</a:t>
            </a:r>
            <a:endParaRPr lang="en-US" sz="750" dirty="0"/>
          </a:p>
          <a:p>
            <a:pPr indent="0" marL="0">
              <a:buNone/>
            </a:pPr>
            <a:r>
              <a:rPr lang="en-US" sz="750" b="1" dirty="0">
                <a:solidFill>
                  <a:srgbClr val="FFFFFF"/>
                </a:solidFill>
                <a:latin typeface="Arial" pitchFamily="34" charset="0"/>
                <a:ea typeface="Arial" pitchFamily="34" charset="-122"/>
                <a:cs typeface="Arial" pitchFamily="34" charset="-120"/>
              </a:rPr>
              <a:t>supportive</a:t>
            </a:r>
            <a:endParaRPr lang="en-US" sz="750" dirty="0"/>
          </a:p>
          <a:p>
            <a:pPr indent="0" marL="0">
              <a:buNone/>
            </a:pPr>
            <a:r>
              <a:rPr lang="en-US" sz="200" dirty="0">
                <a:solidFill>
                  <a:srgbClr val="FFFFFF"/>
                </a:solidFill>
                <a:latin typeface="Arial" pitchFamily="34" charset="0"/>
                <a:ea typeface="Arial" pitchFamily="34" charset="-122"/>
                <a:cs typeface="Arial" pitchFamily="34" charset="-120"/>
              </a:rPr>
              <a:t>
</a:t>
            </a:r>
            <a:endParaRPr lang="en-US" sz="750" dirty="0"/>
          </a:p>
          <a:p>
            <a:pPr indent="0" marL="0">
              <a:buNone/>
            </a:pPr>
            <a:r>
              <a:rPr lang="en-US" sz="650" dirty="0">
                <a:solidFill>
                  <a:srgbClr val="FFFFFF"/>
                </a:solidFill>
                <a:latin typeface="Arial" pitchFamily="34" charset="0"/>
                <a:ea typeface="Arial" pitchFamily="34" charset="-122"/>
                <a:cs typeface="Arial" pitchFamily="34" charset="-120"/>
              </a:rPr>
              <a:t>Adds KRAS inh ON TOP of pembro+chemo. Not a displacement risk.</a:t>
            </a:r>
            <a:endParaRPr lang="en-US" sz="750" dirty="0"/>
          </a:p>
        </p:txBody>
      </p:sp>
      <p:sp>
        <p:nvSpPr>
          <p:cNvPr id="96" name="Shape 94"/>
          <p:cNvSpPr/>
          <p:nvPr/>
        </p:nvSpPr>
        <p:spPr>
          <a:xfrm>
            <a:off x="274320" y="3017520"/>
            <a:ext cx="1737360" cy="1097280"/>
          </a:xfrm>
          <a:prstGeom prst="rect">
            <a:avLst/>
          </a:prstGeom>
          <a:solidFill>
            <a:srgbClr val="002060"/>
          </a:solidFill>
          <a:ln/>
        </p:spPr>
      </p:sp>
      <p:sp>
        <p:nvSpPr>
          <p:cNvPr id="97" name="Text 95"/>
          <p:cNvSpPr/>
          <p:nvPr/>
        </p:nvSpPr>
        <p:spPr>
          <a:xfrm>
            <a:off x="329184" y="3063240"/>
            <a:ext cx="1627632" cy="1005840"/>
          </a:xfrm>
          <a:prstGeom prst="rect">
            <a:avLst/>
          </a:prstGeom>
          <a:noFill/>
          <a:ln/>
        </p:spPr>
        <p:txBody>
          <a:bodyPr wrap="square" rtlCol="0" anchor="t"/>
          <a:lstStyle/>
          <a:p>
            <a:pPr indent="0" marL="0">
              <a:buNone/>
            </a:pPr>
            <a:r>
              <a:rPr lang="en-US" sz="750" b="1" dirty="0">
                <a:solidFill>
                  <a:srgbClr val="00B0B9"/>
                </a:solidFill>
                <a:latin typeface="Arial" pitchFamily="34" charset="0"/>
                <a:ea typeface="Arial" pitchFamily="34" charset="-122"/>
                <a:cs typeface="Arial" pitchFamily="34" charset="-120"/>
              </a:rPr>
              <a:t>Displacement threats:</a:t>
            </a:r>
            <a:endParaRPr lang="en-US" sz="750" dirty="0"/>
          </a:p>
          <a:p>
            <a:pPr indent="0" marL="0">
              <a:buNone/>
            </a:pPr>
            <a:r>
              <a:rPr lang="en-US" sz="200" dirty="0">
                <a:solidFill>
                  <a:srgbClr val="FFFFFF"/>
                </a:solidFill>
                <a:latin typeface="Arial" pitchFamily="34" charset="0"/>
                <a:ea typeface="Arial" pitchFamily="34" charset="-122"/>
                <a:cs typeface="Arial" pitchFamily="34" charset="-120"/>
              </a:rPr>
              <a:t>
</a:t>
            </a:r>
            <a:endParaRPr lang="en-US" sz="750" dirty="0"/>
          </a:p>
          <a:p>
            <a:pPr indent="0" marL="0">
              <a:buNone/>
            </a:pPr>
            <a:r>
              <a:rPr lang="en-US" sz="650" dirty="0">
                <a:solidFill>
                  <a:srgbClr val="FFFFFF"/>
                </a:solidFill>
                <a:latin typeface="Arial" pitchFamily="34" charset="0"/>
                <a:ea typeface="Arial" pitchFamily="34" charset="-122"/>
                <a:cs typeface="Arial" pitchFamily="34" charset="-120"/>
              </a:rPr>
              <a:t>PD1/VEGF bispecifics &amp; TROP2 ADC monotherapy aim to REPLACE pembro.</a:t>
            </a:r>
            <a:endParaRPr lang="en-US" sz="750" dirty="0"/>
          </a:p>
          <a:p>
            <a:pPr indent="0" marL="0">
              <a:buNone/>
            </a:pPr>
            <a:r>
              <a:rPr lang="en-US" sz="200" dirty="0">
                <a:solidFill>
                  <a:srgbClr val="FFFFFF"/>
                </a:solidFill>
                <a:latin typeface="Arial" pitchFamily="34" charset="0"/>
                <a:ea typeface="Arial" pitchFamily="34" charset="-122"/>
                <a:cs typeface="Arial" pitchFamily="34" charset="-120"/>
              </a:rPr>
              <a:t>
</a:t>
            </a:r>
            <a:endParaRPr lang="en-US" sz="750" dirty="0"/>
          </a:p>
          <a:p>
            <a:pPr indent="0" marL="0">
              <a:buNone/>
            </a:pPr>
            <a:r>
              <a:rPr lang="en-US" sz="650" i="1" dirty="0">
                <a:solidFill>
                  <a:srgbClr val="FFFFFF"/>
                </a:solidFill>
                <a:latin typeface="Arial" pitchFamily="34" charset="0"/>
                <a:ea typeface="Arial" pitchFamily="34" charset="-122"/>
                <a:cs typeface="Arial" pitchFamily="34" charset="-120"/>
              </a:rPr>
              <a:t>Key Q: does the regimen still include pembro?</a:t>
            </a:r>
            <a:endParaRPr lang="en-US" sz="750" dirty="0"/>
          </a:p>
        </p:txBody>
      </p:sp>
      <p:sp>
        <p:nvSpPr>
          <p:cNvPr id="98" name="Shape 96"/>
          <p:cNvSpPr/>
          <p:nvPr/>
        </p:nvSpPr>
        <p:spPr>
          <a:xfrm>
            <a:off x="2834640" y="6025896"/>
            <a:ext cx="118872" cy="118872"/>
          </a:xfrm>
          <a:prstGeom prst="rect">
            <a:avLst/>
          </a:prstGeom>
          <a:solidFill>
            <a:srgbClr val="007A85"/>
          </a:solidFill>
          <a:ln/>
        </p:spPr>
      </p:sp>
      <p:sp>
        <p:nvSpPr>
          <p:cNvPr id="99" name="Text 97"/>
          <p:cNvSpPr/>
          <p:nvPr/>
        </p:nvSpPr>
        <p:spPr>
          <a:xfrm>
            <a:off x="2980944" y="6025896"/>
            <a:ext cx="640080" cy="118872"/>
          </a:xfrm>
          <a:prstGeom prst="rect">
            <a:avLst/>
          </a:prstGeom>
          <a:noFill/>
          <a:ln/>
        </p:spPr>
        <p:txBody>
          <a:bodyPr wrap="square" lIns="0" tIns="0" rIns="0" bIns="0" rtlCol="0" anchor="ctr"/>
          <a:lstStyle/>
          <a:p>
            <a:pPr algn="l" indent="0" marL="0">
              <a:buNone/>
            </a:pPr>
            <a:r>
              <a:rPr lang="en-US" sz="650" dirty="0">
                <a:solidFill>
                  <a:srgbClr val="64748B"/>
                </a:solidFill>
                <a:latin typeface="Arial" pitchFamily="34" charset="0"/>
                <a:ea typeface="Arial" pitchFamily="34" charset="-122"/>
                <a:cs typeface="Arial" pitchFamily="34" charset="-120"/>
              </a:rPr>
              <a:t>TIGIT+PD1</a:t>
            </a:r>
            <a:endParaRPr lang="en-US" sz="650" dirty="0"/>
          </a:p>
        </p:txBody>
      </p:sp>
      <p:sp>
        <p:nvSpPr>
          <p:cNvPr id="100" name="Shape 98"/>
          <p:cNvSpPr/>
          <p:nvPr/>
        </p:nvSpPr>
        <p:spPr>
          <a:xfrm>
            <a:off x="3794760" y="6025896"/>
            <a:ext cx="118872" cy="118872"/>
          </a:xfrm>
          <a:prstGeom prst="rect">
            <a:avLst/>
          </a:prstGeom>
          <a:solidFill>
            <a:srgbClr val="00B0B9"/>
          </a:solidFill>
          <a:ln/>
        </p:spPr>
      </p:sp>
      <p:sp>
        <p:nvSpPr>
          <p:cNvPr id="101" name="Text 99"/>
          <p:cNvSpPr/>
          <p:nvPr/>
        </p:nvSpPr>
        <p:spPr>
          <a:xfrm>
            <a:off x="3941064" y="6025896"/>
            <a:ext cx="640080" cy="118872"/>
          </a:xfrm>
          <a:prstGeom prst="rect">
            <a:avLst/>
          </a:prstGeom>
          <a:noFill/>
          <a:ln/>
        </p:spPr>
        <p:txBody>
          <a:bodyPr wrap="square" lIns="0" tIns="0" rIns="0" bIns="0" rtlCol="0" anchor="ctr"/>
          <a:lstStyle/>
          <a:p>
            <a:pPr algn="l" indent="0" marL="0">
              <a:buNone/>
            </a:pPr>
            <a:r>
              <a:rPr lang="en-US" sz="650" dirty="0">
                <a:solidFill>
                  <a:srgbClr val="64748B"/>
                </a:solidFill>
                <a:latin typeface="Arial" pitchFamily="34" charset="0"/>
                <a:ea typeface="Arial" pitchFamily="34" charset="-122"/>
                <a:cs typeface="Arial" pitchFamily="34" charset="-120"/>
              </a:rPr>
              <a:t>TROP2/ADC</a:t>
            </a:r>
            <a:endParaRPr lang="en-US" sz="650" dirty="0"/>
          </a:p>
        </p:txBody>
      </p:sp>
      <p:sp>
        <p:nvSpPr>
          <p:cNvPr id="102" name="Shape 100"/>
          <p:cNvSpPr/>
          <p:nvPr/>
        </p:nvSpPr>
        <p:spPr>
          <a:xfrm>
            <a:off x="4754880" y="6025896"/>
            <a:ext cx="118872" cy="118872"/>
          </a:xfrm>
          <a:prstGeom prst="rect">
            <a:avLst/>
          </a:prstGeom>
          <a:solidFill>
            <a:srgbClr val="1B5E20"/>
          </a:solidFill>
          <a:ln/>
        </p:spPr>
      </p:sp>
      <p:sp>
        <p:nvSpPr>
          <p:cNvPr id="103" name="Text 101"/>
          <p:cNvSpPr/>
          <p:nvPr/>
        </p:nvSpPr>
        <p:spPr>
          <a:xfrm>
            <a:off x="4901184" y="6025896"/>
            <a:ext cx="640080" cy="118872"/>
          </a:xfrm>
          <a:prstGeom prst="rect">
            <a:avLst/>
          </a:prstGeom>
          <a:noFill/>
          <a:ln/>
        </p:spPr>
        <p:txBody>
          <a:bodyPr wrap="square" lIns="0" tIns="0" rIns="0" bIns="0" rtlCol="0" anchor="ctr"/>
          <a:lstStyle/>
          <a:p>
            <a:pPr algn="l" indent="0" marL="0">
              <a:buNone/>
            </a:pPr>
            <a:r>
              <a:rPr lang="en-US" sz="650" dirty="0">
                <a:solidFill>
                  <a:srgbClr val="64748B"/>
                </a:solidFill>
                <a:latin typeface="Arial" pitchFamily="34" charset="0"/>
                <a:ea typeface="Arial" pitchFamily="34" charset="-122"/>
                <a:cs typeface="Arial" pitchFamily="34" charset="-120"/>
              </a:rPr>
              <a:t>LAG3</a:t>
            </a:r>
            <a:endParaRPr lang="en-US" sz="650" dirty="0"/>
          </a:p>
        </p:txBody>
      </p:sp>
      <p:sp>
        <p:nvSpPr>
          <p:cNvPr id="104" name="Shape 102"/>
          <p:cNvSpPr/>
          <p:nvPr/>
        </p:nvSpPr>
        <p:spPr>
          <a:xfrm>
            <a:off x="5715000" y="6025896"/>
            <a:ext cx="118872" cy="118872"/>
          </a:xfrm>
          <a:prstGeom prst="rect">
            <a:avLst/>
          </a:prstGeom>
          <a:solidFill>
            <a:srgbClr val="4A148C"/>
          </a:solidFill>
          <a:ln/>
        </p:spPr>
      </p:sp>
      <p:sp>
        <p:nvSpPr>
          <p:cNvPr id="105" name="Text 103"/>
          <p:cNvSpPr/>
          <p:nvPr/>
        </p:nvSpPr>
        <p:spPr>
          <a:xfrm>
            <a:off x="5861304" y="6025896"/>
            <a:ext cx="640080" cy="118872"/>
          </a:xfrm>
          <a:prstGeom prst="rect">
            <a:avLst/>
          </a:prstGeom>
          <a:noFill/>
          <a:ln/>
        </p:spPr>
        <p:txBody>
          <a:bodyPr wrap="square" lIns="0" tIns="0" rIns="0" bIns="0" rtlCol="0" anchor="ctr"/>
          <a:lstStyle/>
          <a:p>
            <a:pPr algn="l" indent="0" marL="0">
              <a:buNone/>
            </a:pPr>
            <a:r>
              <a:rPr lang="en-US" sz="650" dirty="0">
                <a:solidFill>
                  <a:srgbClr val="64748B"/>
                </a:solidFill>
                <a:latin typeface="Arial" pitchFamily="34" charset="0"/>
                <a:ea typeface="Arial" pitchFamily="34" charset="-122"/>
                <a:cs typeface="Arial" pitchFamily="34" charset="-120"/>
              </a:rPr>
              <a:t>KRAS</a:t>
            </a:r>
            <a:endParaRPr lang="en-US" sz="650" dirty="0"/>
          </a:p>
        </p:txBody>
      </p:sp>
      <p:sp>
        <p:nvSpPr>
          <p:cNvPr id="106" name="Shape 104"/>
          <p:cNvSpPr/>
          <p:nvPr/>
        </p:nvSpPr>
        <p:spPr>
          <a:xfrm>
            <a:off x="6675120" y="6025896"/>
            <a:ext cx="118872" cy="118872"/>
          </a:xfrm>
          <a:prstGeom prst="rect">
            <a:avLst/>
          </a:prstGeom>
          <a:solidFill>
            <a:srgbClr val="01579B"/>
          </a:solidFill>
          <a:ln/>
        </p:spPr>
      </p:sp>
      <p:sp>
        <p:nvSpPr>
          <p:cNvPr id="107" name="Text 105"/>
          <p:cNvSpPr/>
          <p:nvPr/>
        </p:nvSpPr>
        <p:spPr>
          <a:xfrm>
            <a:off x="6821424" y="6025896"/>
            <a:ext cx="640080" cy="118872"/>
          </a:xfrm>
          <a:prstGeom prst="rect">
            <a:avLst/>
          </a:prstGeom>
          <a:noFill/>
          <a:ln/>
        </p:spPr>
        <p:txBody>
          <a:bodyPr wrap="square" lIns="0" tIns="0" rIns="0" bIns="0" rtlCol="0" anchor="ctr"/>
          <a:lstStyle/>
          <a:p>
            <a:pPr algn="l" indent="0" marL="0">
              <a:buNone/>
            </a:pPr>
            <a:r>
              <a:rPr lang="en-US" sz="650" dirty="0">
                <a:solidFill>
                  <a:srgbClr val="64748B"/>
                </a:solidFill>
                <a:latin typeface="Arial" pitchFamily="34" charset="0"/>
                <a:ea typeface="Arial" pitchFamily="34" charset="-122"/>
                <a:cs typeface="Arial" pitchFamily="34" charset="-120"/>
              </a:rPr>
              <a:t>PD1/VEGF</a:t>
            </a:r>
            <a:endParaRPr lang="en-US" sz="650" dirty="0"/>
          </a:p>
        </p:txBody>
      </p:sp>
      <p:sp>
        <p:nvSpPr>
          <p:cNvPr id="108" name="Shape 106"/>
          <p:cNvSpPr/>
          <p:nvPr/>
        </p:nvSpPr>
        <p:spPr>
          <a:xfrm>
            <a:off x="7635240" y="6025896"/>
            <a:ext cx="118872" cy="118872"/>
          </a:xfrm>
          <a:prstGeom prst="rect">
            <a:avLst/>
          </a:prstGeom>
          <a:solidFill>
            <a:srgbClr val="BF360C"/>
          </a:solidFill>
          <a:ln/>
        </p:spPr>
      </p:sp>
      <p:sp>
        <p:nvSpPr>
          <p:cNvPr id="109" name="Text 107"/>
          <p:cNvSpPr/>
          <p:nvPr/>
        </p:nvSpPr>
        <p:spPr>
          <a:xfrm>
            <a:off x="7781544" y="6025896"/>
            <a:ext cx="640080" cy="118872"/>
          </a:xfrm>
          <a:prstGeom prst="rect">
            <a:avLst/>
          </a:prstGeom>
          <a:noFill/>
          <a:ln/>
        </p:spPr>
        <p:txBody>
          <a:bodyPr wrap="square" lIns="0" tIns="0" rIns="0" bIns="0" rtlCol="0" anchor="ctr"/>
          <a:lstStyle/>
          <a:p>
            <a:pPr algn="l" indent="0" marL="0">
              <a:buNone/>
            </a:pPr>
            <a:r>
              <a:rPr lang="en-US" sz="650" dirty="0">
                <a:solidFill>
                  <a:srgbClr val="64748B"/>
                </a:solidFill>
                <a:latin typeface="Arial" pitchFamily="34" charset="0"/>
                <a:ea typeface="Arial" pitchFamily="34" charset="-122"/>
                <a:cs typeface="Arial" pitchFamily="34" charset="-120"/>
              </a:rPr>
              <a:t>CTLA4</a:t>
            </a:r>
            <a:endParaRPr lang="en-US" sz="650" dirty="0"/>
          </a:p>
        </p:txBody>
      </p:sp>
      <p:sp>
        <p:nvSpPr>
          <p:cNvPr id="110" name="Shape 108"/>
          <p:cNvSpPr/>
          <p:nvPr/>
        </p:nvSpPr>
        <p:spPr>
          <a:xfrm>
            <a:off x="8595360" y="6025896"/>
            <a:ext cx="118872" cy="118872"/>
          </a:xfrm>
          <a:prstGeom prst="rect">
            <a:avLst/>
          </a:prstGeom>
          <a:solidFill>
            <a:srgbClr val="880E4F"/>
          </a:solidFill>
          <a:ln/>
        </p:spPr>
      </p:sp>
      <p:sp>
        <p:nvSpPr>
          <p:cNvPr id="111" name="Text 109"/>
          <p:cNvSpPr/>
          <p:nvPr/>
        </p:nvSpPr>
        <p:spPr>
          <a:xfrm>
            <a:off x="8741664" y="6025896"/>
            <a:ext cx="640080" cy="118872"/>
          </a:xfrm>
          <a:prstGeom prst="rect">
            <a:avLst/>
          </a:prstGeom>
          <a:noFill/>
          <a:ln/>
        </p:spPr>
        <p:txBody>
          <a:bodyPr wrap="square" lIns="0" tIns="0" rIns="0" bIns="0" rtlCol="0" anchor="ctr"/>
          <a:lstStyle/>
          <a:p>
            <a:pPr algn="l" indent="0" marL="0">
              <a:buNone/>
            </a:pPr>
            <a:r>
              <a:rPr lang="en-US" sz="650" dirty="0">
                <a:solidFill>
                  <a:srgbClr val="64748B"/>
                </a:solidFill>
                <a:latin typeface="Arial" pitchFamily="34" charset="0"/>
                <a:ea typeface="Arial" pitchFamily="34" charset="-122"/>
                <a:cs typeface="Arial" pitchFamily="34" charset="-120"/>
              </a:rPr>
              <a:t>IL15/IL2</a:t>
            </a:r>
            <a:endParaRPr lang="en-US" sz="650" dirty="0"/>
          </a:p>
        </p:txBody>
      </p:sp>
      <p:sp>
        <p:nvSpPr>
          <p:cNvPr id="112" name="Shape 110"/>
          <p:cNvSpPr/>
          <p:nvPr/>
        </p:nvSpPr>
        <p:spPr>
          <a:xfrm>
            <a:off x="9555480" y="6025896"/>
            <a:ext cx="118872" cy="118872"/>
          </a:xfrm>
          <a:prstGeom prst="rect">
            <a:avLst/>
          </a:prstGeom>
          <a:solidFill>
            <a:srgbClr val="002060"/>
          </a:solidFill>
          <a:ln/>
        </p:spPr>
      </p:sp>
      <p:sp>
        <p:nvSpPr>
          <p:cNvPr id="113" name="Text 111"/>
          <p:cNvSpPr/>
          <p:nvPr/>
        </p:nvSpPr>
        <p:spPr>
          <a:xfrm>
            <a:off x="9701784" y="6025896"/>
            <a:ext cx="640080" cy="118872"/>
          </a:xfrm>
          <a:prstGeom prst="rect">
            <a:avLst/>
          </a:prstGeom>
          <a:noFill/>
          <a:ln/>
        </p:spPr>
        <p:txBody>
          <a:bodyPr wrap="square" lIns="0" tIns="0" rIns="0" bIns="0" rtlCol="0" anchor="ctr"/>
          <a:lstStyle/>
          <a:p>
            <a:pPr algn="l" indent="0" marL="0">
              <a:buNone/>
            </a:pPr>
            <a:r>
              <a:rPr lang="en-US" sz="650" dirty="0">
                <a:solidFill>
                  <a:srgbClr val="64748B"/>
                </a:solidFill>
                <a:latin typeface="Arial" pitchFamily="34" charset="0"/>
                <a:ea typeface="Arial" pitchFamily="34" charset="-122"/>
                <a:cs typeface="Arial" pitchFamily="34" charset="-120"/>
              </a:rPr>
              <a:t>Other IO</a:t>
            </a:r>
            <a:endParaRPr lang="en-US" sz="650" dirty="0"/>
          </a:p>
        </p:txBody>
      </p:sp>
      <p:sp>
        <p:nvSpPr>
          <p:cNvPr id="114" name="Text 112"/>
          <p:cNvSpPr/>
          <p:nvPr/>
        </p:nvSpPr>
        <p:spPr>
          <a:xfrm>
            <a:off x="2834640" y="6181344"/>
            <a:ext cx="8869680" cy="118872"/>
          </a:xfrm>
          <a:prstGeom prst="rect">
            <a:avLst/>
          </a:prstGeom>
          <a:noFill/>
          <a:ln/>
        </p:spPr>
        <p:txBody>
          <a:bodyPr wrap="square" lIns="0" tIns="0" rIns="0" bIns="0" rtlCol="0" anchor="ctr"/>
          <a:lstStyle/>
          <a:p>
            <a:pPr indent="0" marL="0">
              <a:buNone/>
            </a:pPr>
            <a:r>
              <a:rPr lang="en-US" sz="650" i="1" dirty="0">
                <a:solidFill>
                  <a:srgbClr val="999999"/>
                </a:solidFill>
                <a:latin typeface="Arial" pitchFamily="34" charset="0"/>
                <a:ea typeface="Arial" pitchFamily="34" charset="-122"/>
                <a:cs typeface="Arial" pitchFamily="34" charset="-120"/>
              </a:rPr>
              <a:t>'YY = Primary Completion Date  |  ALL-COMERS bars span entire TPS spectrum</a:t>
            </a:r>
            <a:endParaRPr lang="en-US" sz="650" dirty="0"/>
          </a:p>
        </p:txBody>
      </p:sp>
      <p:sp>
        <p:nvSpPr>
          <p:cNvPr id="115" name="Text 113"/>
          <p:cNvSpPr/>
          <p:nvPr/>
        </p:nvSpPr>
        <p:spPr>
          <a:xfrm>
            <a:off x="365760" y="6629400"/>
            <a:ext cx="11430000" cy="137160"/>
          </a:xfrm>
          <a:prstGeom prst="rect">
            <a:avLst/>
          </a:prstGeom>
          <a:noFill/>
          <a:ln/>
        </p:spPr>
        <p:txBody>
          <a:bodyPr wrap="square" rtlCol="0" anchor="ctr"/>
          <a:lstStyle/>
          <a:p>
            <a:pPr indent="0" marL="0">
              <a:buNone/>
            </a:pPr>
            <a:r>
              <a:rPr lang="en-US" sz="600" i="1" dirty="0">
                <a:solidFill>
                  <a:srgbClr val="AAAAAA"/>
                </a:solidFill>
                <a:latin typeface="Arial" pitchFamily="34" charset="0"/>
                <a:ea typeface="Arial" pitchFamily="34" charset="-122"/>
                <a:cs typeface="Arial" pitchFamily="34" charset="-120"/>
              </a:rPr>
              <a:t>Source: Pipeline database, ClinicalTrials.gov | Phase 3, non-biosimilar | March 2026</a:t>
            </a:r>
            <a:endParaRPr lang="en-US" sz="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11430000" cy="365760"/>
          </a:xfrm>
          <a:prstGeom prst="rect">
            <a:avLst/>
          </a:prstGeom>
          <a:noFill/>
          <a:ln/>
        </p:spPr>
        <p:txBody>
          <a:bodyPr wrap="square" rtlCol="0" anchor="ctr"/>
          <a:lstStyle/>
          <a:p>
            <a:pPr indent="0" marL="0">
              <a:buNone/>
            </a:pPr>
            <a:r>
              <a:rPr lang="en-US" sz="1350" b="1" dirty="0">
                <a:solidFill>
                  <a:srgbClr val="002060"/>
                </a:solidFill>
                <a:latin typeface="Arial" pitchFamily="34" charset="0"/>
                <a:ea typeface="Arial" pitchFamily="34" charset="-122"/>
                <a:cs typeface="Arial" pitchFamily="34" charset="-120"/>
              </a:rPr>
              <a:t>Exhibit 2: 1L vs 2L Pipeline Density by Mechanism — Phase 3</a:t>
            </a:r>
            <a:endParaRPr lang="en-US" sz="1350" dirty="0"/>
          </a:p>
        </p:txBody>
      </p:sp>
      <p:sp>
        <p:nvSpPr>
          <p:cNvPr id="3" name="Text 1"/>
          <p:cNvSpPr/>
          <p:nvPr/>
        </p:nvSpPr>
        <p:spPr>
          <a:xfrm>
            <a:off x="365760" y="530352"/>
            <a:ext cx="11430000" cy="182880"/>
          </a:xfrm>
          <a:prstGeom prst="rect">
            <a:avLst/>
          </a:prstGeom>
          <a:noFill/>
          <a:ln/>
        </p:spPr>
        <p:txBody>
          <a:bodyPr wrap="square" rtlCol="0" anchor="ctr"/>
          <a:lstStyle/>
          <a:p>
            <a:pPr indent="0" marL="0">
              <a:buNone/>
            </a:pPr>
            <a:r>
              <a:rPr lang="en-US" sz="800" i="1" dirty="0">
                <a:solidFill>
                  <a:srgbClr val="64748B"/>
                </a:solidFill>
                <a:latin typeface="Arial" pitchFamily="34" charset="0"/>
                <a:ea typeface="Arial" pitchFamily="34" charset="-122"/>
                <a:cs typeface="Arial" pitchFamily="34" charset="-120"/>
              </a:rPr>
              <a:t>Where is the competitive intensity greatest? Which mechanisms threaten Keytruda's different patient segments?</a:t>
            </a:r>
            <a:endParaRPr lang="en-US" sz="800" dirty="0"/>
          </a:p>
        </p:txBody>
      </p:sp>
      <p:sp>
        <p:nvSpPr>
          <p:cNvPr id="4" name="Text 2"/>
          <p:cNvSpPr/>
          <p:nvPr/>
        </p:nvSpPr>
        <p:spPr>
          <a:xfrm>
            <a:off x="457200" y="914400"/>
            <a:ext cx="5394960" cy="274320"/>
          </a:xfrm>
          <a:prstGeom prst="rect">
            <a:avLst/>
          </a:prstGeom>
          <a:noFill/>
          <a:ln/>
        </p:spPr>
        <p:txBody>
          <a:bodyPr wrap="square" rtlCol="0" anchor="ctr"/>
          <a:lstStyle/>
          <a:p>
            <a:pPr algn="ctr" indent="0" marL="0">
              <a:buNone/>
            </a:pPr>
            <a:r>
              <a:rPr lang="en-US" sz="1100" b="1" dirty="0">
                <a:solidFill>
                  <a:srgbClr val="002060"/>
                </a:solidFill>
                <a:latin typeface="Arial" pitchFamily="34" charset="0"/>
                <a:ea typeface="Arial" pitchFamily="34" charset="-122"/>
                <a:cs typeface="Arial" pitchFamily="34" charset="-120"/>
              </a:rPr>
              <a:t>1L Phase 3 (66 drugs)</a:t>
            </a:r>
            <a:endParaRPr lang="en-US" sz="1100" dirty="0"/>
          </a:p>
        </p:txBody>
      </p:sp>
      <p:sp>
        <p:nvSpPr>
          <p:cNvPr id="5" name="Text 3"/>
          <p:cNvSpPr/>
          <p:nvPr/>
        </p:nvSpPr>
        <p:spPr>
          <a:xfrm>
            <a:off x="6309360" y="914400"/>
            <a:ext cx="5394960" cy="274320"/>
          </a:xfrm>
          <a:prstGeom prst="rect">
            <a:avLst/>
          </a:prstGeom>
          <a:noFill/>
          <a:ln/>
        </p:spPr>
        <p:txBody>
          <a:bodyPr wrap="square" rtlCol="0" anchor="ctr"/>
          <a:lstStyle/>
          <a:p>
            <a:pPr algn="ctr" indent="0" marL="0">
              <a:buNone/>
            </a:pPr>
            <a:r>
              <a:rPr lang="en-US" sz="1100" b="1" dirty="0">
                <a:solidFill>
                  <a:srgbClr val="002060"/>
                </a:solidFill>
                <a:latin typeface="Arial" pitchFamily="34" charset="0"/>
                <a:ea typeface="Arial" pitchFamily="34" charset="-122"/>
                <a:cs typeface="Arial" pitchFamily="34" charset="-120"/>
              </a:rPr>
              <a:t>2L Phase 3 (32 drugs)</a:t>
            </a:r>
            <a:endParaRPr lang="en-US" sz="1100" dirty="0"/>
          </a:p>
        </p:txBody>
      </p:sp>
      <p:sp>
        <p:nvSpPr>
          <p:cNvPr id="6" name="Text 4"/>
          <p:cNvSpPr/>
          <p:nvPr/>
        </p:nvSpPr>
        <p:spPr>
          <a:xfrm>
            <a:off x="457200" y="132588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IO Checkpoint</a:t>
            </a:r>
            <a:endParaRPr lang="en-US" sz="850" dirty="0"/>
          </a:p>
        </p:txBody>
      </p:sp>
      <p:sp>
        <p:nvSpPr>
          <p:cNvPr id="7" name="Shape 5"/>
          <p:cNvSpPr/>
          <p:nvPr/>
        </p:nvSpPr>
        <p:spPr>
          <a:xfrm>
            <a:off x="1645920" y="1325880"/>
            <a:ext cx="3939540" cy="292608"/>
          </a:xfrm>
          <a:prstGeom prst="rect">
            <a:avLst/>
          </a:prstGeom>
          <a:solidFill>
            <a:srgbClr val="002060"/>
          </a:solidFill>
          <a:ln/>
        </p:spPr>
      </p:sp>
      <p:sp>
        <p:nvSpPr>
          <p:cNvPr id="8" name="Text 6"/>
          <p:cNvSpPr/>
          <p:nvPr/>
        </p:nvSpPr>
        <p:spPr>
          <a:xfrm>
            <a:off x="1645920" y="1325880"/>
            <a:ext cx="39395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11</a:t>
            </a:r>
            <a:endParaRPr lang="en-US" sz="900" dirty="0"/>
          </a:p>
        </p:txBody>
      </p:sp>
      <p:sp>
        <p:nvSpPr>
          <p:cNvPr id="9" name="Text 7"/>
          <p:cNvSpPr/>
          <p:nvPr/>
        </p:nvSpPr>
        <p:spPr>
          <a:xfrm>
            <a:off x="6309360" y="132588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IO Checkpoint</a:t>
            </a:r>
            <a:endParaRPr lang="en-US" sz="850" dirty="0"/>
          </a:p>
        </p:txBody>
      </p:sp>
      <p:sp>
        <p:nvSpPr>
          <p:cNvPr id="10" name="Shape 8"/>
          <p:cNvSpPr/>
          <p:nvPr/>
        </p:nvSpPr>
        <p:spPr>
          <a:xfrm>
            <a:off x="7498080" y="1325880"/>
            <a:ext cx="2148840" cy="292608"/>
          </a:xfrm>
          <a:prstGeom prst="rect">
            <a:avLst/>
          </a:prstGeom>
          <a:solidFill>
            <a:srgbClr val="002060"/>
          </a:solidFill>
          <a:ln/>
        </p:spPr>
      </p:sp>
      <p:sp>
        <p:nvSpPr>
          <p:cNvPr id="11" name="Text 9"/>
          <p:cNvSpPr/>
          <p:nvPr/>
        </p:nvSpPr>
        <p:spPr>
          <a:xfrm>
            <a:off x="7498080" y="1325880"/>
            <a:ext cx="21488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6</a:t>
            </a:r>
            <a:endParaRPr lang="en-US" sz="900" dirty="0"/>
          </a:p>
        </p:txBody>
      </p:sp>
      <p:sp>
        <p:nvSpPr>
          <p:cNvPr id="12" name="Text 10"/>
          <p:cNvSpPr/>
          <p:nvPr/>
        </p:nvSpPr>
        <p:spPr>
          <a:xfrm>
            <a:off x="457200" y="169164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KRAS/RAS</a:t>
            </a:r>
            <a:endParaRPr lang="en-US" sz="850" dirty="0"/>
          </a:p>
        </p:txBody>
      </p:sp>
      <p:sp>
        <p:nvSpPr>
          <p:cNvPr id="13" name="Shape 11"/>
          <p:cNvSpPr/>
          <p:nvPr/>
        </p:nvSpPr>
        <p:spPr>
          <a:xfrm>
            <a:off x="1645920" y="1691640"/>
            <a:ext cx="4297680" cy="292608"/>
          </a:xfrm>
          <a:prstGeom prst="rect">
            <a:avLst/>
          </a:prstGeom>
          <a:solidFill>
            <a:srgbClr val="4A148C"/>
          </a:solidFill>
          <a:ln/>
        </p:spPr>
      </p:sp>
      <p:sp>
        <p:nvSpPr>
          <p:cNvPr id="14" name="Text 12"/>
          <p:cNvSpPr/>
          <p:nvPr/>
        </p:nvSpPr>
        <p:spPr>
          <a:xfrm>
            <a:off x="1645920" y="1691640"/>
            <a:ext cx="4297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12</a:t>
            </a:r>
            <a:endParaRPr lang="en-US" sz="900" dirty="0"/>
          </a:p>
        </p:txBody>
      </p:sp>
      <p:sp>
        <p:nvSpPr>
          <p:cNvPr id="15" name="Text 13"/>
          <p:cNvSpPr/>
          <p:nvPr/>
        </p:nvSpPr>
        <p:spPr>
          <a:xfrm>
            <a:off x="6309360" y="169164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KRAS/RAS</a:t>
            </a:r>
            <a:endParaRPr lang="en-US" sz="850" dirty="0"/>
          </a:p>
        </p:txBody>
      </p:sp>
      <p:sp>
        <p:nvSpPr>
          <p:cNvPr id="16" name="Shape 14"/>
          <p:cNvSpPr/>
          <p:nvPr/>
        </p:nvSpPr>
        <p:spPr>
          <a:xfrm>
            <a:off x="7498080" y="1691640"/>
            <a:ext cx="1432560" cy="292608"/>
          </a:xfrm>
          <a:prstGeom prst="rect">
            <a:avLst/>
          </a:prstGeom>
          <a:solidFill>
            <a:srgbClr val="4A148C"/>
          </a:solidFill>
          <a:ln/>
        </p:spPr>
      </p:sp>
      <p:sp>
        <p:nvSpPr>
          <p:cNvPr id="17" name="Text 15"/>
          <p:cNvSpPr/>
          <p:nvPr/>
        </p:nvSpPr>
        <p:spPr>
          <a:xfrm>
            <a:off x="7498080" y="1691640"/>
            <a:ext cx="14325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18" name="Text 16"/>
          <p:cNvSpPr/>
          <p:nvPr/>
        </p:nvSpPr>
        <p:spPr>
          <a:xfrm>
            <a:off x="457200" y="205740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TROP2/ADC</a:t>
            </a:r>
            <a:endParaRPr lang="en-US" sz="850" dirty="0"/>
          </a:p>
        </p:txBody>
      </p:sp>
      <p:sp>
        <p:nvSpPr>
          <p:cNvPr id="19" name="Shape 17"/>
          <p:cNvSpPr/>
          <p:nvPr/>
        </p:nvSpPr>
        <p:spPr>
          <a:xfrm>
            <a:off x="1645920" y="2057400"/>
            <a:ext cx="2865120" cy="292608"/>
          </a:xfrm>
          <a:prstGeom prst="rect">
            <a:avLst/>
          </a:prstGeom>
          <a:solidFill>
            <a:srgbClr val="00B0B9"/>
          </a:solidFill>
          <a:ln/>
        </p:spPr>
      </p:sp>
      <p:sp>
        <p:nvSpPr>
          <p:cNvPr id="20" name="Text 18"/>
          <p:cNvSpPr/>
          <p:nvPr/>
        </p:nvSpPr>
        <p:spPr>
          <a:xfrm>
            <a:off x="1645920" y="2057400"/>
            <a:ext cx="28651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8</a:t>
            </a:r>
            <a:endParaRPr lang="en-US" sz="900" dirty="0"/>
          </a:p>
        </p:txBody>
      </p:sp>
      <p:sp>
        <p:nvSpPr>
          <p:cNvPr id="21" name="Text 19"/>
          <p:cNvSpPr/>
          <p:nvPr/>
        </p:nvSpPr>
        <p:spPr>
          <a:xfrm>
            <a:off x="6309360" y="205740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TROP2/ADC</a:t>
            </a:r>
            <a:endParaRPr lang="en-US" sz="850" dirty="0"/>
          </a:p>
        </p:txBody>
      </p:sp>
      <p:sp>
        <p:nvSpPr>
          <p:cNvPr id="22" name="Shape 20"/>
          <p:cNvSpPr/>
          <p:nvPr/>
        </p:nvSpPr>
        <p:spPr>
          <a:xfrm>
            <a:off x="7498080" y="2057400"/>
            <a:ext cx="1432560" cy="292608"/>
          </a:xfrm>
          <a:prstGeom prst="rect">
            <a:avLst/>
          </a:prstGeom>
          <a:solidFill>
            <a:srgbClr val="00B0B9"/>
          </a:solidFill>
          <a:ln/>
        </p:spPr>
      </p:sp>
      <p:sp>
        <p:nvSpPr>
          <p:cNvPr id="23" name="Text 21"/>
          <p:cNvSpPr/>
          <p:nvPr/>
        </p:nvSpPr>
        <p:spPr>
          <a:xfrm>
            <a:off x="7498080" y="2057400"/>
            <a:ext cx="14325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4" name="Text 22"/>
          <p:cNvSpPr/>
          <p:nvPr/>
        </p:nvSpPr>
        <p:spPr>
          <a:xfrm>
            <a:off x="457200" y="242316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Cytokine</a:t>
            </a:r>
            <a:endParaRPr lang="en-US" sz="850" dirty="0"/>
          </a:p>
        </p:txBody>
      </p:sp>
      <p:sp>
        <p:nvSpPr>
          <p:cNvPr id="25" name="Shape 23"/>
          <p:cNvSpPr/>
          <p:nvPr/>
        </p:nvSpPr>
        <p:spPr>
          <a:xfrm>
            <a:off x="1645920" y="2423160"/>
            <a:ext cx="1432560" cy="292608"/>
          </a:xfrm>
          <a:prstGeom prst="rect">
            <a:avLst/>
          </a:prstGeom>
          <a:solidFill>
            <a:srgbClr val="880E4F"/>
          </a:solidFill>
          <a:ln/>
        </p:spPr>
      </p:sp>
      <p:sp>
        <p:nvSpPr>
          <p:cNvPr id="26" name="Text 24"/>
          <p:cNvSpPr/>
          <p:nvPr/>
        </p:nvSpPr>
        <p:spPr>
          <a:xfrm>
            <a:off x="1645920" y="2423160"/>
            <a:ext cx="14325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7" name="Text 25"/>
          <p:cNvSpPr/>
          <p:nvPr/>
        </p:nvSpPr>
        <p:spPr>
          <a:xfrm>
            <a:off x="6309360" y="242316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Cytokine</a:t>
            </a:r>
            <a:endParaRPr lang="en-US" sz="850" dirty="0"/>
          </a:p>
        </p:txBody>
      </p:sp>
      <p:sp>
        <p:nvSpPr>
          <p:cNvPr id="28" name="Shape 26"/>
          <p:cNvSpPr/>
          <p:nvPr/>
        </p:nvSpPr>
        <p:spPr>
          <a:xfrm>
            <a:off x="7498080" y="2423160"/>
            <a:ext cx="1790700" cy="292608"/>
          </a:xfrm>
          <a:prstGeom prst="rect">
            <a:avLst/>
          </a:prstGeom>
          <a:solidFill>
            <a:srgbClr val="880E4F"/>
          </a:solidFill>
          <a:ln/>
        </p:spPr>
      </p:sp>
      <p:sp>
        <p:nvSpPr>
          <p:cNvPr id="29" name="Text 27"/>
          <p:cNvSpPr/>
          <p:nvPr/>
        </p:nvSpPr>
        <p:spPr>
          <a:xfrm>
            <a:off x="7498080" y="2423160"/>
            <a:ext cx="179070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30" name="Text 28"/>
          <p:cNvSpPr/>
          <p:nvPr/>
        </p:nvSpPr>
        <p:spPr>
          <a:xfrm>
            <a:off x="457200" y="278892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HER2</a:t>
            </a:r>
            <a:endParaRPr lang="en-US" sz="850" dirty="0"/>
          </a:p>
        </p:txBody>
      </p:sp>
      <p:sp>
        <p:nvSpPr>
          <p:cNvPr id="31" name="Shape 29"/>
          <p:cNvSpPr/>
          <p:nvPr/>
        </p:nvSpPr>
        <p:spPr>
          <a:xfrm>
            <a:off x="1645920" y="2788920"/>
            <a:ext cx="2148840" cy="292608"/>
          </a:xfrm>
          <a:prstGeom prst="rect">
            <a:avLst/>
          </a:prstGeom>
          <a:solidFill>
            <a:srgbClr val="7B1FA2"/>
          </a:solidFill>
          <a:ln/>
        </p:spPr>
      </p:sp>
      <p:sp>
        <p:nvSpPr>
          <p:cNvPr id="32" name="Text 30"/>
          <p:cNvSpPr/>
          <p:nvPr/>
        </p:nvSpPr>
        <p:spPr>
          <a:xfrm>
            <a:off x="1645920" y="2788920"/>
            <a:ext cx="21488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6</a:t>
            </a:r>
            <a:endParaRPr lang="en-US" sz="900" dirty="0"/>
          </a:p>
        </p:txBody>
      </p:sp>
      <p:sp>
        <p:nvSpPr>
          <p:cNvPr id="33" name="Text 31"/>
          <p:cNvSpPr/>
          <p:nvPr/>
        </p:nvSpPr>
        <p:spPr>
          <a:xfrm>
            <a:off x="6309360" y="278892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HER2</a:t>
            </a:r>
            <a:endParaRPr lang="en-US" sz="850" dirty="0"/>
          </a:p>
        </p:txBody>
      </p:sp>
      <p:sp>
        <p:nvSpPr>
          <p:cNvPr id="34" name="Shape 32"/>
          <p:cNvSpPr/>
          <p:nvPr/>
        </p:nvSpPr>
        <p:spPr>
          <a:xfrm>
            <a:off x="7498080" y="2788920"/>
            <a:ext cx="716280" cy="292608"/>
          </a:xfrm>
          <a:prstGeom prst="rect">
            <a:avLst/>
          </a:prstGeom>
          <a:solidFill>
            <a:srgbClr val="7B1FA2"/>
          </a:solidFill>
          <a:ln/>
        </p:spPr>
      </p:sp>
      <p:sp>
        <p:nvSpPr>
          <p:cNvPr id="35" name="Text 33"/>
          <p:cNvSpPr/>
          <p:nvPr/>
        </p:nvSpPr>
        <p:spPr>
          <a:xfrm>
            <a:off x="7498080" y="2788920"/>
            <a:ext cx="7162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36" name="Text 34"/>
          <p:cNvSpPr/>
          <p:nvPr/>
        </p:nvSpPr>
        <p:spPr>
          <a:xfrm>
            <a:off x="457200" y="315468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EGFR</a:t>
            </a:r>
            <a:endParaRPr lang="en-US" sz="850" dirty="0"/>
          </a:p>
        </p:txBody>
      </p:sp>
      <p:sp>
        <p:nvSpPr>
          <p:cNvPr id="37" name="Shape 35"/>
          <p:cNvSpPr/>
          <p:nvPr/>
        </p:nvSpPr>
        <p:spPr>
          <a:xfrm>
            <a:off x="1645920" y="3154680"/>
            <a:ext cx="1432560" cy="292608"/>
          </a:xfrm>
          <a:prstGeom prst="rect">
            <a:avLst/>
          </a:prstGeom>
          <a:solidFill>
            <a:srgbClr val="E65100"/>
          </a:solidFill>
          <a:ln/>
        </p:spPr>
      </p:sp>
      <p:sp>
        <p:nvSpPr>
          <p:cNvPr id="38" name="Text 36"/>
          <p:cNvSpPr/>
          <p:nvPr/>
        </p:nvSpPr>
        <p:spPr>
          <a:xfrm>
            <a:off x="1645920" y="3154680"/>
            <a:ext cx="14325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39" name="Text 37"/>
          <p:cNvSpPr/>
          <p:nvPr/>
        </p:nvSpPr>
        <p:spPr>
          <a:xfrm>
            <a:off x="6309360" y="315468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EGFR</a:t>
            </a:r>
            <a:endParaRPr lang="en-US" sz="850" dirty="0"/>
          </a:p>
        </p:txBody>
      </p:sp>
      <p:sp>
        <p:nvSpPr>
          <p:cNvPr id="40" name="Shape 38"/>
          <p:cNvSpPr/>
          <p:nvPr/>
        </p:nvSpPr>
        <p:spPr>
          <a:xfrm>
            <a:off x="7498080" y="3154680"/>
            <a:ext cx="1074420" cy="292608"/>
          </a:xfrm>
          <a:prstGeom prst="rect">
            <a:avLst/>
          </a:prstGeom>
          <a:solidFill>
            <a:srgbClr val="E65100"/>
          </a:solidFill>
          <a:ln/>
        </p:spPr>
      </p:sp>
      <p:sp>
        <p:nvSpPr>
          <p:cNvPr id="41" name="Text 39"/>
          <p:cNvSpPr/>
          <p:nvPr/>
        </p:nvSpPr>
        <p:spPr>
          <a:xfrm>
            <a:off x="7498080" y="3154680"/>
            <a:ext cx="10744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42" name="Text 40"/>
          <p:cNvSpPr/>
          <p:nvPr/>
        </p:nvSpPr>
        <p:spPr>
          <a:xfrm>
            <a:off x="457200" y="352044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Other/Novel</a:t>
            </a:r>
            <a:endParaRPr lang="en-US" sz="850" dirty="0"/>
          </a:p>
        </p:txBody>
      </p:sp>
      <p:sp>
        <p:nvSpPr>
          <p:cNvPr id="43" name="Shape 41"/>
          <p:cNvSpPr/>
          <p:nvPr/>
        </p:nvSpPr>
        <p:spPr>
          <a:xfrm>
            <a:off x="1645920" y="3520440"/>
            <a:ext cx="358140" cy="292608"/>
          </a:xfrm>
          <a:prstGeom prst="rect">
            <a:avLst/>
          </a:prstGeom>
          <a:solidFill>
            <a:srgbClr val="546E7A"/>
          </a:solidFill>
          <a:ln/>
        </p:spPr>
      </p:sp>
      <p:sp>
        <p:nvSpPr>
          <p:cNvPr id="44" name="Text 42"/>
          <p:cNvSpPr/>
          <p:nvPr/>
        </p:nvSpPr>
        <p:spPr>
          <a:xfrm>
            <a:off x="1645920" y="3520440"/>
            <a:ext cx="3581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45" name="Text 43"/>
          <p:cNvSpPr/>
          <p:nvPr/>
        </p:nvSpPr>
        <p:spPr>
          <a:xfrm>
            <a:off x="6309360" y="352044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Other/Novel</a:t>
            </a:r>
            <a:endParaRPr lang="en-US" sz="850" dirty="0"/>
          </a:p>
        </p:txBody>
      </p:sp>
      <p:sp>
        <p:nvSpPr>
          <p:cNvPr id="46" name="Shape 44"/>
          <p:cNvSpPr/>
          <p:nvPr/>
        </p:nvSpPr>
        <p:spPr>
          <a:xfrm>
            <a:off x="7498080" y="3520440"/>
            <a:ext cx="2148840" cy="292608"/>
          </a:xfrm>
          <a:prstGeom prst="rect">
            <a:avLst/>
          </a:prstGeom>
          <a:solidFill>
            <a:srgbClr val="546E7A"/>
          </a:solidFill>
          <a:ln/>
        </p:spPr>
      </p:sp>
      <p:sp>
        <p:nvSpPr>
          <p:cNvPr id="47" name="Text 45"/>
          <p:cNvSpPr/>
          <p:nvPr/>
        </p:nvSpPr>
        <p:spPr>
          <a:xfrm>
            <a:off x="7498080" y="3520440"/>
            <a:ext cx="21488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6</a:t>
            </a:r>
            <a:endParaRPr lang="en-US" sz="900" dirty="0"/>
          </a:p>
        </p:txBody>
      </p:sp>
      <p:sp>
        <p:nvSpPr>
          <p:cNvPr id="48" name="Text 46"/>
          <p:cNvSpPr/>
          <p:nvPr/>
        </p:nvSpPr>
        <p:spPr>
          <a:xfrm>
            <a:off x="457200" y="388620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PD1/VEGF</a:t>
            </a:r>
            <a:endParaRPr lang="en-US" sz="850" dirty="0"/>
          </a:p>
        </p:txBody>
      </p:sp>
      <p:sp>
        <p:nvSpPr>
          <p:cNvPr id="49" name="Shape 47"/>
          <p:cNvSpPr/>
          <p:nvPr/>
        </p:nvSpPr>
        <p:spPr>
          <a:xfrm>
            <a:off x="1645920" y="3886200"/>
            <a:ext cx="1432560" cy="292608"/>
          </a:xfrm>
          <a:prstGeom prst="rect">
            <a:avLst/>
          </a:prstGeom>
          <a:solidFill>
            <a:srgbClr val="01579B"/>
          </a:solidFill>
          <a:ln/>
        </p:spPr>
      </p:sp>
      <p:sp>
        <p:nvSpPr>
          <p:cNvPr id="50" name="Text 48"/>
          <p:cNvSpPr/>
          <p:nvPr/>
        </p:nvSpPr>
        <p:spPr>
          <a:xfrm>
            <a:off x="1645920" y="3886200"/>
            <a:ext cx="14325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51" name="Text 49"/>
          <p:cNvSpPr/>
          <p:nvPr/>
        </p:nvSpPr>
        <p:spPr>
          <a:xfrm>
            <a:off x="6309360" y="388620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PD1/VEGF</a:t>
            </a:r>
            <a:endParaRPr lang="en-US" sz="850" dirty="0"/>
          </a:p>
        </p:txBody>
      </p:sp>
      <p:sp>
        <p:nvSpPr>
          <p:cNvPr id="52" name="Shape 50"/>
          <p:cNvSpPr/>
          <p:nvPr/>
        </p:nvSpPr>
        <p:spPr>
          <a:xfrm>
            <a:off x="7498080" y="3886200"/>
            <a:ext cx="358140" cy="292608"/>
          </a:xfrm>
          <a:prstGeom prst="rect">
            <a:avLst/>
          </a:prstGeom>
          <a:solidFill>
            <a:srgbClr val="01579B"/>
          </a:solidFill>
          <a:ln/>
        </p:spPr>
      </p:sp>
      <p:sp>
        <p:nvSpPr>
          <p:cNvPr id="53" name="Text 51"/>
          <p:cNvSpPr/>
          <p:nvPr/>
        </p:nvSpPr>
        <p:spPr>
          <a:xfrm>
            <a:off x="7498080" y="3886200"/>
            <a:ext cx="3581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54" name="Text 52"/>
          <p:cNvSpPr/>
          <p:nvPr/>
        </p:nvSpPr>
        <p:spPr>
          <a:xfrm>
            <a:off x="457200" y="425196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TIGIT</a:t>
            </a:r>
            <a:endParaRPr lang="en-US" sz="850" dirty="0"/>
          </a:p>
        </p:txBody>
      </p:sp>
      <p:sp>
        <p:nvSpPr>
          <p:cNvPr id="55" name="Shape 53"/>
          <p:cNvSpPr/>
          <p:nvPr/>
        </p:nvSpPr>
        <p:spPr>
          <a:xfrm>
            <a:off x="1645920" y="4251960"/>
            <a:ext cx="1790700" cy="292608"/>
          </a:xfrm>
          <a:prstGeom prst="rect">
            <a:avLst/>
          </a:prstGeom>
          <a:solidFill>
            <a:srgbClr val="007A85"/>
          </a:solidFill>
          <a:ln/>
        </p:spPr>
      </p:sp>
      <p:sp>
        <p:nvSpPr>
          <p:cNvPr id="56" name="Text 54"/>
          <p:cNvSpPr/>
          <p:nvPr/>
        </p:nvSpPr>
        <p:spPr>
          <a:xfrm>
            <a:off x="1645920" y="4251960"/>
            <a:ext cx="179070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57" name="Text 55"/>
          <p:cNvSpPr/>
          <p:nvPr/>
        </p:nvSpPr>
        <p:spPr>
          <a:xfrm>
            <a:off x="6309360" y="425196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TIGIT</a:t>
            </a:r>
            <a:endParaRPr lang="en-US" sz="850" dirty="0"/>
          </a:p>
        </p:txBody>
      </p:sp>
      <p:sp>
        <p:nvSpPr>
          <p:cNvPr id="58" name="Text 56"/>
          <p:cNvSpPr/>
          <p:nvPr/>
        </p:nvSpPr>
        <p:spPr>
          <a:xfrm>
            <a:off x="7543800" y="4251960"/>
            <a:ext cx="274320" cy="292608"/>
          </a:xfrm>
          <a:prstGeom prst="rect">
            <a:avLst/>
          </a:prstGeom>
          <a:noFill/>
          <a:ln/>
        </p:spPr>
        <p:txBody>
          <a:bodyPr wrap="square" lIns="0" tIns="0" rIns="0" bIns="0" rtlCol="0" anchor="ctr"/>
          <a:lstStyle/>
          <a:p>
            <a:pPr indent="0" marL="0">
              <a:buNone/>
            </a:pPr>
            <a:r>
              <a:rPr lang="en-US" sz="900" dirty="0">
                <a:solidFill>
                  <a:srgbClr val="CCCCCC"/>
                </a:solidFill>
                <a:latin typeface="Arial" pitchFamily="34" charset="0"/>
                <a:ea typeface="Arial" pitchFamily="34" charset="-122"/>
                <a:cs typeface="Arial" pitchFamily="34" charset="-120"/>
              </a:rPr>
              <a:t>–</a:t>
            </a:r>
            <a:endParaRPr lang="en-US" sz="900" dirty="0"/>
          </a:p>
        </p:txBody>
      </p:sp>
      <p:sp>
        <p:nvSpPr>
          <p:cNvPr id="59" name="Text 57"/>
          <p:cNvSpPr/>
          <p:nvPr/>
        </p:nvSpPr>
        <p:spPr>
          <a:xfrm>
            <a:off x="457200" y="461772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ALK/ROS1</a:t>
            </a:r>
            <a:endParaRPr lang="en-US" sz="850" dirty="0"/>
          </a:p>
        </p:txBody>
      </p:sp>
      <p:sp>
        <p:nvSpPr>
          <p:cNvPr id="60" name="Shape 58"/>
          <p:cNvSpPr/>
          <p:nvPr/>
        </p:nvSpPr>
        <p:spPr>
          <a:xfrm>
            <a:off x="1645920" y="4617720"/>
            <a:ext cx="1432560" cy="292608"/>
          </a:xfrm>
          <a:prstGeom prst="rect">
            <a:avLst/>
          </a:prstGeom>
          <a:solidFill>
            <a:srgbClr val="546E7A"/>
          </a:solidFill>
          <a:ln/>
        </p:spPr>
      </p:sp>
      <p:sp>
        <p:nvSpPr>
          <p:cNvPr id="61" name="Text 59"/>
          <p:cNvSpPr/>
          <p:nvPr/>
        </p:nvSpPr>
        <p:spPr>
          <a:xfrm>
            <a:off x="1645920" y="4617720"/>
            <a:ext cx="14325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62" name="Text 60"/>
          <p:cNvSpPr/>
          <p:nvPr/>
        </p:nvSpPr>
        <p:spPr>
          <a:xfrm>
            <a:off x="6309360" y="461772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ALK/ROS1</a:t>
            </a:r>
            <a:endParaRPr lang="en-US" sz="850" dirty="0"/>
          </a:p>
        </p:txBody>
      </p:sp>
      <p:sp>
        <p:nvSpPr>
          <p:cNvPr id="63" name="Text 61"/>
          <p:cNvSpPr/>
          <p:nvPr/>
        </p:nvSpPr>
        <p:spPr>
          <a:xfrm>
            <a:off x="7543800" y="4617720"/>
            <a:ext cx="274320" cy="292608"/>
          </a:xfrm>
          <a:prstGeom prst="rect">
            <a:avLst/>
          </a:prstGeom>
          <a:noFill/>
          <a:ln/>
        </p:spPr>
        <p:txBody>
          <a:bodyPr wrap="square" lIns="0" tIns="0" rIns="0" bIns="0" rtlCol="0" anchor="ctr"/>
          <a:lstStyle/>
          <a:p>
            <a:pPr indent="0" marL="0">
              <a:buNone/>
            </a:pPr>
            <a:r>
              <a:rPr lang="en-US" sz="900" dirty="0">
                <a:solidFill>
                  <a:srgbClr val="CCCCCC"/>
                </a:solidFill>
                <a:latin typeface="Arial" pitchFamily="34" charset="0"/>
                <a:ea typeface="Arial" pitchFamily="34" charset="-122"/>
                <a:cs typeface="Arial" pitchFamily="34" charset="-120"/>
              </a:rPr>
              <a:t>–</a:t>
            </a:r>
            <a:endParaRPr lang="en-US" sz="900" dirty="0"/>
          </a:p>
        </p:txBody>
      </p:sp>
      <p:sp>
        <p:nvSpPr>
          <p:cNvPr id="64" name="Text 62"/>
          <p:cNvSpPr/>
          <p:nvPr/>
        </p:nvSpPr>
        <p:spPr>
          <a:xfrm>
            <a:off x="457200" y="498348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LAG3</a:t>
            </a:r>
            <a:endParaRPr lang="en-US" sz="850" dirty="0"/>
          </a:p>
        </p:txBody>
      </p:sp>
      <p:sp>
        <p:nvSpPr>
          <p:cNvPr id="65" name="Shape 63"/>
          <p:cNvSpPr/>
          <p:nvPr/>
        </p:nvSpPr>
        <p:spPr>
          <a:xfrm>
            <a:off x="1645920" y="4983480"/>
            <a:ext cx="1074420" cy="292608"/>
          </a:xfrm>
          <a:prstGeom prst="rect">
            <a:avLst/>
          </a:prstGeom>
          <a:solidFill>
            <a:srgbClr val="1B5E20"/>
          </a:solidFill>
          <a:ln/>
        </p:spPr>
      </p:sp>
      <p:sp>
        <p:nvSpPr>
          <p:cNvPr id="66" name="Text 64"/>
          <p:cNvSpPr/>
          <p:nvPr/>
        </p:nvSpPr>
        <p:spPr>
          <a:xfrm>
            <a:off x="1645920" y="4983480"/>
            <a:ext cx="10744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67" name="Text 65"/>
          <p:cNvSpPr/>
          <p:nvPr/>
        </p:nvSpPr>
        <p:spPr>
          <a:xfrm>
            <a:off x="6309360" y="498348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LAG3</a:t>
            </a:r>
            <a:endParaRPr lang="en-US" sz="850" dirty="0"/>
          </a:p>
        </p:txBody>
      </p:sp>
      <p:sp>
        <p:nvSpPr>
          <p:cNvPr id="68" name="Text 66"/>
          <p:cNvSpPr/>
          <p:nvPr/>
        </p:nvSpPr>
        <p:spPr>
          <a:xfrm>
            <a:off x="7543800" y="4983480"/>
            <a:ext cx="274320" cy="292608"/>
          </a:xfrm>
          <a:prstGeom prst="rect">
            <a:avLst/>
          </a:prstGeom>
          <a:noFill/>
          <a:ln/>
        </p:spPr>
        <p:txBody>
          <a:bodyPr wrap="square" lIns="0" tIns="0" rIns="0" bIns="0" rtlCol="0" anchor="ctr"/>
          <a:lstStyle/>
          <a:p>
            <a:pPr indent="0" marL="0">
              <a:buNone/>
            </a:pPr>
            <a:r>
              <a:rPr lang="en-US" sz="900" dirty="0">
                <a:solidFill>
                  <a:srgbClr val="CCCCCC"/>
                </a:solidFill>
                <a:latin typeface="Arial" pitchFamily="34" charset="0"/>
                <a:ea typeface="Arial" pitchFamily="34" charset="-122"/>
                <a:cs typeface="Arial" pitchFamily="34" charset="-120"/>
              </a:rPr>
              <a:t>–</a:t>
            </a:r>
            <a:endParaRPr lang="en-US" sz="900" dirty="0"/>
          </a:p>
        </p:txBody>
      </p:sp>
      <p:sp>
        <p:nvSpPr>
          <p:cNvPr id="69" name="Text 67"/>
          <p:cNvSpPr/>
          <p:nvPr/>
        </p:nvSpPr>
        <p:spPr>
          <a:xfrm>
            <a:off x="457200" y="534924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VEGF</a:t>
            </a:r>
            <a:endParaRPr lang="en-US" sz="850" dirty="0"/>
          </a:p>
        </p:txBody>
      </p:sp>
      <p:sp>
        <p:nvSpPr>
          <p:cNvPr id="70" name="Shape 68"/>
          <p:cNvSpPr/>
          <p:nvPr/>
        </p:nvSpPr>
        <p:spPr>
          <a:xfrm>
            <a:off x="1645920" y="5349240"/>
            <a:ext cx="1074420" cy="292608"/>
          </a:xfrm>
          <a:prstGeom prst="rect">
            <a:avLst/>
          </a:prstGeom>
          <a:solidFill>
            <a:srgbClr val="01579B"/>
          </a:solidFill>
          <a:ln/>
        </p:spPr>
      </p:sp>
      <p:sp>
        <p:nvSpPr>
          <p:cNvPr id="71" name="Text 69"/>
          <p:cNvSpPr/>
          <p:nvPr/>
        </p:nvSpPr>
        <p:spPr>
          <a:xfrm>
            <a:off x="1645920" y="5349240"/>
            <a:ext cx="10744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72" name="Text 70"/>
          <p:cNvSpPr/>
          <p:nvPr/>
        </p:nvSpPr>
        <p:spPr>
          <a:xfrm>
            <a:off x="6309360" y="534924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VEGF</a:t>
            </a:r>
            <a:endParaRPr lang="en-US" sz="850" dirty="0"/>
          </a:p>
        </p:txBody>
      </p:sp>
      <p:sp>
        <p:nvSpPr>
          <p:cNvPr id="73" name="Text 71"/>
          <p:cNvSpPr/>
          <p:nvPr/>
        </p:nvSpPr>
        <p:spPr>
          <a:xfrm>
            <a:off x="7543800" y="5349240"/>
            <a:ext cx="274320" cy="292608"/>
          </a:xfrm>
          <a:prstGeom prst="rect">
            <a:avLst/>
          </a:prstGeom>
          <a:noFill/>
          <a:ln/>
        </p:spPr>
        <p:txBody>
          <a:bodyPr wrap="square" lIns="0" tIns="0" rIns="0" bIns="0" rtlCol="0" anchor="ctr"/>
          <a:lstStyle/>
          <a:p>
            <a:pPr indent="0" marL="0">
              <a:buNone/>
            </a:pPr>
            <a:r>
              <a:rPr lang="en-US" sz="900" dirty="0">
                <a:solidFill>
                  <a:srgbClr val="CCCCCC"/>
                </a:solidFill>
                <a:latin typeface="Arial" pitchFamily="34" charset="0"/>
                <a:ea typeface="Arial" pitchFamily="34" charset="-122"/>
                <a:cs typeface="Arial" pitchFamily="34" charset="-120"/>
              </a:rPr>
              <a:t>–</a:t>
            </a:r>
            <a:endParaRPr lang="en-US" sz="900" dirty="0"/>
          </a:p>
        </p:txBody>
      </p:sp>
      <p:sp>
        <p:nvSpPr>
          <p:cNvPr id="74" name="Text 72"/>
          <p:cNvSpPr/>
          <p:nvPr/>
        </p:nvSpPr>
        <p:spPr>
          <a:xfrm>
            <a:off x="457200" y="571500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CTLA4</a:t>
            </a:r>
            <a:endParaRPr lang="en-US" sz="850" dirty="0"/>
          </a:p>
        </p:txBody>
      </p:sp>
      <p:sp>
        <p:nvSpPr>
          <p:cNvPr id="75" name="Shape 73"/>
          <p:cNvSpPr/>
          <p:nvPr/>
        </p:nvSpPr>
        <p:spPr>
          <a:xfrm>
            <a:off x="1645920" y="5715000"/>
            <a:ext cx="358140" cy="292608"/>
          </a:xfrm>
          <a:prstGeom prst="rect">
            <a:avLst/>
          </a:prstGeom>
          <a:solidFill>
            <a:srgbClr val="BF360C"/>
          </a:solidFill>
          <a:ln/>
        </p:spPr>
      </p:sp>
      <p:sp>
        <p:nvSpPr>
          <p:cNvPr id="76" name="Text 74"/>
          <p:cNvSpPr/>
          <p:nvPr/>
        </p:nvSpPr>
        <p:spPr>
          <a:xfrm>
            <a:off x="1645920" y="5715000"/>
            <a:ext cx="3581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77" name="Text 75"/>
          <p:cNvSpPr/>
          <p:nvPr/>
        </p:nvSpPr>
        <p:spPr>
          <a:xfrm>
            <a:off x="6309360" y="5715000"/>
            <a:ext cx="1097280" cy="292608"/>
          </a:xfrm>
          <a:prstGeom prst="rect">
            <a:avLst/>
          </a:prstGeom>
          <a:noFill/>
          <a:ln/>
        </p:spPr>
        <p:txBody>
          <a:bodyPr wrap="square" lIns="0" tIns="0" rIns="0" bIns="0" rtlCol="0" anchor="ctr"/>
          <a:lstStyle/>
          <a:p>
            <a:pPr algn="r" indent="0" marL="0">
              <a:buNone/>
            </a:pPr>
            <a:r>
              <a:rPr lang="en-US" sz="850" dirty="0">
                <a:solidFill>
                  <a:srgbClr val="1E293B"/>
                </a:solidFill>
                <a:latin typeface="Arial" pitchFamily="34" charset="0"/>
                <a:ea typeface="Arial" pitchFamily="34" charset="-122"/>
                <a:cs typeface="Arial" pitchFamily="34" charset="-120"/>
              </a:rPr>
              <a:t>CTLA4</a:t>
            </a:r>
            <a:endParaRPr lang="en-US" sz="850" dirty="0"/>
          </a:p>
        </p:txBody>
      </p:sp>
      <p:sp>
        <p:nvSpPr>
          <p:cNvPr id="78" name="Shape 76"/>
          <p:cNvSpPr/>
          <p:nvPr/>
        </p:nvSpPr>
        <p:spPr>
          <a:xfrm>
            <a:off x="7498080" y="5715000"/>
            <a:ext cx="358140" cy="292608"/>
          </a:xfrm>
          <a:prstGeom prst="rect">
            <a:avLst/>
          </a:prstGeom>
          <a:solidFill>
            <a:srgbClr val="BF360C"/>
          </a:solidFill>
          <a:ln/>
        </p:spPr>
      </p:sp>
      <p:sp>
        <p:nvSpPr>
          <p:cNvPr id="79" name="Text 77"/>
          <p:cNvSpPr/>
          <p:nvPr/>
        </p:nvSpPr>
        <p:spPr>
          <a:xfrm>
            <a:off x="7498080" y="5715000"/>
            <a:ext cx="3581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80" name="Shape 78"/>
          <p:cNvSpPr/>
          <p:nvPr/>
        </p:nvSpPr>
        <p:spPr>
          <a:xfrm>
            <a:off x="5943600" y="1188720"/>
            <a:ext cx="0" cy="4937760"/>
          </a:xfrm>
          <a:prstGeom prst="line">
            <a:avLst/>
          </a:prstGeom>
          <a:noFill/>
          <a:ln w="25400">
            <a:solidFill>
              <a:srgbClr val="002060"/>
            </a:solidFill>
            <a:prstDash val="solid"/>
          </a:ln>
        </p:spPr>
      </p:sp>
      <p:sp>
        <p:nvSpPr>
          <p:cNvPr id="81" name="Shape 79"/>
          <p:cNvSpPr/>
          <p:nvPr/>
        </p:nvSpPr>
        <p:spPr>
          <a:xfrm>
            <a:off x="365760" y="5669280"/>
            <a:ext cx="11430000" cy="777240"/>
          </a:xfrm>
          <a:prstGeom prst="rect">
            <a:avLst/>
          </a:prstGeom>
          <a:solidFill>
            <a:srgbClr val="001540"/>
          </a:solidFill>
          <a:ln/>
        </p:spPr>
      </p:sp>
      <p:sp>
        <p:nvSpPr>
          <p:cNvPr id="82" name="Text 80"/>
          <p:cNvSpPr/>
          <p:nvPr/>
        </p:nvSpPr>
        <p:spPr>
          <a:xfrm>
            <a:off x="548640" y="5715000"/>
            <a:ext cx="11064240" cy="685800"/>
          </a:xfrm>
          <a:prstGeom prst="rect">
            <a:avLst/>
          </a:prstGeom>
          <a:noFill/>
          <a:ln/>
        </p:spPr>
        <p:txBody>
          <a:bodyPr wrap="square" rtlCol="0" anchor="ctr"/>
          <a:lstStyle/>
          <a:p>
            <a:pPr indent="0" marL="0">
              <a:buNone/>
            </a:pPr>
            <a:r>
              <a:rPr lang="en-US" sz="900" b="1" dirty="0">
                <a:solidFill>
                  <a:srgbClr val="00B0B9"/>
                </a:solidFill>
                <a:latin typeface="Arial" pitchFamily="34" charset="0"/>
                <a:ea typeface="Arial" pitchFamily="34" charset="-122"/>
                <a:cs typeface="Arial" pitchFamily="34" charset="-120"/>
              </a:rPr>
              <a:t>Keytruda Implications: </a:t>
            </a:r>
            <a:pPr indent="0" marL="0">
              <a:buNone/>
            </a:pPr>
            <a:r>
              <a:rPr lang="en-US" sz="850" dirty="0">
                <a:solidFill>
                  <a:srgbClr val="FFFFFF"/>
                </a:solidFill>
                <a:latin typeface="Arial" pitchFamily="34" charset="0"/>
                <a:ea typeface="Arial" pitchFamily="34" charset="-122"/>
                <a:cs typeface="Arial" pitchFamily="34" charset="-120"/>
              </a:rPr>
              <a:t>1L is where pembro faces the deepest competitive threat — IO checkpoint drugs dominate, but the real question is what gets layered on or substituted for pembro. KRAS inhibitors (12 drugs in 1L) are pembro-additive, which protects Keytruda's role. PD1/VEGF bispecifics and TROP2 ADC combos are the true displacement risks. In 2L, pembro is less relevant — post-IO progression drives novel mechanism investment, creating opportunities rather than threats.</a:t>
            </a:r>
            <a:endParaRPr lang="en-US" sz="900" dirty="0"/>
          </a:p>
        </p:txBody>
      </p:sp>
      <p:sp>
        <p:nvSpPr>
          <p:cNvPr id="83" name="Text 81"/>
          <p:cNvSpPr/>
          <p:nvPr/>
        </p:nvSpPr>
        <p:spPr>
          <a:xfrm>
            <a:off x="365760" y="6629400"/>
            <a:ext cx="11430000" cy="137160"/>
          </a:xfrm>
          <a:prstGeom prst="rect">
            <a:avLst/>
          </a:prstGeom>
          <a:noFill/>
          <a:ln/>
        </p:spPr>
        <p:txBody>
          <a:bodyPr wrap="square" rtlCol="0" anchor="ctr"/>
          <a:lstStyle/>
          <a:p>
            <a:pPr indent="0" marL="0">
              <a:buNone/>
            </a:pPr>
            <a:r>
              <a:rPr lang="en-US" sz="600" i="1" dirty="0">
                <a:solidFill>
                  <a:srgbClr val="AAAAAA"/>
                </a:solidFill>
                <a:latin typeface="Arial" pitchFamily="34" charset="0"/>
                <a:ea typeface="Arial" pitchFamily="34" charset="-122"/>
                <a:cs typeface="Arial" pitchFamily="34" charset="-120"/>
              </a:rPr>
              <a:t>Source: Pipeline database | Phase 3 only, biosimilars excluded | March 2026</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11430000" cy="365760"/>
          </a:xfrm>
          <a:prstGeom prst="rect">
            <a:avLst/>
          </a:prstGeom>
          <a:noFill/>
          <a:ln/>
        </p:spPr>
        <p:txBody>
          <a:bodyPr wrap="square" rtlCol="0" anchor="ctr"/>
          <a:lstStyle/>
          <a:p>
            <a:pPr indent="0" marL="0">
              <a:buNone/>
            </a:pPr>
            <a:r>
              <a:rPr lang="en-US" sz="1350" b="1" dirty="0">
                <a:solidFill>
                  <a:srgbClr val="002060"/>
                </a:solidFill>
                <a:latin typeface="Arial" pitchFamily="34" charset="0"/>
                <a:ea typeface="Arial" pitchFamily="34" charset="-122"/>
                <a:cs typeface="Arial" pitchFamily="34" charset="-120"/>
              </a:rPr>
              <a:t>Exhibit 3: Phase 3 Catalyst Timeline — Time to Readout from Today</a:t>
            </a:r>
            <a:endParaRPr lang="en-US" sz="1350" dirty="0"/>
          </a:p>
        </p:txBody>
      </p:sp>
      <p:sp>
        <p:nvSpPr>
          <p:cNvPr id="3" name="Text 1"/>
          <p:cNvSpPr/>
          <p:nvPr/>
        </p:nvSpPr>
        <p:spPr>
          <a:xfrm>
            <a:off x="365760" y="530352"/>
            <a:ext cx="11430000" cy="182880"/>
          </a:xfrm>
          <a:prstGeom prst="rect">
            <a:avLst/>
          </a:prstGeom>
          <a:noFill/>
          <a:ln/>
        </p:spPr>
        <p:txBody>
          <a:bodyPr wrap="square" rtlCol="0" anchor="ctr"/>
          <a:lstStyle/>
          <a:p>
            <a:pPr indent="0" marL="0">
              <a:buNone/>
            </a:pPr>
            <a:r>
              <a:rPr lang="en-US" sz="800" i="1" dirty="0">
                <a:solidFill>
                  <a:srgbClr val="64748B"/>
                </a:solidFill>
                <a:latin typeface="Arial" pitchFamily="34" charset="0"/>
                <a:ea typeface="Arial" pitchFamily="34" charset="-122"/>
                <a:cs typeface="Arial" pitchFamily="34" charset="-120"/>
              </a:rPr>
              <a:t>When does each competitive threat materialize? Bars show remaining time from today (Mar 2026) to primary completion date.</a:t>
            </a:r>
            <a:endParaRPr lang="en-US" sz="800" dirty="0"/>
          </a:p>
        </p:txBody>
      </p:sp>
      <p:sp>
        <p:nvSpPr>
          <p:cNvPr id="4" name="Shape 2"/>
          <p:cNvSpPr/>
          <p:nvPr/>
        </p:nvSpPr>
        <p:spPr>
          <a:xfrm>
            <a:off x="2560320" y="841248"/>
            <a:ext cx="9144000" cy="0"/>
          </a:xfrm>
          <a:prstGeom prst="line">
            <a:avLst/>
          </a:prstGeom>
          <a:noFill/>
          <a:ln w="19050">
            <a:solidFill>
              <a:srgbClr val="002060"/>
            </a:solidFill>
            <a:prstDash val="solid"/>
          </a:ln>
        </p:spPr>
      </p:sp>
      <p:sp>
        <p:nvSpPr>
          <p:cNvPr id="5" name="Shape 3"/>
          <p:cNvSpPr/>
          <p:nvPr/>
        </p:nvSpPr>
        <p:spPr>
          <a:xfrm>
            <a:off x="2560320" y="822960"/>
            <a:ext cx="0" cy="73152"/>
          </a:xfrm>
          <a:prstGeom prst="line">
            <a:avLst/>
          </a:prstGeom>
          <a:noFill/>
          <a:ln w="25400">
            <a:solidFill>
              <a:srgbClr val="D32F2F"/>
            </a:solidFill>
            <a:prstDash val="solid"/>
          </a:ln>
        </p:spPr>
      </p:sp>
      <p:sp>
        <p:nvSpPr>
          <p:cNvPr id="6" name="Text 4"/>
          <p:cNvSpPr/>
          <p:nvPr/>
        </p:nvSpPr>
        <p:spPr>
          <a:xfrm>
            <a:off x="2194560" y="548640"/>
            <a:ext cx="731520" cy="274320"/>
          </a:xfrm>
          <a:prstGeom prst="rect">
            <a:avLst/>
          </a:prstGeom>
          <a:noFill/>
          <a:ln/>
        </p:spPr>
        <p:txBody>
          <a:bodyPr wrap="square" rtlCol="0" anchor="ctr"/>
          <a:lstStyle/>
          <a:p>
            <a:pPr algn="ctr" indent="0" marL="0">
              <a:buNone/>
            </a:pPr>
            <a:r>
              <a:rPr lang="en-US" sz="700" b="1" dirty="0">
                <a:solidFill>
                  <a:srgbClr val="D32F2F"/>
                </a:solidFill>
                <a:latin typeface="Arial" pitchFamily="34" charset="0"/>
                <a:ea typeface="Arial" pitchFamily="34" charset="-122"/>
                <a:cs typeface="Arial" pitchFamily="34" charset="-120"/>
              </a:rPr>
              <a:t>Today</a:t>
            </a:r>
            <a:endParaRPr lang="en-US" sz="700" dirty="0"/>
          </a:p>
          <a:p>
            <a:pPr algn="ctr" indent="0" marL="0">
              <a:buNone/>
            </a:pPr>
            <a:r>
              <a:rPr lang="en-US" sz="700" b="1" dirty="0">
                <a:solidFill>
                  <a:srgbClr val="D32F2F"/>
                </a:solidFill>
                <a:latin typeface="Arial" pitchFamily="34" charset="0"/>
                <a:ea typeface="Arial" pitchFamily="34" charset="-122"/>
                <a:cs typeface="Arial" pitchFamily="34" charset="-120"/>
              </a:rPr>
              <a:t>Mar '26</a:t>
            </a:r>
            <a:endParaRPr lang="en-US" sz="700" dirty="0"/>
          </a:p>
        </p:txBody>
      </p:sp>
      <p:sp>
        <p:nvSpPr>
          <p:cNvPr id="7" name="Shape 5"/>
          <p:cNvSpPr/>
          <p:nvPr/>
        </p:nvSpPr>
        <p:spPr>
          <a:xfrm>
            <a:off x="4389120" y="804672"/>
            <a:ext cx="0" cy="73152"/>
          </a:xfrm>
          <a:prstGeom prst="line">
            <a:avLst/>
          </a:prstGeom>
          <a:noFill/>
          <a:ln w="12700">
            <a:solidFill>
              <a:srgbClr val="002060"/>
            </a:solidFill>
            <a:prstDash val="solid"/>
          </a:ln>
        </p:spPr>
      </p:sp>
      <p:sp>
        <p:nvSpPr>
          <p:cNvPr id="8" name="Text 6"/>
          <p:cNvSpPr/>
          <p:nvPr/>
        </p:nvSpPr>
        <p:spPr>
          <a:xfrm>
            <a:off x="4114800" y="585216"/>
            <a:ext cx="548640" cy="182880"/>
          </a:xfrm>
          <a:prstGeom prst="rect">
            <a:avLst/>
          </a:prstGeom>
          <a:noFill/>
          <a:ln/>
        </p:spPr>
        <p:txBody>
          <a:bodyPr wrap="square" rtlCol="0" anchor="ctr"/>
          <a:lstStyle/>
          <a:p>
            <a:pPr algn="ctr" indent="0" marL="0">
              <a:buNone/>
            </a:pPr>
            <a:r>
              <a:rPr lang="en-US" sz="800" b="1" dirty="0">
                <a:solidFill>
                  <a:srgbClr val="002060"/>
                </a:solidFill>
                <a:latin typeface="Arial" pitchFamily="34" charset="0"/>
                <a:ea typeface="Arial" pitchFamily="34" charset="-122"/>
                <a:cs typeface="Arial" pitchFamily="34" charset="-120"/>
              </a:rPr>
              <a:t>2027</a:t>
            </a:r>
            <a:endParaRPr lang="en-US" sz="800" dirty="0"/>
          </a:p>
        </p:txBody>
      </p:sp>
      <p:sp>
        <p:nvSpPr>
          <p:cNvPr id="9" name="Shape 7"/>
          <p:cNvSpPr/>
          <p:nvPr/>
        </p:nvSpPr>
        <p:spPr>
          <a:xfrm>
            <a:off x="6827520" y="804672"/>
            <a:ext cx="0" cy="73152"/>
          </a:xfrm>
          <a:prstGeom prst="line">
            <a:avLst/>
          </a:prstGeom>
          <a:noFill/>
          <a:ln w="12700">
            <a:solidFill>
              <a:srgbClr val="002060"/>
            </a:solidFill>
            <a:prstDash val="solid"/>
          </a:ln>
        </p:spPr>
      </p:sp>
      <p:sp>
        <p:nvSpPr>
          <p:cNvPr id="10" name="Text 8"/>
          <p:cNvSpPr/>
          <p:nvPr/>
        </p:nvSpPr>
        <p:spPr>
          <a:xfrm>
            <a:off x="6553200" y="585216"/>
            <a:ext cx="548640" cy="182880"/>
          </a:xfrm>
          <a:prstGeom prst="rect">
            <a:avLst/>
          </a:prstGeom>
          <a:noFill/>
          <a:ln/>
        </p:spPr>
        <p:txBody>
          <a:bodyPr wrap="square" rtlCol="0" anchor="ctr"/>
          <a:lstStyle/>
          <a:p>
            <a:pPr algn="ctr" indent="0" marL="0">
              <a:buNone/>
            </a:pPr>
            <a:r>
              <a:rPr lang="en-US" sz="800" b="1" dirty="0">
                <a:solidFill>
                  <a:srgbClr val="002060"/>
                </a:solidFill>
                <a:latin typeface="Arial" pitchFamily="34" charset="0"/>
                <a:ea typeface="Arial" pitchFamily="34" charset="-122"/>
                <a:cs typeface="Arial" pitchFamily="34" charset="-120"/>
              </a:rPr>
              <a:t>2028</a:t>
            </a:r>
            <a:endParaRPr lang="en-US" sz="800" dirty="0"/>
          </a:p>
        </p:txBody>
      </p:sp>
      <p:sp>
        <p:nvSpPr>
          <p:cNvPr id="11" name="Shape 9"/>
          <p:cNvSpPr/>
          <p:nvPr/>
        </p:nvSpPr>
        <p:spPr>
          <a:xfrm>
            <a:off x="9265920" y="804672"/>
            <a:ext cx="0" cy="73152"/>
          </a:xfrm>
          <a:prstGeom prst="line">
            <a:avLst/>
          </a:prstGeom>
          <a:noFill/>
          <a:ln w="12700">
            <a:solidFill>
              <a:srgbClr val="002060"/>
            </a:solidFill>
            <a:prstDash val="solid"/>
          </a:ln>
        </p:spPr>
      </p:sp>
      <p:sp>
        <p:nvSpPr>
          <p:cNvPr id="12" name="Text 10"/>
          <p:cNvSpPr/>
          <p:nvPr/>
        </p:nvSpPr>
        <p:spPr>
          <a:xfrm>
            <a:off x="8991600" y="585216"/>
            <a:ext cx="548640" cy="182880"/>
          </a:xfrm>
          <a:prstGeom prst="rect">
            <a:avLst/>
          </a:prstGeom>
          <a:noFill/>
          <a:ln/>
        </p:spPr>
        <p:txBody>
          <a:bodyPr wrap="square" rtlCol="0" anchor="ctr"/>
          <a:lstStyle/>
          <a:p>
            <a:pPr algn="ctr" indent="0" marL="0">
              <a:buNone/>
            </a:pPr>
            <a:r>
              <a:rPr lang="en-US" sz="800" b="1" dirty="0">
                <a:solidFill>
                  <a:srgbClr val="002060"/>
                </a:solidFill>
                <a:latin typeface="Arial" pitchFamily="34" charset="0"/>
                <a:ea typeface="Arial" pitchFamily="34" charset="-122"/>
                <a:cs typeface="Arial" pitchFamily="34" charset="-120"/>
              </a:rPr>
              <a:t>2029</a:t>
            </a:r>
            <a:endParaRPr lang="en-US" sz="800" dirty="0"/>
          </a:p>
        </p:txBody>
      </p:sp>
      <p:sp>
        <p:nvSpPr>
          <p:cNvPr id="13" name="Shape 11"/>
          <p:cNvSpPr/>
          <p:nvPr/>
        </p:nvSpPr>
        <p:spPr>
          <a:xfrm>
            <a:off x="11704320" y="804672"/>
            <a:ext cx="0" cy="73152"/>
          </a:xfrm>
          <a:prstGeom prst="line">
            <a:avLst/>
          </a:prstGeom>
          <a:noFill/>
          <a:ln w="12700">
            <a:solidFill>
              <a:srgbClr val="002060"/>
            </a:solidFill>
            <a:prstDash val="solid"/>
          </a:ln>
        </p:spPr>
      </p:sp>
      <p:sp>
        <p:nvSpPr>
          <p:cNvPr id="14" name="Text 12"/>
          <p:cNvSpPr/>
          <p:nvPr/>
        </p:nvSpPr>
        <p:spPr>
          <a:xfrm>
            <a:off x="11430000" y="585216"/>
            <a:ext cx="548640" cy="182880"/>
          </a:xfrm>
          <a:prstGeom prst="rect">
            <a:avLst/>
          </a:prstGeom>
          <a:noFill/>
          <a:ln/>
        </p:spPr>
        <p:txBody>
          <a:bodyPr wrap="square" rtlCol="0" anchor="ctr"/>
          <a:lstStyle/>
          <a:p>
            <a:pPr algn="ctr" indent="0" marL="0">
              <a:buNone/>
            </a:pPr>
            <a:r>
              <a:rPr lang="en-US" sz="800" b="1" dirty="0">
                <a:solidFill>
                  <a:srgbClr val="002060"/>
                </a:solidFill>
                <a:latin typeface="Arial" pitchFamily="34" charset="0"/>
                <a:ea typeface="Arial" pitchFamily="34" charset="-122"/>
                <a:cs typeface="Arial" pitchFamily="34" charset="-120"/>
              </a:rPr>
              <a:t>2030</a:t>
            </a:r>
            <a:endParaRPr lang="en-US" sz="800" dirty="0"/>
          </a:p>
        </p:txBody>
      </p:sp>
      <p:sp>
        <p:nvSpPr>
          <p:cNvPr id="15" name="Text 13"/>
          <p:cNvSpPr/>
          <p:nvPr/>
        </p:nvSpPr>
        <p:spPr>
          <a:xfrm>
            <a:off x="182880" y="1024128"/>
            <a:ext cx="11795760" cy="201168"/>
          </a:xfrm>
          <a:prstGeom prst="rect">
            <a:avLst/>
          </a:prstGeom>
          <a:noFill/>
          <a:ln/>
        </p:spPr>
        <p:txBody>
          <a:bodyPr wrap="square" lIns="0" tIns="0" rIns="0" bIns="0" rtlCol="0" anchor="ctr"/>
          <a:lstStyle/>
          <a:p>
            <a:pPr indent="0" marL="0">
              <a:buNone/>
            </a:pPr>
            <a:r>
              <a:rPr lang="en-US" sz="900" b="1" dirty="0">
                <a:solidFill>
                  <a:srgbClr val="01579B"/>
                </a:solidFill>
                <a:latin typeface="Arial" pitchFamily="34" charset="0"/>
                <a:ea typeface="Arial" pitchFamily="34" charset="-122"/>
                <a:cs typeface="Arial" pitchFamily="34" charset="-120"/>
              </a:rPr>
              <a:t>PD1/VEGF Bispecifics — pembro replacement risk</a:t>
            </a:r>
            <a:endParaRPr lang="en-US" sz="900" dirty="0"/>
          </a:p>
        </p:txBody>
      </p:sp>
      <p:sp>
        <p:nvSpPr>
          <p:cNvPr id="16" name="Text 14"/>
          <p:cNvSpPr/>
          <p:nvPr/>
        </p:nvSpPr>
        <p:spPr>
          <a:xfrm>
            <a:off x="182880" y="1261872"/>
            <a:ext cx="2377440" cy="182880"/>
          </a:xfrm>
          <a:prstGeom prst="rect">
            <a:avLst/>
          </a:prstGeom>
          <a:noFill/>
          <a:ln/>
        </p:spPr>
        <p:txBody>
          <a:bodyPr wrap="square" lIns="0" tIns="0" rIns="0" bIns="0" rtlCol="0" anchor="ctr"/>
          <a:lstStyle/>
          <a:p>
            <a:pPr algn="r" indent="0" marL="0">
              <a:buNone/>
            </a:pPr>
            <a:r>
              <a:rPr lang="en-US" sz="750" dirty="0">
                <a:solidFill>
                  <a:srgbClr val="1E293B"/>
                </a:solidFill>
                <a:latin typeface="Arial" pitchFamily="34" charset="0"/>
                <a:ea typeface="Arial" pitchFamily="34" charset="-122"/>
                <a:cs typeface="Arial" pitchFamily="34" charset="-120"/>
              </a:rPr>
              <a:t>SMMT: Ivonescimab (all-comers + chemo)</a:t>
            </a:r>
            <a:endParaRPr lang="en-US" sz="750" dirty="0"/>
          </a:p>
        </p:txBody>
      </p:sp>
      <p:sp>
        <p:nvSpPr>
          <p:cNvPr id="17" name="Shape 15"/>
          <p:cNvSpPr/>
          <p:nvPr/>
        </p:nvSpPr>
        <p:spPr>
          <a:xfrm>
            <a:off x="2560320" y="1261872"/>
            <a:ext cx="609600" cy="182880"/>
          </a:xfrm>
          <a:prstGeom prst="rect">
            <a:avLst/>
          </a:prstGeom>
          <a:solidFill>
            <a:srgbClr val="01579B"/>
          </a:solidFill>
          <a:ln/>
        </p:spPr>
      </p:sp>
      <p:sp>
        <p:nvSpPr>
          <p:cNvPr id="18" name="Text 16"/>
          <p:cNvSpPr/>
          <p:nvPr/>
        </p:nvSpPr>
        <p:spPr>
          <a:xfrm>
            <a:off x="3206496" y="1261872"/>
            <a:ext cx="457200" cy="182880"/>
          </a:xfrm>
          <a:prstGeom prst="rect">
            <a:avLst/>
          </a:prstGeom>
          <a:noFill/>
          <a:ln/>
        </p:spPr>
        <p:txBody>
          <a:bodyPr wrap="square" lIns="0" tIns="0" rIns="0" bIns="0" rtlCol="0" anchor="ctr"/>
          <a:lstStyle/>
          <a:p>
            <a:pPr indent="0" marL="0">
              <a:buNone/>
            </a:pPr>
            <a:r>
              <a:rPr lang="en-US" sz="650" b="1" dirty="0">
                <a:solidFill>
                  <a:srgbClr val="01579B"/>
                </a:solidFill>
                <a:latin typeface="Arial" pitchFamily="34" charset="0"/>
                <a:ea typeface="Arial" pitchFamily="34" charset="-122"/>
                <a:cs typeface="Arial" pitchFamily="34" charset="-120"/>
              </a:rPr>
              <a:t>Q3 '26</a:t>
            </a:r>
            <a:endParaRPr lang="en-US" sz="650" dirty="0"/>
          </a:p>
        </p:txBody>
      </p:sp>
      <p:sp>
        <p:nvSpPr>
          <p:cNvPr id="19" name="Text 17"/>
          <p:cNvSpPr/>
          <p:nvPr/>
        </p:nvSpPr>
        <p:spPr>
          <a:xfrm>
            <a:off x="182880" y="1481328"/>
            <a:ext cx="2377440" cy="182880"/>
          </a:xfrm>
          <a:prstGeom prst="rect">
            <a:avLst/>
          </a:prstGeom>
          <a:noFill/>
          <a:ln/>
        </p:spPr>
        <p:txBody>
          <a:bodyPr wrap="square" lIns="0" tIns="0" rIns="0" bIns="0" rtlCol="0" anchor="ctr"/>
          <a:lstStyle/>
          <a:p>
            <a:pPr algn="r" indent="0" marL="0">
              <a:buNone/>
            </a:pPr>
            <a:r>
              <a:rPr lang="en-US" sz="750" dirty="0">
                <a:solidFill>
                  <a:srgbClr val="1E293B"/>
                </a:solidFill>
                <a:latin typeface="Arial" pitchFamily="34" charset="0"/>
                <a:ea typeface="Arial" pitchFamily="34" charset="-122"/>
                <a:cs typeface="Arial" pitchFamily="34" charset="-120"/>
              </a:rPr>
              <a:t>SMMT: Ivonescimab (≥50% TPS mono)</a:t>
            </a:r>
            <a:endParaRPr lang="en-US" sz="750" dirty="0"/>
          </a:p>
        </p:txBody>
      </p:sp>
      <p:sp>
        <p:nvSpPr>
          <p:cNvPr id="20" name="Shape 18"/>
          <p:cNvSpPr/>
          <p:nvPr/>
        </p:nvSpPr>
        <p:spPr>
          <a:xfrm>
            <a:off x="2560320" y="1481328"/>
            <a:ext cx="6461760" cy="182880"/>
          </a:xfrm>
          <a:prstGeom prst="rect">
            <a:avLst/>
          </a:prstGeom>
          <a:solidFill>
            <a:srgbClr val="01579B"/>
          </a:solidFill>
          <a:ln/>
        </p:spPr>
      </p:sp>
      <p:sp>
        <p:nvSpPr>
          <p:cNvPr id="21" name="Text 19"/>
          <p:cNvSpPr/>
          <p:nvPr/>
        </p:nvSpPr>
        <p:spPr>
          <a:xfrm>
            <a:off x="9058656" y="1481328"/>
            <a:ext cx="457200" cy="182880"/>
          </a:xfrm>
          <a:prstGeom prst="rect">
            <a:avLst/>
          </a:prstGeom>
          <a:noFill/>
          <a:ln/>
        </p:spPr>
        <p:txBody>
          <a:bodyPr wrap="square" lIns="0" tIns="0" rIns="0" bIns="0" rtlCol="0" anchor="ctr"/>
          <a:lstStyle/>
          <a:p>
            <a:pPr indent="0" marL="0">
              <a:buNone/>
            </a:pPr>
            <a:r>
              <a:rPr lang="en-US" sz="650" b="1" dirty="0">
                <a:solidFill>
                  <a:srgbClr val="01579B"/>
                </a:solidFill>
                <a:latin typeface="Arial" pitchFamily="34" charset="0"/>
                <a:ea typeface="Arial" pitchFamily="34" charset="-122"/>
                <a:cs typeface="Arial" pitchFamily="34" charset="-120"/>
              </a:rPr>
              <a:t>Q4 '28</a:t>
            </a:r>
            <a:endParaRPr lang="en-US" sz="650" dirty="0"/>
          </a:p>
        </p:txBody>
      </p:sp>
      <p:sp>
        <p:nvSpPr>
          <p:cNvPr id="22" name="Text 20"/>
          <p:cNvSpPr/>
          <p:nvPr/>
        </p:nvSpPr>
        <p:spPr>
          <a:xfrm>
            <a:off x="182880" y="1700784"/>
            <a:ext cx="2377440" cy="182880"/>
          </a:xfrm>
          <a:prstGeom prst="rect">
            <a:avLst/>
          </a:prstGeom>
          <a:noFill/>
          <a:ln/>
        </p:spPr>
        <p:txBody>
          <a:bodyPr wrap="square" lIns="0" tIns="0" rIns="0" bIns="0" rtlCol="0" anchor="ctr"/>
          <a:lstStyle/>
          <a:p>
            <a:pPr algn="r" indent="0" marL="0">
              <a:buNone/>
            </a:pPr>
            <a:r>
              <a:rPr lang="en-US" sz="750" dirty="0">
                <a:solidFill>
                  <a:srgbClr val="1E293B"/>
                </a:solidFill>
                <a:latin typeface="Arial" pitchFamily="34" charset="0"/>
                <a:ea typeface="Arial" pitchFamily="34" charset="-122"/>
                <a:cs typeface="Arial" pitchFamily="34" charset="-120"/>
              </a:rPr>
              <a:t>BNTX: Pumitamig + chemo</a:t>
            </a:r>
            <a:endParaRPr lang="en-US" sz="750" dirty="0"/>
          </a:p>
        </p:txBody>
      </p:sp>
      <p:sp>
        <p:nvSpPr>
          <p:cNvPr id="23" name="Shape 21"/>
          <p:cNvSpPr/>
          <p:nvPr/>
        </p:nvSpPr>
        <p:spPr>
          <a:xfrm>
            <a:off x="2560320" y="1700784"/>
            <a:ext cx="4267200" cy="182880"/>
          </a:xfrm>
          <a:prstGeom prst="rect">
            <a:avLst/>
          </a:prstGeom>
          <a:solidFill>
            <a:srgbClr val="01579B"/>
          </a:solidFill>
          <a:ln/>
        </p:spPr>
      </p:sp>
      <p:sp>
        <p:nvSpPr>
          <p:cNvPr id="24" name="Text 22"/>
          <p:cNvSpPr/>
          <p:nvPr/>
        </p:nvSpPr>
        <p:spPr>
          <a:xfrm>
            <a:off x="6864096" y="1700784"/>
            <a:ext cx="457200" cy="182880"/>
          </a:xfrm>
          <a:prstGeom prst="rect">
            <a:avLst/>
          </a:prstGeom>
          <a:noFill/>
          <a:ln/>
        </p:spPr>
        <p:txBody>
          <a:bodyPr wrap="square" lIns="0" tIns="0" rIns="0" bIns="0" rtlCol="0" anchor="ctr"/>
          <a:lstStyle/>
          <a:p>
            <a:pPr indent="0" marL="0">
              <a:buNone/>
            </a:pPr>
            <a:r>
              <a:rPr lang="en-US" sz="650" b="1" dirty="0">
                <a:solidFill>
                  <a:srgbClr val="01579B"/>
                </a:solidFill>
                <a:latin typeface="Arial" pitchFamily="34" charset="0"/>
                <a:ea typeface="Arial" pitchFamily="34" charset="-122"/>
                <a:cs typeface="Arial" pitchFamily="34" charset="-120"/>
              </a:rPr>
              <a:t>Q1 '28</a:t>
            </a:r>
            <a:endParaRPr lang="en-US" sz="650" dirty="0"/>
          </a:p>
        </p:txBody>
      </p:sp>
      <p:sp>
        <p:nvSpPr>
          <p:cNvPr id="25" name="Text 23"/>
          <p:cNvSpPr/>
          <p:nvPr/>
        </p:nvSpPr>
        <p:spPr>
          <a:xfrm>
            <a:off x="182880" y="1920240"/>
            <a:ext cx="2377440" cy="182880"/>
          </a:xfrm>
          <a:prstGeom prst="rect">
            <a:avLst/>
          </a:prstGeom>
          <a:noFill/>
          <a:ln/>
        </p:spPr>
        <p:txBody>
          <a:bodyPr wrap="square" lIns="0" tIns="0" rIns="0" bIns="0" rtlCol="0" anchor="ctr"/>
          <a:lstStyle/>
          <a:p>
            <a:pPr algn="r" indent="0" marL="0">
              <a:buNone/>
            </a:pPr>
            <a:r>
              <a:rPr lang="en-US" sz="750" dirty="0">
                <a:solidFill>
                  <a:srgbClr val="1E293B"/>
                </a:solidFill>
                <a:latin typeface="Arial" pitchFamily="34" charset="0"/>
                <a:ea typeface="Arial" pitchFamily="34" charset="-122"/>
                <a:cs typeface="Arial" pitchFamily="34" charset="-120"/>
              </a:rPr>
              <a:t>PFE: PF-08634404 + chemo</a:t>
            </a:r>
            <a:endParaRPr lang="en-US" sz="750" dirty="0"/>
          </a:p>
        </p:txBody>
      </p:sp>
      <p:sp>
        <p:nvSpPr>
          <p:cNvPr id="26" name="Shape 24"/>
          <p:cNvSpPr/>
          <p:nvPr/>
        </p:nvSpPr>
        <p:spPr>
          <a:xfrm>
            <a:off x="2560320" y="1920240"/>
            <a:ext cx="6705600" cy="182880"/>
          </a:xfrm>
          <a:prstGeom prst="rect">
            <a:avLst/>
          </a:prstGeom>
          <a:solidFill>
            <a:srgbClr val="01579B"/>
          </a:solidFill>
          <a:ln/>
        </p:spPr>
      </p:sp>
      <p:sp>
        <p:nvSpPr>
          <p:cNvPr id="27" name="Text 25"/>
          <p:cNvSpPr/>
          <p:nvPr/>
        </p:nvSpPr>
        <p:spPr>
          <a:xfrm>
            <a:off x="9302496" y="1920240"/>
            <a:ext cx="457200" cy="182880"/>
          </a:xfrm>
          <a:prstGeom prst="rect">
            <a:avLst/>
          </a:prstGeom>
          <a:noFill/>
          <a:ln/>
        </p:spPr>
        <p:txBody>
          <a:bodyPr wrap="square" lIns="0" tIns="0" rIns="0" bIns="0" rtlCol="0" anchor="ctr"/>
          <a:lstStyle/>
          <a:p>
            <a:pPr indent="0" marL="0">
              <a:buNone/>
            </a:pPr>
            <a:r>
              <a:rPr lang="en-US" sz="650" b="1" dirty="0">
                <a:solidFill>
                  <a:srgbClr val="01579B"/>
                </a:solidFill>
                <a:latin typeface="Arial" pitchFamily="34" charset="0"/>
                <a:ea typeface="Arial" pitchFamily="34" charset="-122"/>
                <a:cs typeface="Arial" pitchFamily="34" charset="-120"/>
              </a:rPr>
              <a:t>Q1 '29</a:t>
            </a:r>
            <a:endParaRPr lang="en-US" sz="650" dirty="0"/>
          </a:p>
        </p:txBody>
      </p:sp>
      <p:sp>
        <p:nvSpPr>
          <p:cNvPr id="28" name="Text 26"/>
          <p:cNvSpPr/>
          <p:nvPr/>
        </p:nvSpPr>
        <p:spPr>
          <a:xfrm>
            <a:off x="182880" y="2194560"/>
            <a:ext cx="11795760" cy="201168"/>
          </a:xfrm>
          <a:prstGeom prst="rect">
            <a:avLst/>
          </a:prstGeom>
          <a:noFill/>
          <a:ln/>
        </p:spPr>
        <p:txBody>
          <a:bodyPr wrap="square" lIns="0" tIns="0" rIns="0" bIns="0" rtlCol="0" anchor="ctr"/>
          <a:lstStyle/>
          <a:p>
            <a:pPr indent="0" marL="0">
              <a:buNone/>
            </a:pPr>
            <a:r>
              <a:rPr lang="en-US" sz="900" b="1" dirty="0">
                <a:solidFill>
                  <a:srgbClr val="4A148C"/>
                </a:solidFill>
                <a:latin typeface="Arial" pitchFamily="34" charset="0"/>
                <a:ea typeface="Arial" pitchFamily="34" charset="-122"/>
                <a:cs typeface="Arial" pitchFamily="34" charset="-120"/>
              </a:rPr>
              <a:t>KRAS Inhibitors — pembro-additive (layering on SoC)</a:t>
            </a:r>
            <a:endParaRPr lang="en-US" sz="900" dirty="0"/>
          </a:p>
        </p:txBody>
      </p:sp>
      <p:sp>
        <p:nvSpPr>
          <p:cNvPr id="29" name="Text 27"/>
          <p:cNvSpPr/>
          <p:nvPr/>
        </p:nvSpPr>
        <p:spPr>
          <a:xfrm>
            <a:off x="182880" y="2432304"/>
            <a:ext cx="2377440" cy="182880"/>
          </a:xfrm>
          <a:prstGeom prst="rect">
            <a:avLst/>
          </a:prstGeom>
          <a:noFill/>
          <a:ln/>
        </p:spPr>
        <p:txBody>
          <a:bodyPr wrap="square" lIns="0" tIns="0" rIns="0" bIns="0" rtlCol="0" anchor="ctr"/>
          <a:lstStyle/>
          <a:p>
            <a:pPr algn="r" indent="0" marL="0">
              <a:buNone/>
            </a:pPr>
            <a:r>
              <a:rPr lang="en-US" sz="750" dirty="0">
                <a:solidFill>
                  <a:srgbClr val="1E293B"/>
                </a:solidFill>
                <a:latin typeface="Arial" pitchFamily="34" charset="0"/>
                <a:ea typeface="Arial" pitchFamily="34" charset="-122"/>
                <a:cs typeface="Arial" pitchFamily="34" charset="-120"/>
              </a:rPr>
              <a:t>BMY: Adagrasib + pembro</a:t>
            </a:r>
            <a:endParaRPr lang="en-US" sz="750" dirty="0"/>
          </a:p>
        </p:txBody>
      </p:sp>
      <p:sp>
        <p:nvSpPr>
          <p:cNvPr id="30" name="Shape 28"/>
          <p:cNvSpPr/>
          <p:nvPr/>
        </p:nvSpPr>
        <p:spPr>
          <a:xfrm>
            <a:off x="2560320" y="2432304"/>
            <a:ext cx="609600" cy="182880"/>
          </a:xfrm>
          <a:prstGeom prst="rect">
            <a:avLst/>
          </a:prstGeom>
          <a:solidFill>
            <a:srgbClr val="4A148C"/>
          </a:solidFill>
          <a:ln/>
        </p:spPr>
      </p:sp>
      <p:sp>
        <p:nvSpPr>
          <p:cNvPr id="31" name="Text 29"/>
          <p:cNvSpPr/>
          <p:nvPr/>
        </p:nvSpPr>
        <p:spPr>
          <a:xfrm>
            <a:off x="3206496" y="2432304"/>
            <a:ext cx="457200" cy="182880"/>
          </a:xfrm>
          <a:prstGeom prst="rect">
            <a:avLst/>
          </a:prstGeom>
          <a:noFill/>
          <a:ln/>
        </p:spPr>
        <p:txBody>
          <a:bodyPr wrap="square" lIns="0" tIns="0" rIns="0" bIns="0" rtlCol="0" anchor="ctr"/>
          <a:lstStyle/>
          <a:p>
            <a:pPr indent="0" marL="0">
              <a:buNone/>
            </a:pPr>
            <a:r>
              <a:rPr lang="en-US" sz="650" b="1" dirty="0">
                <a:solidFill>
                  <a:srgbClr val="4A148C"/>
                </a:solidFill>
                <a:latin typeface="Arial" pitchFamily="34" charset="0"/>
                <a:ea typeface="Arial" pitchFamily="34" charset="-122"/>
                <a:cs typeface="Arial" pitchFamily="34" charset="-120"/>
              </a:rPr>
              <a:t>Q3 '26</a:t>
            </a:r>
            <a:endParaRPr lang="en-US" sz="650" dirty="0"/>
          </a:p>
        </p:txBody>
      </p:sp>
      <p:sp>
        <p:nvSpPr>
          <p:cNvPr id="32" name="Text 30"/>
          <p:cNvSpPr/>
          <p:nvPr/>
        </p:nvSpPr>
        <p:spPr>
          <a:xfrm>
            <a:off x="182880" y="2651760"/>
            <a:ext cx="2377440" cy="182880"/>
          </a:xfrm>
          <a:prstGeom prst="rect">
            <a:avLst/>
          </a:prstGeom>
          <a:noFill/>
          <a:ln/>
        </p:spPr>
        <p:txBody>
          <a:bodyPr wrap="square" lIns="0" tIns="0" rIns="0" bIns="0" rtlCol="0" anchor="ctr"/>
          <a:lstStyle/>
          <a:p>
            <a:pPr algn="r" indent="0" marL="0">
              <a:buNone/>
            </a:pPr>
            <a:r>
              <a:rPr lang="en-US" sz="750" dirty="0">
                <a:solidFill>
                  <a:srgbClr val="1E293B"/>
                </a:solidFill>
                <a:latin typeface="Arial" pitchFamily="34" charset="0"/>
                <a:ea typeface="Arial" pitchFamily="34" charset="-122"/>
                <a:cs typeface="Arial" pitchFamily="34" charset="-120"/>
              </a:rPr>
              <a:t>MRK: Calderasib + pembro</a:t>
            </a:r>
            <a:endParaRPr lang="en-US" sz="750" dirty="0"/>
          </a:p>
        </p:txBody>
      </p:sp>
      <p:sp>
        <p:nvSpPr>
          <p:cNvPr id="33" name="Shape 31"/>
          <p:cNvSpPr/>
          <p:nvPr/>
        </p:nvSpPr>
        <p:spPr>
          <a:xfrm>
            <a:off x="2560320" y="2651760"/>
            <a:ext cx="4267200" cy="182880"/>
          </a:xfrm>
          <a:prstGeom prst="rect">
            <a:avLst/>
          </a:prstGeom>
          <a:solidFill>
            <a:srgbClr val="4A148C"/>
          </a:solidFill>
          <a:ln/>
        </p:spPr>
      </p:sp>
      <p:sp>
        <p:nvSpPr>
          <p:cNvPr id="34" name="Text 32"/>
          <p:cNvSpPr/>
          <p:nvPr/>
        </p:nvSpPr>
        <p:spPr>
          <a:xfrm>
            <a:off x="6864096" y="2651760"/>
            <a:ext cx="457200" cy="182880"/>
          </a:xfrm>
          <a:prstGeom prst="rect">
            <a:avLst/>
          </a:prstGeom>
          <a:noFill/>
          <a:ln/>
        </p:spPr>
        <p:txBody>
          <a:bodyPr wrap="square" lIns="0" tIns="0" rIns="0" bIns="0" rtlCol="0" anchor="ctr"/>
          <a:lstStyle/>
          <a:p>
            <a:pPr indent="0" marL="0">
              <a:buNone/>
            </a:pPr>
            <a:r>
              <a:rPr lang="en-US" sz="650" b="1" dirty="0">
                <a:solidFill>
                  <a:srgbClr val="4A148C"/>
                </a:solidFill>
                <a:latin typeface="Arial" pitchFamily="34" charset="0"/>
                <a:ea typeface="Arial" pitchFamily="34" charset="-122"/>
                <a:cs typeface="Arial" pitchFamily="34" charset="-120"/>
              </a:rPr>
              <a:t>Q1 '28</a:t>
            </a:r>
            <a:endParaRPr lang="en-US" sz="650" dirty="0"/>
          </a:p>
        </p:txBody>
      </p:sp>
      <p:sp>
        <p:nvSpPr>
          <p:cNvPr id="35" name="Text 33"/>
          <p:cNvSpPr/>
          <p:nvPr/>
        </p:nvSpPr>
        <p:spPr>
          <a:xfrm>
            <a:off x="182880" y="2871216"/>
            <a:ext cx="2377440" cy="182880"/>
          </a:xfrm>
          <a:prstGeom prst="rect">
            <a:avLst/>
          </a:prstGeom>
          <a:noFill/>
          <a:ln/>
        </p:spPr>
        <p:txBody>
          <a:bodyPr wrap="square" lIns="0" tIns="0" rIns="0" bIns="0" rtlCol="0" anchor="ctr"/>
          <a:lstStyle/>
          <a:p>
            <a:pPr algn="r" indent="0" marL="0">
              <a:buNone/>
            </a:pPr>
            <a:r>
              <a:rPr lang="en-US" sz="750" dirty="0">
                <a:solidFill>
                  <a:srgbClr val="1E293B"/>
                </a:solidFill>
                <a:latin typeface="Arial" pitchFamily="34" charset="0"/>
                <a:ea typeface="Arial" pitchFamily="34" charset="-122"/>
                <a:cs typeface="Arial" pitchFamily="34" charset="-120"/>
              </a:rPr>
              <a:t>LLY: Olomorasib + pembro</a:t>
            </a:r>
            <a:endParaRPr lang="en-US" sz="750" dirty="0"/>
          </a:p>
        </p:txBody>
      </p:sp>
      <p:sp>
        <p:nvSpPr>
          <p:cNvPr id="36" name="Shape 34"/>
          <p:cNvSpPr/>
          <p:nvPr/>
        </p:nvSpPr>
        <p:spPr>
          <a:xfrm>
            <a:off x="2560320" y="2871216"/>
            <a:ext cx="4267200" cy="182880"/>
          </a:xfrm>
          <a:prstGeom prst="rect">
            <a:avLst/>
          </a:prstGeom>
          <a:solidFill>
            <a:srgbClr val="4A148C"/>
          </a:solidFill>
          <a:ln/>
        </p:spPr>
      </p:sp>
      <p:sp>
        <p:nvSpPr>
          <p:cNvPr id="37" name="Text 35"/>
          <p:cNvSpPr/>
          <p:nvPr/>
        </p:nvSpPr>
        <p:spPr>
          <a:xfrm>
            <a:off x="6864096" y="2871216"/>
            <a:ext cx="457200" cy="182880"/>
          </a:xfrm>
          <a:prstGeom prst="rect">
            <a:avLst/>
          </a:prstGeom>
          <a:noFill/>
          <a:ln/>
        </p:spPr>
        <p:txBody>
          <a:bodyPr wrap="square" lIns="0" tIns="0" rIns="0" bIns="0" rtlCol="0" anchor="ctr"/>
          <a:lstStyle/>
          <a:p>
            <a:pPr indent="0" marL="0">
              <a:buNone/>
            </a:pPr>
            <a:r>
              <a:rPr lang="en-US" sz="650" b="1" dirty="0">
                <a:solidFill>
                  <a:srgbClr val="4A148C"/>
                </a:solidFill>
                <a:latin typeface="Arial" pitchFamily="34" charset="0"/>
                <a:ea typeface="Arial" pitchFamily="34" charset="-122"/>
                <a:cs typeface="Arial" pitchFamily="34" charset="-120"/>
              </a:rPr>
              <a:t>Q1 '28</a:t>
            </a:r>
            <a:endParaRPr lang="en-US" sz="650" dirty="0"/>
          </a:p>
        </p:txBody>
      </p:sp>
      <p:sp>
        <p:nvSpPr>
          <p:cNvPr id="38" name="Text 36"/>
          <p:cNvSpPr/>
          <p:nvPr/>
        </p:nvSpPr>
        <p:spPr>
          <a:xfrm>
            <a:off x="182880" y="3090672"/>
            <a:ext cx="2377440" cy="182880"/>
          </a:xfrm>
          <a:prstGeom prst="rect">
            <a:avLst/>
          </a:prstGeom>
          <a:noFill/>
          <a:ln/>
        </p:spPr>
        <p:txBody>
          <a:bodyPr wrap="square" lIns="0" tIns="0" rIns="0" bIns="0" rtlCol="0" anchor="ctr"/>
          <a:lstStyle/>
          <a:p>
            <a:pPr algn="r" indent="0" marL="0">
              <a:buNone/>
            </a:pPr>
            <a:r>
              <a:rPr lang="en-US" sz="750" dirty="0">
                <a:solidFill>
                  <a:srgbClr val="1E293B"/>
                </a:solidFill>
                <a:latin typeface="Arial" pitchFamily="34" charset="0"/>
                <a:ea typeface="Arial" pitchFamily="34" charset="-122"/>
                <a:cs typeface="Arial" pitchFamily="34" charset="-120"/>
              </a:rPr>
              <a:t>RHHBY: Divarasib + pembro</a:t>
            </a:r>
            <a:endParaRPr lang="en-US" sz="750" dirty="0"/>
          </a:p>
        </p:txBody>
      </p:sp>
      <p:sp>
        <p:nvSpPr>
          <p:cNvPr id="39" name="Shape 37"/>
          <p:cNvSpPr/>
          <p:nvPr/>
        </p:nvSpPr>
        <p:spPr>
          <a:xfrm>
            <a:off x="2560320" y="3090672"/>
            <a:ext cx="4267200" cy="182880"/>
          </a:xfrm>
          <a:prstGeom prst="rect">
            <a:avLst/>
          </a:prstGeom>
          <a:solidFill>
            <a:srgbClr val="4A148C"/>
          </a:solidFill>
          <a:ln/>
        </p:spPr>
      </p:sp>
      <p:sp>
        <p:nvSpPr>
          <p:cNvPr id="40" name="Text 38"/>
          <p:cNvSpPr/>
          <p:nvPr/>
        </p:nvSpPr>
        <p:spPr>
          <a:xfrm>
            <a:off x="6864096" y="3090672"/>
            <a:ext cx="457200" cy="182880"/>
          </a:xfrm>
          <a:prstGeom prst="rect">
            <a:avLst/>
          </a:prstGeom>
          <a:noFill/>
          <a:ln/>
        </p:spPr>
        <p:txBody>
          <a:bodyPr wrap="square" lIns="0" tIns="0" rIns="0" bIns="0" rtlCol="0" anchor="ctr"/>
          <a:lstStyle/>
          <a:p>
            <a:pPr indent="0" marL="0">
              <a:buNone/>
            </a:pPr>
            <a:r>
              <a:rPr lang="en-US" sz="650" b="1" dirty="0">
                <a:solidFill>
                  <a:srgbClr val="4A148C"/>
                </a:solidFill>
                <a:latin typeface="Arial" pitchFamily="34" charset="0"/>
                <a:ea typeface="Arial" pitchFamily="34" charset="-122"/>
                <a:cs typeface="Arial" pitchFamily="34" charset="-120"/>
              </a:rPr>
              <a:t>Q1 '28</a:t>
            </a:r>
            <a:endParaRPr lang="en-US" sz="650" dirty="0"/>
          </a:p>
        </p:txBody>
      </p:sp>
      <p:sp>
        <p:nvSpPr>
          <p:cNvPr id="41" name="Text 39"/>
          <p:cNvSpPr/>
          <p:nvPr/>
        </p:nvSpPr>
        <p:spPr>
          <a:xfrm>
            <a:off x="182880" y="3364992"/>
            <a:ext cx="11795760" cy="201168"/>
          </a:xfrm>
          <a:prstGeom prst="rect">
            <a:avLst/>
          </a:prstGeom>
          <a:noFill/>
          <a:ln/>
        </p:spPr>
        <p:txBody>
          <a:bodyPr wrap="square" lIns="0" tIns="0" rIns="0" bIns="0" rtlCol="0" anchor="ctr"/>
          <a:lstStyle/>
          <a:p>
            <a:pPr indent="0" marL="0">
              <a:buNone/>
            </a:pPr>
            <a:r>
              <a:rPr lang="en-US" sz="900" b="1" dirty="0">
                <a:solidFill>
                  <a:srgbClr val="00B0B9"/>
                </a:solidFill>
                <a:latin typeface="Arial" pitchFamily="34" charset="0"/>
                <a:ea typeface="Arial" pitchFamily="34" charset="-122"/>
                <a:cs typeface="Arial" pitchFamily="34" charset="-120"/>
              </a:rPr>
              <a:t>TROP2/ADC Combos — chemo backbone displacement</a:t>
            </a:r>
            <a:endParaRPr lang="en-US" sz="900" dirty="0"/>
          </a:p>
        </p:txBody>
      </p:sp>
      <p:sp>
        <p:nvSpPr>
          <p:cNvPr id="42" name="Text 40"/>
          <p:cNvSpPr/>
          <p:nvPr/>
        </p:nvSpPr>
        <p:spPr>
          <a:xfrm>
            <a:off x="182880" y="3602736"/>
            <a:ext cx="2377440" cy="182880"/>
          </a:xfrm>
          <a:prstGeom prst="rect">
            <a:avLst/>
          </a:prstGeom>
          <a:noFill/>
          <a:ln/>
        </p:spPr>
        <p:txBody>
          <a:bodyPr wrap="square" lIns="0" tIns="0" rIns="0" bIns="0" rtlCol="0" anchor="ctr"/>
          <a:lstStyle/>
          <a:p>
            <a:pPr algn="r" indent="0" marL="0">
              <a:buNone/>
            </a:pPr>
            <a:r>
              <a:rPr lang="en-US" sz="750" dirty="0">
                <a:solidFill>
                  <a:srgbClr val="1E293B"/>
                </a:solidFill>
                <a:latin typeface="Arial" pitchFamily="34" charset="0"/>
                <a:ea typeface="Arial" pitchFamily="34" charset="-122"/>
                <a:cs typeface="Arial" pitchFamily="34" charset="-120"/>
              </a:rPr>
              <a:t>GILD: Sac-gov + pembro</a:t>
            </a:r>
            <a:endParaRPr lang="en-US" sz="750" dirty="0"/>
          </a:p>
        </p:txBody>
      </p:sp>
      <p:sp>
        <p:nvSpPr>
          <p:cNvPr id="43" name="Shape 41"/>
          <p:cNvSpPr/>
          <p:nvPr/>
        </p:nvSpPr>
        <p:spPr>
          <a:xfrm>
            <a:off x="2560320" y="3602736"/>
            <a:ext cx="1828800" cy="182880"/>
          </a:xfrm>
          <a:prstGeom prst="rect">
            <a:avLst/>
          </a:prstGeom>
          <a:solidFill>
            <a:srgbClr val="00B0B9"/>
          </a:solidFill>
          <a:ln/>
        </p:spPr>
      </p:sp>
      <p:sp>
        <p:nvSpPr>
          <p:cNvPr id="44" name="Text 42"/>
          <p:cNvSpPr/>
          <p:nvPr/>
        </p:nvSpPr>
        <p:spPr>
          <a:xfrm>
            <a:off x="4425696" y="3602736"/>
            <a:ext cx="457200" cy="182880"/>
          </a:xfrm>
          <a:prstGeom prst="rect">
            <a:avLst/>
          </a:prstGeom>
          <a:noFill/>
          <a:ln/>
        </p:spPr>
        <p:txBody>
          <a:bodyPr wrap="square" lIns="0" tIns="0" rIns="0" bIns="0" rtlCol="0" anchor="ctr"/>
          <a:lstStyle/>
          <a:p>
            <a:pPr indent="0" marL="0">
              <a:buNone/>
            </a:pPr>
            <a:r>
              <a:rPr lang="en-US" sz="650" b="1" dirty="0">
                <a:solidFill>
                  <a:srgbClr val="00B0B9"/>
                </a:solidFill>
                <a:latin typeface="Arial" pitchFamily="34" charset="0"/>
                <a:ea typeface="Arial" pitchFamily="34" charset="-122"/>
                <a:cs typeface="Arial" pitchFamily="34" charset="-120"/>
              </a:rPr>
              <a:t>Q1 '27</a:t>
            </a:r>
            <a:endParaRPr lang="en-US" sz="650" dirty="0"/>
          </a:p>
        </p:txBody>
      </p:sp>
      <p:sp>
        <p:nvSpPr>
          <p:cNvPr id="45" name="Text 43"/>
          <p:cNvSpPr/>
          <p:nvPr/>
        </p:nvSpPr>
        <p:spPr>
          <a:xfrm>
            <a:off x="182880" y="3822192"/>
            <a:ext cx="2377440" cy="182880"/>
          </a:xfrm>
          <a:prstGeom prst="rect">
            <a:avLst/>
          </a:prstGeom>
          <a:noFill/>
          <a:ln/>
        </p:spPr>
        <p:txBody>
          <a:bodyPr wrap="square" lIns="0" tIns="0" rIns="0" bIns="0" rtlCol="0" anchor="ctr"/>
          <a:lstStyle/>
          <a:p>
            <a:pPr algn="r" indent="0" marL="0">
              <a:buNone/>
            </a:pPr>
            <a:r>
              <a:rPr lang="en-US" sz="750" dirty="0">
                <a:solidFill>
                  <a:srgbClr val="1E293B"/>
                </a:solidFill>
                <a:latin typeface="Arial" pitchFamily="34" charset="0"/>
                <a:ea typeface="Arial" pitchFamily="34" charset="-122"/>
                <a:cs typeface="Arial" pitchFamily="34" charset="-120"/>
              </a:rPr>
              <a:t>MRK: Sac-TMT + pembro</a:t>
            </a:r>
            <a:endParaRPr lang="en-US" sz="750" dirty="0"/>
          </a:p>
        </p:txBody>
      </p:sp>
      <p:sp>
        <p:nvSpPr>
          <p:cNvPr id="46" name="Shape 44"/>
          <p:cNvSpPr/>
          <p:nvPr/>
        </p:nvSpPr>
        <p:spPr>
          <a:xfrm>
            <a:off x="2560320" y="3822192"/>
            <a:ext cx="1828800" cy="182880"/>
          </a:xfrm>
          <a:prstGeom prst="rect">
            <a:avLst/>
          </a:prstGeom>
          <a:solidFill>
            <a:srgbClr val="00B0B9"/>
          </a:solidFill>
          <a:ln/>
        </p:spPr>
      </p:sp>
      <p:sp>
        <p:nvSpPr>
          <p:cNvPr id="47" name="Text 45"/>
          <p:cNvSpPr/>
          <p:nvPr/>
        </p:nvSpPr>
        <p:spPr>
          <a:xfrm>
            <a:off x="4425696" y="3822192"/>
            <a:ext cx="457200" cy="182880"/>
          </a:xfrm>
          <a:prstGeom prst="rect">
            <a:avLst/>
          </a:prstGeom>
          <a:noFill/>
          <a:ln/>
        </p:spPr>
        <p:txBody>
          <a:bodyPr wrap="square" lIns="0" tIns="0" rIns="0" bIns="0" rtlCol="0" anchor="ctr"/>
          <a:lstStyle/>
          <a:p>
            <a:pPr indent="0" marL="0">
              <a:buNone/>
            </a:pPr>
            <a:r>
              <a:rPr lang="en-US" sz="650" b="1" dirty="0">
                <a:solidFill>
                  <a:srgbClr val="00B0B9"/>
                </a:solidFill>
                <a:latin typeface="Arial" pitchFamily="34" charset="0"/>
                <a:ea typeface="Arial" pitchFamily="34" charset="-122"/>
                <a:cs typeface="Arial" pitchFamily="34" charset="-120"/>
              </a:rPr>
              <a:t>Q1 '27</a:t>
            </a:r>
            <a:endParaRPr lang="en-US" sz="650" dirty="0"/>
          </a:p>
        </p:txBody>
      </p:sp>
      <p:sp>
        <p:nvSpPr>
          <p:cNvPr id="48" name="Text 46"/>
          <p:cNvSpPr/>
          <p:nvPr/>
        </p:nvSpPr>
        <p:spPr>
          <a:xfrm>
            <a:off x="182880" y="4041648"/>
            <a:ext cx="2377440" cy="182880"/>
          </a:xfrm>
          <a:prstGeom prst="rect">
            <a:avLst/>
          </a:prstGeom>
          <a:noFill/>
          <a:ln/>
        </p:spPr>
        <p:txBody>
          <a:bodyPr wrap="square" lIns="0" tIns="0" rIns="0" bIns="0" rtlCol="0" anchor="ctr"/>
          <a:lstStyle/>
          <a:p>
            <a:pPr algn="r" indent="0" marL="0">
              <a:buNone/>
            </a:pPr>
            <a:r>
              <a:rPr lang="en-US" sz="750" dirty="0">
                <a:solidFill>
                  <a:srgbClr val="1E293B"/>
                </a:solidFill>
                <a:latin typeface="Arial" pitchFamily="34" charset="0"/>
                <a:ea typeface="Arial" pitchFamily="34" charset="-122"/>
                <a:cs typeface="Arial" pitchFamily="34" charset="-120"/>
              </a:rPr>
              <a:t>DSNKY: Dato-DXd + pembro</a:t>
            </a:r>
            <a:endParaRPr lang="en-US" sz="750" dirty="0"/>
          </a:p>
        </p:txBody>
      </p:sp>
      <p:sp>
        <p:nvSpPr>
          <p:cNvPr id="49" name="Shape 47"/>
          <p:cNvSpPr/>
          <p:nvPr/>
        </p:nvSpPr>
        <p:spPr>
          <a:xfrm>
            <a:off x="2560320" y="4041648"/>
            <a:ext cx="4267200" cy="182880"/>
          </a:xfrm>
          <a:prstGeom prst="rect">
            <a:avLst/>
          </a:prstGeom>
          <a:solidFill>
            <a:srgbClr val="00B0B9"/>
          </a:solidFill>
          <a:ln/>
        </p:spPr>
      </p:sp>
      <p:sp>
        <p:nvSpPr>
          <p:cNvPr id="50" name="Text 48"/>
          <p:cNvSpPr/>
          <p:nvPr/>
        </p:nvSpPr>
        <p:spPr>
          <a:xfrm>
            <a:off x="6864096" y="4041648"/>
            <a:ext cx="457200" cy="182880"/>
          </a:xfrm>
          <a:prstGeom prst="rect">
            <a:avLst/>
          </a:prstGeom>
          <a:noFill/>
          <a:ln/>
        </p:spPr>
        <p:txBody>
          <a:bodyPr wrap="square" lIns="0" tIns="0" rIns="0" bIns="0" rtlCol="0" anchor="ctr"/>
          <a:lstStyle/>
          <a:p>
            <a:pPr indent="0" marL="0">
              <a:buNone/>
            </a:pPr>
            <a:r>
              <a:rPr lang="en-US" sz="650" b="1" dirty="0">
                <a:solidFill>
                  <a:srgbClr val="00B0B9"/>
                </a:solidFill>
                <a:latin typeface="Arial" pitchFamily="34" charset="0"/>
                <a:ea typeface="Arial" pitchFamily="34" charset="-122"/>
                <a:cs typeface="Arial" pitchFamily="34" charset="-120"/>
              </a:rPr>
              <a:t>Q1 '28</a:t>
            </a:r>
            <a:endParaRPr lang="en-US" sz="650" dirty="0"/>
          </a:p>
        </p:txBody>
      </p:sp>
      <p:sp>
        <p:nvSpPr>
          <p:cNvPr id="51" name="Text 49"/>
          <p:cNvSpPr/>
          <p:nvPr/>
        </p:nvSpPr>
        <p:spPr>
          <a:xfrm>
            <a:off x="182880" y="4315968"/>
            <a:ext cx="11795760" cy="201168"/>
          </a:xfrm>
          <a:prstGeom prst="rect">
            <a:avLst/>
          </a:prstGeom>
          <a:noFill/>
          <a:ln/>
        </p:spPr>
        <p:txBody>
          <a:bodyPr wrap="square" lIns="0" tIns="0" rIns="0" bIns="0" rtlCol="0" anchor="ctr"/>
          <a:lstStyle/>
          <a:p>
            <a:pPr indent="0" marL="0">
              <a:buNone/>
            </a:pPr>
            <a:r>
              <a:rPr lang="en-US" sz="900" b="1" dirty="0">
                <a:solidFill>
                  <a:srgbClr val="007A85"/>
                </a:solidFill>
                <a:latin typeface="Arial" pitchFamily="34" charset="0"/>
                <a:ea typeface="Arial" pitchFamily="34" charset="-122"/>
                <a:cs typeface="Arial" pitchFamily="34" charset="-120"/>
              </a:rPr>
              <a:t>TIGIT Combos — debated class after tiragolumab failure</a:t>
            </a:r>
            <a:endParaRPr lang="en-US" sz="900" dirty="0"/>
          </a:p>
        </p:txBody>
      </p:sp>
      <p:sp>
        <p:nvSpPr>
          <p:cNvPr id="52" name="Text 50"/>
          <p:cNvSpPr/>
          <p:nvPr/>
        </p:nvSpPr>
        <p:spPr>
          <a:xfrm>
            <a:off x="182880" y="4553712"/>
            <a:ext cx="2377440" cy="182880"/>
          </a:xfrm>
          <a:prstGeom prst="rect">
            <a:avLst/>
          </a:prstGeom>
          <a:noFill/>
          <a:ln/>
        </p:spPr>
        <p:txBody>
          <a:bodyPr wrap="square" lIns="0" tIns="0" rIns="0" bIns="0" rtlCol="0" anchor="ctr"/>
          <a:lstStyle/>
          <a:p>
            <a:pPr algn="r" indent="0" marL="0">
              <a:buNone/>
            </a:pPr>
            <a:r>
              <a:rPr lang="en-US" sz="750" dirty="0">
                <a:solidFill>
                  <a:srgbClr val="1E293B"/>
                </a:solidFill>
                <a:latin typeface="Arial" pitchFamily="34" charset="0"/>
                <a:ea typeface="Arial" pitchFamily="34" charset="-122"/>
                <a:cs typeface="Arial" pitchFamily="34" charset="-120"/>
              </a:rPr>
              <a:t>RCUS/GILD: Domvanalimab + chemo</a:t>
            </a:r>
            <a:endParaRPr lang="en-US" sz="750" dirty="0"/>
          </a:p>
        </p:txBody>
      </p:sp>
      <p:sp>
        <p:nvSpPr>
          <p:cNvPr id="53" name="Shape 51"/>
          <p:cNvSpPr/>
          <p:nvPr/>
        </p:nvSpPr>
        <p:spPr>
          <a:xfrm>
            <a:off x="2560320" y="4553712"/>
            <a:ext cx="1828800" cy="182880"/>
          </a:xfrm>
          <a:prstGeom prst="rect">
            <a:avLst/>
          </a:prstGeom>
          <a:solidFill>
            <a:srgbClr val="007A85"/>
          </a:solidFill>
          <a:ln/>
        </p:spPr>
      </p:sp>
      <p:sp>
        <p:nvSpPr>
          <p:cNvPr id="54" name="Text 52"/>
          <p:cNvSpPr/>
          <p:nvPr/>
        </p:nvSpPr>
        <p:spPr>
          <a:xfrm>
            <a:off x="4425696" y="4553712"/>
            <a:ext cx="457200" cy="182880"/>
          </a:xfrm>
          <a:prstGeom prst="rect">
            <a:avLst/>
          </a:prstGeom>
          <a:noFill/>
          <a:ln/>
        </p:spPr>
        <p:txBody>
          <a:bodyPr wrap="square" lIns="0" tIns="0" rIns="0" bIns="0" rtlCol="0" anchor="ctr"/>
          <a:lstStyle/>
          <a:p>
            <a:pPr indent="0" marL="0">
              <a:buNone/>
            </a:pPr>
            <a:r>
              <a:rPr lang="en-US" sz="650" b="1" dirty="0">
                <a:solidFill>
                  <a:srgbClr val="007A85"/>
                </a:solidFill>
                <a:latin typeface="Arial" pitchFamily="34" charset="0"/>
                <a:ea typeface="Arial" pitchFamily="34" charset="-122"/>
                <a:cs typeface="Arial" pitchFamily="34" charset="-120"/>
              </a:rPr>
              <a:t>Q1 '27</a:t>
            </a:r>
            <a:endParaRPr lang="en-US" sz="650" dirty="0"/>
          </a:p>
        </p:txBody>
      </p:sp>
      <p:sp>
        <p:nvSpPr>
          <p:cNvPr id="55" name="Text 53"/>
          <p:cNvSpPr/>
          <p:nvPr/>
        </p:nvSpPr>
        <p:spPr>
          <a:xfrm>
            <a:off x="182880" y="4773168"/>
            <a:ext cx="2377440" cy="182880"/>
          </a:xfrm>
          <a:prstGeom prst="rect">
            <a:avLst/>
          </a:prstGeom>
          <a:noFill/>
          <a:ln/>
        </p:spPr>
        <p:txBody>
          <a:bodyPr wrap="square" lIns="0" tIns="0" rIns="0" bIns="0" rtlCol="0" anchor="ctr"/>
          <a:lstStyle/>
          <a:p>
            <a:pPr algn="r" indent="0" marL="0">
              <a:buNone/>
            </a:pPr>
            <a:r>
              <a:rPr lang="en-US" sz="750" dirty="0">
                <a:solidFill>
                  <a:srgbClr val="1E293B"/>
                </a:solidFill>
                <a:latin typeface="Arial" pitchFamily="34" charset="0"/>
                <a:ea typeface="Arial" pitchFamily="34" charset="-122"/>
                <a:cs typeface="Arial" pitchFamily="34" charset="-120"/>
              </a:rPr>
              <a:t>AZN: Rilvegostomig +/- Dato-DXd</a:t>
            </a:r>
            <a:endParaRPr lang="en-US" sz="750" dirty="0"/>
          </a:p>
        </p:txBody>
      </p:sp>
      <p:sp>
        <p:nvSpPr>
          <p:cNvPr id="56" name="Shape 54"/>
          <p:cNvSpPr/>
          <p:nvPr/>
        </p:nvSpPr>
        <p:spPr>
          <a:xfrm>
            <a:off x="2560320" y="4773168"/>
            <a:ext cx="6705600" cy="182880"/>
          </a:xfrm>
          <a:prstGeom prst="rect">
            <a:avLst/>
          </a:prstGeom>
          <a:solidFill>
            <a:srgbClr val="007A85"/>
          </a:solidFill>
          <a:ln/>
        </p:spPr>
      </p:sp>
      <p:sp>
        <p:nvSpPr>
          <p:cNvPr id="57" name="Text 55"/>
          <p:cNvSpPr/>
          <p:nvPr/>
        </p:nvSpPr>
        <p:spPr>
          <a:xfrm>
            <a:off x="9302496" y="4773168"/>
            <a:ext cx="457200" cy="182880"/>
          </a:xfrm>
          <a:prstGeom prst="rect">
            <a:avLst/>
          </a:prstGeom>
          <a:noFill/>
          <a:ln/>
        </p:spPr>
        <p:txBody>
          <a:bodyPr wrap="square" lIns="0" tIns="0" rIns="0" bIns="0" rtlCol="0" anchor="ctr"/>
          <a:lstStyle/>
          <a:p>
            <a:pPr indent="0" marL="0">
              <a:buNone/>
            </a:pPr>
            <a:r>
              <a:rPr lang="en-US" sz="650" b="1" dirty="0">
                <a:solidFill>
                  <a:srgbClr val="007A85"/>
                </a:solidFill>
                <a:latin typeface="Arial" pitchFamily="34" charset="0"/>
                <a:ea typeface="Arial" pitchFamily="34" charset="-122"/>
                <a:cs typeface="Arial" pitchFamily="34" charset="-120"/>
              </a:rPr>
              <a:t>Q1 '29</a:t>
            </a:r>
            <a:endParaRPr lang="en-US" sz="650" dirty="0"/>
          </a:p>
        </p:txBody>
      </p:sp>
      <p:sp>
        <p:nvSpPr>
          <p:cNvPr id="58" name="Text 56"/>
          <p:cNvSpPr/>
          <p:nvPr/>
        </p:nvSpPr>
        <p:spPr>
          <a:xfrm>
            <a:off x="182880" y="5047488"/>
            <a:ext cx="11795760" cy="201168"/>
          </a:xfrm>
          <a:prstGeom prst="rect">
            <a:avLst/>
          </a:prstGeom>
          <a:noFill/>
          <a:ln/>
        </p:spPr>
        <p:txBody>
          <a:bodyPr wrap="square" lIns="0" tIns="0" rIns="0" bIns="0" rtlCol="0" anchor="ctr"/>
          <a:lstStyle/>
          <a:p>
            <a:pPr indent="0" marL="0">
              <a:buNone/>
            </a:pPr>
            <a:r>
              <a:rPr lang="en-US" sz="900" b="1" dirty="0">
                <a:solidFill>
                  <a:srgbClr val="D32F2F"/>
                </a:solidFill>
                <a:latin typeface="Arial" pitchFamily="34" charset="0"/>
                <a:ea typeface="Arial" pitchFamily="34" charset="-122"/>
                <a:cs typeface="Arial" pitchFamily="34" charset="-120"/>
              </a:rPr>
              <a:t>Pembro Biosimilars — direct Keytruda revenue threat</a:t>
            </a:r>
            <a:endParaRPr lang="en-US" sz="900" dirty="0"/>
          </a:p>
        </p:txBody>
      </p:sp>
      <p:sp>
        <p:nvSpPr>
          <p:cNvPr id="59" name="Text 57"/>
          <p:cNvSpPr/>
          <p:nvPr/>
        </p:nvSpPr>
        <p:spPr>
          <a:xfrm>
            <a:off x="182880" y="5285232"/>
            <a:ext cx="2377440" cy="182880"/>
          </a:xfrm>
          <a:prstGeom prst="rect">
            <a:avLst/>
          </a:prstGeom>
          <a:noFill/>
          <a:ln/>
        </p:spPr>
        <p:txBody>
          <a:bodyPr wrap="square" lIns="0" tIns="0" rIns="0" bIns="0" rtlCol="0" anchor="ctr"/>
          <a:lstStyle/>
          <a:p>
            <a:pPr algn="r" indent="0" marL="0">
              <a:buNone/>
            </a:pPr>
            <a:r>
              <a:rPr lang="en-US" sz="750" dirty="0">
                <a:solidFill>
                  <a:srgbClr val="1E293B"/>
                </a:solidFill>
                <a:latin typeface="Arial" pitchFamily="34" charset="0"/>
                <a:ea typeface="Arial" pitchFamily="34" charset="-122"/>
                <a:cs typeface="Arial" pitchFamily="34" charset="-120"/>
              </a:rPr>
              <a:t>Samsung Bioepis: Pembro biosimilar</a:t>
            </a:r>
            <a:endParaRPr lang="en-US" sz="750" dirty="0"/>
          </a:p>
        </p:txBody>
      </p:sp>
      <p:sp>
        <p:nvSpPr>
          <p:cNvPr id="60" name="Shape 58"/>
          <p:cNvSpPr/>
          <p:nvPr/>
        </p:nvSpPr>
        <p:spPr>
          <a:xfrm>
            <a:off x="2560320" y="5285232"/>
            <a:ext cx="137160" cy="182880"/>
          </a:xfrm>
          <a:prstGeom prst="rect">
            <a:avLst/>
          </a:prstGeom>
          <a:solidFill>
            <a:srgbClr val="D32F2F"/>
          </a:solidFill>
          <a:ln/>
        </p:spPr>
      </p:sp>
      <p:sp>
        <p:nvSpPr>
          <p:cNvPr id="61" name="Text 59"/>
          <p:cNvSpPr/>
          <p:nvPr/>
        </p:nvSpPr>
        <p:spPr>
          <a:xfrm>
            <a:off x="2474976" y="5285232"/>
            <a:ext cx="457200" cy="182880"/>
          </a:xfrm>
          <a:prstGeom prst="rect">
            <a:avLst/>
          </a:prstGeom>
          <a:noFill/>
          <a:ln/>
        </p:spPr>
        <p:txBody>
          <a:bodyPr wrap="square" lIns="0" tIns="0" rIns="0" bIns="0" rtlCol="0" anchor="ctr"/>
          <a:lstStyle/>
          <a:p>
            <a:pPr indent="0" marL="0">
              <a:buNone/>
            </a:pPr>
            <a:r>
              <a:rPr lang="en-US" sz="650" b="1" dirty="0">
                <a:solidFill>
                  <a:srgbClr val="D32F2F"/>
                </a:solidFill>
                <a:latin typeface="Arial" pitchFamily="34" charset="0"/>
                <a:ea typeface="Arial" pitchFamily="34" charset="-122"/>
                <a:cs typeface="Arial" pitchFamily="34" charset="-120"/>
              </a:rPr>
              <a:t>Q1 '26</a:t>
            </a:r>
            <a:endParaRPr lang="en-US" sz="650" dirty="0"/>
          </a:p>
        </p:txBody>
      </p:sp>
      <p:sp>
        <p:nvSpPr>
          <p:cNvPr id="62" name="Text 60"/>
          <p:cNvSpPr/>
          <p:nvPr/>
        </p:nvSpPr>
        <p:spPr>
          <a:xfrm>
            <a:off x="182880" y="5504688"/>
            <a:ext cx="2377440" cy="182880"/>
          </a:xfrm>
          <a:prstGeom prst="rect">
            <a:avLst/>
          </a:prstGeom>
          <a:noFill/>
          <a:ln/>
        </p:spPr>
        <p:txBody>
          <a:bodyPr wrap="square" lIns="0" tIns="0" rIns="0" bIns="0" rtlCol="0" anchor="ctr"/>
          <a:lstStyle/>
          <a:p>
            <a:pPr algn="r" indent="0" marL="0">
              <a:buNone/>
            </a:pPr>
            <a:r>
              <a:rPr lang="en-US" sz="750" dirty="0">
                <a:solidFill>
                  <a:srgbClr val="1E293B"/>
                </a:solidFill>
                <a:latin typeface="Arial" pitchFamily="34" charset="0"/>
                <a:ea typeface="Arial" pitchFamily="34" charset="-122"/>
                <a:cs typeface="Arial" pitchFamily="34" charset="-120"/>
              </a:rPr>
              <a:t>mAbxience: Pembro biosimilar</a:t>
            </a:r>
            <a:endParaRPr lang="en-US" sz="750" dirty="0"/>
          </a:p>
        </p:txBody>
      </p:sp>
      <p:sp>
        <p:nvSpPr>
          <p:cNvPr id="63" name="Shape 61"/>
          <p:cNvSpPr/>
          <p:nvPr/>
        </p:nvSpPr>
        <p:spPr>
          <a:xfrm>
            <a:off x="2560320" y="5504688"/>
            <a:ext cx="609600" cy="182880"/>
          </a:xfrm>
          <a:prstGeom prst="rect">
            <a:avLst/>
          </a:prstGeom>
          <a:solidFill>
            <a:srgbClr val="D32F2F"/>
          </a:solidFill>
          <a:ln/>
        </p:spPr>
      </p:sp>
      <p:sp>
        <p:nvSpPr>
          <p:cNvPr id="64" name="Text 62"/>
          <p:cNvSpPr/>
          <p:nvPr/>
        </p:nvSpPr>
        <p:spPr>
          <a:xfrm>
            <a:off x="3206496" y="5504688"/>
            <a:ext cx="457200" cy="182880"/>
          </a:xfrm>
          <a:prstGeom prst="rect">
            <a:avLst/>
          </a:prstGeom>
          <a:noFill/>
          <a:ln/>
        </p:spPr>
        <p:txBody>
          <a:bodyPr wrap="square" lIns="0" tIns="0" rIns="0" bIns="0" rtlCol="0" anchor="ctr"/>
          <a:lstStyle/>
          <a:p>
            <a:pPr indent="0" marL="0">
              <a:buNone/>
            </a:pPr>
            <a:r>
              <a:rPr lang="en-US" sz="650" b="1" dirty="0">
                <a:solidFill>
                  <a:srgbClr val="D32F2F"/>
                </a:solidFill>
                <a:latin typeface="Arial" pitchFamily="34" charset="0"/>
                <a:ea typeface="Arial" pitchFamily="34" charset="-122"/>
                <a:cs typeface="Arial" pitchFamily="34" charset="-120"/>
              </a:rPr>
              <a:t>Q3 '26</a:t>
            </a:r>
            <a:endParaRPr lang="en-US" sz="650" dirty="0"/>
          </a:p>
        </p:txBody>
      </p:sp>
      <p:sp>
        <p:nvSpPr>
          <p:cNvPr id="65" name="Text 63"/>
          <p:cNvSpPr/>
          <p:nvPr/>
        </p:nvSpPr>
        <p:spPr>
          <a:xfrm>
            <a:off x="182880" y="5724144"/>
            <a:ext cx="2377440" cy="182880"/>
          </a:xfrm>
          <a:prstGeom prst="rect">
            <a:avLst/>
          </a:prstGeom>
          <a:noFill/>
          <a:ln/>
        </p:spPr>
        <p:txBody>
          <a:bodyPr wrap="square" lIns="0" tIns="0" rIns="0" bIns="0" rtlCol="0" anchor="ctr"/>
          <a:lstStyle/>
          <a:p>
            <a:pPr algn="r" indent="0" marL="0">
              <a:buNone/>
            </a:pPr>
            <a:r>
              <a:rPr lang="en-US" sz="750" dirty="0">
                <a:solidFill>
                  <a:srgbClr val="1E293B"/>
                </a:solidFill>
                <a:latin typeface="Arial" pitchFamily="34" charset="0"/>
                <a:ea typeface="Arial" pitchFamily="34" charset="-122"/>
                <a:cs typeface="Arial" pitchFamily="34" charset="-120"/>
              </a:rPr>
              <a:t>Celltrion: Pembro biosimilar</a:t>
            </a:r>
            <a:endParaRPr lang="en-US" sz="750" dirty="0"/>
          </a:p>
        </p:txBody>
      </p:sp>
      <p:sp>
        <p:nvSpPr>
          <p:cNvPr id="66" name="Shape 64"/>
          <p:cNvSpPr/>
          <p:nvPr/>
        </p:nvSpPr>
        <p:spPr>
          <a:xfrm>
            <a:off x="2560320" y="5724144"/>
            <a:ext cx="2072640" cy="182880"/>
          </a:xfrm>
          <a:prstGeom prst="rect">
            <a:avLst/>
          </a:prstGeom>
          <a:solidFill>
            <a:srgbClr val="D32F2F"/>
          </a:solidFill>
          <a:ln/>
        </p:spPr>
      </p:sp>
      <p:sp>
        <p:nvSpPr>
          <p:cNvPr id="67" name="Text 65"/>
          <p:cNvSpPr/>
          <p:nvPr/>
        </p:nvSpPr>
        <p:spPr>
          <a:xfrm>
            <a:off x="4669536" y="5724144"/>
            <a:ext cx="457200" cy="182880"/>
          </a:xfrm>
          <a:prstGeom prst="rect">
            <a:avLst/>
          </a:prstGeom>
          <a:noFill/>
          <a:ln/>
        </p:spPr>
        <p:txBody>
          <a:bodyPr wrap="square" lIns="0" tIns="0" rIns="0" bIns="0" rtlCol="0" anchor="ctr"/>
          <a:lstStyle/>
          <a:p>
            <a:pPr indent="0" marL="0">
              <a:buNone/>
            </a:pPr>
            <a:r>
              <a:rPr lang="en-US" sz="650" b="1" dirty="0">
                <a:solidFill>
                  <a:srgbClr val="D32F2F"/>
                </a:solidFill>
                <a:latin typeface="Arial" pitchFamily="34" charset="0"/>
                <a:ea typeface="Arial" pitchFamily="34" charset="-122"/>
                <a:cs typeface="Arial" pitchFamily="34" charset="-120"/>
              </a:rPr>
              <a:t>Q1 '27</a:t>
            </a:r>
            <a:endParaRPr lang="en-US" sz="650" dirty="0"/>
          </a:p>
        </p:txBody>
      </p:sp>
      <p:sp>
        <p:nvSpPr>
          <p:cNvPr id="68" name="Text 66"/>
          <p:cNvSpPr/>
          <p:nvPr/>
        </p:nvSpPr>
        <p:spPr>
          <a:xfrm>
            <a:off x="182880" y="5943600"/>
            <a:ext cx="2377440" cy="182880"/>
          </a:xfrm>
          <a:prstGeom prst="rect">
            <a:avLst/>
          </a:prstGeom>
          <a:noFill/>
          <a:ln/>
        </p:spPr>
        <p:txBody>
          <a:bodyPr wrap="square" lIns="0" tIns="0" rIns="0" bIns="0" rtlCol="0" anchor="ctr"/>
          <a:lstStyle/>
          <a:p>
            <a:pPr algn="r" indent="0" marL="0">
              <a:buNone/>
            </a:pPr>
            <a:r>
              <a:rPr lang="en-US" sz="750" dirty="0">
                <a:solidFill>
                  <a:srgbClr val="1E293B"/>
                </a:solidFill>
                <a:latin typeface="Arial" pitchFamily="34" charset="0"/>
                <a:ea typeface="Arial" pitchFamily="34" charset="-122"/>
                <a:cs typeface="Arial" pitchFamily="34" charset="-120"/>
              </a:rPr>
              <a:t>Amgen: Pembro biosimilar</a:t>
            </a:r>
            <a:endParaRPr lang="en-US" sz="750" dirty="0"/>
          </a:p>
        </p:txBody>
      </p:sp>
      <p:sp>
        <p:nvSpPr>
          <p:cNvPr id="69" name="Shape 67"/>
          <p:cNvSpPr/>
          <p:nvPr/>
        </p:nvSpPr>
        <p:spPr>
          <a:xfrm>
            <a:off x="2560320" y="5943600"/>
            <a:ext cx="4511040" cy="182880"/>
          </a:xfrm>
          <a:prstGeom prst="rect">
            <a:avLst/>
          </a:prstGeom>
          <a:solidFill>
            <a:srgbClr val="D32F2F"/>
          </a:solidFill>
          <a:ln/>
        </p:spPr>
      </p:sp>
      <p:sp>
        <p:nvSpPr>
          <p:cNvPr id="70" name="Text 68"/>
          <p:cNvSpPr/>
          <p:nvPr/>
        </p:nvSpPr>
        <p:spPr>
          <a:xfrm>
            <a:off x="7107936" y="5943600"/>
            <a:ext cx="457200" cy="182880"/>
          </a:xfrm>
          <a:prstGeom prst="rect">
            <a:avLst/>
          </a:prstGeom>
          <a:noFill/>
          <a:ln/>
        </p:spPr>
        <p:txBody>
          <a:bodyPr wrap="square" lIns="0" tIns="0" rIns="0" bIns="0" rtlCol="0" anchor="ctr"/>
          <a:lstStyle/>
          <a:p>
            <a:pPr indent="0" marL="0">
              <a:buNone/>
            </a:pPr>
            <a:r>
              <a:rPr lang="en-US" sz="650" b="1" dirty="0">
                <a:solidFill>
                  <a:srgbClr val="D32F2F"/>
                </a:solidFill>
                <a:latin typeface="Arial" pitchFamily="34" charset="0"/>
                <a:ea typeface="Arial" pitchFamily="34" charset="-122"/>
                <a:cs typeface="Arial" pitchFamily="34" charset="-120"/>
              </a:rPr>
              <a:t>Q1 '28</a:t>
            </a:r>
            <a:endParaRPr lang="en-US" sz="650" dirty="0"/>
          </a:p>
        </p:txBody>
      </p:sp>
      <p:sp>
        <p:nvSpPr>
          <p:cNvPr id="71" name="Shape 69"/>
          <p:cNvSpPr/>
          <p:nvPr/>
        </p:nvSpPr>
        <p:spPr>
          <a:xfrm>
            <a:off x="365760" y="5577840"/>
            <a:ext cx="11430000" cy="777240"/>
          </a:xfrm>
          <a:prstGeom prst="rect">
            <a:avLst/>
          </a:prstGeom>
          <a:solidFill>
            <a:srgbClr val="001540"/>
          </a:solidFill>
          <a:ln/>
        </p:spPr>
      </p:sp>
      <p:sp>
        <p:nvSpPr>
          <p:cNvPr id="72" name="Text 70"/>
          <p:cNvSpPr/>
          <p:nvPr/>
        </p:nvSpPr>
        <p:spPr>
          <a:xfrm>
            <a:off x="548640" y="5623560"/>
            <a:ext cx="11064240" cy="685800"/>
          </a:xfrm>
          <a:prstGeom prst="rect">
            <a:avLst/>
          </a:prstGeom>
          <a:noFill/>
          <a:ln/>
        </p:spPr>
        <p:txBody>
          <a:bodyPr wrap="square" rtlCol="0" anchor="ctr"/>
          <a:lstStyle/>
          <a:p>
            <a:pPr indent="0" marL="0">
              <a:buNone/>
            </a:pPr>
            <a:r>
              <a:rPr lang="en-US" sz="900" b="1" dirty="0">
                <a:solidFill>
                  <a:srgbClr val="00B0B9"/>
                </a:solidFill>
                <a:latin typeface="Arial" pitchFamily="34" charset="0"/>
                <a:ea typeface="Arial" pitchFamily="34" charset="-122"/>
                <a:cs typeface="Arial" pitchFamily="34" charset="-120"/>
              </a:rPr>
              <a:t>Keytruda Implications: </a:t>
            </a:r>
            <a:pPr indent="0" marL="0">
              <a:buNone/>
            </a:pPr>
            <a:r>
              <a:rPr lang="en-US" sz="850" dirty="0">
                <a:solidFill>
                  <a:srgbClr val="FFFFFF"/>
                </a:solidFill>
                <a:latin typeface="Arial" pitchFamily="34" charset="0"/>
                <a:ea typeface="Arial" pitchFamily="34" charset="-122"/>
                <a:cs typeface="Arial" pitchFamily="34" charset="-120"/>
              </a:rPr>
              <a:t>The nearest-term threats to Keytruda's competitive position arrive in 2026: ivonescimab (PD1/VEGF bispecific — potential replacement), adagrasib+pembro (KRAS layering — pembro stays), and the first biosimilar (Samsung Bioepis — direct revenue erosion). By 2028, a second wave hits: TROP2 ADC combos that could displace chemotherapy from the pembro+chemo backbone, and 3 more pembro biosimilars. The 2026 ivonescimab readout is the single highest-stakes binary event for Keytruda.</a:t>
            </a:r>
            <a:endParaRPr lang="en-US" sz="900" dirty="0"/>
          </a:p>
        </p:txBody>
      </p:sp>
      <p:sp>
        <p:nvSpPr>
          <p:cNvPr id="73" name="Text 71"/>
          <p:cNvSpPr/>
          <p:nvPr/>
        </p:nvSpPr>
        <p:spPr>
          <a:xfrm>
            <a:off x="365760" y="6629400"/>
            <a:ext cx="11430000" cy="137160"/>
          </a:xfrm>
          <a:prstGeom prst="rect">
            <a:avLst/>
          </a:prstGeom>
          <a:noFill/>
          <a:ln/>
        </p:spPr>
        <p:txBody>
          <a:bodyPr wrap="square" rtlCol="0" anchor="ctr"/>
          <a:lstStyle/>
          <a:p>
            <a:pPr indent="0" marL="0">
              <a:buNone/>
            </a:pPr>
            <a:r>
              <a:rPr lang="en-US" sz="600" i="1" dirty="0">
                <a:solidFill>
                  <a:srgbClr val="AAAAAA"/>
                </a:solidFill>
                <a:latin typeface="Arial" pitchFamily="34" charset="0"/>
                <a:ea typeface="Arial" pitchFamily="34" charset="-122"/>
                <a:cs typeface="Arial" pitchFamily="34" charset="-120"/>
              </a:rPr>
              <a:t>Source: ClinicalTrials.gov primary completion dates | Phase 3 only | March 2026</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11430000" cy="365760"/>
          </a:xfrm>
          <a:prstGeom prst="rect">
            <a:avLst/>
          </a:prstGeom>
          <a:noFill/>
          <a:ln/>
        </p:spPr>
        <p:txBody>
          <a:bodyPr wrap="square" rtlCol="0" anchor="ctr"/>
          <a:lstStyle/>
          <a:p>
            <a:pPr indent="0" marL="0">
              <a:buNone/>
            </a:pPr>
            <a:r>
              <a:rPr lang="en-US" sz="1350" b="1" dirty="0">
                <a:solidFill>
                  <a:srgbClr val="002060"/>
                </a:solidFill>
                <a:latin typeface="Arial" pitchFamily="34" charset="0"/>
                <a:ea typeface="Arial" pitchFamily="34" charset="-122"/>
                <a:cs typeface="Arial" pitchFamily="34" charset="-120"/>
              </a:rPr>
              <a:t>Exhibit 4: Biosimilar Threat Tracker — Keytruda Revenue Erosion Timeline</a:t>
            </a:r>
            <a:endParaRPr lang="en-US" sz="1350" dirty="0"/>
          </a:p>
        </p:txBody>
      </p:sp>
      <p:sp>
        <p:nvSpPr>
          <p:cNvPr id="3" name="Text 1"/>
          <p:cNvSpPr/>
          <p:nvPr/>
        </p:nvSpPr>
        <p:spPr>
          <a:xfrm>
            <a:off x="365760" y="530352"/>
            <a:ext cx="11430000" cy="182880"/>
          </a:xfrm>
          <a:prstGeom prst="rect">
            <a:avLst/>
          </a:prstGeom>
          <a:noFill/>
          <a:ln/>
        </p:spPr>
        <p:txBody>
          <a:bodyPr wrap="square" rtlCol="0" anchor="ctr"/>
          <a:lstStyle/>
          <a:p>
            <a:pPr indent="0" marL="0">
              <a:buNone/>
            </a:pPr>
            <a:r>
              <a:rPr lang="en-US" sz="800" i="1" dirty="0">
                <a:solidFill>
                  <a:srgbClr val="64748B"/>
                </a:solidFill>
                <a:latin typeface="Arial" pitchFamily="34" charset="0"/>
                <a:ea typeface="Arial" pitchFamily="34" charset="-122"/>
                <a:cs typeface="Arial" pitchFamily="34" charset="-120"/>
              </a:rPr>
              <a:t>When does Keytruda lose exclusivity? How many biosimilars are coming? Bevacizumab erosion as a template.</a:t>
            </a:r>
            <a:endParaRPr lang="en-US" sz="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914400"/>
          <a:ext cx="11430000" cy="914400"/>
        </p:xfrm>
        <a:graphic>
          <a:graphicData uri="http://schemas.openxmlformats.org/drawingml/2006/table">
            <a:tbl>
              <a:tblPr/>
              <a:tblGrid>
                <a:gridCol w="1828800"/>
                <a:gridCol w="2286000"/>
                <a:gridCol w="1371600"/>
                <a:gridCol w="1097280"/>
                <a:gridCol w="4572000"/>
              </a:tblGrid>
              <a:tr h="32004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Originator</a:t>
                      </a:r>
                      <a:endParaRPr lang="en-US" sz="900" dirty="0">
                        <a:latin typeface="Arial" charset="0"/>
                        <a:ea typeface="Arial" charset="0"/>
                        <a:cs typeface="Arial" charset="0"/>
                      </a:endParaRPr>
                    </a:p>
                  </a:txBody>
                  <a:tcPr marL="91440" marR="9144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Biosimilar Sponsor</a:t>
                      </a:r>
                      <a:endParaRPr lang="en-US" sz="900" dirty="0">
                        <a:latin typeface="Arial" charset="0"/>
                        <a:ea typeface="Arial" charset="0"/>
                        <a:cs typeface="Arial" charset="0"/>
                      </a:endParaRPr>
                    </a:p>
                  </a:txBody>
                  <a:tcPr marL="91440" marR="9144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Dev Stage US</a:t>
                      </a:r>
                      <a:endParaRPr lang="en-US" sz="900" dirty="0">
                        <a:latin typeface="Arial" charset="0"/>
                        <a:ea typeface="Arial" charset="0"/>
                        <a:cs typeface="Arial" charset="0"/>
                      </a:endParaRPr>
                    </a:p>
                  </a:txBody>
                  <a:tcPr marL="91440" marR="9144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PCD</a:t>
                      </a:r>
                      <a:endParaRPr lang="en-US" sz="900" dirty="0">
                        <a:latin typeface="Arial" charset="0"/>
                        <a:ea typeface="Arial" charset="0"/>
                        <a:cs typeface="Arial" charset="0"/>
                      </a:endParaRPr>
                    </a:p>
                  </a:txBody>
                  <a:tcPr marL="91440" marR="9144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002060"/>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Threat Level</a:t>
                      </a:r>
                      <a:endParaRPr lang="en-US" sz="900" dirty="0">
                        <a:latin typeface="Arial" charset="0"/>
                        <a:ea typeface="Arial" charset="0"/>
                        <a:cs typeface="Arial" charset="0"/>
                      </a:endParaRPr>
                    </a:p>
                  </a:txBody>
                  <a:tcPr marL="91440" marR="91440" marT="45720" marB="4572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002060"/>
                    </a:solidFill>
                  </a:tcPr>
                </a:tc>
              </a:tr>
              <a:tr h="320040">
                <a:tc rowSpan="4">
                  <a:txBody>
                    <a:bodyPr/>
                    <a:lstStyle/>
                    <a:p>
                      <a:pPr indent="0" marL="0">
                        <a:buNone/>
                      </a:pPr>
                      <a:r>
                        <a:rPr lang="en-US" sz="900" b="1" dirty="0">
                          <a:solidFill>
                            <a:srgbClr val="002060"/>
                          </a:solidFill>
                          <a:latin typeface="Arial" pitchFamily="34" charset="0"/>
                          <a:ea typeface="Arial" pitchFamily="34" charset="-122"/>
                          <a:cs typeface="Arial" pitchFamily="34" charset="-120"/>
                        </a:rPr>
                        <a:t>Pembrolizumab (MRK)</a:t>
                      </a:r>
                      <a:endParaRPr lang="en-US" sz="900" dirty="0">
                        <a:latin typeface="Arial" charset="0"/>
                        <a:ea typeface="Arial" charset="0"/>
                        <a:cs typeface="Arial" charset="0"/>
                      </a:endParaRPr>
                    </a:p>
                    <a:p>
                      <a:pPr indent="0" marL="0">
                        <a:buNone/>
                      </a:pPr>
                      <a:r>
                        <a:rPr lang="en-US" sz="900" b="1" dirty="0">
                          <a:solidFill>
                            <a:srgbClr val="002060"/>
                          </a:solidFill>
                          <a:latin typeface="Arial" pitchFamily="34" charset="0"/>
                          <a:ea typeface="Arial" pitchFamily="34" charset="-122"/>
                          <a:cs typeface="Arial" pitchFamily="34" charset="-120"/>
                        </a:rPr>
                        <a:t>Keytruda — $25B+ global</a:t>
                      </a:r>
                      <a:endParaRPr lang="en-US" sz="900" dirty="0">
                        <a:latin typeface="Arial" charset="0"/>
                        <a:ea typeface="Arial" charset="0"/>
                        <a:cs typeface="Arial" charset="0"/>
                      </a:endParaRPr>
                    </a:p>
                  </a:txBody>
                  <a:tcPr marL="91440" marR="91440" marT="45720" marB="45720" anchor="t">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EBEE"/>
                    </a:solidFill>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Samsung Bioepis</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5F5"/>
                    </a:solidFill>
                  </a:tcPr>
                </a:tc>
                <a:tc>
                  <a:txBody>
                    <a:bodyPr/>
                    <a:lstStyle/>
                    <a:p>
                      <a:pPr indent="0" marL="0">
                        <a:buNone/>
                      </a:pPr>
                      <a:r>
                        <a:rPr lang="en-US" sz="900" b="1" dirty="0">
                          <a:solidFill>
                            <a:srgbClr val="BF360C"/>
                          </a:solidFill>
                          <a:latin typeface="Arial" pitchFamily="34" charset="0"/>
                          <a:ea typeface="Arial" pitchFamily="34" charset="-122"/>
                          <a:cs typeface="Arial" pitchFamily="34" charset="-120"/>
                        </a:rPr>
                        <a:t>Phase III</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5F5"/>
                    </a:solidFill>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Mar 2026</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5F5"/>
                    </a:solidFill>
                  </a:tcPr>
                </a:tc>
                <a:tc>
                  <a:txBody>
                    <a:bodyPr/>
                    <a:lstStyle/>
                    <a:p>
                      <a:pPr indent="0" marL="0">
                        <a:buNone/>
                      </a:pPr>
                      <a:r>
                        <a:rPr lang="en-US" sz="900" dirty="0">
                          <a:solidFill>
                            <a:srgbClr val="D32F2F"/>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5F5"/>
                    </a:solidFill>
                  </a:tcPr>
                </a:tc>
              </a:tr>
              <a:tr h="320040">
                <a:tc vMerge="1">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mAbxience</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5F5"/>
                    </a:solidFill>
                  </a:tcPr>
                </a:tc>
                <a:tc>
                  <a:txBody>
                    <a:bodyPr/>
                    <a:lstStyle/>
                    <a:p>
                      <a:pPr indent="0" marL="0">
                        <a:buNone/>
                      </a:pPr>
                      <a:r>
                        <a:rPr lang="en-US" sz="900" b="1" dirty="0">
                          <a:solidFill>
                            <a:srgbClr val="BF360C"/>
                          </a:solidFill>
                          <a:latin typeface="Arial" pitchFamily="34" charset="0"/>
                          <a:ea typeface="Arial" pitchFamily="34" charset="-122"/>
                          <a:cs typeface="Arial" pitchFamily="34" charset="-120"/>
                        </a:rPr>
                        <a:t>Phase III</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5F5"/>
                    </a:solidFill>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Jun 2026</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5F5"/>
                    </a:solidFill>
                  </a:tcPr>
                </a:tc>
                <a:tc>
                  <a:txBody>
                    <a:bodyPr/>
                    <a:lstStyle/>
                    <a:p>
                      <a:pPr indent="0" marL="0">
                        <a:buNone/>
                      </a:pPr>
                      <a:r>
                        <a:rPr lang="en-US" sz="900" dirty="0">
                          <a:solidFill>
                            <a:srgbClr val="D32F2F"/>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5F5"/>
                    </a:solidFill>
                  </a:tcPr>
                </a:tc>
              </a:tr>
              <a:tr h="320040">
                <a:tc vMerge="1">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Celltrion</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5F5"/>
                    </a:solidFill>
                  </a:tcPr>
                </a:tc>
                <a:tc>
                  <a:txBody>
                    <a:bodyPr/>
                    <a:lstStyle/>
                    <a:p>
                      <a:pPr indent="0" marL="0">
                        <a:buNone/>
                      </a:pPr>
                      <a:r>
                        <a:rPr lang="en-US" sz="900" b="1" dirty="0">
                          <a:solidFill>
                            <a:srgbClr val="BF360C"/>
                          </a:solidFill>
                          <a:latin typeface="Arial" pitchFamily="34" charset="0"/>
                          <a:ea typeface="Arial" pitchFamily="34" charset="-122"/>
                          <a:cs typeface="Arial" pitchFamily="34" charset="-120"/>
                        </a:rPr>
                        <a:t>Phase III</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5F5"/>
                    </a:solidFill>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Feb 2027</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5F5"/>
                    </a:solidFill>
                  </a:tcPr>
                </a:tc>
                <a:tc>
                  <a:txBody>
                    <a:bodyPr/>
                    <a:lstStyle/>
                    <a:p>
                      <a:pPr indent="0" marL="0">
                        <a:buNone/>
                      </a:pPr>
                      <a:r>
                        <a:rPr lang="en-US" sz="900" dirty="0">
                          <a:solidFill>
                            <a:srgbClr val="D32F2F"/>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5F5"/>
                    </a:solidFill>
                  </a:tcPr>
                </a:tc>
              </a:tr>
              <a:tr h="320040">
                <a:tc vMerge="1">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Amgen (AMGN)</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5F5"/>
                    </a:solidFill>
                  </a:tcPr>
                </a:tc>
                <a:tc>
                  <a:txBody>
                    <a:bodyPr/>
                    <a:lstStyle/>
                    <a:p>
                      <a:pPr indent="0" marL="0">
                        <a:buNone/>
                      </a:pPr>
                      <a:r>
                        <a:rPr lang="en-US" sz="900" b="1" dirty="0">
                          <a:solidFill>
                            <a:srgbClr val="BF360C"/>
                          </a:solidFill>
                          <a:latin typeface="Arial" pitchFamily="34" charset="0"/>
                          <a:ea typeface="Arial" pitchFamily="34" charset="-122"/>
                          <a:cs typeface="Arial" pitchFamily="34" charset="-120"/>
                        </a:rPr>
                        <a:t>Phase III</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5F5"/>
                    </a:solidFill>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Feb 2028</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5F5"/>
                    </a:solidFill>
                  </a:tcPr>
                </a:tc>
                <a:tc>
                  <a:txBody>
                    <a:bodyPr/>
                    <a:lstStyle/>
                    <a:p>
                      <a:pPr indent="0" marL="0">
                        <a:buNone/>
                      </a:pPr>
                      <a:r>
                        <a:rPr lang="en-US" sz="900" dirty="0">
                          <a:solidFill>
                            <a:srgbClr val="D32F2F"/>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5F5"/>
                    </a:solidFill>
                  </a:tcPr>
                </a:tc>
              </a:tr>
              <a:tr h="320040">
                <a:tc rowSpan="7">
                  <a:txBody>
                    <a:bodyPr/>
                    <a:lstStyle/>
                    <a:p>
                      <a:pPr indent="0" marL="0">
                        <a:buNone/>
                      </a:pPr>
                      <a:r>
                        <a:rPr lang="en-US" sz="900" b="1" dirty="0">
                          <a:solidFill>
                            <a:srgbClr val="002060"/>
                          </a:solidFill>
                          <a:latin typeface="Arial" pitchFamily="34" charset="0"/>
                          <a:ea typeface="Arial" pitchFamily="34" charset="-122"/>
                          <a:cs typeface="Arial" pitchFamily="34" charset="-120"/>
                        </a:rPr>
                        <a:t>Bevacizumab (RHHBY)</a:t>
                      </a:r>
                      <a:endParaRPr lang="en-US" sz="900" dirty="0">
                        <a:latin typeface="Arial" charset="0"/>
                        <a:ea typeface="Arial" charset="0"/>
                        <a:cs typeface="Arial" charset="0"/>
                      </a:endParaRPr>
                    </a:p>
                    <a:p>
                      <a:pPr indent="0" marL="0">
                        <a:buNone/>
                      </a:pPr>
                      <a:r>
                        <a:rPr lang="en-US" sz="900" b="1" dirty="0">
                          <a:solidFill>
                            <a:srgbClr val="002060"/>
                          </a:solidFill>
                          <a:latin typeface="Arial" pitchFamily="34" charset="0"/>
                          <a:ea typeface="Arial" pitchFamily="34" charset="-122"/>
                          <a:cs typeface="Arial" pitchFamily="34" charset="-120"/>
                        </a:rPr>
                        <a:t>Avastin — genericized</a:t>
                      </a:r>
                      <a:endParaRPr lang="en-US" sz="900" dirty="0">
                        <a:latin typeface="Arial" charset="0"/>
                        <a:ea typeface="Arial" charset="0"/>
                        <a:cs typeface="Arial" charset="0"/>
                      </a:endParaRPr>
                    </a:p>
                  </a:txBody>
                  <a:tcPr marL="91440" marR="91440" marT="45720" marB="45720" anchor="t">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0F8F0"/>
                    </a:solidFill>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Amgen (AMGN)</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c>
                  <a:txBody>
                    <a:bodyPr/>
                    <a:lstStyle/>
                    <a:p>
                      <a:pPr indent="0" marL="0">
                        <a:buNone/>
                      </a:pPr>
                      <a:r>
                        <a:rPr lang="en-US" sz="900" b="1" dirty="0">
                          <a:solidFill>
                            <a:srgbClr val="1B5E20"/>
                          </a:solidFill>
                          <a:latin typeface="Arial" pitchFamily="34" charset="0"/>
                          <a:ea typeface="Arial" pitchFamily="34" charset="-122"/>
                          <a:cs typeface="Arial" pitchFamily="34" charset="-120"/>
                        </a:rPr>
                        <a:t>Approved</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c>
                  <a:txBody>
                    <a:bodyPr/>
                    <a:lstStyle/>
                    <a:p>
                      <a:pPr indent="0" marL="0">
                        <a:buNone/>
                      </a:pPr>
                      <a:r>
                        <a:rPr lang="en-US" sz="900" dirty="0">
                          <a:solidFill>
                            <a:srgbClr val="66BB6A"/>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r>
              <a:tr h="320040">
                <a:tc vMerge="1">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Pfizer (PFE)</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c>
                  <a:txBody>
                    <a:bodyPr/>
                    <a:lstStyle/>
                    <a:p>
                      <a:pPr indent="0" marL="0">
                        <a:buNone/>
                      </a:pPr>
                      <a:r>
                        <a:rPr lang="en-US" sz="900" b="1" dirty="0">
                          <a:solidFill>
                            <a:srgbClr val="1B5E20"/>
                          </a:solidFill>
                          <a:latin typeface="Arial" pitchFamily="34" charset="0"/>
                          <a:ea typeface="Arial" pitchFamily="34" charset="-122"/>
                          <a:cs typeface="Arial" pitchFamily="34" charset="-120"/>
                        </a:rPr>
                        <a:t>Approved</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c>
                  <a:txBody>
                    <a:bodyPr/>
                    <a:lstStyle/>
                    <a:p>
                      <a:pPr indent="0" marL="0">
                        <a:buNone/>
                      </a:pPr>
                      <a:r>
                        <a:rPr lang="en-US" sz="900" dirty="0">
                          <a:solidFill>
                            <a:srgbClr val="66BB6A"/>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r>
              <a:tr h="320040">
                <a:tc vMerge="1">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Sandoz</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c>
                  <a:txBody>
                    <a:bodyPr/>
                    <a:lstStyle/>
                    <a:p>
                      <a:pPr indent="0" marL="0">
                        <a:buNone/>
                      </a:pPr>
                      <a:r>
                        <a:rPr lang="en-US" sz="900" b="1" dirty="0">
                          <a:solidFill>
                            <a:srgbClr val="1B5E20"/>
                          </a:solidFill>
                          <a:latin typeface="Arial" pitchFamily="34" charset="0"/>
                          <a:ea typeface="Arial" pitchFamily="34" charset="-122"/>
                          <a:cs typeface="Arial" pitchFamily="34" charset="-120"/>
                        </a:rPr>
                        <a:t>Approved</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c>
                  <a:txBody>
                    <a:bodyPr/>
                    <a:lstStyle/>
                    <a:p>
                      <a:pPr indent="0" marL="0">
                        <a:buNone/>
                      </a:pPr>
                      <a:r>
                        <a:rPr lang="en-US" sz="900" dirty="0">
                          <a:solidFill>
                            <a:srgbClr val="66BB6A"/>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r>
              <a:tr h="320040">
                <a:tc vMerge="1">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Amneal Pharma</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c>
                  <a:txBody>
                    <a:bodyPr/>
                    <a:lstStyle/>
                    <a:p>
                      <a:pPr indent="0" marL="0">
                        <a:buNone/>
                      </a:pPr>
                      <a:r>
                        <a:rPr lang="en-US" sz="900" b="1" dirty="0">
                          <a:solidFill>
                            <a:srgbClr val="1B5E20"/>
                          </a:solidFill>
                          <a:latin typeface="Arial" pitchFamily="34" charset="0"/>
                          <a:ea typeface="Arial" pitchFamily="34" charset="-122"/>
                          <a:cs typeface="Arial" pitchFamily="34" charset="-120"/>
                        </a:rPr>
                        <a:t>Approved</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c>
                  <a:txBody>
                    <a:bodyPr/>
                    <a:lstStyle/>
                    <a:p>
                      <a:pPr indent="0" marL="0">
                        <a:buNone/>
                      </a:pPr>
                      <a:r>
                        <a:rPr lang="en-US" sz="900" dirty="0">
                          <a:solidFill>
                            <a:srgbClr val="66BB6A"/>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r>
              <a:tr h="320040">
                <a:tc vMerge="1">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Celltrion</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c>
                  <a:txBody>
                    <a:bodyPr/>
                    <a:lstStyle/>
                    <a:p>
                      <a:pPr indent="0" marL="0">
                        <a:buNone/>
                      </a:pPr>
                      <a:r>
                        <a:rPr lang="en-US" sz="900" b="1" dirty="0">
                          <a:solidFill>
                            <a:srgbClr val="1B5E20"/>
                          </a:solidFill>
                          <a:latin typeface="Arial" pitchFamily="34" charset="0"/>
                          <a:ea typeface="Arial" pitchFamily="34" charset="-122"/>
                          <a:cs typeface="Arial" pitchFamily="34" charset="-120"/>
                        </a:rPr>
                        <a:t>Approved</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c>
                  <a:txBody>
                    <a:bodyPr/>
                    <a:lstStyle/>
                    <a:p>
                      <a:pPr indent="0" marL="0">
                        <a:buNone/>
                      </a:pPr>
                      <a:r>
                        <a:rPr lang="en-US" sz="900" dirty="0">
                          <a:solidFill>
                            <a:srgbClr val="66BB6A"/>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r>
              <a:tr h="320040">
                <a:tc vMerge="1">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Biocon Biologics</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c>
                  <a:txBody>
                    <a:bodyPr/>
                    <a:lstStyle/>
                    <a:p>
                      <a:pPr indent="0" marL="0">
                        <a:buNone/>
                      </a:pPr>
                      <a:r>
                        <a:rPr lang="en-US" sz="900" b="1" dirty="0">
                          <a:solidFill>
                            <a:srgbClr val="1B5E20"/>
                          </a:solidFill>
                          <a:latin typeface="Arial" pitchFamily="34" charset="0"/>
                          <a:ea typeface="Arial" pitchFamily="34" charset="-122"/>
                          <a:cs typeface="Arial" pitchFamily="34" charset="-120"/>
                        </a:rPr>
                        <a:t>Approved</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c>
                  <a:txBody>
                    <a:bodyPr/>
                    <a:lstStyle/>
                    <a:p>
                      <a:pPr indent="0" marL="0">
                        <a:buNone/>
                      </a:pPr>
                      <a:r>
                        <a:rPr lang="en-US" sz="900" dirty="0">
                          <a:solidFill>
                            <a:srgbClr val="66BB6A"/>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r>
              <a:tr h="320040">
                <a:tc vMerge="1">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Prestige Biopharma</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c>
                  <a:txBody>
                    <a:bodyPr/>
                    <a:lstStyle/>
                    <a:p>
                      <a:pPr indent="0" marL="0">
                        <a:buNone/>
                      </a:pPr>
                      <a:r>
                        <a:rPr lang="en-US" sz="900" b="1" dirty="0">
                          <a:solidFill>
                            <a:srgbClr val="BF360C"/>
                          </a:solidFill>
                          <a:latin typeface="Arial" pitchFamily="34" charset="0"/>
                          <a:ea typeface="Arial" pitchFamily="34" charset="-122"/>
                          <a:cs typeface="Arial" pitchFamily="34" charset="-120"/>
                        </a:rPr>
                        <a:t>Phase III</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Jul 2024</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c>
                  <a:txBody>
                    <a:bodyPr/>
                    <a:lstStyle/>
                    <a:p>
                      <a:pPr indent="0" marL="0">
                        <a:buNone/>
                      </a:pPr>
                      <a:r>
                        <a:rPr lang="en-US" sz="900" dirty="0">
                          <a:solidFill>
                            <a:srgbClr val="66BB6A"/>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CF8"/>
                    </a:solidFill>
                  </a:tcPr>
                </a:tc>
              </a:tr>
            </a:tbl>
          </a:graphicData>
        </a:graphic>
      </p:graphicFrame>
      <p:sp>
        <p:nvSpPr>
          <p:cNvPr id="5" name="Shape 2"/>
          <p:cNvSpPr/>
          <p:nvPr/>
        </p:nvSpPr>
        <p:spPr>
          <a:xfrm>
            <a:off x="365760" y="5120640"/>
            <a:ext cx="11430000" cy="914400"/>
          </a:xfrm>
          <a:prstGeom prst="rect">
            <a:avLst/>
          </a:prstGeom>
          <a:solidFill>
            <a:srgbClr val="001540"/>
          </a:solidFill>
          <a:ln/>
        </p:spPr>
      </p:sp>
      <p:sp>
        <p:nvSpPr>
          <p:cNvPr id="6" name="Text 3"/>
          <p:cNvSpPr/>
          <p:nvPr/>
        </p:nvSpPr>
        <p:spPr>
          <a:xfrm>
            <a:off x="548640" y="5166360"/>
            <a:ext cx="11064240" cy="822960"/>
          </a:xfrm>
          <a:prstGeom prst="rect">
            <a:avLst/>
          </a:prstGeom>
          <a:noFill/>
          <a:ln/>
        </p:spPr>
        <p:txBody>
          <a:bodyPr wrap="square" rtlCol="0" anchor="ctr"/>
          <a:lstStyle/>
          <a:p>
            <a:pPr indent="0" marL="0">
              <a:buNone/>
            </a:pPr>
            <a:r>
              <a:rPr lang="en-US" sz="900" b="1" dirty="0">
                <a:solidFill>
                  <a:srgbClr val="00B0B9"/>
                </a:solidFill>
                <a:latin typeface="Arial" pitchFamily="34" charset="0"/>
                <a:ea typeface="Arial" pitchFamily="34" charset="-122"/>
                <a:cs typeface="Arial" pitchFamily="34" charset="-120"/>
              </a:rPr>
              <a:t>Keytruda Implications: </a:t>
            </a:r>
            <a:pPr indent="0" marL="0">
              <a:buNone/>
            </a:pPr>
            <a:r>
              <a:rPr lang="en-US" sz="850" dirty="0">
                <a:solidFill>
                  <a:srgbClr val="FFFFFF"/>
                </a:solidFill>
                <a:latin typeface="Arial" pitchFamily="34" charset="0"/>
                <a:ea typeface="Arial" pitchFamily="34" charset="-122"/>
                <a:cs typeface="Arial" pitchFamily="34" charset="-120"/>
              </a:rPr>
              <a:t>The biosimilar wave is arguably the single biggest risk to MRK's earnings trajectory. 4 pembro biosimilars in Phase 3, with Samsung Bioepis and mAbxience completing in 2026. Bevacizumab's precedent is instructive: 6 approved biosimilars drove ~70% price erosion. Unlike pipeline competitors that threaten individual patient segments, biosimilars erode Keytruda's entire $25B+ franchise across all indications — NSCLC, melanoma, H&amp;N, bladder, gastric. The biosimilar entry timeline (2028-2029 launch window) matters more for MRK's long-term earnings than any single competitive readout.</a:t>
            </a:r>
            <a:endParaRPr lang="en-US" sz="900" dirty="0"/>
          </a:p>
        </p:txBody>
      </p:sp>
      <p:sp>
        <p:nvSpPr>
          <p:cNvPr id="7" name="Text 4"/>
          <p:cNvSpPr/>
          <p:nvPr/>
        </p:nvSpPr>
        <p:spPr>
          <a:xfrm>
            <a:off x="365760" y="6629400"/>
            <a:ext cx="11430000" cy="137160"/>
          </a:xfrm>
          <a:prstGeom prst="rect">
            <a:avLst/>
          </a:prstGeom>
          <a:noFill/>
          <a:ln/>
        </p:spPr>
        <p:txBody>
          <a:bodyPr wrap="square" rtlCol="0" anchor="ctr"/>
          <a:lstStyle/>
          <a:p>
            <a:pPr indent="0" marL="0">
              <a:buNone/>
            </a:pPr>
            <a:r>
              <a:rPr lang="en-US" sz="600" i="1" dirty="0">
                <a:solidFill>
                  <a:srgbClr val="AAAAAA"/>
                </a:solidFill>
                <a:latin typeface="Arial" pitchFamily="34" charset="0"/>
                <a:ea typeface="Arial" pitchFamily="34" charset="-122"/>
                <a:cs typeface="Arial" pitchFamily="34" charset="-120"/>
              </a:rPr>
              <a:t>Source: Pipeline database, ClinicalTrials.gov | March 2026</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11430000" cy="365760"/>
          </a:xfrm>
          <a:prstGeom prst="rect">
            <a:avLst/>
          </a:prstGeom>
          <a:noFill/>
          <a:ln/>
        </p:spPr>
        <p:txBody>
          <a:bodyPr wrap="square" rtlCol="0" anchor="ctr"/>
          <a:lstStyle/>
          <a:p>
            <a:pPr indent="0" marL="0">
              <a:buNone/>
            </a:pPr>
            <a:r>
              <a:rPr lang="en-US" sz="1350" b="1" dirty="0">
                <a:solidFill>
                  <a:srgbClr val="002060"/>
                </a:solidFill>
                <a:latin typeface="Arial" pitchFamily="34" charset="0"/>
                <a:ea typeface="Arial" pitchFamily="34" charset="-122"/>
                <a:cs typeface="Arial" pitchFamily="34" charset="-120"/>
              </a:rPr>
              <a:t>Exhibit 5: Target × Biomarker Heat Map — Where Keytruda Faces the Most Competition</a:t>
            </a:r>
            <a:endParaRPr lang="en-US" sz="1350" dirty="0"/>
          </a:p>
        </p:txBody>
      </p:sp>
      <p:sp>
        <p:nvSpPr>
          <p:cNvPr id="3" name="Text 1"/>
          <p:cNvSpPr/>
          <p:nvPr/>
        </p:nvSpPr>
        <p:spPr>
          <a:xfrm>
            <a:off x="365760" y="530352"/>
            <a:ext cx="11430000" cy="182880"/>
          </a:xfrm>
          <a:prstGeom prst="rect">
            <a:avLst/>
          </a:prstGeom>
          <a:noFill/>
          <a:ln/>
        </p:spPr>
        <p:txBody>
          <a:bodyPr wrap="square" rtlCol="0" anchor="ctr"/>
          <a:lstStyle/>
          <a:p>
            <a:pPr indent="0" marL="0">
              <a:buNone/>
            </a:pPr>
            <a:r>
              <a:rPr lang="en-US" sz="800" i="1" dirty="0">
                <a:solidFill>
                  <a:srgbClr val="64748B"/>
                </a:solidFill>
                <a:latin typeface="Arial" pitchFamily="34" charset="0"/>
                <a:ea typeface="Arial" pitchFamily="34" charset="-122"/>
                <a:cs typeface="Arial" pitchFamily="34" charset="-120"/>
              </a:rPr>
              <a:t>Which target-biomarker intersections are most crowded? Where is Keytruda's competitive moat thinnest?</a:t>
            </a:r>
            <a:endParaRPr lang="en-US" sz="800" dirty="0"/>
          </a:p>
        </p:txBody>
      </p:sp>
      <p:sp>
        <p:nvSpPr>
          <p:cNvPr id="4" name="Text 2"/>
          <p:cNvSpPr/>
          <p:nvPr/>
        </p:nvSpPr>
        <p:spPr>
          <a:xfrm>
            <a:off x="274320" y="749808"/>
            <a:ext cx="5266944" cy="201168"/>
          </a:xfrm>
          <a:prstGeom prst="rect">
            <a:avLst/>
          </a:prstGeom>
          <a:noFill/>
          <a:ln/>
        </p:spPr>
        <p:txBody>
          <a:bodyPr wrap="square" rtlCol="0" anchor="ctr"/>
          <a:lstStyle/>
          <a:p>
            <a:pPr algn="ctr" indent="0" marL="0">
              <a:buNone/>
            </a:pPr>
            <a:r>
              <a:rPr lang="en-US" sz="1100" b="1" dirty="0">
                <a:solidFill>
                  <a:srgbClr val="002060"/>
                </a:solidFill>
                <a:latin typeface="Arial" pitchFamily="34" charset="0"/>
                <a:ea typeface="Arial" pitchFamily="34" charset="-122"/>
                <a:cs typeface="Arial" pitchFamily="34" charset="-120"/>
              </a:rPr>
              <a:t>1L Phase 3</a:t>
            </a:r>
            <a:endParaRPr lang="en-US" sz="1100" dirty="0"/>
          </a:p>
        </p:txBody>
      </p:sp>
      <p:sp>
        <p:nvSpPr>
          <p:cNvPr id="5" name="Shape 3"/>
          <p:cNvSpPr/>
          <p:nvPr/>
        </p:nvSpPr>
        <p:spPr>
          <a:xfrm>
            <a:off x="274320" y="1005840"/>
            <a:ext cx="914400" cy="329184"/>
          </a:xfrm>
          <a:prstGeom prst="rect">
            <a:avLst/>
          </a:prstGeom>
          <a:solidFill>
            <a:srgbClr val="002060"/>
          </a:solidFill>
          <a:ln/>
        </p:spPr>
      </p:sp>
      <p:sp>
        <p:nvSpPr>
          <p:cNvPr id="6" name="Text 4"/>
          <p:cNvSpPr/>
          <p:nvPr/>
        </p:nvSpPr>
        <p:spPr>
          <a:xfrm>
            <a:off x="274320" y="1005840"/>
            <a:ext cx="914400" cy="329184"/>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Target ↓</a:t>
            </a:r>
            <a:endParaRPr lang="en-US" sz="750" dirty="0"/>
          </a:p>
        </p:txBody>
      </p:sp>
      <p:sp>
        <p:nvSpPr>
          <p:cNvPr id="7" name="Shape 5"/>
          <p:cNvSpPr/>
          <p:nvPr/>
        </p:nvSpPr>
        <p:spPr>
          <a:xfrm>
            <a:off x="1188720" y="1005840"/>
            <a:ext cx="621792" cy="329184"/>
          </a:xfrm>
          <a:prstGeom prst="rect">
            <a:avLst/>
          </a:prstGeom>
          <a:solidFill>
            <a:srgbClr val="002060"/>
          </a:solidFill>
          <a:ln/>
        </p:spPr>
      </p:sp>
      <p:sp>
        <p:nvSpPr>
          <p:cNvPr id="8" name="Text 6"/>
          <p:cNvSpPr/>
          <p:nvPr/>
        </p:nvSpPr>
        <p:spPr>
          <a:xfrm>
            <a:off x="1188720" y="1005840"/>
            <a:ext cx="621792" cy="32918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PD-L1</a:t>
            </a:r>
            <a:endParaRPr lang="en-US" sz="700" dirty="0"/>
          </a:p>
          <a:p>
            <a:pPr algn="ctr" indent="0" marL="0">
              <a:buNone/>
            </a:pPr>
            <a:r>
              <a:rPr lang="en-US" sz="700" b="1" dirty="0">
                <a:solidFill>
                  <a:srgbClr val="FFFFFF"/>
                </a:solidFill>
                <a:latin typeface="Arial" pitchFamily="34" charset="0"/>
                <a:ea typeface="Arial" pitchFamily="34" charset="-122"/>
                <a:cs typeface="Arial" pitchFamily="34" charset="-120"/>
              </a:rPr>
              <a:t>≥50%</a:t>
            </a:r>
            <a:endParaRPr lang="en-US" sz="700" dirty="0"/>
          </a:p>
        </p:txBody>
      </p:sp>
      <p:sp>
        <p:nvSpPr>
          <p:cNvPr id="9" name="Shape 7"/>
          <p:cNvSpPr/>
          <p:nvPr/>
        </p:nvSpPr>
        <p:spPr>
          <a:xfrm>
            <a:off x="1810512" y="1005840"/>
            <a:ext cx="621792" cy="329184"/>
          </a:xfrm>
          <a:prstGeom prst="rect">
            <a:avLst/>
          </a:prstGeom>
          <a:solidFill>
            <a:srgbClr val="002060"/>
          </a:solidFill>
          <a:ln/>
        </p:spPr>
      </p:sp>
      <p:sp>
        <p:nvSpPr>
          <p:cNvPr id="10" name="Text 8"/>
          <p:cNvSpPr/>
          <p:nvPr/>
        </p:nvSpPr>
        <p:spPr>
          <a:xfrm>
            <a:off x="1810512" y="1005840"/>
            <a:ext cx="621792" cy="32918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PD-L1</a:t>
            </a:r>
            <a:endParaRPr lang="en-US" sz="700" dirty="0"/>
          </a:p>
          <a:p>
            <a:pPr algn="ctr" indent="0" marL="0">
              <a:buNone/>
            </a:pPr>
            <a:r>
              <a:rPr lang="en-US" sz="700" b="1" dirty="0">
                <a:solidFill>
                  <a:srgbClr val="FFFFFF"/>
                </a:solidFill>
                <a:latin typeface="Arial" pitchFamily="34" charset="0"/>
                <a:ea typeface="Arial" pitchFamily="34" charset="-122"/>
                <a:cs typeface="Arial" pitchFamily="34" charset="-120"/>
              </a:rPr>
              <a:t>1-49%</a:t>
            </a:r>
            <a:endParaRPr lang="en-US" sz="700" dirty="0"/>
          </a:p>
        </p:txBody>
      </p:sp>
      <p:sp>
        <p:nvSpPr>
          <p:cNvPr id="11" name="Shape 9"/>
          <p:cNvSpPr/>
          <p:nvPr/>
        </p:nvSpPr>
        <p:spPr>
          <a:xfrm>
            <a:off x="2432304" y="1005840"/>
            <a:ext cx="621792" cy="329184"/>
          </a:xfrm>
          <a:prstGeom prst="rect">
            <a:avLst/>
          </a:prstGeom>
          <a:solidFill>
            <a:srgbClr val="002060"/>
          </a:solidFill>
          <a:ln/>
        </p:spPr>
      </p:sp>
      <p:sp>
        <p:nvSpPr>
          <p:cNvPr id="12" name="Text 10"/>
          <p:cNvSpPr/>
          <p:nvPr/>
        </p:nvSpPr>
        <p:spPr>
          <a:xfrm>
            <a:off x="2432304" y="1005840"/>
            <a:ext cx="621792" cy="32918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KRAS</a:t>
            </a:r>
            <a:endParaRPr lang="en-US" sz="700" dirty="0"/>
          </a:p>
          <a:p>
            <a:pPr algn="ctr" indent="0" marL="0">
              <a:buNone/>
            </a:pPr>
            <a:r>
              <a:rPr lang="en-US" sz="700" b="1" dirty="0">
                <a:solidFill>
                  <a:srgbClr val="FFFFFF"/>
                </a:solidFill>
                <a:latin typeface="Arial" pitchFamily="34" charset="0"/>
                <a:ea typeface="Arial" pitchFamily="34" charset="-122"/>
                <a:cs typeface="Arial" pitchFamily="34" charset="-120"/>
              </a:rPr>
              <a:t>G12C</a:t>
            </a:r>
            <a:endParaRPr lang="en-US" sz="700" dirty="0"/>
          </a:p>
        </p:txBody>
      </p:sp>
      <p:sp>
        <p:nvSpPr>
          <p:cNvPr id="13" name="Shape 11"/>
          <p:cNvSpPr/>
          <p:nvPr/>
        </p:nvSpPr>
        <p:spPr>
          <a:xfrm>
            <a:off x="3054096" y="1005840"/>
            <a:ext cx="621792" cy="329184"/>
          </a:xfrm>
          <a:prstGeom prst="rect">
            <a:avLst/>
          </a:prstGeom>
          <a:solidFill>
            <a:srgbClr val="002060"/>
          </a:solidFill>
          <a:ln/>
        </p:spPr>
      </p:sp>
      <p:sp>
        <p:nvSpPr>
          <p:cNvPr id="14" name="Text 12"/>
          <p:cNvSpPr/>
          <p:nvPr/>
        </p:nvSpPr>
        <p:spPr>
          <a:xfrm>
            <a:off x="3054096" y="1005840"/>
            <a:ext cx="621792" cy="32918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EGFR</a:t>
            </a:r>
            <a:endParaRPr lang="en-US" sz="700" dirty="0"/>
          </a:p>
          <a:p>
            <a:pPr algn="ctr" indent="0" marL="0">
              <a:buNone/>
            </a:pPr>
            <a:r>
              <a:rPr lang="en-US" sz="700" b="1" dirty="0">
                <a:solidFill>
                  <a:srgbClr val="FFFFFF"/>
                </a:solidFill>
                <a:latin typeface="Arial" pitchFamily="34" charset="0"/>
                <a:ea typeface="Arial" pitchFamily="34" charset="-122"/>
                <a:cs typeface="Arial" pitchFamily="34" charset="-120"/>
              </a:rPr>
              <a:t>mut</a:t>
            </a:r>
            <a:endParaRPr lang="en-US" sz="700" dirty="0"/>
          </a:p>
        </p:txBody>
      </p:sp>
      <p:sp>
        <p:nvSpPr>
          <p:cNvPr id="15" name="Shape 13"/>
          <p:cNvSpPr/>
          <p:nvPr/>
        </p:nvSpPr>
        <p:spPr>
          <a:xfrm>
            <a:off x="3675888" y="1005840"/>
            <a:ext cx="621792" cy="329184"/>
          </a:xfrm>
          <a:prstGeom prst="rect">
            <a:avLst/>
          </a:prstGeom>
          <a:solidFill>
            <a:srgbClr val="002060"/>
          </a:solidFill>
          <a:ln/>
        </p:spPr>
      </p:sp>
      <p:sp>
        <p:nvSpPr>
          <p:cNvPr id="16" name="Text 14"/>
          <p:cNvSpPr/>
          <p:nvPr/>
        </p:nvSpPr>
        <p:spPr>
          <a:xfrm>
            <a:off x="3675888" y="1005840"/>
            <a:ext cx="621792" cy="32918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ALK</a:t>
            </a:r>
            <a:endParaRPr lang="en-US" sz="700" dirty="0"/>
          </a:p>
        </p:txBody>
      </p:sp>
      <p:sp>
        <p:nvSpPr>
          <p:cNvPr id="17" name="Shape 15"/>
          <p:cNvSpPr/>
          <p:nvPr/>
        </p:nvSpPr>
        <p:spPr>
          <a:xfrm>
            <a:off x="4297680" y="1005840"/>
            <a:ext cx="621792" cy="329184"/>
          </a:xfrm>
          <a:prstGeom prst="rect">
            <a:avLst/>
          </a:prstGeom>
          <a:solidFill>
            <a:srgbClr val="002060"/>
          </a:solidFill>
          <a:ln/>
        </p:spPr>
      </p:sp>
      <p:sp>
        <p:nvSpPr>
          <p:cNvPr id="18" name="Text 16"/>
          <p:cNvSpPr/>
          <p:nvPr/>
        </p:nvSpPr>
        <p:spPr>
          <a:xfrm>
            <a:off x="4297680" y="1005840"/>
            <a:ext cx="621792" cy="32918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HER2</a:t>
            </a:r>
            <a:endParaRPr lang="en-US" sz="700" dirty="0"/>
          </a:p>
          <a:p>
            <a:pPr algn="ctr" indent="0" marL="0">
              <a:buNone/>
            </a:pPr>
            <a:r>
              <a:rPr lang="en-US" sz="700" b="1" dirty="0">
                <a:solidFill>
                  <a:srgbClr val="FFFFFF"/>
                </a:solidFill>
                <a:latin typeface="Arial" pitchFamily="34" charset="0"/>
                <a:ea typeface="Arial" pitchFamily="34" charset="-122"/>
                <a:cs typeface="Arial" pitchFamily="34" charset="-120"/>
              </a:rPr>
              <a:t>mut</a:t>
            </a:r>
            <a:endParaRPr lang="en-US" sz="700" dirty="0"/>
          </a:p>
        </p:txBody>
      </p:sp>
      <p:sp>
        <p:nvSpPr>
          <p:cNvPr id="19" name="Shape 17"/>
          <p:cNvSpPr/>
          <p:nvPr/>
        </p:nvSpPr>
        <p:spPr>
          <a:xfrm>
            <a:off x="4919472" y="1005840"/>
            <a:ext cx="621792" cy="329184"/>
          </a:xfrm>
          <a:prstGeom prst="rect">
            <a:avLst/>
          </a:prstGeom>
          <a:solidFill>
            <a:srgbClr val="002060"/>
          </a:solidFill>
          <a:ln/>
        </p:spPr>
      </p:sp>
      <p:sp>
        <p:nvSpPr>
          <p:cNvPr id="20" name="Text 18"/>
          <p:cNvSpPr/>
          <p:nvPr/>
        </p:nvSpPr>
        <p:spPr>
          <a:xfrm>
            <a:off x="4919472" y="1005840"/>
            <a:ext cx="621792" cy="32918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None</a:t>
            </a:r>
            <a:endParaRPr lang="en-US" sz="700" dirty="0"/>
          </a:p>
          <a:p>
            <a:pPr algn="ctr" indent="0" marL="0">
              <a:buNone/>
            </a:pPr>
            <a:r>
              <a:rPr lang="en-US" sz="700" b="1" dirty="0">
                <a:solidFill>
                  <a:srgbClr val="FFFFFF"/>
                </a:solidFill>
                <a:latin typeface="Arial" pitchFamily="34" charset="0"/>
                <a:ea typeface="Arial" pitchFamily="34" charset="-122"/>
                <a:cs typeface="Arial" pitchFamily="34" charset="-120"/>
              </a:rPr>
              <a:t>(all)</a:t>
            </a:r>
            <a:endParaRPr lang="en-US" sz="700" dirty="0"/>
          </a:p>
        </p:txBody>
      </p:sp>
      <p:sp>
        <p:nvSpPr>
          <p:cNvPr id="21" name="Shape 19"/>
          <p:cNvSpPr/>
          <p:nvPr/>
        </p:nvSpPr>
        <p:spPr>
          <a:xfrm>
            <a:off x="274320" y="1335024"/>
            <a:ext cx="914400" cy="329184"/>
          </a:xfrm>
          <a:prstGeom prst="rect">
            <a:avLst/>
          </a:prstGeom>
          <a:solidFill>
            <a:srgbClr val="F0F2F5"/>
          </a:solidFill>
          <a:ln/>
        </p:spPr>
      </p:sp>
      <p:sp>
        <p:nvSpPr>
          <p:cNvPr id="22" name="Text 20"/>
          <p:cNvSpPr/>
          <p:nvPr/>
        </p:nvSpPr>
        <p:spPr>
          <a:xfrm>
            <a:off x="274320" y="1335024"/>
            <a:ext cx="914400" cy="329184"/>
          </a:xfrm>
          <a:prstGeom prst="rect">
            <a:avLst/>
          </a:prstGeom>
          <a:noFill/>
          <a:ln/>
        </p:spPr>
        <p:txBody>
          <a:bodyPr wrap="square" rtlCol="0" anchor="ctr"/>
          <a:lstStyle/>
          <a:p>
            <a:pPr algn="l" indent="0" marL="0">
              <a:buNone/>
            </a:pPr>
            <a:r>
              <a:rPr lang="en-US" sz="800" b="1" dirty="0">
                <a:solidFill>
                  <a:srgbClr val="1E293B"/>
                </a:solidFill>
                <a:latin typeface="Arial" pitchFamily="34" charset="0"/>
                <a:ea typeface="Arial" pitchFamily="34" charset="-122"/>
                <a:cs typeface="Arial" pitchFamily="34" charset="-120"/>
              </a:rPr>
              <a:t>PD-1/PD-L1</a:t>
            </a:r>
            <a:endParaRPr lang="en-US" sz="800" dirty="0"/>
          </a:p>
        </p:txBody>
      </p:sp>
      <p:sp>
        <p:nvSpPr>
          <p:cNvPr id="23" name="Shape 21"/>
          <p:cNvSpPr/>
          <p:nvPr/>
        </p:nvSpPr>
        <p:spPr>
          <a:xfrm>
            <a:off x="1188720" y="1335024"/>
            <a:ext cx="621792" cy="329184"/>
          </a:xfrm>
          <a:prstGeom prst="rect">
            <a:avLst/>
          </a:prstGeom>
          <a:solidFill>
            <a:srgbClr val="002060"/>
          </a:solidFill>
          <a:ln w="6350">
            <a:solidFill>
              <a:srgbClr val="E0E4EA"/>
            </a:solidFill>
            <a:prstDash val="solid"/>
          </a:ln>
        </p:spPr>
      </p:sp>
      <p:sp>
        <p:nvSpPr>
          <p:cNvPr id="24" name="Text 22"/>
          <p:cNvSpPr/>
          <p:nvPr/>
        </p:nvSpPr>
        <p:spPr>
          <a:xfrm>
            <a:off x="1188720" y="1335024"/>
            <a:ext cx="621792" cy="329184"/>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3"/>
          <p:cNvSpPr/>
          <p:nvPr/>
        </p:nvSpPr>
        <p:spPr>
          <a:xfrm>
            <a:off x="1810512" y="1335024"/>
            <a:ext cx="621792" cy="329184"/>
          </a:xfrm>
          <a:prstGeom prst="rect">
            <a:avLst/>
          </a:prstGeom>
          <a:solidFill>
            <a:srgbClr val="007A85"/>
          </a:solidFill>
          <a:ln w="6350">
            <a:solidFill>
              <a:srgbClr val="E0E4EA"/>
            </a:solidFill>
            <a:prstDash val="solid"/>
          </a:ln>
        </p:spPr>
      </p:sp>
      <p:sp>
        <p:nvSpPr>
          <p:cNvPr id="26" name="Text 24"/>
          <p:cNvSpPr/>
          <p:nvPr/>
        </p:nvSpPr>
        <p:spPr>
          <a:xfrm>
            <a:off x="1810512" y="1335024"/>
            <a:ext cx="621792" cy="329184"/>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7" name="Shape 25"/>
          <p:cNvSpPr/>
          <p:nvPr/>
        </p:nvSpPr>
        <p:spPr>
          <a:xfrm>
            <a:off x="2432304" y="1335024"/>
            <a:ext cx="621792" cy="329184"/>
          </a:xfrm>
          <a:prstGeom prst="rect">
            <a:avLst/>
          </a:prstGeom>
          <a:solidFill>
            <a:srgbClr val="00B0B9"/>
          </a:solidFill>
          <a:ln w="6350">
            <a:solidFill>
              <a:srgbClr val="E0E4EA"/>
            </a:solidFill>
            <a:prstDash val="solid"/>
          </a:ln>
        </p:spPr>
      </p:sp>
      <p:sp>
        <p:nvSpPr>
          <p:cNvPr id="28" name="Text 26"/>
          <p:cNvSpPr/>
          <p:nvPr/>
        </p:nvSpPr>
        <p:spPr>
          <a:xfrm>
            <a:off x="2432304" y="1335024"/>
            <a:ext cx="621792" cy="329184"/>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9" name="Shape 27"/>
          <p:cNvSpPr/>
          <p:nvPr/>
        </p:nvSpPr>
        <p:spPr>
          <a:xfrm>
            <a:off x="3054096" y="1335024"/>
            <a:ext cx="621792" cy="329184"/>
          </a:xfrm>
          <a:prstGeom prst="rect">
            <a:avLst/>
          </a:prstGeom>
          <a:solidFill>
            <a:srgbClr val="F8FAFC"/>
          </a:solidFill>
          <a:ln w="6350">
            <a:solidFill>
              <a:srgbClr val="E0E4EA"/>
            </a:solidFill>
            <a:prstDash val="solid"/>
          </a:ln>
        </p:spPr>
      </p:sp>
      <p:sp>
        <p:nvSpPr>
          <p:cNvPr id="30" name="Text 28"/>
          <p:cNvSpPr/>
          <p:nvPr/>
        </p:nvSpPr>
        <p:spPr>
          <a:xfrm>
            <a:off x="3054096" y="1335024"/>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31" name="Shape 29"/>
          <p:cNvSpPr/>
          <p:nvPr/>
        </p:nvSpPr>
        <p:spPr>
          <a:xfrm>
            <a:off x="3675888" y="1335024"/>
            <a:ext cx="621792" cy="329184"/>
          </a:xfrm>
          <a:prstGeom prst="rect">
            <a:avLst/>
          </a:prstGeom>
          <a:solidFill>
            <a:srgbClr val="F8FAFC"/>
          </a:solidFill>
          <a:ln w="6350">
            <a:solidFill>
              <a:srgbClr val="E0E4EA"/>
            </a:solidFill>
            <a:prstDash val="solid"/>
          </a:ln>
        </p:spPr>
      </p:sp>
      <p:sp>
        <p:nvSpPr>
          <p:cNvPr id="32" name="Text 30"/>
          <p:cNvSpPr/>
          <p:nvPr/>
        </p:nvSpPr>
        <p:spPr>
          <a:xfrm>
            <a:off x="3675888" y="1335024"/>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33" name="Shape 31"/>
          <p:cNvSpPr/>
          <p:nvPr/>
        </p:nvSpPr>
        <p:spPr>
          <a:xfrm>
            <a:off x="4297680" y="1335024"/>
            <a:ext cx="621792" cy="329184"/>
          </a:xfrm>
          <a:prstGeom prst="rect">
            <a:avLst/>
          </a:prstGeom>
          <a:solidFill>
            <a:srgbClr val="E0F7FA"/>
          </a:solidFill>
          <a:ln w="6350">
            <a:solidFill>
              <a:srgbClr val="E0E4EA"/>
            </a:solidFill>
            <a:prstDash val="solid"/>
          </a:ln>
        </p:spPr>
      </p:sp>
      <p:sp>
        <p:nvSpPr>
          <p:cNvPr id="34" name="Text 32"/>
          <p:cNvSpPr/>
          <p:nvPr/>
        </p:nvSpPr>
        <p:spPr>
          <a:xfrm>
            <a:off x="4297680" y="1335024"/>
            <a:ext cx="621792" cy="329184"/>
          </a:xfrm>
          <a:prstGeom prst="rect">
            <a:avLst/>
          </a:prstGeom>
          <a:noFill/>
          <a:ln/>
        </p:spPr>
        <p:txBody>
          <a:bodyPr wrap="square" rtlCol="0" anchor="ctr"/>
          <a:lstStyle/>
          <a:p>
            <a:pPr algn="ctr" indent="0" marL="0">
              <a:buNone/>
            </a:pPr>
            <a:r>
              <a:rPr lang="en-US" sz="1000" b="1" dirty="0">
                <a:solidFill>
                  <a:srgbClr val="004D40"/>
                </a:solidFill>
                <a:latin typeface="Arial" pitchFamily="34" charset="0"/>
                <a:ea typeface="Arial" pitchFamily="34" charset="-122"/>
                <a:cs typeface="Arial" pitchFamily="34" charset="-120"/>
              </a:rPr>
              <a:t>1</a:t>
            </a:r>
            <a:endParaRPr lang="en-US" sz="1000" dirty="0"/>
          </a:p>
        </p:txBody>
      </p:sp>
      <p:sp>
        <p:nvSpPr>
          <p:cNvPr id="35" name="Shape 33"/>
          <p:cNvSpPr/>
          <p:nvPr/>
        </p:nvSpPr>
        <p:spPr>
          <a:xfrm>
            <a:off x="4919472" y="1335024"/>
            <a:ext cx="621792" cy="329184"/>
          </a:xfrm>
          <a:prstGeom prst="rect">
            <a:avLst/>
          </a:prstGeom>
          <a:solidFill>
            <a:srgbClr val="002060"/>
          </a:solidFill>
          <a:ln w="6350">
            <a:solidFill>
              <a:srgbClr val="E0E4EA"/>
            </a:solidFill>
            <a:prstDash val="solid"/>
          </a:ln>
        </p:spPr>
      </p:sp>
      <p:sp>
        <p:nvSpPr>
          <p:cNvPr id="36" name="Text 34"/>
          <p:cNvSpPr/>
          <p:nvPr/>
        </p:nvSpPr>
        <p:spPr>
          <a:xfrm>
            <a:off x="4919472" y="1335024"/>
            <a:ext cx="621792" cy="329184"/>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35</a:t>
            </a:r>
            <a:endParaRPr lang="en-US" sz="1000" dirty="0"/>
          </a:p>
        </p:txBody>
      </p:sp>
      <p:sp>
        <p:nvSpPr>
          <p:cNvPr id="37" name="Shape 35"/>
          <p:cNvSpPr/>
          <p:nvPr/>
        </p:nvSpPr>
        <p:spPr>
          <a:xfrm>
            <a:off x="274320" y="1664208"/>
            <a:ext cx="914400" cy="329184"/>
          </a:xfrm>
          <a:prstGeom prst="rect">
            <a:avLst/>
          </a:prstGeom>
          <a:solidFill>
            <a:srgbClr val="F0F2F5"/>
          </a:solidFill>
          <a:ln/>
        </p:spPr>
      </p:sp>
      <p:sp>
        <p:nvSpPr>
          <p:cNvPr id="38" name="Text 36"/>
          <p:cNvSpPr/>
          <p:nvPr/>
        </p:nvSpPr>
        <p:spPr>
          <a:xfrm>
            <a:off x="274320" y="1664208"/>
            <a:ext cx="914400" cy="329184"/>
          </a:xfrm>
          <a:prstGeom prst="rect">
            <a:avLst/>
          </a:prstGeom>
          <a:noFill/>
          <a:ln/>
        </p:spPr>
        <p:txBody>
          <a:bodyPr wrap="square" rtlCol="0" anchor="ctr"/>
          <a:lstStyle/>
          <a:p>
            <a:pPr algn="l" indent="0" marL="0">
              <a:buNone/>
            </a:pPr>
            <a:r>
              <a:rPr lang="en-US" sz="800" b="1" dirty="0">
                <a:solidFill>
                  <a:srgbClr val="1E293B"/>
                </a:solidFill>
                <a:latin typeface="Arial" pitchFamily="34" charset="0"/>
                <a:ea typeface="Arial" pitchFamily="34" charset="-122"/>
                <a:cs typeface="Arial" pitchFamily="34" charset="-120"/>
              </a:rPr>
              <a:t>TIGIT</a:t>
            </a:r>
            <a:endParaRPr lang="en-US" sz="800" dirty="0"/>
          </a:p>
        </p:txBody>
      </p:sp>
      <p:sp>
        <p:nvSpPr>
          <p:cNvPr id="39" name="Shape 37"/>
          <p:cNvSpPr/>
          <p:nvPr/>
        </p:nvSpPr>
        <p:spPr>
          <a:xfrm>
            <a:off x="1188720" y="1664208"/>
            <a:ext cx="621792" cy="329184"/>
          </a:xfrm>
          <a:prstGeom prst="rect">
            <a:avLst/>
          </a:prstGeom>
          <a:solidFill>
            <a:srgbClr val="80DEEA"/>
          </a:solidFill>
          <a:ln w="6350">
            <a:solidFill>
              <a:srgbClr val="E0E4EA"/>
            </a:solidFill>
            <a:prstDash val="solid"/>
          </a:ln>
        </p:spPr>
      </p:sp>
      <p:sp>
        <p:nvSpPr>
          <p:cNvPr id="40" name="Text 38"/>
          <p:cNvSpPr/>
          <p:nvPr/>
        </p:nvSpPr>
        <p:spPr>
          <a:xfrm>
            <a:off x="1188720" y="1664208"/>
            <a:ext cx="621792" cy="329184"/>
          </a:xfrm>
          <a:prstGeom prst="rect">
            <a:avLst/>
          </a:prstGeom>
          <a:noFill/>
          <a:ln/>
        </p:spPr>
        <p:txBody>
          <a:bodyPr wrap="square" rtlCol="0" anchor="ctr"/>
          <a:lstStyle/>
          <a:p>
            <a:pPr algn="ctr" indent="0" marL="0">
              <a:buNone/>
            </a:pPr>
            <a:r>
              <a:rPr lang="en-US" sz="1000" b="1" dirty="0">
                <a:solidFill>
                  <a:srgbClr val="004D40"/>
                </a:solidFill>
                <a:latin typeface="Arial" pitchFamily="34" charset="0"/>
                <a:ea typeface="Arial" pitchFamily="34" charset="-122"/>
                <a:cs typeface="Arial" pitchFamily="34" charset="-120"/>
              </a:rPr>
              <a:t>2</a:t>
            </a:r>
            <a:endParaRPr lang="en-US" sz="1000" dirty="0"/>
          </a:p>
        </p:txBody>
      </p:sp>
      <p:sp>
        <p:nvSpPr>
          <p:cNvPr id="41" name="Shape 39"/>
          <p:cNvSpPr/>
          <p:nvPr/>
        </p:nvSpPr>
        <p:spPr>
          <a:xfrm>
            <a:off x="1810512" y="1664208"/>
            <a:ext cx="621792" cy="329184"/>
          </a:xfrm>
          <a:prstGeom prst="rect">
            <a:avLst/>
          </a:prstGeom>
          <a:solidFill>
            <a:srgbClr val="80DEEA"/>
          </a:solidFill>
          <a:ln w="6350">
            <a:solidFill>
              <a:srgbClr val="E0E4EA"/>
            </a:solidFill>
            <a:prstDash val="solid"/>
          </a:ln>
        </p:spPr>
      </p:sp>
      <p:sp>
        <p:nvSpPr>
          <p:cNvPr id="42" name="Text 40"/>
          <p:cNvSpPr/>
          <p:nvPr/>
        </p:nvSpPr>
        <p:spPr>
          <a:xfrm>
            <a:off x="1810512" y="1664208"/>
            <a:ext cx="621792" cy="329184"/>
          </a:xfrm>
          <a:prstGeom prst="rect">
            <a:avLst/>
          </a:prstGeom>
          <a:noFill/>
          <a:ln/>
        </p:spPr>
        <p:txBody>
          <a:bodyPr wrap="square" rtlCol="0" anchor="ctr"/>
          <a:lstStyle/>
          <a:p>
            <a:pPr algn="ctr" indent="0" marL="0">
              <a:buNone/>
            </a:pPr>
            <a:r>
              <a:rPr lang="en-US" sz="1000" b="1" dirty="0">
                <a:solidFill>
                  <a:srgbClr val="004D40"/>
                </a:solidFill>
                <a:latin typeface="Arial" pitchFamily="34" charset="0"/>
                <a:ea typeface="Arial" pitchFamily="34" charset="-122"/>
                <a:cs typeface="Arial" pitchFamily="34" charset="-120"/>
              </a:rPr>
              <a:t>2</a:t>
            </a:r>
            <a:endParaRPr lang="en-US" sz="1000" dirty="0"/>
          </a:p>
        </p:txBody>
      </p:sp>
      <p:sp>
        <p:nvSpPr>
          <p:cNvPr id="43" name="Shape 41"/>
          <p:cNvSpPr/>
          <p:nvPr/>
        </p:nvSpPr>
        <p:spPr>
          <a:xfrm>
            <a:off x="2432304" y="1664208"/>
            <a:ext cx="621792" cy="329184"/>
          </a:xfrm>
          <a:prstGeom prst="rect">
            <a:avLst/>
          </a:prstGeom>
          <a:solidFill>
            <a:srgbClr val="F8FAFC"/>
          </a:solidFill>
          <a:ln w="6350">
            <a:solidFill>
              <a:srgbClr val="E0E4EA"/>
            </a:solidFill>
            <a:prstDash val="solid"/>
          </a:ln>
        </p:spPr>
      </p:sp>
      <p:sp>
        <p:nvSpPr>
          <p:cNvPr id="44" name="Text 42"/>
          <p:cNvSpPr/>
          <p:nvPr/>
        </p:nvSpPr>
        <p:spPr>
          <a:xfrm>
            <a:off x="2432304" y="1664208"/>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45" name="Shape 43"/>
          <p:cNvSpPr/>
          <p:nvPr/>
        </p:nvSpPr>
        <p:spPr>
          <a:xfrm>
            <a:off x="3054096" y="1664208"/>
            <a:ext cx="621792" cy="329184"/>
          </a:xfrm>
          <a:prstGeom prst="rect">
            <a:avLst/>
          </a:prstGeom>
          <a:solidFill>
            <a:srgbClr val="F8FAFC"/>
          </a:solidFill>
          <a:ln w="6350">
            <a:solidFill>
              <a:srgbClr val="E0E4EA"/>
            </a:solidFill>
            <a:prstDash val="solid"/>
          </a:ln>
        </p:spPr>
      </p:sp>
      <p:sp>
        <p:nvSpPr>
          <p:cNvPr id="46" name="Text 44"/>
          <p:cNvSpPr/>
          <p:nvPr/>
        </p:nvSpPr>
        <p:spPr>
          <a:xfrm>
            <a:off x="3054096" y="1664208"/>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47" name="Shape 45"/>
          <p:cNvSpPr/>
          <p:nvPr/>
        </p:nvSpPr>
        <p:spPr>
          <a:xfrm>
            <a:off x="3675888" y="1664208"/>
            <a:ext cx="621792" cy="329184"/>
          </a:xfrm>
          <a:prstGeom prst="rect">
            <a:avLst/>
          </a:prstGeom>
          <a:solidFill>
            <a:srgbClr val="F8FAFC"/>
          </a:solidFill>
          <a:ln w="6350">
            <a:solidFill>
              <a:srgbClr val="E0E4EA"/>
            </a:solidFill>
            <a:prstDash val="solid"/>
          </a:ln>
        </p:spPr>
      </p:sp>
      <p:sp>
        <p:nvSpPr>
          <p:cNvPr id="48" name="Text 46"/>
          <p:cNvSpPr/>
          <p:nvPr/>
        </p:nvSpPr>
        <p:spPr>
          <a:xfrm>
            <a:off x="3675888" y="1664208"/>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49" name="Shape 47"/>
          <p:cNvSpPr/>
          <p:nvPr/>
        </p:nvSpPr>
        <p:spPr>
          <a:xfrm>
            <a:off x="4297680" y="1664208"/>
            <a:ext cx="621792" cy="329184"/>
          </a:xfrm>
          <a:prstGeom prst="rect">
            <a:avLst/>
          </a:prstGeom>
          <a:solidFill>
            <a:srgbClr val="F8FAFC"/>
          </a:solidFill>
          <a:ln w="6350">
            <a:solidFill>
              <a:srgbClr val="E0E4EA"/>
            </a:solidFill>
            <a:prstDash val="solid"/>
          </a:ln>
        </p:spPr>
      </p:sp>
      <p:sp>
        <p:nvSpPr>
          <p:cNvPr id="50" name="Text 48"/>
          <p:cNvSpPr/>
          <p:nvPr/>
        </p:nvSpPr>
        <p:spPr>
          <a:xfrm>
            <a:off x="4297680" y="1664208"/>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51" name="Shape 49"/>
          <p:cNvSpPr/>
          <p:nvPr/>
        </p:nvSpPr>
        <p:spPr>
          <a:xfrm>
            <a:off x="4919472" y="1664208"/>
            <a:ext cx="621792" cy="329184"/>
          </a:xfrm>
          <a:prstGeom prst="rect">
            <a:avLst/>
          </a:prstGeom>
          <a:solidFill>
            <a:srgbClr val="80DEEA"/>
          </a:solidFill>
          <a:ln w="6350">
            <a:solidFill>
              <a:srgbClr val="E0E4EA"/>
            </a:solidFill>
            <a:prstDash val="solid"/>
          </a:ln>
        </p:spPr>
      </p:sp>
      <p:sp>
        <p:nvSpPr>
          <p:cNvPr id="52" name="Text 50"/>
          <p:cNvSpPr/>
          <p:nvPr/>
        </p:nvSpPr>
        <p:spPr>
          <a:xfrm>
            <a:off x="4919472" y="1664208"/>
            <a:ext cx="621792" cy="329184"/>
          </a:xfrm>
          <a:prstGeom prst="rect">
            <a:avLst/>
          </a:prstGeom>
          <a:noFill/>
          <a:ln/>
        </p:spPr>
        <p:txBody>
          <a:bodyPr wrap="square" rtlCol="0" anchor="ctr"/>
          <a:lstStyle/>
          <a:p>
            <a:pPr algn="ctr" indent="0" marL="0">
              <a:buNone/>
            </a:pPr>
            <a:r>
              <a:rPr lang="en-US" sz="1000" b="1" dirty="0">
                <a:solidFill>
                  <a:srgbClr val="004D40"/>
                </a:solidFill>
                <a:latin typeface="Arial" pitchFamily="34" charset="0"/>
                <a:ea typeface="Arial" pitchFamily="34" charset="-122"/>
                <a:cs typeface="Arial" pitchFamily="34" charset="-120"/>
              </a:rPr>
              <a:t>2</a:t>
            </a:r>
            <a:endParaRPr lang="en-US" sz="1000" dirty="0"/>
          </a:p>
        </p:txBody>
      </p:sp>
      <p:sp>
        <p:nvSpPr>
          <p:cNvPr id="53" name="Shape 51"/>
          <p:cNvSpPr/>
          <p:nvPr/>
        </p:nvSpPr>
        <p:spPr>
          <a:xfrm>
            <a:off x="274320" y="1993392"/>
            <a:ext cx="914400" cy="329184"/>
          </a:xfrm>
          <a:prstGeom prst="rect">
            <a:avLst/>
          </a:prstGeom>
          <a:solidFill>
            <a:srgbClr val="F0F2F5"/>
          </a:solidFill>
          <a:ln/>
        </p:spPr>
      </p:sp>
      <p:sp>
        <p:nvSpPr>
          <p:cNvPr id="54" name="Text 52"/>
          <p:cNvSpPr/>
          <p:nvPr/>
        </p:nvSpPr>
        <p:spPr>
          <a:xfrm>
            <a:off x="274320" y="1993392"/>
            <a:ext cx="914400" cy="329184"/>
          </a:xfrm>
          <a:prstGeom prst="rect">
            <a:avLst/>
          </a:prstGeom>
          <a:noFill/>
          <a:ln/>
        </p:spPr>
        <p:txBody>
          <a:bodyPr wrap="square" rtlCol="0" anchor="ctr"/>
          <a:lstStyle/>
          <a:p>
            <a:pPr algn="l" indent="0" marL="0">
              <a:buNone/>
            </a:pPr>
            <a:r>
              <a:rPr lang="en-US" sz="800" b="1" dirty="0">
                <a:solidFill>
                  <a:srgbClr val="1E293B"/>
                </a:solidFill>
                <a:latin typeface="Arial" pitchFamily="34" charset="0"/>
                <a:ea typeface="Arial" pitchFamily="34" charset="-122"/>
                <a:cs typeface="Arial" pitchFamily="34" charset="-120"/>
              </a:rPr>
              <a:t>TROP2</a:t>
            </a:r>
            <a:endParaRPr lang="en-US" sz="800" dirty="0"/>
          </a:p>
        </p:txBody>
      </p:sp>
      <p:sp>
        <p:nvSpPr>
          <p:cNvPr id="55" name="Shape 53"/>
          <p:cNvSpPr/>
          <p:nvPr/>
        </p:nvSpPr>
        <p:spPr>
          <a:xfrm>
            <a:off x="1188720" y="1993392"/>
            <a:ext cx="621792" cy="329184"/>
          </a:xfrm>
          <a:prstGeom prst="rect">
            <a:avLst/>
          </a:prstGeom>
          <a:solidFill>
            <a:srgbClr val="00B0B9"/>
          </a:solidFill>
          <a:ln w="6350">
            <a:solidFill>
              <a:srgbClr val="E0E4EA"/>
            </a:solidFill>
            <a:prstDash val="solid"/>
          </a:ln>
        </p:spPr>
      </p:sp>
      <p:sp>
        <p:nvSpPr>
          <p:cNvPr id="56" name="Text 54"/>
          <p:cNvSpPr/>
          <p:nvPr/>
        </p:nvSpPr>
        <p:spPr>
          <a:xfrm>
            <a:off x="1188720" y="1993392"/>
            <a:ext cx="621792" cy="329184"/>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57" name="Shape 55"/>
          <p:cNvSpPr/>
          <p:nvPr/>
        </p:nvSpPr>
        <p:spPr>
          <a:xfrm>
            <a:off x="1810512" y="1993392"/>
            <a:ext cx="621792" cy="329184"/>
          </a:xfrm>
          <a:prstGeom prst="rect">
            <a:avLst/>
          </a:prstGeom>
          <a:solidFill>
            <a:srgbClr val="80DEEA"/>
          </a:solidFill>
          <a:ln w="6350">
            <a:solidFill>
              <a:srgbClr val="E0E4EA"/>
            </a:solidFill>
            <a:prstDash val="solid"/>
          </a:ln>
        </p:spPr>
      </p:sp>
      <p:sp>
        <p:nvSpPr>
          <p:cNvPr id="58" name="Text 56"/>
          <p:cNvSpPr/>
          <p:nvPr/>
        </p:nvSpPr>
        <p:spPr>
          <a:xfrm>
            <a:off x="1810512" y="1993392"/>
            <a:ext cx="621792" cy="329184"/>
          </a:xfrm>
          <a:prstGeom prst="rect">
            <a:avLst/>
          </a:prstGeom>
          <a:noFill/>
          <a:ln/>
        </p:spPr>
        <p:txBody>
          <a:bodyPr wrap="square" rtlCol="0" anchor="ctr"/>
          <a:lstStyle/>
          <a:p>
            <a:pPr algn="ctr" indent="0" marL="0">
              <a:buNone/>
            </a:pPr>
            <a:r>
              <a:rPr lang="en-US" sz="1000" b="1" dirty="0">
                <a:solidFill>
                  <a:srgbClr val="004D40"/>
                </a:solidFill>
                <a:latin typeface="Arial" pitchFamily="34" charset="0"/>
                <a:ea typeface="Arial" pitchFamily="34" charset="-122"/>
                <a:cs typeface="Arial" pitchFamily="34" charset="-120"/>
              </a:rPr>
              <a:t>2</a:t>
            </a:r>
            <a:endParaRPr lang="en-US" sz="1000" dirty="0"/>
          </a:p>
        </p:txBody>
      </p:sp>
      <p:sp>
        <p:nvSpPr>
          <p:cNvPr id="59" name="Shape 57"/>
          <p:cNvSpPr/>
          <p:nvPr/>
        </p:nvSpPr>
        <p:spPr>
          <a:xfrm>
            <a:off x="2432304" y="1993392"/>
            <a:ext cx="621792" cy="329184"/>
          </a:xfrm>
          <a:prstGeom prst="rect">
            <a:avLst/>
          </a:prstGeom>
          <a:solidFill>
            <a:srgbClr val="F8FAFC"/>
          </a:solidFill>
          <a:ln w="6350">
            <a:solidFill>
              <a:srgbClr val="E0E4EA"/>
            </a:solidFill>
            <a:prstDash val="solid"/>
          </a:ln>
        </p:spPr>
      </p:sp>
      <p:sp>
        <p:nvSpPr>
          <p:cNvPr id="60" name="Text 58"/>
          <p:cNvSpPr/>
          <p:nvPr/>
        </p:nvSpPr>
        <p:spPr>
          <a:xfrm>
            <a:off x="2432304" y="1993392"/>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61" name="Shape 59"/>
          <p:cNvSpPr/>
          <p:nvPr/>
        </p:nvSpPr>
        <p:spPr>
          <a:xfrm>
            <a:off x="3054096" y="1993392"/>
            <a:ext cx="621792" cy="329184"/>
          </a:xfrm>
          <a:prstGeom prst="rect">
            <a:avLst/>
          </a:prstGeom>
          <a:solidFill>
            <a:srgbClr val="F8FAFC"/>
          </a:solidFill>
          <a:ln w="6350">
            <a:solidFill>
              <a:srgbClr val="E0E4EA"/>
            </a:solidFill>
            <a:prstDash val="solid"/>
          </a:ln>
        </p:spPr>
      </p:sp>
      <p:sp>
        <p:nvSpPr>
          <p:cNvPr id="62" name="Text 60"/>
          <p:cNvSpPr/>
          <p:nvPr/>
        </p:nvSpPr>
        <p:spPr>
          <a:xfrm>
            <a:off x="3054096" y="1993392"/>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63" name="Shape 61"/>
          <p:cNvSpPr/>
          <p:nvPr/>
        </p:nvSpPr>
        <p:spPr>
          <a:xfrm>
            <a:off x="3675888" y="1993392"/>
            <a:ext cx="621792" cy="329184"/>
          </a:xfrm>
          <a:prstGeom prst="rect">
            <a:avLst/>
          </a:prstGeom>
          <a:solidFill>
            <a:srgbClr val="F8FAFC"/>
          </a:solidFill>
          <a:ln w="6350">
            <a:solidFill>
              <a:srgbClr val="E0E4EA"/>
            </a:solidFill>
            <a:prstDash val="solid"/>
          </a:ln>
        </p:spPr>
      </p:sp>
      <p:sp>
        <p:nvSpPr>
          <p:cNvPr id="64" name="Text 62"/>
          <p:cNvSpPr/>
          <p:nvPr/>
        </p:nvSpPr>
        <p:spPr>
          <a:xfrm>
            <a:off x="3675888" y="1993392"/>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65" name="Shape 63"/>
          <p:cNvSpPr/>
          <p:nvPr/>
        </p:nvSpPr>
        <p:spPr>
          <a:xfrm>
            <a:off x="4297680" y="1993392"/>
            <a:ext cx="621792" cy="329184"/>
          </a:xfrm>
          <a:prstGeom prst="rect">
            <a:avLst/>
          </a:prstGeom>
          <a:solidFill>
            <a:srgbClr val="F8FAFC"/>
          </a:solidFill>
          <a:ln w="6350">
            <a:solidFill>
              <a:srgbClr val="E0E4EA"/>
            </a:solidFill>
            <a:prstDash val="solid"/>
          </a:ln>
        </p:spPr>
      </p:sp>
      <p:sp>
        <p:nvSpPr>
          <p:cNvPr id="66" name="Text 64"/>
          <p:cNvSpPr/>
          <p:nvPr/>
        </p:nvSpPr>
        <p:spPr>
          <a:xfrm>
            <a:off x="4297680" y="1993392"/>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67" name="Shape 65"/>
          <p:cNvSpPr/>
          <p:nvPr/>
        </p:nvSpPr>
        <p:spPr>
          <a:xfrm>
            <a:off x="4919472" y="1993392"/>
            <a:ext cx="621792" cy="329184"/>
          </a:xfrm>
          <a:prstGeom prst="rect">
            <a:avLst/>
          </a:prstGeom>
          <a:solidFill>
            <a:srgbClr val="00B0B9"/>
          </a:solidFill>
          <a:ln w="6350">
            <a:solidFill>
              <a:srgbClr val="E0E4EA"/>
            </a:solidFill>
            <a:prstDash val="solid"/>
          </a:ln>
        </p:spPr>
      </p:sp>
      <p:sp>
        <p:nvSpPr>
          <p:cNvPr id="68" name="Text 66"/>
          <p:cNvSpPr/>
          <p:nvPr/>
        </p:nvSpPr>
        <p:spPr>
          <a:xfrm>
            <a:off x="4919472" y="1993392"/>
            <a:ext cx="621792" cy="329184"/>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69" name="Shape 67"/>
          <p:cNvSpPr/>
          <p:nvPr/>
        </p:nvSpPr>
        <p:spPr>
          <a:xfrm>
            <a:off x="274320" y="2322576"/>
            <a:ext cx="914400" cy="329184"/>
          </a:xfrm>
          <a:prstGeom prst="rect">
            <a:avLst/>
          </a:prstGeom>
          <a:solidFill>
            <a:srgbClr val="F0F2F5"/>
          </a:solidFill>
          <a:ln/>
        </p:spPr>
      </p:sp>
      <p:sp>
        <p:nvSpPr>
          <p:cNvPr id="70" name="Text 68"/>
          <p:cNvSpPr/>
          <p:nvPr/>
        </p:nvSpPr>
        <p:spPr>
          <a:xfrm>
            <a:off x="274320" y="2322576"/>
            <a:ext cx="914400" cy="329184"/>
          </a:xfrm>
          <a:prstGeom prst="rect">
            <a:avLst/>
          </a:prstGeom>
          <a:noFill/>
          <a:ln/>
        </p:spPr>
        <p:txBody>
          <a:bodyPr wrap="square" rtlCol="0" anchor="ctr"/>
          <a:lstStyle/>
          <a:p>
            <a:pPr algn="l" indent="0" marL="0">
              <a:buNone/>
            </a:pPr>
            <a:r>
              <a:rPr lang="en-US" sz="800" b="1" dirty="0">
                <a:solidFill>
                  <a:srgbClr val="1E293B"/>
                </a:solidFill>
                <a:latin typeface="Arial" pitchFamily="34" charset="0"/>
                <a:ea typeface="Arial" pitchFamily="34" charset="-122"/>
                <a:cs typeface="Arial" pitchFamily="34" charset="-120"/>
              </a:rPr>
              <a:t>KRAS G12C</a:t>
            </a:r>
            <a:endParaRPr lang="en-US" sz="800" dirty="0"/>
          </a:p>
        </p:txBody>
      </p:sp>
      <p:sp>
        <p:nvSpPr>
          <p:cNvPr id="71" name="Shape 69"/>
          <p:cNvSpPr/>
          <p:nvPr/>
        </p:nvSpPr>
        <p:spPr>
          <a:xfrm>
            <a:off x="1188720" y="2322576"/>
            <a:ext cx="621792" cy="329184"/>
          </a:xfrm>
          <a:prstGeom prst="rect">
            <a:avLst/>
          </a:prstGeom>
          <a:solidFill>
            <a:srgbClr val="00B0B9"/>
          </a:solidFill>
          <a:ln w="6350">
            <a:solidFill>
              <a:srgbClr val="E0E4EA"/>
            </a:solidFill>
            <a:prstDash val="solid"/>
          </a:ln>
        </p:spPr>
      </p:sp>
      <p:sp>
        <p:nvSpPr>
          <p:cNvPr id="72" name="Text 70"/>
          <p:cNvSpPr/>
          <p:nvPr/>
        </p:nvSpPr>
        <p:spPr>
          <a:xfrm>
            <a:off x="1188720" y="2322576"/>
            <a:ext cx="621792" cy="329184"/>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73" name="Shape 71"/>
          <p:cNvSpPr/>
          <p:nvPr/>
        </p:nvSpPr>
        <p:spPr>
          <a:xfrm>
            <a:off x="1810512" y="2322576"/>
            <a:ext cx="621792" cy="329184"/>
          </a:xfrm>
          <a:prstGeom prst="rect">
            <a:avLst/>
          </a:prstGeom>
          <a:solidFill>
            <a:srgbClr val="80DEEA"/>
          </a:solidFill>
          <a:ln w="6350">
            <a:solidFill>
              <a:srgbClr val="E0E4EA"/>
            </a:solidFill>
            <a:prstDash val="solid"/>
          </a:ln>
        </p:spPr>
      </p:sp>
      <p:sp>
        <p:nvSpPr>
          <p:cNvPr id="74" name="Text 72"/>
          <p:cNvSpPr/>
          <p:nvPr/>
        </p:nvSpPr>
        <p:spPr>
          <a:xfrm>
            <a:off x="1810512" y="2322576"/>
            <a:ext cx="621792" cy="329184"/>
          </a:xfrm>
          <a:prstGeom prst="rect">
            <a:avLst/>
          </a:prstGeom>
          <a:noFill/>
          <a:ln/>
        </p:spPr>
        <p:txBody>
          <a:bodyPr wrap="square" rtlCol="0" anchor="ctr"/>
          <a:lstStyle/>
          <a:p>
            <a:pPr algn="ctr" indent="0" marL="0">
              <a:buNone/>
            </a:pPr>
            <a:r>
              <a:rPr lang="en-US" sz="1000" b="1" dirty="0">
                <a:solidFill>
                  <a:srgbClr val="004D40"/>
                </a:solidFill>
                <a:latin typeface="Arial" pitchFamily="34" charset="0"/>
                <a:ea typeface="Arial" pitchFamily="34" charset="-122"/>
                <a:cs typeface="Arial" pitchFamily="34" charset="-120"/>
              </a:rPr>
              <a:t>2</a:t>
            </a:r>
            <a:endParaRPr lang="en-US" sz="1000" dirty="0"/>
          </a:p>
        </p:txBody>
      </p:sp>
      <p:sp>
        <p:nvSpPr>
          <p:cNvPr id="75" name="Shape 73"/>
          <p:cNvSpPr/>
          <p:nvPr/>
        </p:nvSpPr>
        <p:spPr>
          <a:xfrm>
            <a:off x="2432304" y="2322576"/>
            <a:ext cx="621792" cy="329184"/>
          </a:xfrm>
          <a:prstGeom prst="rect">
            <a:avLst/>
          </a:prstGeom>
          <a:solidFill>
            <a:srgbClr val="00B0B9"/>
          </a:solidFill>
          <a:ln w="6350">
            <a:solidFill>
              <a:srgbClr val="E0E4EA"/>
            </a:solidFill>
            <a:prstDash val="solid"/>
          </a:ln>
        </p:spPr>
      </p:sp>
      <p:sp>
        <p:nvSpPr>
          <p:cNvPr id="76" name="Text 74"/>
          <p:cNvSpPr/>
          <p:nvPr/>
        </p:nvSpPr>
        <p:spPr>
          <a:xfrm>
            <a:off x="2432304" y="2322576"/>
            <a:ext cx="621792" cy="329184"/>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77" name="Shape 75"/>
          <p:cNvSpPr/>
          <p:nvPr/>
        </p:nvSpPr>
        <p:spPr>
          <a:xfrm>
            <a:off x="3054096" y="2322576"/>
            <a:ext cx="621792" cy="329184"/>
          </a:xfrm>
          <a:prstGeom prst="rect">
            <a:avLst/>
          </a:prstGeom>
          <a:solidFill>
            <a:srgbClr val="F8FAFC"/>
          </a:solidFill>
          <a:ln w="6350">
            <a:solidFill>
              <a:srgbClr val="E0E4EA"/>
            </a:solidFill>
            <a:prstDash val="solid"/>
          </a:ln>
        </p:spPr>
      </p:sp>
      <p:sp>
        <p:nvSpPr>
          <p:cNvPr id="78" name="Text 76"/>
          <p:cNvSpPr/>
          <p:nvPr/>
        </p:nvSpPr>
        <p:spPr>
          <a:xfrm>
            <a:off x="3054096" y="2322576"/>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79" name="Shape 77"/>
          <p:cNvSpPr/>
          <p:nvPr/>
        </p:nvSpPr>
        <p:spPr>
          <a:xfrm>
            <a:off x="3675888" y="2322576"/>
            <a:ext cx="621792" cy="329184"/>
          </a:xfrm>
          <a:prstGeom prst="rect">
            <a:avLst/>
          </a:prstGeom>
          <a:solidFill>
            <a:srgbClr val="F8FAFC"/>
          </a:solidFill>
          <a:ln w="6350">
            <a:solidFill>
              <a:srgbClr val="E0E4EA"/>
            </a:solidFill>
            <a:prstDash val="solid"/>
          </a:ln>
        </p:spPr>
      </p:sp>
      <p:sp>
        <p:nvSpPr>
          <p:cNvPr id="80" name="Text 78"/>
          <p:cNvSpPr/>
          <p:nvPr/>
        </p:nvSpPr>
        <p:spPr>
          <a:xfrm>
            <a:off x="3675888" y="2322576"/>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81" name="Shape 79"/>
          <p:cNvSpPr/>
          <p:nvPr/>
        </p:nvSpPr>
        <p:spPr>
          <a:xfrm>
            <a:off x="4297680" y="2322576"/>
            <a:ext cx="621792" cy="329184"/>
          </a:xfrm>
          <a:prstGeom prst="rect">
            <a:avLst/>
          </a:prstGeom>
          <a:solidFill>
            <a:srgbClr val="F8FAFC"/>
          </a:solidFill>
          <a:ln w="6350">
            <a:solidFill>
              <a:srgbClr val="E0E4EA"/>
            </a:solidFill>
            <a:prstDash val="solid"/>
          </a:ln>
        </p:spPr>
      </p:sp>
      <p:sp>
        <p:nvSpPr>
          <p:cNvPr id="82" name="Text 80"/>
          <p:cNvSpPr/>
          <p:nvPr/>
        </p:nvSpPr>
        <p:spPr>
          <a:xfrm>
            <a:off x="4297680" y="2322576"/>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83" name="Shape 81"/>
          <p:cNvSpPr/>
          <p:nvPr/>
        </p:nvSpPr>
        <p:spPr>
          <a:xfrm>
            <a:off x="4919472" y="2322576"/>
            <a:ext cx="621792" cy="329184"/>
          </a:xfrm>
          <a:prstGeom prst="rect">
            <a:avLst/>
          </a:prstGeom>
          <a:solidFill>
            <a:srgbClr val="00B0B9"/>
          </a:solidFill>
          <a:ln w="6350">
            <a:solidFill>
              <a:srgbClr val="E0E4EA"/>
            </a:solidFill>
            <a:prstDash val="solid"/>
          </a:ln>
        </p:spPr>
      </p:sp>
      <p:sp>
        <p:nvSpPr>
          <p:cNvPr id="84" name="Text 82"/>
          <p:cNvSpPr/>
          <p:nvPr/>
        </p:nvSpPr>
        <p:spPr>
          <a:xfrm>
            <a:off x="4919472" y="2322576"/>
            <a:ext cx="621792" cy="329184"/>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85" name="Shape 83"/>
          <p:cNvSpPr/>
          <p:nvPr/>
        </p:nvSpPr>
        <p:spPr>
          <a:xfrm>
            <a:off x="274320" y="2651760"/>
            <a:ext cx="914400" cy="329184"/>
          </a:xfrm>
          <a:prstGeom prst="rect">
            <a:avLst/>
          </a:prstGeom>
          <a:solidFill>
            <a:srgbClr val="F0F2F5"/>
          </a:solidFill>
          <a:ln/>
        </p:spPr>
      </p:sp>
      <p:sp>
        <p:nvSpPr>
          <p:cNvPr id="86" name="Text 84"/>
          <p:cNvSpPr/>
          <p:nvPr/>
        </p:nvSpPr>
        <p:spPr>
          <a:xfrm>
            <a:off x="274320" y="2651760"/>
            <a:ext cx="914400" cy="329184"/>
          </a:xfrm>
          <a:prstGeom prst="rect">
            <a:avLst/>
          </a:prstGeom>
          <a:noFill/>
          <a:ln/>
        </p:spPr>
        <p:txBody>
          <a:bodyPr wrap="square" rtlCol="0" anchor="ctr"/>
          <a:lstStyle/>
          <a:p>
            <a:pPr algn="l" indent="0" marL="0">
              <a:buNone/>
            </a:pPr>
            <a:r>
              <a:rPr lang="en-US" sz="800" b="1" dirty="0">
                <a:solidFill>
                  <a:srgbClr val="1E293B"/>
                </a:solidFill>
                <a:latin typeface="Arial" pitchFamily="34" charset="0"/>
                <a:ea typeface="Arial" pitchFamily="34" charset="-122"/>
                <a:cs typeface="Arial" pitchFamily="34" charset="-120"/>
              </a:rPr>
              <a:t>VEGF</a:t>
            </a:r>
            <a:endParaRPr lang="en-US" sz="800" dirty="0"/>
          </a:p>
        </p:txBody>
      </p:sp>
      <p:sp>
        <p:nvSpPr>
          <p:cNvPr id="87" name="Shape 85"/>
          <p:cNvSpPr/>
          <p:nvPr/>
        </p:nvSpPr>
        <p:spPr>
          <a:xfrm>
            <a:off x="1188720" y="2651760"/>
            <a:ext cx="621792" cy="329184"/>
          </a:xfrm>
          <a:prstGeom prst="rect">
            <a:avLst/>
          </a:prstGeom>
          <a:solidFill>
            <a:srgbClr val="E0F7FA"/>
          </a:solidFill>
          <a:ln w="6350">
            <a:solidFill>
              <a:srgbClr val="E0E4EA"/>
            </a:solidFill>
            <a:prstDash val="solid"/>
          </a:ln>
        </p:spPr>
      </p:sp>
      <p:sp>
        <p:nvSpPr>
          <p:cNvPr id="88" name="Text 86"/>
          <p:cNvSpPr/>
          <p:nvPr/>
        </p:nvSpPr>
        <p:spPr>
          <a:xfrm>
            <a:off x="1188720" y="2651760"/>
            <a:ext cx="621792" cy="329184"/>
          </a:xfrm>
          <a:prstGeom prst="rect">
            <a:avLst/>
          </a:prstGeom>
          <a:noFill/>
          <a:ln/>
        </p:spPr>
        <p:txBody>
          <a:bodyPr wrap="square" rtlCol="0" anchor="ctr"/>
          <a:lstStyle/>
          <a:p>
            <a:pPr algn="ctr" indent="0" marL="0">
              <a:buNone/>
            </a:pPr>
            <a:r>
              <a:rPr lang="en-US" sz="1000" b="1" dirty="0">
                <a:solidFill>
                  <a:srgbClr val="004D40"/>
                </a:solidFill>
                <a:latin typeface="Arial" pitchFamily="34" charset="0"/>
                <a:ea typeface="Arial" pitchFamily="34" charset="-122"/>
                <a:cs typeface="Arial" pitchFamily="34" charset="-120"/>
              </a:rPr>
              <a:t>1</a:t>
            </a:r>
            <a:endParaRPr lang="en-US" sz="1000" dirty="0"/>
          </a:p>
        </p:txBody>
      </p:sp>
      <p:sp>
        <p:nvSpPr>
          <p:cNvPr id="89" name="Shape 87"/>
          <p:cNvSpPr/>
          <p:nvPr/>
        </p:nvSpPr>
        <p:spPr>
          <a:xfrm>
            <a:off x="1810512" y="2651760"/>
            <a:ext cx="621792" cy="329184"/>
          </a:xfrm>
          <a:prstGeom prst="rect">
            <a:avLst/>
          </a:prstGeom>
          <a:solidFill>
            <a:srgbClr val="F8FAFC"/>
          </a:solidFill>
          <a:ln w="6350">
            <a:solidFill>
              <a:srgbClr val="E0E4EA"/>
            </a:solidFill>
            <a:prstDash val="solid"/>
          </a:ln>
        </p:spPr>
      </p:sp>
      <p:sp>
        <p:nvSpPr>
          <p:cNvPr id="90" name="Text 88"/>
          <p:cNvSpPr/>
          <p:nvPr/>
        </p:nvSpPr>
        <p:spPr>
          <a:xfrm>
            <a:off x="1810512" y="2651760"/>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91" name="Shape 89"/>
          <p:cNvSpPr/>
          <p:nvPr/>
        </p:nvSpPr>
        <p:spPr>
          <a:xfrm>
            <a:off x="2432304" y="2651760"/>
            <a:ext cx="621792" cy="329184"/>
          </a:xfrm>
          <a:prstGeom prst="rect">
            <a:avLst/>
          </a:prstGeom>
          <a:solidFill>
            <a:srgbClr val="F8FAFC"/>
          </a:solidFill>
          <a:ln w="6350">
            <a:solidFill>
              <a:srgbClr val="E0E4EA"/>
            </a:solidFill>
            <a:prstDash val="solid"/>
          </a:ln>
        </p:spPr>
      </p:sp>
      <p:sp>
        <p:nvSpPr>
          <p:cNvPr id="92" name="Text 90"/>
          <p:cNvSpPr/>
          <p:nvPr/>
        </p:nvSpPr>
        <p:spPr>
          <a:xfrm>
            <a:off x="2432304" y="2651760"/>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93" name="Shape 91"/>
          <p:cNvSpPr/>
          <p:nvPr/>
        </p:nvSpPr>
        <p:spPr>
          <a:xfrm>
            <a:off x="3054096" y="2651760"/>
            <a:ext cx="621792" cy="329184"/>
          </a:xfrm>
          <a:prstGeom prst="rect">
            <a:avLst/>
          </a:prstGeom>
          <a:solidFill>
            <a:srgbClr val="F8FAFC"/>
          </a:solidFill>
          <a:ln w="6350">
            <a:solidFill>
              <a:srgbClr val="E0E4EA"/>
            </a:solidFill>
            <a:prstDash val="solid"/>
          </a:ln>
        </p:spPr>
      </p:sp>
      <p:sp>
        <p:nvSpPr>
          <p:cNvPr id="94" name="Text 92"/>
          <p:cNvSpPr/>
          <p:nvPr/>
        </p:nvSpPr>
        <p:spPr>
          <a:xfrm>
            <a:off x="3054096" y="2651760"/>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95" name="Shape 93"/>
          <p:cNvSpPr/>
          <p:nvPr/>
        </p:nvSpPr>
        <p:spPr>
          <a:xfrm>
            <a:off x="3675888" y="2651760"/>
            <a:ext cx="621792" cy="329184"/>
          </a:xfrm>
          <a:prstGeom prst="rect">
            <a:avLst/>
          </a:prstGeom>
          <a:solidFill>
            <a:srgbClr val="F8FAFC"/>
          </a:solidFill>
          <a:ln w="6350">
            <a:solidFill>
              <a:srgbClr val="E0E4EA"/>
            </a:solidFill>
            <a:prstDash val="solid"/>
          </a:ln>
        </p:spPr>
      </p:sp>
      <p:sp>
        <p:nvSpPr>
          <p:cNvPr id="96" name="Text 94"/>
          <p:cNvSpPr/>
          <p:nvPr/>
        </p:nvSpPr>
        <p:spPr>
          <a:xfrm>
            <a:off x="3675888" y="2651760"/>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97" name="Shape 95"/>
          <p:cNvSpPr/>
          <p:nvPr/>
        </p:nvSpPr>
        <p:spPr>
          <a:xfrm>
            <a:off x="4297680" y="2651760"/>
            <a:ext cx="621792" cy="329184"/>
          </a:xfrm>
          <a:prstGeom prst="rect">
            <a:avLst/>
          </a:prstGeom>
          <a:solidFill>
            <a:srgbClr val="F8FAFC"/>
          </a:solidFill>
          <a:ln w="6350">
            <a:solidFill>
              <a:srgbClr val="E0E4EA"/>
            </a:solidFill>
            <a:prstDash val="solid"/>
          </a:ln>
        </p:spPr>
      </p:sp>
      <p:sp>
        <p:nvSpPr>
          <p:cNvPr id="98" name="Text 96"/>
          <p:cNvSpPr/>
          <p:nvPr/>
        </p:nvSpPr>
        <p:spPr>
          <a:xfrm>
            <a:off x="4297680" y="2651760"/>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99" name="Shape 97"/>
          <p:cNvSpPr/>
          <p:nvPr/>
        </p:nvSpPr>
        <p:spPr>
          <a:xfrm>
            <a:off x="4919472" y="2651760"/>
            <a:ext cx="621792" cy="329184"/>
          </a:xfrm>
          <a:prstGeom prst="rect">
            <a:avLst/>
          </a:prstGeom>
          <a:solidFill>
            <a:srgbClr val="007A85"/>
          </a:solidFill>
          <a:ln w="6350">
            <a:solidFill>
              <a:srgbClr val="E0E4EA"/>
            </a:solidFill>
            <a:prstDash val="solid"/>
          </a:ln>
        </p:spPr>
      </p:sp>
      <p:sp>
        <p:nvSpPr>
          <p:cNvPr id="100" name="Text 98"/>
          <p:cNvSpPr/>
          <p:nvPr/>
        </p:nvSpPr>
        <p:spPr>
          <a:xfrm>
            <a:off x="4919472" y="2651760"/>
            <a:ext cx="621792" cy="329184"/>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101" name="Shape 99"/>
          <p:cNvSpPr/>
          <p:nvPr/>
        </p:nvSpPr>
        <p:spPr>
          <a:xfrm>
            <a:off x="274320" y="2980944"/>
            <a:ext cx="914400" cy="329184"/>
          </a:xfrm>
          <a:prstGeom prst="rect">
            <a:avLst/>
          </a:prstGeom>
          <a:solidFill>
            <a:srgbClr val="F0F2F5"/>
          </a:solidFill>
          <a:ln/>
        </p:spPr>
      </p:sp>
      <p:sp>
        <p:nvSpPr>
          <p:cNvPr id="102" name="Text 100"/>
          <p:cNvSpPr/>
          <p:nvPr/>
        </p:nvSpPr>
        <p:spPr>
          <a:xfrm>
            <a:off x="274320" y="2980944"/>
            <a:ext cx="914400" cy="329184"/>
          </a:xfrm>
          <a:prstGeom prst="rect">
            <a:avLst/>
          </a:prstGeom>
          <a:noFill/>
          <a:ln/>
        </p:spPr>
        <p:txBody>
          <a:bodyPr wrap="square" rtlCol="0" anchor="ctr"/>
          <a:lstStyle/>
          <a:p>
            <a:pPr algn="l" indent="0" marL="0">
              <a:buNone/>
            </a:pPr>
            <a:r>
              <a:rPr lang="en-US" sz="800" b="1" dirty="0">
                <a:solidFill>
                  <a:srgbClr val="1E293B"/>
                </a:solidFill>
                <a:latin typeface="Arial" pitchFamily="34" charset="0"/>
                <a:ea typeface="Arial" pitchFamily="34" charset="-122"/>
                <a:cs typeface="Arial" pitchFamily="34" charset="-120"/>
              </a:rPr>
              <a:t>LAG-3</a:t>
            </a:r>
            <a:endParaRPr lang="en-US" sz="800" dirty="0"/>
          </a:p>
        </p:txBody>
      </p:sp>
      <p:sp>
        <p:nvSpPr>
          <p:cNvPr id="103" name="Shape 101"/>
          <p:cNvSpPr/>
          <p:nvPr/>
        </p:nvSpPr>
        <p:spPr>
          <a:xfrm>
            <a:off x="1188720" y="2980944"/>
            <a:ext cx="621792" cy="329184"/>
          </a:xfrm>
          <a:prstGeom prst="rect">
            <a:avLst/>
          </a:prstGeom>
          <a:solidFill>
            <a:srgbClr val="E0F7FA"/>
          </a:solidFill>
          <a:ln w="6350">
            <a:solidFill>
              <a:srgbClr val="E0E4EA"/>
            </a:solidFill>
            <a:prstDash val="solid"/>
          </a:ln>
        </p:spPr>
      </p:sp>
      <p:sp>
        <p:nvSpPr>
          <p:cNvPr id="104" name="Text 102"/>
          <p:cNvSpPr/>
          <p:nvPr/>
        </p:nvSpPr>
        <p:spPr>
          <a:xfrm>
            <a:off x="1188720" y="2980944"/>
            <a:ext cx="621792" cy="329184"/>
          </a:xfrm>
          <a:prstGeom prst="rect">
            <a:avLst/>
          </a:prstGeom>
          <a:noFill/>
          <a:ln/>
        </p:spPr>
        <p:txBody>
          <a:bodyPr wrap="square" rtlCol="0" anchor="ctr"/>
          <a:lstStyle/>
          <a:p>
            <a:pPr algn="ctr" indent="0" marL="0">
              <a:buNone/>
            </a:pPr>
            <a:r>
              <a:rPr lang="en-US" sz="1000" b="1" dirty="0">
                <a:solidFill>
                  <a:srgbClr val="004D40"/>
                </a:solidFill>
                <a:latin typeface="Arial" pitchFamily="34" charset="0"/>
                <a:ea typeface="Arial" pitchFamily="34" charset="-122"/>
                <a:cs typeface="Arial" pitchFamily="34" charset="-120"/>
              </a:rPr>
              <a:t>1</a:t>
            </a:r>
            <a:endParaRPr lang="en-US" sz="1000" dirty="0"/>
          </a:p>
        </p:txBody>
      </p:sp>
      <p:sp>
        <p:nvSpPr>
          <p:cNvPr id="105" name="Shape 103"/>
          <p:cNvSpPr/>
          <p:nvPr/>
        </p:nvSpPr>
        <p:spPr>
          <a:xfrm>
            <a:off x="1810512" y="2980944"/>
            <a:ext cx="621792" cy="329184"/>
          </a:xfrm>
          <a:prstGeom prst="rect">
            <a:avLst/>
          </a:prstGeom>
          <a:solidFill>
            <a:srgbClr val="E0F7FA"/>
          </a:solidFill>
          <a:ln w="6350">
            <a:solidFill>
              <a:srgbClr val="E0E4EA"/>
            </a:solidFill>
            <a:prstDash val="solid"/>
          </a:ln>
        </p:spPr>
      </p:sp>
      <p:sp>
        <p:nvSpPr>
          <p:cNvPr id="106" name="Text 104"/>
          <p:cNvSpPr/>
          <p:nvPr/>
        </p:nvSpPr>
        <p:spPr>
          <a:xfrm>
            <a:off x="1810512" y="2980944"/>
            <a:ext cx="621792" cy="329184"/>
          </a:xfrm>
          <a:prstGeom prst="rect">
            <a:avLst/>
          </a:prstGeom>
          <a:noFill/>
          <a:ln/>
        </p:spPr>
        <p:txBody>
          <a:bodyPr wrap="square" rtlCol="0" anchor="ctr"/>
          <a:lstStyle/>
          <a:p>
            <a:pPr algn="ctr" indent="0" marL="0">
              <a:buNone/>
            </a:pPr>
            <a:r>
              <a:rPr lang="en-US" sz="1000" b="1" dirty="0">
                <a:solidFill>
                  <a:srgbClr val="004D40"/>
                </a:solidFill>
                <a:latin typeface="Arial" pitchFamily="34" charset="0"/>
                <a:ea typeface="Arial" pitchFamily="34" charset="-122"/>
                <a:cs typeface="Arial" pitchFamily="34" charset="-120"/>
              </a:rPr>
              <a:t>1</a:t>
            </a:r>
            <a:endParaRPr lang="en-US" sz="1000" dirty="0"/>
          </a:p>
        </p:txBody>
      </p:sp>
      <p:sp>
        <p:nvSpPr>
          <p:cNvPr id="107" name="Shape 105"/>
          <p:cNvSpPr/>
          <p:nvPr/>
        </p:nvSpPr>
        <p:spPr>
          <a:xfrm>
            <a:off x="2432304" y="2980944"/>
            <a:ext cx="621792" cy="329184"/>
          </a:xfrm>
          <a:prstGeom prst="rect">
            <a:avLst/>
          </a:prstGeom>
          <a:solidFill>
            <a:srgbClr val="F8FAFC"/>
          </a:solidFill>
          <a:ln w="6350">
            <a:solidFill>
              <a:srgbClr val="E0E4EA"/>
            </a:solidFill>
            <a:prstDash val="solid"/>
          </a:ln>
        </p:spPr>
      </p:sp>
      <p:sp>
        <p:nvSpPr>
          <p:cNvPr id="108" name="Text 106"/>
          <p:cNvSpPr/>
          <p:nvPr/>
        </p:nvSpPr>
        <p:spPr>
          <a:xfrm>
            <a:off x="2432304" y="2980944"/>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109" name="Shape 107"/>
          <p:cNvSpPr/>
          <p:nvPr/>
        </p:nvSpPr>
        <p:spPr>
          <a:xfrm>
            <a:off x="3054096" y="2980944"/>
            <a:ext cx="621792" cy="329184"/>
          </a:xfrm>
          <a:prstGeom prst="rect">
            <a:avLst/>
          </a:prstGeom>
          <a:solidFill>
            <a:srgbClr val="F8FAFC"/>
          </a:solidFill>
          <a:ln w="6350">
            <a:solidFill>
              <a:srgbClr val="E0E4EA"/>
            </a:solidFill>
            <a:prstDash val="solid"/>
          </a:ln>
        </p:spPr>
      </p:sp>
      <p:sp>
        <p:nvSpPr>
          <p:cNvPr id="110" name="Text 108"/>
          <p:cNvSpPr/>
          <p:nvPr/>
        </p:nvSpPr>
        <p:spPr>
          <a:xfrm>
            <a:off x="3054096" y="2980944"/>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111" name="Shape 109"/>
          <p:cNvSpPr/>
          <p:nvPr/>
        </p:nvSpPr>
        <p:spPr>
          <a:xfrm>
            <a:off x="3675888" y="2980944"/>
            <a:ext cx="621792" cy="329184"/>
          </a:xfrm>
          <a:prstGeom prst="rect">
            <a:avLst/>
          </a:prstGeom>
          <a:solidFill>
            <a:srgbClr val="F8FAFC"/>
          </a:solidFill>
          <a:ln w="6350">
            <a:solidFill>
              <a:srgbClr val="E0E4EA"/>
            </a:solidFill>
            <a:prstDash val="solid"/>
          </a:ln>
        </p:spPr>
      </p:sp>
      <p:sp>
        <p:nvSpPr>
          <p:cNvPr id="112" name="Text 110"/>
          <p:cNvSpPr/>
          <p:nvPr/>
        </p:nvSpPr>
        <p:spPr>
          <a:xfrm>
            <a:off x="3675888" y="2980944"/>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113" name="Shape 111"/>
          <p:cNvSpPr/>
          <p:nvPr/>
        </p:nvSpPr>
        <p:spPr>
          <a:xfrm>
            <a:off x="4297680" y="2980944"/>
            <a:ext cx="621792" cy="329184"/>
          </a:xfrm>
          <a:prstGeom prst="rect">
            <a:avLst/>
          </a:prstGeom>
          <a:solidFill>
            <a:srgbClr val="F8FAFC"/>
          </a:solidFill>
          <a:ln w="6350">
            <a:solidFill>
              <a:srgbClr val="E0E4EA"/>
            </a:solidFill>
            <a:prstDash val="solid"/>
          </a:ln>
        </p:spPr>
      </p:sp>
      <p:sp>
        <p:nvSpPr>
          <p:cNvPr id="114" name="Text 112"/>
          <p:cNvSpPr/>
          <p:nvPr/>
        </p:nvSpPr>
        <p:spPr>
          <a:xfrm>
            <a:off x="4297680" y="2980944"/>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115" name="Shape 113"/>
          <p:cNvSpPr/>
          <p:nvPr/>
        </p:nvSpPr>
        <p:spPr>
          <a:xfrm>
            <a:off x="4919472" y="2980944"/>
            <a:ext cx="621792" cy="329184"/>
          </a:xfrm>
          <a:prstGeom prst="rect">
            <a:avLst/>
          </a:prstGeom>
          <a:solidFill>
            <a:srgbClr val="E0F7FA"/>
          </a:solidFill>
          <a:ln w="6350">
            <a:solidFill>
              <a:srgbClr val="E0E4EA"/>
            </a:solidFill>
            <a:prstDash val="solid"/>
          </a:ln>
        </p:spPr>
      </p:sp>
      <p:sp>
        <p:nvSpPr>
          <p:cNvPr id="116" name="Text 114"/>
          <p:cNvSpPr/>
          <p:nvPr/>
        </p:nvSpPr>
        <p:spPr>
          <a:xfrm>
            <a:off x="4919472" y="2980944"/>
            <a:ext cx="621792" cy="329184"/>
          </a:xfrm>
          <a:prstGeom prst="rect">
            <a:avLst/>
          </a:prstGeom>
          <a:noFill/>
          <a:ln/>
        </p:spPr>
        <p:txBody>
          <a:bodyPr wrap="square" rtlCol="0" anchor="ctr"/>
          <a:lstStyle/>
          <a:p>
            <a:pPr algn="ctr" indent="0" marL="0">
              <a:buNone/>
            </a:pPr>
            <a:r>
              <a:rPr lang="en-US" sz="1000" b="1" dirty="0">
                <a:solidFill>
                  <a:srgbClr val="004D40"/>
                </a:solidFill>
                <a:latin typeface="Arial" pitchFamily="34" charset="0"/>
                <a:ea typeface="Arial" pitchFamily="34" charset="-122"/>
                <a:cs typeface="Arial" pitchFamily="34" charset="-120"/>
              </a:rPr>
              <a:t>1</a:t>
            </a:r>
            <a:endParaRPr lang="en-US" sz="1000" dirty="0"/>
          </a:p>
        </p:txBody>
      </p:sp>
      <p:sp>
        <p:nvSpPr>
          <p:cNvPr id="117" name="Shape 115"/>
          <p:cNvSpPr/>
          <p:nvPr/>
        </p:nvSpPr>
        <p:spPr>
          <a:xfrm>
            <a:off x="274320" y="3310128"/>
            <a:ext cx="914400" cy="329184"/>
          </a:xfrm>
          <a:prstGeom prst="rect">
            <a:avLst/>
          </a:prstGeom>
          <a:solidFill>
            <a:srgbClr val="F0F2F5"/>
          </a:solidFill>
          <a:ln/>
        </p:spPr>
      </p:sp>
      <p:sp>
        <p:nvSpPr>
          <p:cNvPr id="118" name="Text 116"/>
          <p:cNvSpPr/>
          <p:nvPr/>
        </p:nvSpPr>
        <p:spPr>
          <a:xfrm>
            <a:off x="274320" y="3310128"/>
            <a:ext cx="914400" cy="329184"/>
          </a:xfrm>
          <a:prstGeom prst="rect">
            <a:avLst/>
          </a:prstGeom>
          <a:noFill/>
          <a:ln/>
        </p:spPr>
        <p:txBody>
          <a:bodyPr wrap="square" rtlCol="0" anchor="ctr"/>
          <a:lstStyle/>
          <a:p>
            <a:pPr algn="l" indent="0" marL="0">
              <a:buNone/>
            </a:pPr>
            <a:r>
              <a:rPr lang="en-US" sz="800" b="1" dirty="0">
                <a:solidFill>
                  <a:srgbClr val="1E293B"/>
                </a:solidFill>
                <a:latin typeface="Arial" pitchFamily="34" charset="0"/>
                <a:ea typeface="Arial" pitchFamily="34" charset="-122"/>
                <a:cs typeface="Arial" pitchFamily="34" charset="-120"/>
              </a:rPr>
              <a:t>EGFR</a:t>
            </a:r>
            <a:endParaRPr lang="en-US" sz="800" dirty="0"/>
          </a:p>
        </p:txBody>
      </p:sp>
      <p:sp>
        <p:nvSpPr>
          <p:cNvPr id="119" name="Shape 117"/>
          <p:cNvSpPr/>
          <p:nvPr/>
        </p:nvSpPr>
        <p:spPr>
          <a:xfrm>
            <a:off x="1188720" y="3310128"/>
            <a:ext cx="621792" cy="329184"/>
          </a:xfrm>
          <a:prstGeom prst="rect">
            <a:avLst/>
          </a:prstGeom>
          <a:solidFill>
            <a:srgbClr val="F8FAFC"/>
          </a:solidFill>
          <a:ln w="6350">
            <a:solidFill>
              <a:srgbClr val="E0E4EA"/>
            </a:solidFill>
            <a:prstDash val="solid"/>
          </a:ln>
        </p:spPr>
      </p:sp>
      <p:sp>
        <p:nvSpPr>
          <p:cNvPr id="120" name="Text 118"/>
          <p:cNvSpPr/>
          <p:nvPr/>
        </p:nvSpPr>
        <p:spPr>
          <a:xfrm>
            <a:off x="1188720" y="3310128"/>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121" name="Shape 119"/>
          <p:cNvSpPr/>
          <p:nvPr/>
        </p:nvSpPr>
        <p:spPr>
          <a:xfrm>
            <a:off x="1810512" y="3310128"/>
            <a:ext cx="621792" cy="329184"/>
          </a:xfrm>
          <a:prstGeom prst="rect">
            <a:avLst/>
          </a:prstGeom>
          <a:solidFill>
            <a:srgbClr val="F8FAFC"/>
          </a:solidFill>
          <a:ln w="6350">
            <a:solidFill>
              <a:srgbClr val="E0E4EA"/>
            </a:solidFill>
            <a:prstDash val="solid"/>
          </a:ln>
        </p:spPr>
      </p:sp>
      <p:sp>
        <p:nvSpPr>
          <p:cNvPr id="122" name="Text 120"/>
          <p:cNvSpPr/>
          <p:nvPr/>
        </p:nvSpPr>
        <p:spPr>
          <a:xfrm>
            <a:off x="1810512" y="3310128"/>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123" name="Shape 121"/>
          <p:cNvSpPr/>
          <p:nvPr/>
        </p:nvSpPr>
        <p:spPr>
          <a:xfrm>
            <a:off x="2432304" y="3310128"/>
            <a:ext cx="621792" cy="329184"/>
          </a:xfrm>
          <a:prstGeom prst="rect">
            <a:avLst/>
          </a:prstGeom>
          <a:solidFill>
            <a:srgbClr val="F8FAFC"/>
          </a:solidFill>
          <a:ln w="6350">
            <a:solidFill>
              <a:srgbClr val="E0E4EA"/>
            </a:solidFill>
            <a:prstDash val="solid"/>
          </a:ln>
        </p:spPr>
      </p:sp>
      <p:sp>
        <p:nvSpPr>
          <p:cNvPr id="124" name="Text 122"/>
          <p:cNvSpPr/>
          <p:nvPr/>
        </p:nvSpPr>
        <p:spPr>
          <a:xfrm>
            <a:off x="2432304" y="3310128"/>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125" name="Shape 123"/>
          <p:cNvSpPr/>
          <p:nvPr/>
        </p:nvSpPr>
        <p:spPr>
          <a:xfrm>
            <a:off x="3054096" y="3310128"/>
            <a:ext cx="621792" cy="329184"/>
          </a:xfrm>
          <a:prstGeom prst="rect">
            <a:avLst/>
          </a:prstGeom>
          <a:solidFill>
            <a:srgbClr val="007A85"/>
          </a:solidFill>
          <a:ln w="6350">
            <a:solidFill>
              <a:srgbClr val="E0E4EA"/>
            </a:solidFill>
            <a:prstDash val="solid"/>
          </a:ln>
        </p:spPr>
      </p:sp>
      <p:sp>
        <p:nvSpPr>
          <p:cNvPr id="126" name="Text 124"/>
          <p:cNvSpPr/>
          <p:nvPr/>
        </p:nvSpPr>
        <p:spPr>
          <a:xfrm>
            <a:off x="3054096" y="3310128"/>
            <a:ext cx="621792" cy="329184"/>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27" name="Shape 125"/>
          <p:cNvSpPr/>
          <p:nvPr/>
        </p:nvSpPr>
        <p:spPr>
          <a:xfrm>
            <a:off x="3675888" y="3310128"/>
            <a:ext cx="621792" cy="329184"/>
          </a:xfrm>
          <a:prstGeom prst="rect">
            <a:avLst/>
          </a:prstGeom>
          <a:solidFill>
            <a:srgbClr val="F8FAFC"/>
          </a:solidFill>
          <a:ln w="6350">
            <a:solidFill>
              <a:srgbClr val="E0E4EA"/>
            </a:solidFill>
            <a:prstDash val="solid"/>
          </a:ln>
        </p:spPr>
      </p:sp>
      <p:sp>
        <p:nvSpPr>
          <p:cNvPr id="128" name="Text 126"/>
          <p:cNvSpPr/>
          <p:nvPr/>
        </p:nvSpPr>
        <p:spPr>
          <a:xfrm>
            <a:off x="3675888" y="3310128"/>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129" name="Shape 127"/>
          <p:cNvSpPr/>
          <p:nvPr/>
        </p:nvSpPr>
        <p:spPr>
          <a:xfrm>
            <a:off x="4297680" y="3310128"/>
            <a:ext cx="621792" cy="329184"/>
          </a:xfrm>
          <a:prstGeom prst="rect">
            <a:avLst/>
          </a:prstGeom>
          <a:solidFill>
            <a:srgbClr val="F8FAFC"/>
          </a:solidFill>
          <a:ln w="6350">
            <a:solidFill>
              <a:srgbClr val="E0E4EA"/>
            </a:solidFill>
            <a:prstDash val="solid"/>
          </a:ln>
        </p:spPr>
      </p:sp>
      <p:sp>
        <p:nvSpPr>
          <p:cNvPr id="130" name="Text 128"/>
          <p:cNvSpPr/>
          <p:nvPr/>
        </p:nvSpPr>
        <p:spPr>
          <a:xfrm>
            <a:off x="4297680" y="3310128"/>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131" name="Shape 129"/>
          <p:cNvSpPr/>
          <p:nvPr/>
        </p:nvSpPr>
        <p:spPr>
          <a:xfrm>
            <a:off x="4919472" y="3310128"/>
            <a:ext cx="621792" cy="329184"/>
          </a:xfrm>
          <a:prstGeom prst="rect">
            <a:avLst/>
          </a:prstGeom>
          <a:solidFill>
            <a:srgbClr val="00B0B9"/>
          </a:solidFill>
          <a:ln w="6350">
            <a:solidFill>
              <a:srgbClr val="E0E4EA"/>
            </a:solidFill>
            <a:prstDash val="solid"/>
          </a:ln>
        </p:spPr>
      </p:sp>
      <p:sp>
        <p:nvSpPr>
          <p:cNvPr id="132" name="Text 130"/>
          <p:cNvSpPr/>
          <p:nvPr/>
        </p:nvSpPr>
        <p:spPr>
          <a:xfrm>
            <a:off x="4919472" y="3310128"/>
            <a:ext cx="621792" cy="329184"/>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3" name="Shape 131"/>
          <p:cNvSpPr/>
          <p:nvPr/>
        </p:nvSpPr>
        <p:spPr>
          <a:xfrm>
            <a:off x="274320" y="3639312"/>
            <a:ext cx="914400" cy="329184"/>
          </a:xfrm>
          <a:prstGeom prst="rect">
            <a:avLst/>
          </a:prstGeom>
          <a:solidFill>
            <a:srgbClr val="F0F2F5"/>
          </a:solidFill>
          <a:ln/>
        </p:spPr>
      </p:sp>
      <p:sp>
        <p:nvSpPr>
          <p:cNvPr id="134" name="Text 132"/>
          <p:cNvSpPr/>
          <p:nvPr/>
        </p:nvSpPr>
        <p:spPr>
          <a:xfrm>
            <a:off x="274320" y="3639312"/>
            <a:ext cx="914400" cy="329184"/>
          </a:xfrm>
          <a:prstGeom prst="rect">
            <a:avLst/>
          </a:prstGeom>
          <a:noFill/>
          <a:ln/>
        </p:spPr>
        <p:txBody>
          <a:bodyPr wrap="square" rtlCol="0" anchor="ctr"/>
          <a:lstStyle/>
          <a:p>
            <a:pPr algn="l" indent="0" marL="0">
              <a:buNone/>
            </a:pPr>
            <a:r>
              <a:rPr lang="en-US" sz="800" b="1" dirty="0">
                <a:solidFill>
                  <a:srgbClr val="1E293B"/>
                </a:solidFill>
                <a:latin typeface="Arial" pitchFamily="34" charset="0"/>
                <a:ea typeface="Arial" pitchFamily="34" charset="-122"/>
                <a:cs typeface="Arial" pitchFamily="34" charset="-120"/>
              </a:rPr>
              <a:t>HER2</a:t>
            </a:r>
            <a:endParaRPr lang="en-US" sz="800" dirty="0"/>
          </a:p>
        </p:txBody>
      </p:sp>
      <p:sp>
        <p:nvSpPr>
          <p:cNvPr id="135" name="Shape 133"/>
          <p:cNvSpPr/>
          <p:nvPr/>
        </p:nvSpPr>
        <p:spPr>
          <a:xfrm>
            <a:off x="1188720" y="3639312"/>
            <a:ext cx="621792" cy="329184"/>
          </a:xfrm>
          <a:prstGeom prst="rect">
            <a:avLst/>
          </a:prstGeom>
          <a:solidFill>
            <a:srgbClr val="F8FAFC"/>
          </a:solidFill>
          <a:ln w="6350">
            <a:solidFill>
              <a:srgbClr val="E0E4EA"/>
            </a:solidFill>
            <a:prstDash val="solid"/>
          </a:ln>
        </p:spPr>
      </p:sp>
      <p:sp>
        <p:nvSpPr>
          <p:cNvPr id="136" name="Text 134"/>
          <p:cNvSpPr/>
          <p:nvPr/>
        </p:nvSpPr>
        <p:spPr>
          <a:xfrm>
            <a:off x="1188720" y="3639312"/>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137" name="Shape 135"/>
          <p:cNvSpPr/>
          <p:nvPr/>
        </p:nvSpPr>
        <p:spPr>
          <a:xfrm>
            <a:off x="1810512" y="3639312"/>
            <a:ext cx="621792" cy="329184"/>
          </a:xfrm>
          <a:prstGeom prst="rect">
            <a:avLst/>
          </a:prstGeom>
          <a:solidFill>
            <a:srgbClr val="E0F7FA"/>
          </a:solidFill>
          <a:ln w="6350">
            <a:solidFill>
              <a:srgbClr val="E0E4EA"/>
            </a:solidFill>
            <a:prstDash val="solid"/>
          </a:ln>
        </p:spPr>
      </p:sp>
      <p:sp>
        <p:nvSpPr>
          <p:cNvPr id="138" name="Text 136"/>
          <p:cNvSpPr/>
          <p:nvPr/>
        </p:nvSpPr>
        <p:spPr>
          <a:xfrm>
            <a:off x="1810512" y="3639312"/>
            <a:ext cx="621792" cy="329184"/>
          </a:xfrm>
          <a:prstGeom prst="rect">
            <a:avLst/>
          </a:prstGeom>
          <a:noFill/>
          <a:ln/>
        </p:spPr>
        <p:txBody>
          <a:bodyPr wrap="square" rtlCol="0" anchor="ctr"/>
          <a:lstStyle/>
          <a:p>
            <a:pPr algn="ctr" indent="0" marL="0">
              <a:buNone/>
            </a:pPr>
            <a:r>
              <a:rPr lang="en-US" sz="1000" b="1" dirty="0">
                <a:solidFill>
                  <a:srgbClr val="004D40"/>
                </a:solidFill>
                <a:latin typeface="Arial" pitchFamily="34" charset="0"/>
                <a:ea typeface="Arial" pitchFamily="34" charset="-122"/>
                <a:cs typeface="Arial" pitchFamily="34" charset="-120"/>
              </a:rPr>
              <a:t>1</a:t>
            </a:r>
            <a:endParaRPr lang="en-US" sz="1000" dirty="0"/>
          </a:p>
        </p:txBody>
      </p:sp>
      <p:sp>
        <p:nvSpPr>
          <p:cNvPr id="139" name="Shape 137"/>
          <p:cNvSpPr/>
          <p:nvPr/>
        </p:nvSpPr>
        <p:spPr>
          <a:xfrm>
            <a:off x="2432304" y="3639312"/>
            <a:ext cx="621792" cy="329184"/>
          </a:xfrm>
          <a:prstGeom prst="rect">
            <a:avLst/>
          </a:prstGeom>
          <a:solidFill>
            <a:srgbClr val="F8FAFC"/>
          </a:solidFill>
          <a:ln w="6350">
            <a:solidFill>
              <a:srgbClr val="E0E4EA"/>
            </a:solidFill>
            <a:prstDash val="solid"/>
          </a:ln>
        </p:spPr>
      </p:sp>
      <p:sp>
        <p:nvSpPr>
          <p:cNvPr id="140" name="Text 138"/>
          <p:cNvSpPr/>
          <p:nvPr/>
        </p:nvSpPr>
        <p:spPr>
          <a:xfrm>
            <a:off x="2432304" y="3639312"/>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141" name="Shape 139"/>
          <p:cNvSpPr/>
          <p:nvPr/>
        </p:nvSpPr>
        <p:spPr>
          <a:xfrm>
            <a:off x="3054096" y="3639312"/>
            <a:ext cx="621792" cy="329184"/>
          </a:xfrm>
          <a:prstGeom prst="rect">
            <a:avLst/>
          </a:prstGeom>
          <a:solidFill>
            <a:srgbClr val="F8FAFC"/>
          </a:solidFill>
          <a:ln w="6350">
            <a:solidFill>
              <a:srgbClr val="E0E4EA"/>
            </a:solidFill>
            <a:prstDash val="solid"/>
          </a:ln>
        </p:spPr>
      </p:sp>
      <p:sp>
        <p:nvSpPr>
          <p:cNvPr id="142" name="Text 140"/>
          <p:cNvSpPr/>
          <p:nvPr/>
        </p:nvSpPr>
        <p:spPr>
          <a:xfrm>
            <a:off x="3054096" y="3639312"/>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143" name="Shape 141"/>
          <p:cNvSpPr/>
          <p:nvPr/>
        </p:nvSpPr>
        <p:spPr>
          <a:xfrm>
            <a:off x="3675888" y="3639312"/>
            <a:ext cx="621792" cy="329184"/>
          </a:xfrm>
          <a:prstGeom prst="rect">
            <a:avLst/>
          </a:prstGeom>
          <a:solidFill>
            <a:srgbClr val="F8FAFC"/>
          </a:solidFill>
          <a:ln w="6350">
            <a:solidFill>
              <a:srgbClr val="E0E4EA"/>
            </a:solidFill>
            <a:prstDash val="solid"/>
          </a:ln>
        </p:spPr>
      </p:sp>
      <p:sp>
        <p:nvSpPr>
          <p:cNvPr id="144" name="Text 142"/>
          <p:cNvSpPr/>
          <p:nvPr/>
        </p:nvSpPr>
        <p:spPr>
          <a:xfrm>
            <a:off x="3675888" y="3639312"/>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145" name="Shape 143"/>
          <p:cNvSpPr/>
          <p:nvPr/>
        </p:nvSpPr>
        <p:spPr>
          <a:xfrm>
            <a:off x="4297680" y="3639312"/>
            <a:ext cx="621792" cy="329184"/>
          </a:xfrm>
          <a:prstGeom prst="rect">
            <a:avLst/>
          </a:prstGeom>
          <a:solidFill>
            <a:srgbClr val="00B0B9"/>
          </a:solidFill>
          <a:ln w="6350">
            <a:solidFill>
              <a:srgbClr val="E0E4EA"/>
            </a:solidFill>
            <a:prstDash val="solid"/>
          </a:ln>
        </p:spPr>
      </p:sp>
      <p:sp>
        <p:nvSpPr>
          <p:cNvPr id="146" name="Text 144"/>
          <p:cNvSpPr/>
          <p:nvPr/>
        </p:nvSpPr>
        <p:spPr>
          <a:xfrm>
            <a:off x="4297680" y="3639312"/>
            <a:ext cx="621792" cy="329184"/>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47" name="Shape 145"/>
          <p:cNvSpPr/>
          <p:nvPr/>
        </p:nvSpPr>
        <p:spPr>
          <a:xfrm>
            <a:off x="4919472" y="3639312"/>
            <a:ext cx="621792" cy="329184"/>
          </a:xfrm>
          <a:prstGeom prst="rect">
            <a:avLst/>
          </a:prstGeom>
          <a:solidFill>
            <a:srgbClr val="00B0B9"/>
          </a:solidFill>
          <a:ln w="6350">
            <a:solidFill>
              <a:srgbClr val="E0E4EA"/>
            </a:solidFill>
            <a:prstDash val="solid"/>
          </a:ln>
        </p:spPr>
      </p:sp>
      <p:sp>
        <p:nvSpPr>
          <p:cNvPr id="148" name="Text 146"/>
          <p:cNvSpPr/>
          <p:nvPr/>
        </p:nvSpPr>
        <p:spPr>
          <a:xfrm>
            <a:off x="4919472" y="3639312"/>
            <a:ext cx="621792" cy="329184"/>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49" name="Text 147"/>
          <p:cNvSpPr/>
          <p:nvPr/>
        </p:nvSpPr>
        <p:spPr>
          <a:xfrm>
            <a:off x="6309360" y="749808"/>
            <a:ext cx="5266944" cy="201168"/>
          </a:xfrm>
          <a:prstGeom prst="rect">
            <a:avLst/>
          </a:prstGeom>
          <a:noFill/>
          <a:ln/>
        </p:spPr>
        <p:txBody>
          <a:bodyPr wrap="square" rtlCol="0" anchor="ctr"/>
          <a:lstStyle/>
          <a:p>
            <a:pPr algn="ctr" indent="0" marL="0">
              <a:buNone/>
            </a:pPr>
            <a:r>
              <a:rPr lang="en-US" sz="1100" b="1" dirty="0">
                <a:solidFill>
                  <a:srgbClr val="002060"/>
                </a:solidFill>
                <a:latin typeface="Arial" pitchFamily="34" charset="0"/>
                <a:ea typeface="Arial" pitchFamily="34" charset="-122"/>
                <a:cs typeface="Arial" pitchFamily="34" charset="-120"/>
              </a:rPr>
              <a:t>2L Phase 3</a:t>
            </a:r>
            <a:endParaRPr lang="en-US" sz="1100" dirty="0"/>
          </a:p>
        </p:txBody>
      </p:sp>
      <p:sp>
        <p:nvSpPr>
          <p:cNvPr id="150" name="Shape 148"/>
          <p:cNvSpPr/>
          <p:nvPr/>
        </p:nvSpPr>
        <p:spPr>
          <a:xfrm>
            <a:off x="6309360" y="1005840"/>
            <a:ext cx="914400" cy="329184"/>
          </a:xfrm>
          <a:prstGeom prst="rect">
            <a:avLst/>
          </a:prstGeom>
          <a:solidFill>
            <a:srgbClr val="002060"/>
          </a:solidFill>
          <a:ln/>
        </p:spPr>
      </p:sp>
      <p:sp>
        <p:nvSpPr>
          <p:cNvPr id="151" name="Text 149"/>
          <p:cNvSpPr/>
          <p:nvPr/>
        </p:nvSpPr>
        <p:spPr>
          <a:xfrm>
            <a:off x="6309360" y="1005840"/>
            <a:ext cx="914400" cy="329184"/>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Target ↓</a:t>
            </a:r>
            <a:endParaRPr lang="en-US" sz="750" dirty="0"/>
          </a:p>
        </p:txBody>
      </p:sp>
      <p:sp>
        <p:nvSpPr>
          <p:cNvPr id="152" name="Shape 150"/>
          <p:cNvSpPr/>
          <p:nvPr/>
        </p:nvSpPr>
        <p:spPr>
          <a:xfrm>
            <a:off x="7223760" y="1005840"/>
            <a:ext cx="621792" cy="329184"/>
          </a:xfrm>
          <a:prstGeom prst="rect">
            <a:avLst/>
          </a:prstGeom>
          <a:solidFill>
            <a:srgbClr val="002060"/>
          </a:solidFill>
          <a:ln/>
        </p:spPr>
      </p:sp>
      <p:sp>
        <p:nvSpPr>
          <p:cNvPr id="153" name="Text 151"/>
          <p:cNvSpPr/>
          <p:nvPr/>
        </p:nvSpPr>
        <p:spPr>
          <a:xfrm>
            <a:off x="7223760" y="1005840"/>
            <a:ext cx="621792" cy="32918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PD-L1</a:t>
            </a:r>
            <a:endParaRPr lang="en-US" sz="700" dirty="0"/>
          </a:p>
          <a:p>
            <a:pPr algn="ctr" indent="0" marL="0">
              <a:buNone/>
            </a:pPr>
            <a:r>
              <a:rPr lang="en-US" sz="700" b="1" dirty="0">
                <a:solidFill>
                  <a:srgbClr val="FFFFFF"/>
                </a:solidFill>
                <a:latin typeface="Arial" pitchFamily="34" charset="0"/>
                <a:ea typeface="Arial" pitchFamily="34" charset="-122"/>
                <a:cs typeface="Arial" pitchFamily="34" charset="-120"/>
              </a:rPr>
              <a:t>≥50%</a:t>
            </a:r>
            <a:endParaRPr lang="en-US" sz="700" dirty="0"/>
          </a:p>
        </p:txBody>
      </p:sp>
      <p:sp>
        <p:nvSpPr>
          <p:cNvPr id="154" name="Shape 152"/>
          <p:cNvSpPr/>
          <p:nvPr/>
        </p:nvSpPr>
        <p:spPr>
          <a:xfrm>
            <a:off x="7845552" y="1005840"/>
            <a:ext cx="621792" cy="329184"/>
          </a:xfrm>
          <a:prstGeom prst="rect">
            <a:avLst/>
          </a:prstGeom>
          <a:solidFill>
            <a:srgbClr val="002060"/>
          </a:solidFill>
          <a:ln/>
        </p:spPr>
      </p:sp>
      <p:sp>
        <p:nvSpPr>
          <p:cNvPr id="155" name="Text 153"/>
          <p:cNvSpPr/>
          <p:nvPr/>
        </p:nvSpPr>
        <p:spPr>
          <a:xfrm>
            <a:off x="7845552" y="1005840"/>
            <a:ext cx="621792" cy="32918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PD-L1</a:t>
            </a:r>
            <a:endParaRPr lang="en-US" sz="700" dirty="0"/>
          </a:p>
          <a:p>
            <a:pPr algn="ctr" indent="0" marL="0">
              <a:buNone/>
            </a:pPr>
            <a:r>
              <a:rPr lang="en-US" sz="700" b="1" dirty="0">
                <a:solidFill>
                  <a:srgbClr val="FFFFFF"/>
                </a:solidFill>
                <a:latin typeface="Arial" pitchFamily="34" charset="0"/>
                <a:ea typeface="Arial" pitchFamily="34" charset="-122"/>
                <a:cs typeface="Arial" pitchFamily="34" charset="-120"/>
              </a:rPr>
              <a:t>1-49%</a:t>
            </a:r>
            <a:endParaRPr lang="en-US" sz="700" dirty="0"/>
          </a:p>
        </p:txBody>
      </p:sp>
      <p:sp>
        <p:nvSpPr>
          <p:cNvPr id="156" name="Shape 154"/>
          <p:cNvSpPr/>
          <p:nvPr/>
        </p:nvSpPr>
        <p:spPr>
          <a:xfrm>
            <a:off x="8467344" y="1005840"/>
            <a:ext cx="621792" cy="329184"/>
          </a:xfrm>
          <a:prstGeom prst="rect">
            <a:avLst/>
          </a:prstGeom>
          <a:solidFill>
            <a:srgbClr val="002060"/>
          </a:solidFill>
          <a:ln/>
        </p:spPr>
      </p:sp>
      <p:sp>
        <p:nvSpPr>
          <p:cNvPr id="157" name="Text 155"/>
          <p:cNvSpPr/>
          <p:nvPr/>
        </p:nvSpPr>
        <p:spPr>
          <a:xfrm>
            <a:off x="8467344" y="1005840"/>
            <a:ext cx="621792" cy="32918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KRAS</a:t>
            </a:r>
            <a:endParaRPr lang="en-US" sz="700" dirty="0"/>
          </a:p>
          <a:p>
            <a:pPr algn="ctr" indent="0" marL="0">
              <a:buNone/>
            </a:pPr>
            <a:r>
              <a:rPr lang="en-US" sz="700" b="1" dirty="0">
                <a:solidFill>
                  <a:srgbClr val="FFFFFF"/>
                </a:solidFill>
                <a:latin typeface="Arial" pitchFamily="34" charset="0"/>
                <a:ea typeface="Arial" pitchFamily="34" charset="-122"/>
                <a:cs typeface="Arial" pitchFamily="34" charset="-120"/>
              </a:rPr>
              <a:t>G12C</a:t>
            </a:r>
            <a:endParaRPr lang="en-US" sz="700" dirty="0"/>
          </a:p>
        </p:txBody>
      </p:sp>
      <p:sp>
        <p:nvSpPr>
          <p:cNvPr id="158" name="Shape 156"/>
          <p:cNvSpPr/>
          <p:nvPr/>
        </p:nvSpPr>
        <p:spPr>
          <a:xfrm>
            <a:off x="9089136" y="1005840"/>
            <a:ext cx="621792" cy="329184"/>
          </a:xfrm>
          <a:prstGeom prst="rect">
            <a:avLst/>
          </a:prstGeom>
          <a:solidFill>
            <a:srgbClr val="002060"/>
          </a:solidFill>
          <a:ln/>
        </p:spPr>
      </p:sp>
      <p:sp>
        <p:nvSpPr>
          <p:cNvPr id="159" name="Text 157"/>
          <p:cNvSpPr/>
          <p:nvPr/>
        </p:nvSpPr>
        <p:spPr>
          <a:xfrm>
            <a:off x="9089136" y="1005840"/>
            <a:ext cx="621792" cy="32918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EGFR</a:t>
            </a:r>
            <a:endParaRPr lang="en-US" sz="700" dirty="0"/>
          </a:p>
          <a:p>
            <a:pPr algn="ctr" indent="0" marL="0">
              <a:buNone/>
            </a:pPr>
            <a:r>
              <a:rPr lang="en-US" sz="700" b="1" dirty="0">
                <a:solidFill>
                  <a:srgbClr val="FFFFFF"/>
                </a:solidFill>
                <a:latin typeface="Arial" pitchFamily="34" charset="0"/>
                <a:ea typeface="Arial" pitchFamily="34" charset="-122"/>
                <a:cs typeface="Arial" pitchFamily="34" charset="-120"/>
              </a:rPr>
              <a:t>mut</a:t>
            </a:r>
            <a:endParaRPr lang="en-US" sz="700" dirty="0"/>
          </a:p>
        </p:txBody>
      </p:sp>
      <p:sp>
        <p:nvSpPr>
          <p:cNvPr id="160" name="Shape 158"/>
          <p:cNvSpPr/>
          <p:nvPr/>
        </p:nvSpPr>
        <p:spPr>
          <a:xfrm>
            <a:off x="9710928" y="1005840"/>
            <a:ext cx="621792" cy="329184"/>
          </a:xfrm>
          <a:prstGeom prst="rect">
            <a:avLst/>
          </a:prstGeom>
          <a:solidFill>
            <a:srgbClr val="002060"/>
          </a:solidFill>
          <a:ln/>
        </p:spPr>
      </p:sp>
      <p:sp>
        <p:nvSpPr>
          <p:cNvPr id="161" name="Text 159"/>
          <p:cNvSpPr/>
          <p:nvPr/>
        </p:nvSpPr>
        <p:spPr>
          <a:xfrm>
            <a:off x="9710928" y="1005840"/>
            <a:ext cx="621792" cy="32918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ALK</a:t>
            </a:r>
            <a:endParaRPr lang="en-US" sz="700" dirty="0"/>
          </a:p>
        </p:txBody>
      </p:sp>
      <p:sp>
        <p:nvSpPr>
          <p:cNvPr id="162" name="Shape 160"/>
          <p:cNvSpPr/>
          <p:nvPr/>
        </p:nvSpPr>
        <p:spPr>
          <a:xfrm>
            <a:off x="10332720" y="1005840"/>
            <a:ext cx="621792" cy="329184"/>
          </a:xfrm>
          <a:prstGeom prst="rect">
            <a:avLst/>
          </a:prstGeom>
          <a:solidFill>
            <a:srgbClr val="002060"/>
          </a:solidFill>
          <a:ln/>
        </p:spPr>
      </p:sp>
      <p:sp>
        <p:nvSpPr>
          <p:cNvPr id="163" name="Text 161"/>
          <p:cNvSpPr/>
          <p:nvPr/>
        </p:nvSpPr>
        <p:spPr>
          <a:xfrm>
            <a:off x="10332720" y="1005840"/>
            <a:ext cx="621792" cy="32918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HER2</a:t>
            </a:r>
            <a:endParaRPr lang="en-US" sz="700" dirty="0"/>
          </a:p>
          <a:p>
            <a:pPr algn="ctr" indent="0" marL="0">
              <a:buNone/>
            </a:pPr>
            <a:r>
              <a:rPr lang="en-US" sz="700" b="1" dirty="0">
                <a:solidFill>
                  <a:srgbClr val="FFFFFF"/>
                </a:solidFill>
                <a:latin typeface="Arial" pitchFamily="34" charset="0"/>
                <a:ea typeface="Arial" pitchFamily="34" charset="-122"/>
                <a:cs typeface="Arial" pitchFamily="34" charset="-120"/>
              </a:rPr>
              <a:t>mut</a:t>
            </a:r>
            <a:endParaRPr lang="en-US" sz="700" dirty="0"/>
          </a:p>
        </p:txBody>
      </p:sp>
      <p:sp>
        <p:nvSpPr>
          <p:cNvPr id="164" name="Shape 162"/>
          <p:cNvSpPr/>
          <p:nvPr/>
        </p:nvSpPr>
        <p:spPr>
          <a:xfrm>
            <a:off x="10954512" y="1005840"/>
            <a:ext cx="621792" cy="329184"/>
          </a:xfrm>
          <a:prstGeom prst="rect">
            <a:avLst/>
          </a:prstGeom>
          <a:solidFill>
            <a:srgbClr val="002060"/>
          </a:solidFill>
          <a:ln/>
        </p:spPr>
      </p:sp>
      <p:sp>
        <p:nvSpPr>
          <p:cNvPr id="165" name="Text 163"/>
          <p:cNvSpPr/>
          <p:nvPr/>
        </p:nvSpPr>
        <p:spPr>
          <a:xfrm>
            <a:off x="10954512" y="1005840"/>
            <a:ext cx="621792" cy="32918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None</a:t>
            </a:r>
            <a:endParaRPr lang="en-US" sz="700" dirty="0"/>
          </a:p>
          <a:p>
            <a:pPr algn="ctr" indent="0" marL="0">
              <a:buNone/>
            </a:pPr>
            <a:r>
              <a:rPr lang="en-US" sz="700" b="1" dirty="0">
                <a:solidFill>
                  <a:srgbClr val="FFFFFF"/>
                </a:solidFill>
                <a:latin typeface="Arial" pitchFamily="34" charset="0"/>
                <a:ea typeface="Arial" pitchFamily="34" charset="-122"/>
                <a:cs typeface="Arial" pitchFamily="34" charset="-120"/>
              </a:rPr>
              <a:t>(all)</a:t>
            </a:r>
            <a:endParaRPr lang="en-US" sz="700" dirty="0"/>
          </a:p>
        </p:txBody>
      </p:sp>
      <p:sp>
        <p:nvSpPr>
          <p:cNvPr id="166" name="Shape 164"/>
          <p:cNvSpPr/>
          <p:nvPr/>
        </p:nvSpPr>
        <p:spPr>
          <a:xfrm>
            <a:off x="6309360" y="1335024"/>
            <a:ext cx="914400" cy="329184"/>
          </a:xfrm>
          <a:prstGeom prst="rect">
            <a:avLst/>
          </a:prstGeom>
          <a:solidFill>
            <a:srgbClr val="F0F2F5"/>
          </a:solidFill>
          <a:ln/>
        </p:spPr>
      </p:sp>
      <p:sp>
        <p:nvSpPr>
          <p:cNvPr id="167" name="Text 165"/>
          <p:cNvSpPr/>
          <p:nvPr/>
        </p:nvSpPr>
        <p:spPr>
          <a:xfrm>
            <a:off x="6309360" y="1335024"/>
            <a:ext cx="914400" cy="329184"/>
          </a:xfrm>
          <a:prstGeom prst="rect">
            <a:avLst/>
          </a:prstGeom>
          <a:noFill/>
          <a:ln/>
        </p:spPr>
        <p:txBody>
          <a:bodyPr wrap="square" rtlCol="0" anchor="ctr"/>
          <a:lstStyle/>
          <a:p>
            <a:pPr algn="l" indent="0" marL="0">
              <a:buNone/>
            </a:pPr>
            <a:r>
              <a:rPr lang="en-US" sz="800" b="1" dirty="0">
                <a:solidFill>
                  <a:srgbClr val="1E293B"/>
                </a:solidFill>
                <a:latin typeface="Arial" pitchFamily="34" charset="0"/>
                <a:ea typeface="Arial" pitchFamily="34" charset="-122"/>
                <a:cs typeface="Arial" pitchFamily="34" charset="-120"/>
              </a:rPr>
              <a:t>PD-1/PD-L1</a:t>
            </a:r>
            <a:endParaRPr lang="en-US" sz="800" dirty="0"/>
          </a:p>
        </p:txBody>
      </p:sp>
      <p:sp>
        <p:nvSpPr>
          <p:cNvPr id="168" name="Shape 166"/>
          <p:cNvSpPr/>
          <p:nvPr/>
        </p:nvSpPr>
        <p:spPr>
          <a:xfrm>
            <a:off x="7223760" y="1335024"/>
            <a:ext cx="621792" cy="329184"/>
          </a:xfrm>
          <a:prstGeom prst="rect">
            <a:avLst/>
          </a:prstGeom>
          <a:solidFill>
            <a:srgbClr val="F8FAFC"/>
          </a:solidFill>
          <a:ln w="6350">
            <a:solidFill>
              <a:srgbClr val="E0E4EA"/>
            </a:solidFill>
            <a:prstDash val="solid"/>
          </a:ln>
        </p:spPr>
      </p:sp>
      <p:sp>
        <p:nvSpPr>
          <p:cNvPr id="169" name="Text 167"/>
          <p:cNvSpPr/>
          <p:nvPr/>
        </p:nvSpPr>
        <p:spPr>
          <a:xfrm>
            <a:off x="7223760" y="1335024"/>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170" name="Shape 168"/>
          <p:cNvSpPr/>
          <p:nvPr/>
        </p:nvSpPr>
        <p:spPr>
          <a:xfrm>
            <a:off x="7845552" y="1335024"/>
            <a:ext cx="621792" cy="329184"/>
          </a:xfrm>
          <a:prstGeom prst="rect">
            <a:avLst/>
          </a:prstGeom>
          <a:solidFill>
            <a:srgbClr val="E0F7FA"/>
          </a:solidFill>
          <a:ln w="6350">
            <a:solidFill>
              <a:srgbClr val="E0E4EA"/>
            </a:solidFill>
            <a:prstDash val="solid"/>
          </a:ln>
        </p:spPr>
      </p:sp>
      <p:sp>
        <p:nvSpPr>
          <p:cNvPr id="171" name="Text 169"/>
          <p:cNvSpPr/>
          <p:nvPr/>
        </p:nvSpPr>
        <p:spPr>
          <a:xfrm>
            <a:off x="7845552" y="1335024"/>
            <a:ext cx="621792" cy="329184"/>
          </a:xfrm>
          <a:prstGeom prst="rect">
            <a:avLst/>
          </a:prstGeom>
          <a:noFill/>
          <a:ln/>
        </p:spPr>
        <p:txBody>
          <a:bodyPr wrap="square" rtlCol="0" anchor="ctr"/>
          <a:lstStyle/>
          <a:p>
            <a:pPr algn="ctr" indent="0" marL="0">
              <a:buNone/>
            </a:pPr>
            <a:r>
              <a:rPr lang="en-US" sz="1000" b="1" dirty="0">
                <a:solidFill>
                  <a:srgbClr val="004D40"/>
                </a:solidFill>
                <a:latin typeface="Arial" pitchFamily="34" charset="0"/>
                <a:ea typeface="Arial" pitchFamily="34" charset="-122"/>
                <a:cs typeface="Arial" pitchFamily="34" charset="-120"/>
              </a:rPr>
              <a:t>1</a:t>
            </a:r>
            <a:endParaRPr lang="en-US" sz="1000" dirty="0"/>
          </a:p>
        </p:txBody>
      </p:sp>
      <p:sp>
        <p:nvSpPr>
          <p:cNvPr id="172" name="Shape 170"/>
          <p:cNvSpPr/>
          <p:nvPr/>
        </p:nvSpPr>
        <p:spPr>
          <a:xfrm>
            <a:off x="8467344" y="1335024"/>
            <a:ext cx="621792" cy="329184"/>
          </a:xfrm>
          <a:prstGeom prst="rect">
            <a:avLst/>
          </a:prstGeom>
          <a:solidFill>
            <a:srgbClr val="E0F7FA"/>
          </a:solidFill>
          <a:ln w="6350">
            <a:solidFill>
              <a:srgbClr val="E0E4EA"/>
            </a:solidFill>
            <a:prstDash val="solid"/>
          </a:ln>
        </p:spPr>
      </p:sp>
      <p:sp>
        <p:nvSpPr>
          <p:cNvPr id="173" name="Text 171"/>
          <p:cNvSpPr/>
          <p:nvPr/>
        </p:nvSpPr>
        <p:spPr>
          <a:xfrm>
            <a:off x="8467344" y="1335024"/>
            <a:ext cx="621792" cy="329184"/>
          </a:xfrm>
          <a:prstGeom prst="rect">
            <a:avLst/>
          </a:prstGeom>
          <a:noFill/>
          <a:ln/>
        </p:spPr>
        <p:txBody>
          <a:bodyPr wrap="square" rtlCol="0" anchor="ctr"/>
          <a:lstStyle/>
          <a:p>
            <a:pPr algn="ctr" indent="0" marL="0">
              <a:buNone/>
            </a:pPr>
            <a:r>
              <a:rPr lang="en-US" sz="1000" b="1" dirty="0">
                <a:solidFill>
                  <a:srgbClr val="004D40"/>
                </a:solidFill>
                <a:latin typeface="Arial" pitchFamily="34" charset="0"/>
                <a:ea typeface="Arial" pitchFamily="34" charset="-122"/>
                <a:cs typeface="Arial" pitchFamily="34" charset="-120"/>
              </a:rPr>
              <a:t>1</a:t>
            </a:r>
            <a:endParaRPr lang="en-US" sz="1000" dirty="0"/>
          </a:p>
        </p:txBody>
      </p:sp>
      <p:sp>
        <p:nvSpPr>
          <p:cNvPr id="174" name="Shape 172"/>
          <p:cNvSpPr/>
          <p:nvPr/>
        </p:nvSpPr>
        <p:spPr>
          <a:xfrm>
            <a:off x="9089136" y="1335024"/>
            <a:ext cx="621792" cy="329184"/>
          </a:xfrm>
          <a:prstGeom prst="rect">
            <a:avLst/>
          </a:prstGeom>
          <a:solidFill>
            <a:srgbClr val="F8FAFC"/>
          </a:solidFill>
          <a:ln w="6350">
            <a:solidFill>
              <a:srgbClr val="E0E4EA"/>
            </a:solidFill>
            <a:prstDash val="solid"/>
          </a:ln>
        </p:spPr>
      </p:sp>
      <p:sp>
        <p:nvSpPr>
          <p:cNvPr id="175" name="Text 173"/>
          <p:cNvSpPr/>
          <p:nvPr/>
        </p:nvSpPr>
        <p:spPr>
          <a:xfrm>
            <a:off x="9089136" y="1335024"/>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176" name="Shape 174"/>
          <p:cNvSpPr/>
          <p:nvPr/>
        </p:nvSpPr>
        <p:spPr>
          <a:xfrm>
            <a:off x="9710928" y="1335024"/>
            <a:ext cx="621792" cy="329184"/>
          </a:xfrm>
          <a:prstGeom prst="rect">
            <a:avLst/>
          </a:prstGeom>
          <a:solidFill>
            <a:srgbClr val="F8FAFC"/>
          </a:solidFill>
          <a:ln w="6350">
            <a:solidFill>
              <a:srgbClr val="E0E4EA"/>
            </a:solidFill>
            <a:prstDash val="solid"/>
          </a:ln>
        </p:spPr>
      </p:sp>
      <p:sp>
        <p:nvSpPr>
          <p:cNvPr id="177" name="Text 175"/>
          <p:cNvSpPr/>
          <p:nvPr/>
        </p:nvSpPr>
        <p:spPr>
          <a:xfrm>
            <a:off x="9710928" y="1335024"/>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178" name="Shape 176"/>
          <p:cNvSpPr/>
          <p:nvPr/>
        </p:nvSpPr>
        <p:spPr>
          <a:xfrm>
            <a:off x="10332720" y="1335024"/>
            <a:ext cx="621792" cy="329184"/>
          </a:xfrm>
          <a:prstGeom prst="rect">
            <a:avLst/>
          </a:prstGeom>
          <a:solidFill>
            <a:srgbClr val="F8FAFC"/>
          </a:solidFill>
          <a:ln w="6350">
            <a:solidFill>
              <a:srgbClr val="E0E4EA"/>
            </a:solidFill>
            <a:prstDash val="solid"/>
          </a:ln>
        </p:spPr>
      </p:sp>
      <p:sp>
        <p:nvSpPr>
          <p:cNvPr id="179" name="Text 177"/>
          <p:cNvSpPr/>
          <p:nvPr/>
        </p:nvSpPr>
        <p:spPr>
          <a:xfrm>
            <a:off x="10332720" y="1335024"/>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180" name="Shape 178"/>
          <p:cNvSpPr/>
          <p:nvPr/>
        </p:nvSpPr>
        <p:spPr>
          <a:xfrm>
            <a:off x="10954512" y="1335024"/>
            <a:ext cx="621792" cy="329184"/>
          </a:xfrm>
          <a:prstGeom prst="rect">
            <a:avLst/>
          </a:prstGeom>
          <a:solidFill>
            <a:srgbClr val="002060"/>
          </a:solidFill>
          <a:ln w="6350">
            <a:solidFill>
              <a:srgbClr val="E0E4EA"/>
            </a:solidFill>
            <a:prstDash val="solid"/>
          </a:ln>
        </p:spPr>
      </p:sp>
      <p:sp>
        <p:nvSpPr>
          <p:cNvPr id="181" name="Text 179"/>
          <p:cNvSpPr/>
          <p:nvPr/>
        </p:nvSpPr>
        <p:spPr>
          <a:xfrm>
            <a:off x="10954512" y="1335024"/>
            <a:ext cx="621792" cy="329184"/>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182" name="Shape 180"/>
          <p:cNvSpPr/>
          <p:nvPr/>
        </p:nvSpPr>
        <p:spPr>
          <a:xfrm>
            <a:off x="6309360" y="1664208"/>
            <a:ext cx="914400" cy="329184"/>
          </a:xfrm>
          <a:prstGeom prst="rect">
            <a:avLst/>
          </a:prstGeom>
          <a:solidFill>
            <a:srgbClr val="F0F2F5"/>
          </a:solidFill>
          <a:ln/>
        </p:spPr>
      </p:sp>
      <p:sp>
        <p:nvSpPr>
          <p:cNvPr id="183" name="Text 181"/>
          <p:cNvSpPr/>
          <p:nvPr/>
        </p:nvSpPr>
        <p:spPr>
          <a:xfrm>
            <a:off x="6309360" y="1664208"/>
            <a:ext cx="914400" cy="329184"/>
          </a:xfrm>
          <a:prstGeom prst="rect">
            <a:avLst/>
          </a:prstGeom>
          <a:noFill/>
          <a:ln/>
        </p:spPr>
        <p:txBody>
          <a:bodyPr wrap="square" rtlCol="0" anchor="ctr"/>
          <a:lstStyle/>
          <a:p>
            <a:pPr algn="l" indent="0" marL="0">
              <a:buNone/>
            </a:pPr>
            <a:r>
              <a:rPr lang="en-US" sz="800" b="1" dirty="0">
                <a:solidFill>
                  <a:srgbClr val="1E293B"/>
                </a:solidFill>
                <a:latin typeface="Arial" pitchFamily="34" charset="0"/>
                <a:ea typeface="Arial" pitchFamily="34" charset="-122"/>
                <a:cs typeface="Arial" pitchFamily="34" charset="-120"/>
              </a:rPr>
              <a:t>EGFR</a:t>
            </a:r>
            <a:endParaRPr lang="en-US" sz="800" dirty="0"/>
          </a:p>
        </p:txBody>
      </p:sp>
      <p:sp>
        <p:nvSpPr>
          <p:cNvPr id="184" name="Shape 182"/>
          <p:cNvSpPr/>
          <p:nvPr/>
        </p:nvSpPr>
        <p:spPr>
          <a:xfrm>
            <a:off x="7223760" y="1664208"/>
            <a:ext cx="621792" cy="329184"/>
          </a:xfrm>
          <a:prstGeom prst="rect">
            <a:avLst/>
          </a:prstGeom>
          <a:solidFill>
            <a:srgbClr val="F8FAFC"/>
          </a:solidFill>
          <a:ln w="6350">
            <a:solidFill>
              <a:srgbClr val="E0E4EA"/>
            </a:solidFill>
            <a:prstDash val="solid"/>
          </a:ln>
        </p:spPr>
      </p:sp>
      <p:sp>
        <p:nvSpPr>
          <p:cNvPr id="185" name="Text 183"/>
          <p:cNvSpPr/>
          <p:nvPr/>
        </p:nvSpPr>
        <p:spPr>
          <a:xfrm>
            <a:off x="7223760" y="1664208"/>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186" name="Shape 184"/>
          <p:cNvSpPr/>
          <p:nvPr/>
        </p:nvSpPr>
        <p:spPr>
          <a:xfrm>
            <a:off x="7845552" y="1664208"/>
            <a:ext cx="621792" cy="329184"/>
          </a:xfrm>
          <a:prstGeom prst="rect">
            <a:avLst/>
          </a:prstGeom>
          <a:solidFill>
            <a:srgbClr val="F8FAFC"/>
          </a:solidFill>
          <a:ln w="6350">
            <a:solidFill>
              <a:srgbClr val="E0E4EA"/>
            </a:solidFill>
            <a:prstDash val="solid"/>
          </a:ln>
        </p:spPr>
      </p:sp>
      <p:sp>
        <p:nvSpPr>
          <p:cNvPr id="187" name="Text 185"/>
          <p:cNvSpPr/>
          <p:nvPr/>
        </p:nvSpPr>
        <p:spPr>
          <a:xfrm>
            <a:off x="7845552" y="1664208"/>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188" name="Shape 186"/>
          <p:cNvSpPr/>
          <p:nvPr/>
        </p:nvSpPr>
        <p:spPr>
          <a:xfrm>
            <a:off x="8467344" y="1664208"/>
            <a:ext cx="621792" cy="329184"/>
          </a:xfrm>
          <a:prstGeom prst="rect">
            <a:avLst/>
          </a:prstGeom>
          <a:solidFill>
            <a:srgbClr val="F8FAFC"/>
          </a:solidFill>
          <a:ln w="6350">
            <a:solidFill>
              <a:srgbClr val="E0E4EA"/>
            </a:solidFill>
            <a:prstDash val="solid"/>
          </a:ln>
        </p:spPr>
      </p:sp>
      <p:sp>
        <p:nvSpPr>
          <p:cNvPr id="189" name="Text 187"/>
          <p:cNvSpPr/>
          <p:nvPr/>
        </p:nvSpPr>
        <p:spPr>
          <a:xfrm>
            <a:off x="8467344" y="1664208"/>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190" name="Shape 188"/>
          <p:cNvSpPr/>
          <p:nvPr/>
        </p:nvSpPr>
        <p:spPr>
          <a:xfrm>
            <a:off x="9089136" y="1664208"/>
            <a:ext cx="621792" cy="329184"/>
          </a:xfrm>
          <a:prstGeom prst="rect">
            <a:avLst/>
          </a:prstGeom>
          <a:solidFill>
            <a:srgbClr val="00B0B9"/>
          </a:solidFill>
          <a:ln w="6350">
            <a:solidFill>
              <a:srgbClr val="E0E4EA"/>
            </a:solidFill>
            <a:prstDash val="solid"/>
          </a:ln>
        </p:spPr>
      </p:sp>
      <p:sp>
        <p:nvSpPr>
          <p:cNvPr id="191" name="Text 189"/>
          <p:cNvSpPr/>
          <p:nvPr/>
        </p:nvSpPr>
        <p:spPr>
          <a:xfrm>
            <a:off x="9089136" y="1664208"/>
            <a:ext cx="621792" cy="329184"/>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92" name="Shape 190"/>
          <p:cNvSpPr/>
          <p:nvPr/>
        </p:nvSpPr>
        <p:spPr>
          <a:xfrm>
            <a:off x="9710928" y="1664208"/>
            <a:ext cx="621792" cy="329184"/>
          </a:xfrm>
          <a:prstGeom prst="rect">
            <a:avLst/>
          </a:prstGeom>
          <a:solidFill>
            <a:srgbClr val="F8FAFC"/>
          </a:solidFill>
          <a:ln w="6350">
            <a:solidFill>
              <a:srgbClr val="E0E4EA"/>
            </a:solidFill>
            <a:prstDash val="solid"/>
          </a:ln>
        </p:spPr>
      </p:sp>
      <p:sp>
        <p:nvSpPr>
          <p:cNvPr id="193" name="Text 191"/>
          <p:cNvSpPr/>
          <p:nvPr/>
        </p:nvSpPr>
        <p:spPr>
          <a:xfrm>
            <a:off x="9710928" y="1664208"/>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194" name="Shape 192"/>
          <p:cNvSpPr/>
          <p:nvPr/>
        </p:nvSpPr>
        <p:spPr>
          <a:xfrm>
            <a:off x="10332720" y="1664208"/>
            <a:ext cx="621792" cy="329184"/>
          </a:xfrm>
          <a:prstGeom prst="rect">
            <a:avLst/>
          </a:prstGeom>
          <a:solidFill>
            <a:srgbClr val="F8FAFC"/>
          </a:solidFill>
          <a:ln w="6350">
            <a:solidFill>
              <a:srgbClr val="E0E4EA"/>
            </a:solidFill>
            <a:prstDash val="solid"/>
          </a:ln>
        </p:spPr>
      </p:sp>
      <p:sp>
        <p:nvSpPr>
          <p:cNvPr id="195" name="Text 193"/>
          <p:cNvSpPr/>
          <p:nvPr/>
        </p:nvSpPr>
        <p:spPr>
          <a:xfrm>
            <a:off x="10332720" y="1664208"/>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196" name="Shape 194"/>
          <p:cNvSpPr/>
          <p:nvPr/>
        </p:nvSpPr>
        <p:spPr>
          <a:xfrm>
            <a:off x="10954512" y="1664208"/>
            <a:ext cx="621792" cy="329184"/>
          </a:xfrm>
          <a:prstGeom prst="rect">
            <a:avLst/>
          </a:prstGeom>
          <a:solidFill>
            <a:srgbClr val="E0F7FA"/>
          </a:solidFill>
          <a:ln w="6350">
            <a:solidFill>
              <a:srgbClr val="E0E4EA"/>
            </a:solidFill>
            <a:prstDash val="solid"/>
          </a:ln>
        </p:spPr>
      </p:sp>
      <p:sp>
        <p:nvSpPr>
          <p:cNvPr id="197" name="Text 195"/>
          <p:cNvSpPr/>
          <p:nvPr/>
        </p:nvSpPr>
        <p:spPr>
          <a:xfrm>
            <a:off x="10954512" y="1664208"/>
            <a:ext cx="621792" cy="329184"/>
          </a:xfrm>
          <a:prstGeom prst="rect">
            <a:avLst/>
          </a:prstGeom>
          <a:noFill/>
          <a:ln/>
        </p:spPr>
        <p:txBody>
          <a:bodyPr wrap="square" rtlCol="0" anchor="ctr"/>
          <a:lstStyle/>
          <a:p>
            <a:pPr algn="ctr" indent="0" marL="0">
              <a:buNone/>
            </a:pPr>
            <a:r>
              <a:rPr lang="en-US" sz="1000" b="1" dirty="0">
                <a:solidFill>
                  <a:srgbClr val="004D40"/>
                </a:solidFill>
                <a:latin typeface="Arial" pitchFamily="34" charset="0"/>
                <a:ea typeface="Arial" pitchFamily="34" charset="-122"/>
                <a:cs typeface="Arial" pitchFamily="34" charset="-120"/>
              </a:rPr>
              <a:t>1</a:t>
            </a:r>
            <a:endParaRPr lang="en-US" sz="1000" dirty="0"/>
          </a:p>
        </p:txBody>
      </p:sp>
      <p:sp>
        <p:nvSpPr>
          <p:cNvPr id="198" name="Shape 196"/>
          <p:cNvSpPr/>
          <p:nvPr/>
        </p:nvSpPr>
        <p:spPr>
          <a:xfrm>
            <a:off x="6309360" y="1993392"/>
            <a:ext cx="914400" cy="329184"/>
          </a:xfrm>
          <a:prstGeom prst="rect">
            <a:avLst/>
          </a:prstGeom>
          <a:solidFill>
            <a:srgbClr val="F0F2F5"/>
          </a:solidFill>
          <a:ln/>
        </p:spPr>
      </p:sp>
      <p:sp>
        <p:nvSpPr>
          <p:cNvPr id="199" name="Text 197"/>
          <p:cNvSpPr/>
          <p:nvPr/>
        </p:nvSpPr>
        <p:spPr>
          <a:xfrm>
            <a:off x="6309360" y="1993392"/>
            <a:ext cx="914400" cy="329184"/>
          </a:xfrm>
          <a:prstGeom prst="rect">
            <a:avLst/>
          </a:prstGeom>
          <a:noFill/>
          <a:ln/>
        </p:spPr>
        <p:txBody>
          <a:bodyPr wrap="square" rtlCol="0" anchor="ctr"/>
          <a:lstStyle/>
          <a:p>
            <a:pPr algn="l" indent="0" marL="0">
              <a:buNone/>
            </a:pPr>
            <a:r>
              <a:rPr lang="en-US" sz="800" b="1" dirty="0">
                <a:solidFill>
                  <a:srgbClr val="1E293B"/>
                </a:solidFill>
                <a:latin typeface="Arial" pitchFamily="34" charset="0"/>
                <a:ea typeface="Arial" pitchFamily="34" charset="-122"/>
                <a:cs typeface="Arial" pitchFamily="34" charset="-120"/>
              </a:rPr>
              <a:t>TROP2</a:t>
            </a:r>
            <a:endParaRPr lang="en-US" sz="800" dirty="0"/>
          </a:p>
        </p:txBody>
      </p:sp>
      <p:sp>
        <p:nvSpPr>
          <p:cNvPr id="200" name="Shape 198"/>
          <p:cNvSpPr/>
          <p:nvPr/>
        </p:nvSpPr>
        <p:spPr>
          <a:xfrm>
            <a:off x="7223760" y="1993392"/>
            <a:ext cx="621792" cy="329184"/>
          </a:xfrm>
          <a:prstGeom prst="rect">
            <a:avLst/>
          </a:prstGeom>
          <a:solidFill>
            <a:srgbClr val="F8FAFC"/>
          </a:solidFill>
          <a:ln w="6350">
            <a:solidFill>
              <a:srgbClr val="E0E4EA"/>
            </a:solidFill>
            <a:prstDash val="solid"/>
          </a:ln>
        </p:spPr>
      </p:sp>
      <p:sp>
        <p:nvSpPr>
          <p:cNvPr id="201" name="Text 199"/>
          <p:cNvSpPr/>
          <p:nvPr/>
        </p:nvSpPr>
        <p:spPr>
          <a:xfrm>
            <a:off x="7223760" y="1993392"/>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02" name="Shape 200"/>
          <p:cNvSpPr/>
          <p:nvPr/>
        </p:nvSpPr>
        <p:spPr>
          <a:xfrm>
            <a:off x="7845552" y="1993392"/>
            <a:ext cx="621792" cy="329184"/>
          </a:xfrm>
          <a:prstGeom prst="rect">
            <a:avLst/>
          </a:prstGeom>
          <a:solidFill>
            <a:srgbClr val="F8FAFC"/>
          </a:solidFill>
          <a:ln w="6350">
            <a:solidFill>
              <a:srgbClr val="E0E4EA"/>
            </a:solidFill>
            <a:prstDash val="solid"/>
          </a:ln>
        </p:spPr>
      </p:sp>
      <p:sp>
        <p:nvSpPr>
          <p:cNvPr id="203" name="Text 201"/>
          <p:cNvSpPr/>
          <p:nvPr/>
        </p:nvSpPr>
        <p:spPr>
          <a:xfrm>
            <a:off x="7845552" y="1993392"/>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04" name="Shape 202"/>
          <p:cNvSpPr/>
          <p:nvPr/>
        </p:nvSpPr>
        <p:spPr>
          <a:xfrm>
            <a:off x="8467344" y="1993392"/>
            <a:ext cx="621792" cy="329184"/>
          </a:xfrm>
          <a:prstGeom prst="rect">
            <a:avLst/>
          </a:prstGeom>
          <a:solidFill>
            <a:srgbClr val="F8FAFC"/>
          </a:solidFill>
          <a:ln w="6350">
            <a:solidFill>
              <a:srgbClr val="E0E4EA"/>
            </a:solidFill>
            <a:prstDash val="solid"/>
          </a:ln>
        </p:spPr>
      </p:sp>
      <p:sp>
        <p:nvSpPr>
          <p:cNvPr id="205" name="Text 203"/>
          <p:cNvSpPr/>
          <p:nvPr/>
        </p:nvSpPr>
        <p:spPr>
          <a:xfrm>
            <a:off x="8467344" y="1993392"/>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06" name="Shape 204"/>
          <p:cNvSpPr/>
          <p:nvPr/>
        </p:nvSpPr>
        <p:spPr>
          <a:xfrm>
            <a:off x="9089136" y="1993392"/>
            <a:ext cx="621792" cy="329184"/>
          </a:xfrm>
          <a:prstGeom prst="rect">
            <a:avLst/>
          </a:prstGeom>
          <a:solidFill>
            <a:srgbClr val="F8FAFC"/>
          </a:solidFill>
          <a:ln w="6350">
            <a:solidFill>
              <a:srgbClr val="E0E4EA"/>
            </a:solidFill>
            <a:prstDash val="solid"/>
          </a:ln>
        </p:spPr>
      </p:sp>
      <p:sp>
        <p:nvSpPr>
          <p:cNvPr id="207" name="Text 205"/>
          <p:cNvSpPr/>
          <p:nvPr/>
        </p:nvSpPr>
        <p:spPr>
          <a:xfrm>
            <a:off x="9089136" y="1993392"/>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08" name="Shape 206"/>
          <p:cNvSpPr/>
          <p:nvPr/>
        </p:nvSpPr>
        <p:spPr>
          <a:xfrm>
            <a:off x="9710928" y="1993392"/>
            <a:ext cx="621792" cy="329184"/>
          </a:xfrm>
          <a:prstGeom prst="rect">
            <a:avLst/>
          </a:prstGeom>
          <a:solidFill>
            <a:srgbClr val="F8FAFC"/>
          </a:solidFill>
          <a:ln w="6350">
            <a:solidFill>
              <a:srgbClr val="E0E4EA"/>
            </a:solidFill>
            <a:prstDash val="solid"/>
          </a:ln>
        </p:spPr>
      </p:sp>
      <p:sp>
        <p:nvSpPr>
          <p:cNvPr id="209" name="Text 207"/>
          <p:cNvSpPr/>
          <p:nvPr/>
        </p:nvSpPr>
        <p:spPr>
          <a:xfrm>
            <a:off x="9710928" y="1993392"/>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10" name="Shape 208"/>
          <p:cNvSpPr/>
          <p:nvPr/>
        </p:nvSpPr>
        <p:spPr>
          <a:xfrm>
            <a:off x="10332720" y="1993392"/>
            <a:ext cx="621792" cy="329184"/>
          </a:xfrm>
          <a:prstGeom prst="rect">
            <a:avLst/>
          </a:prstGeom>
          <a:solidFill>
            <a:srgbClr val="F8FAFC"/>
          </a:solidFill>
          <a:ln w="6350">
            <a:solidFill>
              <a:srgbClr val="E0E4EA"/>
            </a:solidFill>
            <a:prstDash val="solid"/>
          </a:ln>
        </p:spPr>
      </p:sp>
      <p:sp>
        <p:nvSpPr>
          <p:cNvPr id="211" name="Text 209"/>
          <p:cNvSpPr/>
          <p:nvPr/>
        </p:nvSpPr>
        <p:spPr>
          <a:xfrm>
            <a:off x="10332720" y="1993392"/>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12" name="Shape 210"/>
          <p:cNvSpPr/>
          <p:nvPr/>
        </p:nvSpPr>
        <p:spPr>
          <a:xfrm>
            <a:off x="10954512" y="1993392"/>
            <a:ext cx="621792" cy="329184"/>
          </a:xfrm>
          <a:prstGeom prst="rect">
            <a:avLst/>
          </a:prstGeom>
          <a:solidFill>
            <a:srgbClr val="00B0B9"/>
          </a:solidFill>
          <a:ln w="6350">
            <a:solidFill>
              <a:srgbClr val="E0E4EA"/>
            </a:solidFill>
            <a:prstDash val="solid"/>
          </a:ln>
        </p:spPr>
      </p:sp>
      <p:sp>
        <p:nvSpPr>
          <p:cNvPr id="213" name="Text 211"/>
          <p:cNvSpPr/>
          <p:nvPr/>
        </p:nvSpPr>
        <p:spPr>
          <a:xfrm>
            <a:off x="10954512" y="1993392"/>
            <a:ext cx="621792" cy="329184"/>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214" name="Shape 212"/>
          <p:cNvSpPr/>
          <p:nvPr/>
        </p:nvSpPr>
        <p:spPr>
          <a:xfrm>
            <a:off x="6309360" y="2322576"/>
            <a:ext cx="914400" cy="329184"/>
          </a:xfrm>
          <a:prstGeom prst="rect">
            <a:avLst/>
          </a:prstGeom>
          <a:solidFill>
            <a:srgbClr val="F0F2F5"/>
          </a:solidFill>
          <a:ln/>
        </p:spPr>
      </p:sp>
      <p:sp>
        <p:nvSpPr>
          <p:cNvPr id="215" name="Text 213"/>
          <p:cNvSpPr/>
          <p:nvPr/>
        </p:nvSpPr>
        <p:spPr>
          <a:xfrm>
            <a:off x="6309360" y="2322576"/>
            <a:ext cx="914400" cy="329184"/>
          </a:xfrm>
          <a:prstGeom prst="rect">
            <a:avLst/>
          </a:prstGeom>
          <a:noFill/>
          <a:ln/>
        </p:spPr>
        <p:txBody>
          <a:bodyPr wrap="square" rtlCol="0" anchor="ctr"/>
          <a:lstStyle/>
          <a:p>
            <a:pPr algn="l" indent="0" marL="0">
              <a:buNone/>
            </a:pPr>
            <a:r>
              <a:rPr lang="en-US" sz="800" b="1" dirty="0">
                <a:solidFill>
                  <a:srgbClr val="1E293B"/>
                </a:solidFill>
                <a:latin typeface="Arial" pitchFamily="34" charset="0"/>
                <a:ea typeface="Arial" pitchFamily="34" charset="-122"/>
                <a:cs typeface="Arial" pitchFamily="34" charset="-120"/>
              </a:rPr>
              <a:t>KRAS/RAS</a:t>
            </a:r>
            <a:endParaRPr lang="en-US" sz="800" dirty="0"/>
          </a:p>
        </p:txBody>
      </p:sp>
      <p:sp>
        <p:nvSpPr>
          <p:cNvPr id="216" name="Shape 214"/>
          <p:cNvSpPr/>
          <p:nvPr/>
        </p:nvSpPr>
        <p:spPr>
          <a:xfrm>
            <a:off x="7223760" y="2322576"/>
            <a:ext cx="621792" cy="329184"/>
          </a:xfrm>
          <a:prstGeom prst="rect">
            <a:avLst/>
          </a:prstGeom>
          <a:solidFill>
            <a:srgbClr val="F8FAFC"/>
          </a:solidFill>
          <a:ln w="6350">
            <a:solidFill>
              <a:srgbClr val="E0E4EA"/>
            </a:solidFill>
            <a:prstDash val="solid"/>
          </a:ln>
        </p:spPr>
      </p:sp>
      <p:sp>
        <p:nvSpPr>
          <p:cNvPr id="217" name="Text 215"/>
          <p:cNvSpPr/>
          <p:nvPr/>
        </p:nvSpPr>
        <p:spPr>
          <a:xfrm>
            <a:off x="7223760" y="2322576"/>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18" name="Shape 216"/>
          <p:cNvSpPr/>
          <p:nvPr/>
        </p:nvSpPr>
        <p:spPr>
          <a:xfrm>
            <a:off x="7845552" y="2322576"/>
            <a:ext cx="621792" cy="329184"/>
          </a:xfrm>
          <a:prstGeom prst="rect">
            <a:avLst/>
          </a:prstGeom>
          <a:solidFill>
            <a:srgbClr val="F8FAFC"/>
          </a:solidFill>
          <a:ln w="6350">
            <a:solidFill>
              <a:srgbClr val="E0E4EA"/>
            </a:solidFill>
            <a:prstDash val="solid"/>
          </a:ln>
        </p:spPr>
      </p:sp>
      <p:sp>
        <p:nvSpPr>
          <p:cNvPr id="219" name="Text 217"/>
          <p:cNvSpPr/>
          <p:nvPr/>
        </p:nvSpPr>
        <p:spPr>
          <a:xfrm>
            <a:off x="7845552" y="2322576"/>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20" name="Shape 218"/>
          <p:cNvSpPr/>
          <p:nvPr/>
        </p:nvSpPr>
        <p:spPr>
          <a:xfrm>
            <a:off x="8467344" y="2322576"/>
            <a:ext cx="621792" cy="329184"/>
          </a:xfrm>
          <a:prstGeom prst="rect">
            <a:avLst/>
          </a:prstGeom>
          <a:solidFill>
            <a:srgbClr val="80DEEA"/>
          </a:solidFill>
          <a:ln w="6350">
            <a:solidFill>
              <a:srgbClr val="E0E4EA"/>
            </a:solidFill>
            <a:prstDash val="solid"/>
          </a:ln>
        </p:spPr>
      </p:sp>
      <p:sp>
        <p:nvSpPr>
          <p:cNvPr id="221" name="Text 219"/>
          <p:cNvSpPr/>
          <p:nvPr/>
        </p:nvSpPr>
        <p:spPr>
          <a:xfrm>
            <a:off x="8467344" y="2322576"/>
            <a:ext cx="621792" cy="329184"/>
          </a:xfrm>
          <a:prstGeom prst="rect">
            <a:avLst/>
          </a:prstGeom>
          <a:noFill/>
          <a:ln/>
        </p:spPr>
        <p:txBody>
          <a:bodyPr wrap="square" rtlCol="0" anchor="ctr"/>
          <a:lstStyle/>
          <a:p>
            <a:pPr algn="ctr" indent="0" marL="0">
              <a:buNone/>
            </a:pPr>
            <a:r>
              <a:rPr lang="en-US" sz="1000" b="1" dirty="0">
                <a:solidFill>
                  <a:srgbClr val="004D40"/>
                </a:solidFill>
                <a:latin typeface="Arial" pitchFamily="34" charset="0"/>
                <a:ea typeface="Arial" pitchFamily="34" charset="-122"/>
                <a:cs typeface="Arial" pitchFamily="34" charset="-120"/>
              </a:rPr>
              <a:t>2</a:t>
            </a:r>
            <a:endParaRPr lang="en-US" sz="1000" dirty="0"/>
          </a:p>
        </p:txBody>
      </p:sp>
      <p:sp>
        <p:nvSpPr>
          <p:cNvPr id="222" name="Shape 220"/>
          <p:cNvSpPr/>
          <p:nvPr/>
        </p:nvSpPr>
        <p:spPr>
          <a:xfrm>
            <a:off x="9089136" y="2322576"/>
            <a:ext cx="621792" cy="329184"/>
          </a:xfrm>
          <a:prstGeom prst="rect">
            <a:avLst/>
          </a:prstGeom>
          <a:solidFill>
            <a:srgbClr val="F8FAFC"/>
          </a:solidFill>
          <a:ln w="6350">
            <a:solidFill>
              <a:srgbClr val="E0E4EA"/>
            </a:solidFill>
            <a:prstDash val="solid"/>
          </a:ln>
        </p:spPr>
      </p:sp>
      <p:sp>
        <p:nvSpPr>
          <p:cNvPr id="223" name="Text 221"/>
          <p:cNvSpPr/>
          <p:nvPr/>
        </p:nvSpPr>
        <p:spPr>
          <a:xfrm>
            <a:off x="9089136" y="2322576"/>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24" name="Shape 222"/>
          <p:cNvSpPr/>
          <p:nvPr/>
        </p:nvSpPr>
        <p:spPr>
          <a:xfrm>
            <a:off x="9710928" y="2322576"/>
            <a:ext cx="621792" cy="329184"/>
          </a:xfrm>
          <a:prstGeom prst="rect">
            <a:avLst/>
          </a:prstGeom>
          <a:solidFill>
            <a:srgbClr val="F8FAFC"/>
          </a:solidFill>
          <a:ln w="6350">
            <a:solidFill>
              <a:srgbClr val="E0E4EA"/>
            </a:solidFill>
            <a:prstDash val="solid"/>
          </a:ln>
        </p:spPr>
      </p:sp>
      <p:sp>
        <p:nvSpPr>
          <p:cNvPr id="225" name="Text 223"/>
          <p:cNvSpPr/>
          <p:nvPr/>
        </p:nvSpPr>
        <p:spPr>
          <a:xfrm>
            <a:off x="9710928" y="2322576"/>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26" name="Shape 224"/>
          <p:cNvSpPr/>
          <p:nvPr/>
        </p:nvSpPr>
        <p:spPr>
          <a:xfrm>
            <a:off x="10332720" y="2322576"/>
            <a:ext cx="621792" cy="329184"/>
          </a:xfrm>
          <a:prstGeom prst="rect">
            <a:avLst/>
          </a:prstGeom>
          <a:solidFill>
            <a:srgbClr val="F8FAFC"/>
          </a:solidFill>
          <a:ln w="6350">
            <a:solidFill>
              <a:srgbClr val="E0E4EA"/>
            </a:solidFill>
            <a:prstDash val="solid"/>
          </a:ln>
        </p:spPr>
      </p:sp>
      <p:sp>
        <p:nvSpPr>
          <p:cNvPr id="227" name="Text 225"/>
          <p:cNvSpPr/>
          <p:nvPr/>
        </p:nvSpPr>
        <p:spPr>
          <a:xfrm>
            <a:off x="10332720" y="2322576"/>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28" name="Shape 226"/>
          <p:cNvSpPr/>
          <p:nvPr/>
        </p:nvSpPr>
        <p:spPr>
          <a:xfrm>
            <a:off x="10954512" y="2322576"/>
            <a:ext cx="621792" cy="329184"/>
          </a:xfrm>
          <a:prstGeom prst="rect">
            <a:avLst/>
          </a:prstGeom>
          <a:solidFill>
            <a:srgbClr val="80DEEA"/>
          </a:solidFill>
          <a:ln w="6350">
            <a:solidFill>
              <a:srgbClr val="E0E4EA"/>
            </a:solidFill>
            <a:prstDash val="solid"/>
          </a:ln>
        </p:spPr>
      </p:sp>
      <p:sp>
        <p:nvSpPr>
          <p:cNvPr id="229" name="Text 227"/>
          <p:cNvSpPr/>
          <p:nvPr/>
        </p:nvSpPr>
        <p:spPr>
          <a:xfrm>
            <a:off x="10954512" y="2322576"/>
            <a:ext cx="621792" cy="329184"/>
          </a:xfrm>
          <a:prstGeom prst="rect">
            <a:avLst/>
          </a:prstGeom>
          <a:noFill/>
          <a:ln/>
        </p:spPr>
        <p:txBody>
          <a:bodyPr wrap="square" rtlCol="0" anchor="ctr"/>
          <a:lstStyle/>
          <a:p>
            <a:pPr algn="ctr" indent="0" marL="0">
              <a:buNone/>
            </a:pPr>
            <a:r>
              <a:rPr lang="en-US" sz="1000" b="1" dirty="0">
                <a:solidFill>
                  <a:srgbClr val="004D40"/>
                </a:solidFill>
                <a:latin typeface="Arial" pitchFamily="34" charset="0"/>
                <a:ea typeface="Arial" pitchFamily="34" charset="-122"/>
                <a:cs typeface="Arial" pitchFamily="34" charset="-120"/>
              </a:rPr>
              <a:t>2</a:t>
            </a:r>
            <a:endParaRPr lang="en-US" sz="1000" dirty="0"/>
          </a:p>
        </p:txBody>
      </p:sp>
      <p:sp>
        <p:nvSpPr>
          <p:cNvPr id="230" name="Shape 228"/>
          <p:cNvSpPr/>
          <p:nvPr/>
        </p:nvSpPr>
        <p:spPr>
          <a:xfrm>
            <a:off x="6309360" y="2651760"/>
            <a:ext cx="914400" cy="329184"/>
          </a:xfrm>
          <a:prstGeom prst="rect">
            <a:avLst/>
          </a:prstGeom>
          <a:solidFill>
            <a:srgbClr val="F0F2F5"/>
          </a:solidFill>
          <a:ln/>
        </p:spPr>
      </p:sp>
      <p:sp>
        <p:nvSpPr>
          <p:cNvPr id="231" name="Text 229"/>
          <p:cNvSpPr/>
          <p:nvPr/>
        </p:nvSpPr>
        <p:spPr>
          <a:xfrm>
            <a:off x="6309360" y="2651760"/>
            <a:ext cx="914400" cy="329184"/>
          </a:xfrm>
          <a:prstGeom prst="rect">
            <a:avLst/>
          </a:prstGeom>
          <a:noFill/>
          <a:ln/>
        </p:spPr>
        <p:txBody>
          <a:bodyPr wrap="square" rtlCol="0" anchor="ctr"/>
          <a:lstStyle/>
          <a:p>
            <a:pPr algn="l" indent="0" marL="0">
              <a:buNone/>
            </a:pPr>
            <a:r>
              <a:rPr lang="en-US" sz="800" b="1" dirty="0">
                <a:solidFill>
                  <a:srgbClr val="1E293B"/>
                </a:solidFill>
                <a:latin typeface="Arial" pitchFamily="34" charset="0"/>
                <a:ea typeface="Arial" pitchFamily="34" charset="-122"/>
                <a:cs typeface="Arial" pitchFamily="34" charset="-120"/>
              </a:rPr>
              <a:t>Cytokine</a:t>
            </a:r>
            <a:endParaRPr lang="en-US" sz="800" dirty="0"/>
          </a:p>
        </p:txBody>
      </p:sp>
      <p:sp>
        <p:nvSpPr>
          <p:cNvPr id="232" name="Shape 230"/>
          <p:cNvSpPr/>
          <p:nvPr/>
        </p:nvSpPr>
        <p:spPr>
          <a:xfrm>
            <a:off x="7223760" y="2651760"/>
            <a:ext cx="621792" cy="329184"/>
          </a:xfrm>
          <a:prstGeom prst="rect">
            <a:avLst/>
          </a:prstGeom>
          <a:solidFill>
            <a:srgbClr val="F8FAFC"/>
          </a:solidFill>
          <a:ln w="6350">
            <a:solidFill>
              <a:srgbClr val="E0E4EA"/>
            </a:solidFill>
            <a:prstDash val="solid"/>
          </a:ln>
        </p:spPr>
      </p:sp>
      <p:sp>
        <p:nvSpPr>
          <p:cNvPr id="233" name="Text 231"/>
          <p:cNvSpPr/>
          <p:nvPr/>
        </p:nvSpPr>
        <p:spPr>
          <a:xfrm>
            <a:off x="7223760" y="2651760"/>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34" name="Shape 232"/>
          <p:cNvSpPr/>
          <p:nvPr/>
        </p:nvSpPr>
        <p:spPr>
          <a:xfrm>
            <a:off x="7845552" y="2651760"/>
            <a:ext cx="621792" cy="329184"/>
          </a:xfrm>
          <a:prstGeom prst="rect">
            <a:avLst/>
          </a:prstGeom>
          <a:solidFill>
            <a:srgbClr val="F8FAFC"/>
          </a:solidFill>
          <a:ln w="6350">
            <a:solidFill>
              <a:srgbClr val="E0E4EA"/>
            </a:solidFill>
            <a:prstDash val="solid"/>
          </a:ln>
        </p:spPr>
      </p:sp>
      <p:sp>
        <p:nvSpPr>
          <p:cNvPr id="235" name="Text 233"/>
          <p:cNvSpPr/>
          <p:nvPr/>
        </p:nvSpPr>
        <p:spPr>
          <a:xfrm>
            <a:off x="7845552" y="2651760"/>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36" name="Shape 234"/>
          <p:cNvSpPr/>
          <p:nvPr/>
        </p:nvSpPr>
        <p:spPr>
          <a:xfrm>
            <a:off x="8467344" y="2651760"/>
            <a:ext cx="621792" cy="329184"/>
          </a:xfrm>
          <a:prstGeom prst="rect">
            <a:avLst/>
          </a:prstGeom>
          <a:solidFill>
            <a:srgbClr val="F8FAFC"/>
          </a:solidFill>
          <a:ln w="6350">
            <a:solidFill>
              <a:srgbClr val="E0E4EA"/>
            </a:solidFill>
            <a:prstDash val="solid"/>
          </a:ln>
        </p:spPr>
      </p:sp>
      <p:sp>
        <p:nvSpPr>
          <p:cNvPr id="237" name="Text 235"/>
          <p:cNvSpPr/>
          <p:nvPr/>
        </p:nvSpPr>
        <p:spPr>
          <a:xfrm>
            <a:off x="8467344" y="2651760"/>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38" name="Shape 236"/>
          <p:cNvSpPr/>
          <p:nvPr/>
        </p:nvSpPr>
        <p:spPr>
          <a:xfrm>
            <a:off x="9089136" y="2651760"/>
            <a:ext cx="621792" cy="329184"/>
          </a:xfrm>
          <a:prstGeom prst="rect">
            <a:avLst/>
          </a:prstGeom>
          <a:solidFill>
            <a:srgbClr val="F8FAFC"/>
          </a:solidFill>
          <a:ln w="6350">
            <a:solidFill>
              <a:srgbClr val="E0E4EA"/>
            </a:solidFill>
            <a:prstDash val="solid"/>
          </a:ln>
        </p:spPr>
      </p:sp>
      <p:sp>
        <p:nvSpPr>
          <p:cNvPr id="239" name="Text 237"/>
          <p:cNvSpPr/>
          <p:nvPr/>
        </p:nvSpPr>
        <p:spPr>
          <a:xfrm>
            <a:off x="9089136" y="2651760"/>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40" name="Shape 238"/>
          <p:cNvSpPr/>
          <p:nvPr/>
        </p:nvSpPr>
        <p:spPr>
          <a:xfrm>
            <a:off x="9710928" y="2651760"/>
            <a:ext cx="621792" cy="329184"/>
          </a:xfrm>
          <a:prstGeom prst="rect">
            <a:avLst/>
          </a:prstGeom>
          <a:solidFill>
            <a:srgbClr val="F8FAFC"/>
          </a:solidFill>
          <a:ln w="6350">
            <a:solidFill>
              <a:srgbClr val="E0E4EA"/>
            </a:solidFill>
            <a:prstDash val="solid"/>
          </a:ln>
        </p:spPr>
      </p:sp>
      <p:sp>
        <p:nvSpPr>
          <p:cNvPr id="241" name="Text 239"/>
          <p:cNvSpPr/>
          <p:nvPr/>
        </p:nvSpPr>
        <p:spPr>
          <a:xfrm>
            <a:off x="9710928" y="2651760"/>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42" name="Shape 240"/>
          <p:cNvSpPr/>
          <p:nvPr/>
        </p:nvSpPr>
        <p:spPr>
          <a:xfrm>
            <a:off x="10332720" y="2651760"/>
            <a:ext cx="621792" cy="329184"/>
          </a:xfrm>
          <a:prstGeom prst="rect">
            <a:avLst/>
          </a:prstGeom>
          <a:solidFill>
            <a:srgbClr val="F8FAFC"/>
          </a:solidFill>
          <a:ln w="6350">
            <a:solidFill>
              <a:srgbClr val="E0E4EA"/>
            </a:solidFill>
            <a:prstDash val="solid"/>
          </a:ln>
        </p:spPr>
      </p:sp>
      <p:sp>
        <p:nvSpPr>
          <p:cNvPr id="243" name="Text 241"/>
          <p:cNvSpPr/>
          <p:nvPr/>
        </p:nvSpPr>
        <p:spPr>
          <a:xfrm>
            <a:off x="10332720" y="2651760"/>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44" name="Shape 242"/>
          <p:cNvSpPr/>
          <p:nvPr/>
        </p:nvSpPr>
        <p:spPr>
          <a:xfrm>
            <a:off x="10954512" y="2651760"/>
            <a:ext cx="621792" cy="329184"/>
          </a:xfrm>
          <a:prstGeom prst="rect">
            <a:avLst/>
          </a:prstGeom>
          <a:solidFill>
            <a:srgbClr val="007A85"/>
          </a:solidFill>
          <a:ln w="6350">
            <a:solidFill>
              <a:srgbClr val="E0E4EA"/>
            </a:solidFill>
            <a:prstDash val="solid"/>
          </a:ln>
        </p:spPr>
      </p:sp>
      <p:sp>
        <p:nvSpPr>
          <p:cNvPr id="245" name="Text 243"/>
          <p:cNvSpPr/>
          <p:nvPr/>
        </p:nvSpPr>
        <p:spPr>
          <a:xfrm>
            <a:off x="10954512" y="2651760"/>
            <a:ext cx="621792" cy="329184"/>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46" name="Shape 244"/>
          <p:cNvSpPr/>
          <p:nvPr/>
        </p:nvSpPr>
        <p:spPr>
          <a:xfrm>
            <a:off x="6309360" y="2980944"/>
            <a:ext cx="914400" cy="329184"/>
          </a:xfrm>
          <a:prstGeom prst="rect">
            <a:avLst/>
          </a:prstGeom>
          <a:solidFill>
            <a:srgbClr val="F0F2F5"/>
          </a:solidFill>
          <a:ln/>
        </p:spPr>
      </p:sp>
      <p:sp>
        <p:nvSpPr>
          <p:cNvPr id="247" name="Text 245"/>
          <p:cNvSpPr/>
          <p:nvPr/>
        </p:nvSpPr>
        <p:spPr>
          <a:xfrm>
            <a:off x="6309360" y="2980944"/>
            <a:ext cx="914400" cy="329184"/>
          </a:xfrm>
          <a:prstGeom prst="rect">
            <a:avLst/>
          </a:prstGeom>
          <a:noFill/>
          <a:ln/>
        </p:spPr>
        <p:txBody>
          <a:bodyPr wrap="square" rtlCol="0" anchor="ctr"/>
          <a:lstStyle/>
          <a:p>
            <a:pPr algn="l" indent="0" marL="0">
              <a:buNone/>
            </a:pPr>
            <a:r>
              <a:rPr lang="en-US" sz="800" b="1" dirty="0">
                <a:solidFill>
                  <a:srgbClr val="1E293B"/>
                </a:solidFill>
                <a:latin typeface="Arial" pitchFamily="34" charset="0"/>
                <a:ea typeface="Arial" pitchFamily="34" charset="-122"/>
                <a:cs typeface="Arial" pitchFamily="34" charset="-120"/>
              </a:rPr>
              <a:t>VEGF</a:t>
            </a:r>
            <a:endParaRPr lang="en-US" sz="800" dirty="0"/>
          </a:p>
        </p:txBody>
      </p:sp>
      <p:sp>
        <p:nvSpPr>
          <p:cNvPr id="248" name="Shape 246"/>
          <p:cNvSpPr/>
          <p:nvPr/>
        </p:nvSpPr>
        <p:spPr>
          <a:xfrm>
            <a:off x="7223760" y="2980944"/>
            <a:ext cx="621792" cy="329184"/>
          </a:xfrm>
          <a:prstGeom prst="rect">
            <a:avLst/>
          </a:prstGeom>
          <a:solidFill>
            <a:srgbClr val="F8FAFC"/>
          </a:solidFill>
          <a:ln w="6350">
            <a:solidFill>
              <a:srgbClr val="E0E4EA"/>
            </a:solidFill>
            <a:prstDash val="solid"/>
          </a:ln>
        </p:spPr>
      </p:sp>
      <p:sp>
        <p:nvSpPr>
          <p:cNvPr id="249" name="Text 247"/>
          <p:cNvSpPr/>
          <p:nvPr/>
        </p:nvSpPr>
        <p:spPr>
          <a:xfrm>
            <a:off x="7223760" y="2980944"/>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50" name="Shape 248"/>
          <p:cNvSpPr/>
          <p:nvPr/>
        </p:nvSpPr>
        <p:spPr>
          <a:xfrm>
            <a:off x="7845552" y="2980944"/>
            <a:ext cx="621792" cy="329184"/>
          </a:xfrm>
          <a:prstGeom prst="rect">
            <a:avLst/>
          </a:prstGeom>
          <a:solidFill>
            <a:srgbClr val="F8FAFC"/>
          </a:solidFill>
          <a:ln w="6350">
            <a:solidFill>
              <a:srgbClr val="E0E4EA"/>
            </a:solidFill>
            <a:prstDash val="solid"/>
          </a:ln>
        </p:spPr>
      </p:sp>
      <p:sp>
        <p:nvSpPr>
          <p:cNvPr id="251" name="Text 249"/>
          <p:cNvSpPr/>
          <p:nvPr/>
        </p:nvSpPr>
        <p:spPr>
          <a:xfrm>
            <a:off x="7845552" y="2980944"/>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52" name="Shape 250"/>
          <p:cNvSpPr/>
          <p:nvPr/>
        </p:nvSpPr>
        <p:spPr>
          <a:xfrm>
            <a:off x="8467344" y="2980944"/>
            <a:ext cx="621792" cy="329184"/>
          </a:xfrm>
          <a:prstGeom prst="rect">
            <a:avLst/>
          </a:prstGeom>
          <a:solidFill>
            <a:srgbClr val="F8FAFC"/>
          </a:solidFill>
          <a:ln w="6350">
            <a:solidFill>
              <a:srgbClr val="E0E4EA"/>
            </a:solidFill>
            <a:prstDash val="solid"/>
          </a:ln>
        </p:spPr>
      </p:sp>
      <p:sp>
        <p:nvSpPr>
          <p:cNvPr id="253" name="Text 251"/>
          <p:cNvSpPr/>
          <p:nvPr/>
        </p:nvSpPr>
        <p:spPr>
          <a:xfrm>
            <a:off x="8467344" y="2980944"/>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54" name="Shape 252"/>
          <p:cNvSpPr/>
          <p:nvPr/>
        </p:nvSpPr>
        <p:spPr>
          <a:xfrm>
            <a:off x="9089136" y="2980944"/>
            <a:ext cx="621792" cy="329184"/>
          </a:xfrm>
          <a:prstGeom prst="rect">
            <a:avLst/>
          </a:prstGeom>
          <a:solidFill>
            <a:srgbClr val="F8FAFC"/>
          </a:solidFill>
          <a:ln w="6350">
            <a:solidFill>
              <a:srgbClr val="E0E4EA"/>
            </a:solidFill>
            <a:prstDash val="solid"/>
          </a:ln>
        </p:spPr>
      </p:sp>
      <p:sp>
        <p:nvSpPr>
          <p:cNvPr id="255" name="Text 253"/>
          <p:cNvSpPr/>
          <p:nvPr/>
        </p:nvSpPr>
        <p:spPr>
          <a:xfrm>
            <a:off x="9089136" y="2980944"/>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56" name="Shape 254"/>
          <p:cNvSpPr/>
          <p:nvPr/>
        </p:nvSpPr>
        <p:spPr>
          <a:xfrm>
            <a:off x="9710928" y="2980944"/>
            <a:ext cx="621792" cy="329184"/>
          </a:xfrm>
          <a:prstGeom prst="rect">
            <a:avLst/>
          </a:prstGeom>
          <a:solidFill>
            <a:srgbClr val="F8FAFC"/>
          </a:solidFill>
          <a:ln w="6350">
            <a:solidFill>
              <a:srgbClr val="E0E4EA"/>
            </a:solidFill>
            <a:prstDash val="solid"/>
          </a:ln>
        </p:spPr>
      </p:sp>
      <p:sp>
        <p:nvSpPr>
          <p:cNvPr id="257" name="Text 255"/>
          <p:cNvSpPr/>
          <p:nvPr/>
        </p:nvSpPr>
        <p:spPr>
          <a:xfrm>
            <a:off x="9710928" y="2980944"/>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58" name="Shape 256"/>
          <p:cNvSpPr/>
          <p:nvPr/>
        </p:nvSpPr>
        <p:spPr>
          <a:xfrm>
            <a:off x="10332720" y="2980944"/>
            <a:ext cx="621792" cy="329184"/>
          </a:xfrm>
          <a:prstGeom prst="rect">
            <a:avLst/>
          </a:prstGeom>
          <a:solidFill>
            <a:srgbClr val="F8FAFC"/>
          </a:solidFill>
          <a:ln w="6350">
            <a:solidFill>
              <a:srgbClr val="E0E4EA"/>
            </a:solidFill>
            <a:prstDash val="solid"/>
          </a:ln>
        </p:spPr>
      </p:sp>
      <p:sp>
        <p:nvSpPr>
          <p:cNvPr id="259" name="Text 257"/>
          <p:cNvSpPr/>
          <p:nvPr/>
        </p:nvSpPr>
        <p:spPr>
          <a:xfrm>
            <a:off x="10332720" y="2980944"/>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60" name="Shape 258"/>
          <p:cNvSpPr/>
          <p:nvPr/>
        </p:nvSpPr>
        <p:spPr>
          <a:xfrm>
            <a:off x="10954512" y="2980944"/>
            <a:ext cx="621792" cy="329184"/>
          </a:xfrm>
          <a:prstGeom prst="rect">
            <a:avLst/>
          </a:prstGeom>
          <a:solidFill>
            <a:srgbClr val="E0F7FA"/>
          </a:solidFill>
          <a:ln w="6350">
            <a:solidFill>
              <a:srgbClr val="E0E4EA"/>
            </a:solidFill>
            <a:prstDash val="solid"/>
          </a:ln>
        </p:spPr>
      </p:sp>
      <p:sp>
        <p:nvSpPr>
          <p:cNvPr id="261" name="Text 259"/>
          <p:cNvSpPr/>
          <p:nvPr/>
        </p:nvSpPr>
        <p:spPr>
          <a:xfrm>
            <a:off x="10954512" y="2980944"/>
            <a:ext cx="621792" cy="329184"/>
          </a:xfrm>
          <a:prstGeom prst="rect">
            <a:avLst/>
          </a:prstGeom>
          <a:noFill/>
          <a:ln/>
        </p:spPr>
        <p:txBody>
          <a:bodyPr wrap="square" rtlCol="0" anchor="ctr"/>
          <a:lstStyle/>
          <a:p>
            <a:pPr algn="ctr" indent="0" marL="0">
              <a:buNone/>
            </a:pPr>
            <a:r>
              <a:rPr lang="en-US" sz="1000" b="1" dirty="0">
                <a:solidFill>
                  <a:srgbClr val="004D40"/>
                </a:solidFill>
                <a:latin typeface="Arial" pitchFamily="34" charset="0"/>
                <a:ea typeface="Arial" pitchFamily="34" charset="-122"/>
                <a:cs typeface="Arial" pitchFamily="34" charset="-120"/>
              </a:rPr>
              <a:t>1</a:t>
            </a:r>
            <a:endParaRPr lang="en-US" sz="1000" dirty="0"/>
          </a:p>
        </p:txBody>
      </p:sp>
      <p:sp>
        <p:nvSpPr>
          <p:cNvPr id="262" name="Shape 260"/>
          <p:cNvSpPr/>
          <p:nvPr/>
        </p:nvSpPr>
        <p:spPr>
          <a:xfrm>
            <a:off x="6309360" y="3310128"/>
            <a:ext cx="914400" cy="329184"/>
          </a:xfrm>
          <a:prstGeom prst="rect">
            <a:avLst/>
          </a:prstGeom>
          <a:solidFill>
            <a:srgbClr val="F0F2F5"/>
          </a:solidFill>
          <a:ln/>
        </p:spPr>
      </p:sp>
      <p:sp>
        <p:nvSpPr>
          <p:cNvPr id="263" name="Text 261"/>
          <p:cNvSpPr/>
          <p:nvPr/>
        </p:nvSpPr>
        <p:spPr>
          <a:xfrm>
            <a:off x="6309360" y="3310128"/>
            <a:ext cx="914400" cy="329184"/>
          </a:xfrm>
          <a:prstGeom prst="rect">
            <a:avLst/>
          </a:prstGeom>
          <a:noFill/>
          <a:ln/>
        </p:spPr>
        <p:txBody>
          <a:bodyPr wrap="square" rtlCol="0" anchor="ctr"/>
          <a:lstStyle/>
          <a:p>
            <a:pPr algn="l" indent="0" marL="0">
              <a:buNone/>
            </a:pPr>
            <a:r>
              <a:rPr lang="en-US" sz="800" b="1" dirty="0">
                <a:solidFill>
                  <a:srgbClr val="1E293B"/>
                </a:solidFill>
                <a:latin typeface="Arial" pitchFamily="34" charset="0"/>
                <a:ea typeface="Arial" pitchFamily="34" charset="-122"/>
                <a:cs typeface="Arial" pitchFamily="34" charset="-120"/>
              </a:rPr>
              <a:t>HER2</a:t>
            </a:r>
            <a:endParaRPr lang="en-US" sz="800" dirty="0"/>
          </a:p>
        </p:txBody>
      </p:sp>
      <p:sp>
        <p:nvSpPr>
          <p:cNvPr id="264" name="Shape 262"/>
          <p:cNvSpPr/>
          <p:nvPr/>
        </p:nvSpPr>
        <p:spPr>
          <a:xfrm>
            <a:off x="7223760" y="3310128"/>
            <a:ext cx="621792" cy="329184"/>
          </a:xfrm>
          <a:prstGeom prst="rect">
            <a:avLst/>
          </a:prstGeom>
          <a:solidFill>
            <a:srgbClr val="F8FAFC"/>
          </a:solidFill>
          <a:ln w="6350">
            <a:solidFill>
              <a:srgbClr val="E0E4EA"/>
            </a:solidFill>
            <a:prstDash val="solid"/>
          </a:ln>
        </p:spPr>
      </p:sp>
      <p:sp>
        <p:nvSpPr>
          <p:cNvPr id="265" name="Text 263"/>
          <p:cNvSpPr/>
          <p:nvPr/>
        </p:nvSpPr>
        <p:spPr>
          <a:xfrm>
            <a:off x="7223760" y="3310128"/>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66" name="Shape 264"/>
          <p:cNvSpPr/>
          <p:nvPr/>
        </p:nvSpPr>
        <p:spPr>
          <a:xfrm>
            <a:off x="7845552" y="3310128"/>
            <a:ext cx="621792" cy="329184"/>
          </a:xfrm>
          <a:prstGeom prst="rect">
            <a:avLst/>
          </a:prstGeom>
          <a:solidFill>
            <a:srgbClr val="F8FAFC"/>
          </a:solidFill>
          <a:ln w="6350">
            <a:solidFill>
              <a:srgbClr val="E0E4EA"/>
            </a:solidFill>
            <a:prstDash val="solid"/>
          </a:ln>
        </p:spPr>
      </p:sp>
      <p:sp>
        <p:nvSpPr>
          <p:cNvPr id="267" name="Text 265"/>
          <p:cNvSpPr/>
          <p:nvPr/>
        </p:nvSpPr>
        <p:spPr>
          <a:xfrm>
            <a:off x="7845552" y="3310128"/>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68" name="Shape 266"/>
          <p:cNvSpPr/>
          <p:nvPr/>
        </p:nvSpPr>
        <p:spPr>
          <a:xfrm>
            <a:off x="8467344" y="3310128"/>
            <a:ext cx="621792" cy="329184"/>
          </a:xfrm>
          <a:prstGeom prst="rect">
            <a:avLst/>
          </a:prstGeom>
          <a:solidFill>
            <a:srgbClr val="F8FAFC"/>
          </a:solidFill>
          <a:ln w="6350">
            <a:solidFill>
              <a:srgbClr val="E0E4EA"/>
            </a:solidFill>
            <a:prstDash val="solid"/>
          </a:ln>
        </p:spPr>
      </p:sp>
      <p:sp>
        <p:nvSpPr>
          <p:cNvPr id="269" name="Text 267"/>
          <p:cNvSpPr/>
          <p:nvPr/>
        </p:nvSpPr>
        <p:spPr>
          <a:xfrm>
            <a:off x="8467344" y="3310128"/>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70" name="Shape 268"/>
          <p:cNvSpPr/>
          <p:nvPr/>
        </p:nvSpPr>
        <p:spPr>
          <a:xfrm>
            <a:off x="9089136" y="3310128"/>
            <a:ext cx="621792" cy="329184"/>
          </a:xfrm>
          <a:prstGeom prst="rect">
            <a:avLst/>
          </a:prstGeom>
          <a:solidFill>
            <a:srgbClr val="F8FAFC"/>
          </a:solidFill>
          <a:ln w="6350">
            <a:solidFill>
              <a:srgbClr val="E0E4EA"/>
            </a:solidFill>
            <a:prstDash val="solid"/>
          </a:ln>
        </p:spPr>
      </p:sp>
      <p:sp>
        <p:nvSpPr>
          <p:cNvPr id="271" name="Text 269"/>
          <p:cNvSpPr/>
          <p:nvPr/>
        </p:nvSpPr>
        <p:spPr>
          <a:xfrm>
            <a:off x="9089136" y="3310128"/>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72" name="Shape 270"/>
          <p:cNvSpPr/>
          <p:nvPr/>
        </p:nvSpPr>
        <p:spPr>
          <a:xfrm>
            <a:off x="9710928" y="3310128"/>
            <a:ext cx="621792" cy="329184"/>
          </a:xfrm>
          <a:prstGeom prst="rect">
            <a:avLst/>
          </a:prstGeom>
          <a:solidFill>
            <a:srgbClr val="F8FAFC"/>
          </a:solidFill>
          <a:ln w="6350">
            <a:solidFill>
              <a:srgbClr val="E0E4EA"/>
            </a:solidFill>
            <a:prstDash val="solid"/>
          </a:ln>
        </p:spPr>
      </p:sp>
      <p:sp>
        <p:nvSpPr>
          <p:cNvPr id="273" name="Text 271"/>
          <p:cNvSpPr/>
          <p:nvPr/>
        </p:nvSpPr>
        <p:spPr>
          <a:xfrm>
            <a:off x="9710928" y="3310128"/>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74" name="Shape 272"/>
          <p:cNvSpPr/>
          <p:nvPr/>
        </p:nvSpPr>
        <p:spPr>
          <a:xfrm>
            <a:off x="10332720" y="3310128"/>
            <a:ext cx="621792" cy="329184"/>
          </a:xfrm>
          <a:prstGeom prst="rect">
            <a:avLst/>
          </a:prstGeom>
          <a:solidFill>
            <a:srgbClr val="E0F7FA"/>
          </a:solidFill>
          <a:ln w="6350">
            <a:solidFill>
              <a:srgbClr val="E0E4EA"/>
            </a:solidFill>
            <a:prstDash val="solid"/>
          </a:ln>
        </p:spPr>
      </p:sp>
      <p:sp>
        <p:nvSpPr>
          <p:cNvPr id="275" name="Text 273"/>
          <p:cNvSpPr/>
          <p:nvPr/>
        </p:nvSpPr>
        <p:spPr>
          <a:xfrm>
            <a:off x="10332720" y="3310128"/>
            <a:ext cx="621792" cy="329184"/>
          </a:xfrm>
          <a:prstGeom prst="rect">
            <a:avLst/>
          </a:prstGeom>
          <a:noFill/>
          <a:ln/>
        </p:spPr>
        <p:txBody>
          <a:bodyPr wrap="square" rtlCol="0" anchor="ctr"/>
          <a:lstStyle/>
          <a:p>
            <a:pPr algn="ctr" indent="0" marL="0">
              <a:buNone/>
            </a:pPr>
            <a:r>
              <a:rPr lang="en-US" sz="1000" b="1" dirty="0">
                <a:solidFill>
                  <a:srgbClr val="004D40"/>
                </a:solidFill>
                <a:latin typeface="Arial" pitchFamily="34" charset="0"/>
                <a:ea typeface="Arial" pitchFamily="34" charset="-122"/>
                <a:cs typeface="Arial" pitchFamily="34" charset="-120"/>
              </a:rPr>
              <a:t>1</a:t>
            </a:r>
            <a:endParaRPr lang="en-US" sz="1000" dirty="0"/>
          </a:p>
        </p:txBody>
      </p:sp>
      <p:sp>
        <p:nvSpPr>
          <p:cNvPr id="276" name="Shape 274"/>
          <p:cNvSpPr/>
          <p:nvPr/>
        </p:nvSpPr>
        <p:spPr>
          <a:xfrm>
            <a:off x="10954512" y="3310128"/>
            <a:ext cx="621792" cy="329184"/>
          </a:xfrm>
          <a:prstGeom prst="rect">
            <a:avLst/>
          </a:prstGeom>
          <a:solidFill>
            <a:srgbClr val="E0F7FA"/>
          </a:solidFill>
          <a:ln w="6350">
            <a:solidFill>
              <a:srgbClr val="E0E4EA"/>
            </a:solidFill>
            <a:prstDash val="solid"/>
          </a:ln>
        </p:spPr>
      </p:sp>
      <p:sp>
        <p:nvSpPr>
          <p:cNvPr id="277" name="Text 275"/>
          <p:cNvSpPr/>
          <p:nvPr/>
        </p:nvSpPr>
        <p:spPr>
          <a:xfrm>
            <a:off x="10954512" y="3310128"/>
            <a:ext cx="621792" cy="329184"/>
          </a:xfrm>
          <a:prstGeom prst="rect">
            <a:avLst/>
          </a:prstGeom>
          <a:noFill/>
          <a:ln/>
        </p:spPr>
        <p:txBody>
          <a:bodyPr wrap="square" rtlCol="0" anchor="ctr"/>
          <a:lstStyle/>
          <a:p>
            <a:pPr algn="ctr" indent="0" marL="0">
              <a:buNone/>
            </a:pPr>
            <a:r>
              <a:rPr lang="en-US" sz="1000" b="1" dirty="0">
                <a:solidFill>
                  <a:srgbClr val="004D40"/>
                </a:solidFill>
                <a:latin typeface="Arial" pitchFamily="34" charset="0"/>
                <a:ea typeface="Arial" pitchFamily="34" charset="-122"/>
                <a:cs typeface="Arial" pitchFamily="34" charset="-120"/>
              </a:rPr>
              <a:t>1</a:t>
            </a:r>
            <a:endParaRPr lang="en-US" sz="1000" dirty="0"/>
          </a:p>
        </p:txBody>
      </p:sp>
      <p:sp>
        <p:nvSpPr>
          <p:cNvPr id="278" name="Shape 276"/>
          <p:cNvSpPr/>
          <p:nvPr/>
        </p:nvSpPr>
        <p:spPr>
          <a:xfrm>
            <a:off x="6309360" y="3639312"/>
            <a:ext cx="914400" cy="329184"/>
          </a:xfrm>
          <a:prstGeom prst="rect">
            <a:avLst/>
          </a:prstGeom>
          <a:solidFill>
            <a:srgbClr val="F0F2F5"/>
          </a:solidFill>
          <a:ln/>
        </p:spPr>
      </p:sp>
      <p:sp>
        <p:nvSpPr>
          <p:cNvPr id="279" name="Text 277"/>
          <p:cNvSpPr/>
          <p:nvPr/>
        </p:nvSpPr>
        <p:spPr>
          <a:xfrm>
            <a:off x="6309360" y="3639312"/>
            <a:ext cx="914400" cy="329184"/>
          </a:xfrm>
          <a:prstGeom prst="rect">
            <a:avLst/>
          </a:prstGeom>
          <a:noFill/>
          <a:ln/>
        </p:spPr>
        <p:txBody>
          <a:bodyPr wrap="square" rtlCol="0" anchor="ctr"/>
          <a:lstStyle/>
          <a:p>
            <a:pPr algn="l" indent="0" marL="0">
              <a:buNone/>
            </a:pPr>
            <a:r>
              <a:rPr lang="en-US" sz="800" b="1" dirty="0">
                <a:solidFill>
                  <a:srgbClr val="1E293B"/>
                </a:solidFill>
                <a:latin typeface="Arial" pitchFamily="34" charset="0"/>
                <a:ea typeface="Arial" pitchFamily="34" charset="-122"/>
                <a:cs typeface="Arial" pitchFamily="34" charset="-120"/>
              </a:rPr>
              <a:t>TIGIT</a:t>
            </a:r>
            <a:endParaRPr lang="en-US" sz="800" dirty="0"/>
          </a:p>
        </p:txBody>
      </p:sp>
      <p:sp>
        <p:nvSpPr>
          <p:cNvPr id="280" name="Shape 278"/>
          <p:cNvSpPr/>
          <p:nvPr/>
        </p:nvSpPr>
        <p:spPr>
          <a:xfrm>
            <a:off x="7223760" y="3639312"/>
            <a:ext cx="621792" cy="329184"/>
          </a:xfrm>
          <a:prstGeom prst="rect">
            <a:avLst/>
          </a:prstGeom>
          <a:solidFill>
            <a:srgbClr val="F8FAFC"/>
          </a:solidFill>
          <a:ln w="6350">
            <a:solidFill>
              <a:srgbClr val="E0E4EA"/>
            </a:solidFill>
            <a:prstDash val="solid"/>
          </a:ln>
        </p:spPr>
      </p:sp>
      <p:sp>
        <p:nvSpPr>
          <p:cNvPr id="281" name="Text 279"/>
          <p:cNvSpPr/>
          <p:nvPr/>
        </p:nvSpPr>
        <p:spPr>
          <a:xfrm>
            <a:off x="7223760" y="3639312"/>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82" name="Shape 280"/>
          <p:cNvSpPr/>
          <p:nvPr/>
        </p:nvSpPr>
        <p:spPr>
          <a:xfrm>
            <a:off x="7845552" y="3639312"/>
            <a:ext cx="621792" cy="329184"/>
          </a:xfrm>
          <a:prstGeom prst="rect">
            <a:avLst/>
          </a:prstGeom>
          <a:solidFill>
            <a:srgbClr val="F8FAFC"/>
          </a:solidFill>
          <a:ln w="6350">
            <a:solidFill>
              <a:srgbClr val="E0E4EA"/>
            </a:solidFill>
            <a:prstDash val="solid"/>
          </a:ln>
        </p:spPr>
      </p:sp>
      <p:sp>
        <p:nvSpPr>
          <p:cNvPr id="283" name="Text 281"/>
          <p:cNvSpPr/>
          <p:nvPr/>
        </p:nvSpPr>
        <p:spPr>
          <a:xfrm>
            <a:off x="7845552" y="3639312"/>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84" name="Shape 282"/>
          <p:cNvSpPr/>
          <p:nvPr/>
        </p:nvSpPr>
        <p:spPr>
          <a:xfrm>
            <a:off x="8467344" y="3639312"/>
            <a:ext cx="621792" cy="329184"/>
          </a:xfrm>
          <a:prstGeom prst="rect">
            <a:avLst/>
          </a:prstGeom>
          <a:solidFill>
            <a:srgbClr val="F8FAFC"/>
          </a:solidFill>
          <a:ln w="6350">
            <a:solidFill>
              <a:srgbClr val="E0E4EA"/>
            </a:solidFill>
            <a:prstDash val="solid"/>
          </a:ln>
        </p:spPr>
      </p:sp>
      <p:sp>
        <p:nvSpPr>
          <p:cNvPr id="285" name="Text 283"/>
          <p:cNvSpPr/>
          <p:nvPr/>
        </p:nvSpPr>
        <p:spPr>
          <a:xfrm>
            <a:off x="8467344" y="3639312"/>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86" name="Shape 284"/>
          <p:cNvSpPr/>
          <p:nvPr/>
        </p:nvSpPr>
        <p:spPr>
          <a:xfrm>
            <a:off x="9089136" y="3639312"/>
            <a:ext cx="621792" cy="329184"/>
          </a:xfrm>
          <a:prstGeom prst="rect">
            <a:avLst/>
          </a:prstGeom>
          <a:solidFill>
            <a:srgbClr val="F8FAFC"/>
          </a:solidFill>
          <a:ln w="6350">
            <a:solidFill>
              <a:srgbClr val="E0E4EA"/>
            </a:solidFill>
            <a:prstDash val="solid"/>
          </a:ln>
        </p:spPr>
      </p:sp>
      <p:sp>
        <p:nvSpPr>
          <p:cNvPr id="287" name="Text 285"/>
          <p:cNvSpPr/>
          <p:nvPr/>
        </p:nvSpPr>
        <p:spPr>
          <a:xfrm>
            <a:off x="9089136" y="3639312"/>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88" name="Shape 286"/>
          <p:cNvSpPr/>
          <p:nvPr/>
        </p:nvSpPr>
        <p:spPr>
          <a:xfrm>
            <a:off x="9710928" y="3639312"/>
            <a:ext cx="621792" cy="329184"/>
          </a:xfrm>
          <a:prstGeom prst="rect">
            <a:avLst/>
          </a:prstGeom>
          <a:solidFill>
            <a:srgbClr val="F8FAFC"/>
          </a:solidFill>
          <a:ln w="6350">
            <a:solidFill>
              <a:srgbClr val="E0E4EA"/>
            </a:solidFill>
            <a:prstDash val="solid"/>
          </a:ln>
        </p:spPr>
      </p:sp>
      <p:sp>
        <p:nvSpPr>
          <p:cNvPr id="289" name="Text 287"/>
          <p:cNvSpPr/>
          <p:nvPr/>
        </p:nvSpPr>
        <p:spPr>
          <a:xfrm>
            <a:off x="9710928" y="3639312"/>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90" name="Shape 288"/>
          <p:cNvSpPr/>
          <p:nvPr/>
        </p:nvSpPr>
        <p:spPr>
          <a:xfrm>
            <a:off x="10332720" y="3639312"/>
            <a:ext cx="621792" cy="329184"/>
          </a:xfrm>
          <a:prstGeom prst="rect">
            <a:avLst/>
          </a:prstGeom>
          <a:solidFill>
            <a:srgbClr val="F8FAFC"/>
          </a:solidFill>
          <a:ln w="6350">
            <a:solidFill>
              <a:srgbClr val="E0E4EA"/>
            </a:solidFill>
            <a:prstDash val="solid"/>
          </a:ln>
        </p:spPr>
      </p:sp>
      <p:sp>
        <p:nvSpPr>
          <p:cNvPr id="291" name="Text 289"/>
          <p:cNvSpPr/>
          <p:nvPr/>
        </p:nvSpPr>
        <p:spPr>
          <a:xfrm>
            <a:off x="10332720" y="3639312"/>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92" name="Shape 290"/>
          <p:cNvSpPr/>
          <p:nvPr/>
        </p:nvSpPr>
        <p:spPr>
          <a:xfrm>
            <a:off x="10954512" y="3639312"/>
            <a:ext cx="621792" cy="329184"/>
          </a:xfrm>
          <a:prstGeom prst="rect">
            <a:avLst/>
          </a:prstGeom>
          <a:solidFill>
            <a:srgbClr val="F8FAFC"/>
          </a:solidFill>
          <a:ln w="6350">
            <a:solidFill>
              <a:srgbClr val="E0E4EA"/>
            </a:solidFill>
            <a:prstDash val="solid"/>
          </a:ln>
        </p:spPr>
      </p:sp>
      <p:sp>
        <p:nvSpPr>
          <p:cNvPr id="293" name="Text 291"/>
          <p:cNvSpPr/>
          <p:nvPr/>
        </p:nvSpPr>
        <p:spPr>
          <a:xfrm>
            <a:off x="10954512" y="3639312"/>
            <a:ext cx="621792" cy="329184"/>
          </a:xfrm>
          <a:prstGeom prst="rect">
            <a:avLst/>
          </a:prstGeom>
          <a:noFill/>
          <a:ln/>
        </p:spPr>
        <p:txBody>
          <a:bodyPr wrap="square" rtlCol="0" anchor="ctr"/>
          <a:lstStyle/>
          <a:p>
            <a:pPr algn="ctr" indent="0" marL="0">
              <a:buNone/>
            </a:pPr>
            <a:r>
              <a:rPr lang="en-US" sz="1000" b="1" dirty="0">
                <a:solidFill>
                  <a:srgbClr val="CCCCCC"/>
                </a:solidFill>
                <a:latin typeface="Arial" pitchFamily="34" charset="0"/>
                <a:ea typeface="Arial" pitchFamily="34" charset="-122"/>
                <a:cs typeface="Arial" pitchFamily="34" charset="-120"/>
              </a:rPr>
              <a:t>–</a:t>
            </a:r>
            <a:endParaRPr lang="en-US" sz="1000" dirty="0"/>
          </a:p>
        </p:txBody>
      </p:sp>
      <p:sp>
        <p:nvSpPr>
          <p:cNvPr id="294" name="Text 292"/>
          <p:cNvSpPr/>
          <p:nvPr/>
        </p:nvSpPr>
        <p:spPr>
          <a:xfrm>
            <a:off x="365760" y="4663440"/>
            <a:ext cx="640080" cy="18288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Intensity:</a:t>
            </a:r>
            <a:endParaRPr lang="en-US" sz="800" dirty="0"/>
          </a:p>
        </p:txBody>
      </p:sp>
      <p:sp>
        <p:nvSpPr>
          <p:cNvPr id="295" name="Shape 293"/>
          <p:cNvSpPr/>
          <p:nvPr/>
        </p:nvSpPr>
        <p:spPr>
          <a:xfrm>
            <a:off x="1005840" y="4663440"/>
            <a:ext cx="411480" cy="182880"/>
          </a:xfrm>
          <a:prstGeom prst="rect">
            <a:avLst/>
          </a:prstGeom>
          <a:solidFill>
            <a:srgbClr val="F8FAFC"/>
          </a:solidFill>
          <a:ln w="6350">
            <a:solidFill>
              <a:srgbClr val="E0E4EA"/>
            </a:solidFill>
            <a:prstDash val="solid"/>
          </a:ln>
        </p:spPr>
      </p:sp>
      <p:sp>
        <p:nvSpPr>
          <p:cNvPr id="296" name="Text 294"/>
          <p:cNvSpPr/>
          <p:nvPr/>
        </p:nvSpPr>
        <p:spPr>
          <a:xfrm>
            <a:off x="1005840" y="4663440"/>
            <a:ext cx="411480" cy="182880"/>
          </a:xfrm>
          <a:prstGeom prst="rect">
            <a:avLst/>
          </a:prstGeom>
          <a:noFill/>
          <a:ln/>
        </p:spPr>
        <p:txBody>
          <a:bodyPr wrap="square" rtlCol="0" anchor="ctr"/>
          <a:lstStyle/>
          <a:p>
            <a:pPr algn="ctr" indent="0" marL="0">
              <a:buNone/>
            </a:pPr>
            <a:r>
              <a:rPr lang="en-US" sz="700" b="1" dirty="0">
                <a:solidFill>
                  <a:srgbClr val="CCCCCC"/>
                </a:solidFill>
                <a:latin typeface="Arial" pitchFamily="34" charset="0"/>
                <a:ea typeface="Arial" pitchFamily="34" charset="-122"/>
                <a:cs typeface="Arial" pitchFamily="34" charset="-120"/>
              </a:rPr>
              <a:t>0</a:t>
            </a:r>
            <a:endParaRPr lang="en-US" sz="700" dirty="0"/>
          </a:p>
        </p:txBody>
      </p:sp>
      <p:sp>
        <p:nvSpPr>
          <p:cNvPr id="297" name="Shape 295"/>
          <p:cNvSpPr/>
          <p:nvPr/>
        </p:nvSpPr>
        <p:spPr>
          <a:xfrm>
            <a:off x="1508760" y="4663440"/>
            <a:ext cx="411480" cy="182880"/>
          </a:xfrm>
          <a:prstGeom prst="rect">
            <a:avLst/>
          </a:prstGeom>
          <a:solidFill>
            <a:srgbClr val="E0F7FA"/>
          </a:solidFill>
          <a:ln w="6350">
            <a:solidFill>
              <a:srgbClr val="E0E4EA"/>
            </a:solidFill>
            <a:prstDash val="solid"/>
          </a:ln>
        </p:spPr>
      </p:sp>
      <p:sp>
        <p:nvSpPr>
          <p:cNvPr id="298" name="Text 296"/>
          <p:cNvSpPr/>
          <p:nvPr/>
        </p:nvSpPr>
        <p:spPr>
          <a:xfrm>
            <a:off x="1508760" y="4663440"/>
            <a:ext cx="411480" cy="182880"/>
          </a:xfrm>
          <a:prstGeom prst="rect">
            <a:avLst/>
          </a:prstGeom>
          <a:noFill/>
          <a:ln/>
        </p:spPr>
        <p:txBody>
          <a:bodyPr wrap="square" rtlCol="0" anchor="ctr"/>
          <a:lstStyle/>
          <a:p>
            <a:pPr algn="ctr" indent="0" marL="0">
              <a:buNone/>
            </a:pPr>
            <a:r>
              <a:rPr lang="en-US" sz="700" b="1" dirty="0">
                <a:solidFill>
                  <a:srgbClr val="004D40"/>
                </a:solidFill>
                <a:latin typeface="Arial" pitchFamily="34" charset="0"/>
                <a:ea typeface="Arial" pitchFamily="34" charset="-122"/>
                <a:cs typeface="Arial" pitchFamily="34" charset="-120"/>
              </a:rPr>
              <a:t>1</a:t>
            </a:r>
            <a:endParaRPr lang="en-US" sz="700" dirty="0"/>
          </a:p>
        </p:txBody>
      </p:sp>
      <p:sp>
        <p:nvSpPr>
          <p:cNvPr id="299" name="Shape 297"/>
          <p:cNvSpPr/>
          <p:nvPr/>
        </p:nvSpPr>
        <p:spPr>
          <a:xfrm>
            <a:off x="2011680" y="4663440"/>
            <a:ext cx="411480" cy="182880"/>
          </a:xfrm>
          <a:prstGeom prst="rect">
            <a:avLst/>
          </a:prstGeom>
          <a:solidFill>
            <a:srgbClr val="80DEEA"/>
          </a:solidFill>
          <a:ln w="6350">
            <a:solidFill>
              <a:srgbClr val="E0E4EA"/>
            </a:solidFill>
            <a:prstDash val="solid"/>
          </a:ln>
        </p:spPr>
      </p:sp>
      <p:sp>
        <p:nvSpPr>
          <p:cNvPr id="300" name="Text 298"/>
          <p:cNvSpPr/>
          <p:nvPr/>
        </p:nvSpPr>
        <p:spPr>
          <a:xfrm>
            <a:off x="2011680" y="4663440"/>
            <a:ext cx="411480" cy="182880"/>
          </a:xfrm>
          <a:prstGeom prst="rect">
            <a:avLst/>
          </a:prstGeom>
          <a:noFill/>
          <a:ln/>
        </p:spPr>
        <p:txBody>
          <a:bodyPr wrap="square" rtlCol="0" anchor="ctr"/>
          <a:lstStyle/>
          <a:p>
            <a:pPr algn="ctr" indent="0" marL="0">
              <a:buNone/>
            </a:pPr>
            <a:r>
              <a:rPr lang="en-US" sz="700" b="1" dirty="0">
                <a:solidFill>
                  <a:srgbClr val="004D40"/>
                </a:solidFill>
                <a:latin typeface="Arial" pitchFamily="34" charset="0"/>
                <a:ea typeface="Arial" pitchFamily="34" charset="-122"/>
                <a:cs typeface="Arial" pitchFamily="34" charset="-120"/>
              </a:rPr>
              <a:t>2</a:t>
            </a:r>
            <a:endParaRPr lang="en-US" sz="700" dirty="0"/>
          </a:p>
        </p:txBody>
      </p:sp>
      <p:sp>
        <p:nvSpPr>
          <p:cNvPr id="301" name="Shape 299"/>
          <p:cNvSpPr/>
          <p:nvPr/>
        </p:nvSpPr>
        <p:spPr>
          <a:xfrm>
            <a:off x="2514600" y="4663440"/>
            <a:ext cx="411480" cy="182880"/>
          </a:xfrm>
          <a:prstGeom prst="rect">
            <a:avLst/>
          </a:prstGeom>
          <a:solidFill>
            <a:srgbClr val="00B0B9"/>
          </a:solidFill>
          <a:ln w="6350">
            <a:solidFill>
              <a:srgbClr val="E0E4EA"/>
            </a:solidFill>
            <a:prstDash val="solid"/>
          </a:ln>
        </p:spPr>
      </p:sp>
      <p:sp>
        <p:nvSpPr>
          <p:cNvPr id="302" name="Text 300"/>
          <p:cNvSpPr/>
          <p:nvPr/>
        </p:nvSpPr>
        <p:spPr>
          <a:xfrm>
            <a:off x="2514600" y="4663440"/>
            <a:ext cx="411480" cy="182880"/>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3-4</a:t>
            </a:r>
            <a:endParaRPr lang="en-US" sz="700" dirty="0"/>
          </a:p>
        </p:txBody>
      </p:sp>
      <p:sp>
        <p:nvSpPr>
          <p:cNvPr id="303" name="Shape 301"/>
          <p:cNvSpPr/>
          <p:nvPr/>
        </p:nvSpPr>
        <p:spPr>
          <a:xfrm>
            <a:off x="3017520" y="4663440"/>
            <a:ext cx="411480" cy="182880"/>
          </a:xfrm>
          <a:prstGeom prst="rect">
            <a:avLst/>
          </a:prstGeom>
          <a:solidFill>
            <a:srgbClr val="007A85"/>
          </a:solidFill>
          <a:ln w="6350">
            <a:solidFill>
              <a:srgbClr val="E0E4EA"/>
            </a:solidFill>
            <a:prstDash val="solid"/>
          </a:ln>
        </p:spPr>
      </p:sp>
      <p:sp>
        <p:nvSpPr>
          <p:cNvPr id="304" name="Text 302"/>
          <p:cNvSpPr/>
          <p:nvPr/>
        </p:nvSpPr>
        <p:spPr>
          <a:xfrm>
            <a:off x="3017520" y="4663440"/>
            <a:ext cx="411480" cy="182880"/>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5-7</a:t>
            </a:r>
            <a:endParaRPr lang="en-US" sz="700" dirty="0"/>
          </a:p>
        </p:txBody>
      </p:sp>
      <p:sp>
        <p:nvSpPr>
          <p:cNvPr id="305" name="Shape 303"/>
          <p:cNvSpPr/>
          <p:nvPr/>
        </p:nvSpPr>
        <p:spPr>
          <a:xfrm>
            <a:off x="3520440" y="4663440"/>
            <a:ext cx="411480" cy="182880"/>
          </a:xfrm>
          <a:prstGeom prst="rect">
            <a:avLst/>
          </a:prstGeom>
          <a:solidFill>
            <a:srgbClr val="002060"/>
          </a:solidFill>
          <a:ln w="6350">
            <a:solidFill>
              <a:srgbClr val="E0E4EA"/>
            </a:solidFill>
            <a:prstDash val="solid"/>
          </a:ln>
        </p:spPr>
      </p:sp>
      <p:sp>
        <p:nvSpPr>
          <p:cNvPr id="306" name="Text 304"/>
          <p:cNvSpPr/>
          <p:nvPr/>
        </p:nvSpPr>
        <p:spPr>
          <a:xfrm>
            <a:off x="3520440" y="4663440"/>
            <a:ext cx="411480" cy="182880"/>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8+</a:t>
            </a:r>
            <a:endParaRPr lang="en-US" sz="700" dirty="0"/>
          </a:p>
        </p:txBody>
      </p:sp>
      <p:sp>
        <p:nvSpPr>
          <p:cNvPr id="307" name="Shape 305"/>
          <p:cNvSpPr/>
          <p:nvPr/>
        </p:nvSpPr>
        <p:spPr>
          <a:xfrm>
            <a:off x="365760" y="5074920"/>
            <a:ext cx="11430000" cy="1005840"/>
          </a:xfrm>
          <a:prstGeom prst="rect">
            <a:avLst/>
          </a:prstGeom>
          <a:solidFill>
            <a:srgbClr val="001540"/>
          </a:solidFill>
          <a:ln/>
        </p:spPr>
      </p:sp>
      <p:sp>
        <p:nvSpPr>
          <p:cNvPr id="308" name="Text 306"/>
          <p:cNvSpPr/>
          <p:nvPr/>
        </p:nvSpPr>
        <p:spPr>
          <a:xfrm>
            <a:off x="548640" y="5120640"/>
            <a:ext cx="11064240" cy="914400"/>
          </a:xfrm>
          <a:prstGeom prst="rect">
            <a:avLst/>
          </a:prstGeom>
          <a:noFill/>
          <a:ln/>
        </p:spPr>
        <p:txBody>
          <a:bodyPr wrap="square" rtlCol="0" anchor="ctr"/>
          <a:lstStyle/>
          <a:p>
            <a:pPr indent="0" marL="0">
              <a:buNone/>
            </a:pPr>
            <a:r>
              <a:rPr lang="en-US" sz="900" b="1" dirty="0">
                <a:solidFill>
                  <a:srgbClr val="00B0B9"/>
                </a:solidFill>
                <a:latin typeface="Arial" pitchFamily="34" charset="0"/>
                <a:ea typeface="Arial" pitchFamily="34" charset="-122"/>
                <a:cs typeface="Arial" pitchFamily="34" charset="-120"/>
              </a:rPr>
              <a:t>Keytruda Implications: </a:t>
            </a:r>
            <a:pPr indent="0" marL="0">
              <a:buNone/>
            </a:pPr>
            <a:r>
              <a:rPr lang="en-US" sz="850" dirty="0">
                <a:solidFill>
                  <a:srgbClr val="FFFFFF"/>
                </a:solidFill>
                <a:latin typeface="Arial" pitchFamily="34" charset="0"/>
                <a:ea typeface="Arial" pitchFamily="34" charset="-122"/>
                <a:cs typeface="Arial" pitchFamily="34" charset="-120"/>
              </a:rPr>
              <a:t>Keytruda's competitive moat is thinnest in the PD-L1 ≥50% all-comers segment (8+ competing drugs in 1L) — this is pembro's highest-margin monotherapy population. KRAS G12C + PD-L1 ≥50% is also intensely crowded, but those drugs ADD to pembro rather than replace it. In 2L, PD-L1 selection essentially disappears (most drugs are all-comers), and TIGIT — once seen as the next IO pillar — is completely absent, validating the market's skepticism after Roche's tiragolumab failure. The whitespace in squamous-specific 2L represents an underexploited commercial opportunity.</a:t>
            </a:r>
            <a:endParaRPr lang="en-US" sz="900" dirty="0"/>
          </a:p>
        </p:txBody>
      </p:sp>
      <p:sp>
        <p:nvSpPr>
          <p:cNvPr id="309" name="Text 307"/>
          <p:cNvSpPr/>
          <p:nvPr/>
        </p:nvSpPr>
        <p:spPr>
          <a:xfrm>
            <a:off x="365760" y="6629400"/>
            <a:ext cx="11430000" cy="137160"/>
          </a:xfrm>
          <a:prstGeom prst="rect">
            <a:avLst/>
          </a:prstGeom>
          <a:noFill/>
          <a:ln/>
        </p:spPr>
        <p:txBody>
          <a:bodyPr wrap="square" rtlCol="0" anchor="ctr"/>
          <a:lstStyle/>
          <a:p>
            <a:pPr indent="0" marL="0">
              <a:buNone/>
            </a:pPr>
            <a:r>
              <a:rPr lang="en-US" sz="600" i="1" dirty="0">
                <a:solidFill>
                  <a:srgbClr val="AAAAAA"/>
                </a:solidFill>
                <a:latin typeface="Arial" pitchFamily="34" charset="0"/>
                <a:ea typeface="Arial" pitchFamily="34" charset="-122"/>
                <a:cs typeface="Arial" pitchFamily="34" charset="-120"/>
              </a:rPr>
              <a:t>Source: Pipeline database | Phase 3, non-biosimilar | March 2026</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11430000" cy="365760"/>
          </a:xfrm>
          <a:prstGeom prst="rect">
            <a:avLst/>
          </a:prstGeom>
          <a:noFill/>
          <a:ln/>
        </p:spPr>
        <p:txBody>
          <a:bodyPr wrap="square" rtlCol="0" anchor="ctr"/>
          <a:lstStyle/>
          <a:p>
            <a:pPr indent="0" marL="0">
              <a:buNone/>
            </a:pPr>
            <a:r>
              <a:rPr lang="en-US" sz="1350" b="1" dirty="0">
                <a:solidFill>
                  <a:srgbClr val="002060"/>
                </a:solidFill>
                <a:latin typeface="Arial" pitchFamily="34" charset="0"/>
                <a:ea typeface="Arial" pitchFamily="34" charset="-122"/>
                <a:cs typeface="Arial" pitchFamily="34" charset="-120"/>
              </a:rPr>
              <a:t>Exhibit 6: Company Pipeline Footprint — Who Threatens Keytruda's Position Most?</a:t>
            </a:r>
            <a:endParaRPr lang="en-US" sz="1350" dirty="0"/>
          </a:p>
        </p:txBody>
      </p:sp>
      <p:sp>
        <p:nvSpPr>
          <p:cNvPr id="3" name="Text 1"/>
          <p:cNvSpPr/>
          <p:nvPr/>
        </p:nvSpPr>
        <p:spPr>
          <a:xfrm>
            <a:off x="365760" y="530352"/>
            <a:ext cx="11430000" cy="182880"/>
          </a:xfrm>
          <a:prstGeom prst="rect">
            <a:avLst/>
          </a:prstGeom>
          <a:noFill/>
          <a:ln/>
        </p:spPr>
        <p:txBody>
          <a:bodyPr wrap="square" rtlCol="0" anchor="ctr"/>
          <a:lstStyle/>
          <a:p>
            <a:pPr indent="0" marL="0">
              <a:buNone/>
            </a:pPr>
            <a:r>
              <a:rPr lang="en-US" sz="800" i="1" dirty="0">
                <a:solidFill>
                  <a:srgbClr val="64748B"/>
                </a:solidFill>
                <a:latin typeface="Arial" pitchFamily="34" charset="0"/>
                <a:ea typeface="Arial" pitchFamily="34" charset="-122"/>
                <a:cs typeface="Arial" pitchFamily="34" charset="-120"/>
              </a:rPr>
              <a:t>Which companies have the most shots on goal against Keytruda's SoC? Breadth vs concentration of competitive bets.</a:t>
            </a:r>
            <a:endParaRPr lang="en-US" sz="800" dirty="0"/>
          </a:p>
        </p:txBody>
      </p:sp>
      <p:sp>
        <p:nvSpPr>
          <p:cNvPr id="4" name="Shape 2"/>
          <p:cNvSpPr/>
          <p:nvPr/>
        </p:nvSpPr>
        <p:spPr>
          <a:xfrm>
            <a:off x="2560320" y="960120"/>
            <a:ext cx="1554480" cy="411480"/>
          </a:xfrm>
          <a:prstGeom prst="rect">
            <a:avLst/>
          </a:prstGeom>
          <a:solidFill>
            <a:srgbClr val="002060"/>
          </a:solidFill>
          <a:ln/>
        </p:spPr>
      </p:sp>
      <p:sp>
        <p:nvSpPr>
          <p:cNvPr id="5" name="Text 3"/>
          <p:cNvSpPr/>
          <p:nvPr/>
        </p:nvSpPr>
        <p:spPr>
          <a:xfrm>
            <a:off x="2560320" y="960120"/>
            <a:ext cx="1554480" cy="41148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IO</a:t>
            </a:r>
            <a:endParaRPr lang="en-US" sz="800" dirty="0"/>
          </a:p>
          <a:p>
            <a:pPr algn="ctr" indent="0" marL="0">
              <a:buNone/>
            </a:pPr>
            <a:r>
              <a:rPr lang="en-US" sz="800" b="1" dirty="0">
                <a:solidFill>
                  <a:srgbClr val="FFFFFF"/>
                </a:solidFill>
                <a:latin typeface="Arial" pitchFamily="34" charset="0"/>
                <a:ea typeface="Arial" pitchFamily="34" charset="-122"/>
                <a:cs typeface="Arial" pitchFamily="34" charset="-120"/>
              </a:rPr>
              <a:t>Checkpoint</a:t>
            </a:r>
            <a:endParaRPr lang="en-US" sz="800" dirty="0"/>
          </a:p>
        </p:txBody>
      </p:sp>
      <p:sp>
        <p:nvSpPr>
          <p:cNvPr id="6" name="Shape 4"/>
          <p:cNvSpPr/>
          <p:nvPr/>
        </p:nvSpPr>
        <p:spPr>
          <a:xfrm>
            <a:off x="4114800" y="960120"/>
            <a:ext cx="1554480" cy="411480"/>
          </a:xfrm>
          <a:prstGeom prst="rect">
            <a:avLst/>
          </a:prstGeom>
          <a:solidFill>
            <a:srgbClr val="002060"/>
          </a:solidFill>
          <a:ln/>
        </p:spPr>
      </p:sp>
      <p:sp>
        <p:nvSpPr>
          <p:cNvPr id="7" name="Text 5"/>
          <p:cNvSpPr/>
          <p:nvPr/>
        </p:nvSpPr>
        <p:spPr>
          <a:xfrm>
            <a:off x="4114800" y="960120"/>
            <a:ext cx="1554480" cy="41148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KRAS/</a:t>
            </a:r>
            <a:endParaRPr lang="en-US" sz="800" dirty="0"/>
          </a:p>
          <a:p>
            <a:pPr algn="ctr" indent="0" marL="0">
              <a:buNone/>
            </a:pPr>
            <a:r>
              <a:rPr lang="en-US" sz="800" b="1" dirty="0">
                <a:solidFill>
                  <a:srgbClr val="FFFFFF"/>
                </a:solidFill>
                <a:latin typeface="Arial" pitchFamily="34" charset="0"/>
                <a:ea typeface="Arial" pitchFamily="34" charset="-122"/>
                <a:cs typeface="Arial" pitchFamily="34" charset="-120"/>
              </a:rPr>
              <a:t>RAS</a:t>
            </a:r>
            <a:endParaRPr lang="en-US" sz="800" dirty="0"/>
          </a:p>
        </p:txBody>
      </p:sp>
      <p:sp>
        <p:nvSpPr>
          <p:cNvPr id="8" name="Shape 6"/>
          <p:cNvSpPr/>
          <p:nvPr/>
        </p:nvSpPr>
        <p:spPr>
          <a:xfrm>
            <a:off x="5669280" y="960120"/>
            <a:ext cx="1554480" cy="411480"/>
          </a:xfrm>
          <a:prstGeom prst="rect">
            <a:avLst/>
          </a:prstGeom>
          <a:solidFill>
            <a:srgbClr val="002060"/>
          </a:solidFill>
          <a:ln/>
        </p:spPr>
      </p:sp>
      <p:sp>
        <p:nvSpPr>
          <p:cNvPr id="9" name="Text 7"/>
          <p:cNvSpPr/>
          <p:nvPr/>
        </p:nvSpPr>
        <p:spPr>
          <a:xfrm>
            <a:off x="5669280" y="960120"/>
            <a:ext cx="1554480" cy="41148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TROP2/</a:t>
            </a:r>
            <a:endParaRPr lang="en-US" sz="800" dirty="0"/>
          </a:p>
          <a:p>
            <a:pPr algn="ctr" indent="0" marL="0">
              <a:buNone/>
            </a:pPr>
            <a:r>
              <a:rPr lang="en-US" sz="800" b="1" dirty="0">
                <a:solidFill>
                  <a:srgbClr val="FFFFFF"/>
                </a:solidFill>
                <a:latin typeface="Arial" pitchFamily="34" charset="0"/>
                <a:ea typeface="Arial" pitchFamily="34" charset="-122"/>
                <a:cs typeface="Arial" pitchFamily="34" charset="-120"/>
              </a:rPr>
              <a:t>ADC</a:t>
            </a:r>
            <a:endParaRPr lang="en-US" sz="800" dirty="0"/>
          </a:p>
        </p:txBody>
      </p:sp>
      <p:sp>
        <p:nvSpPr>
          <p:cNvPr id="10" name="Shape 8"/>
          <p:cNvSpPr/>
          <p:nvPr/>
        </p:nvSpPr>
        <p:spPr>
          <a:xfrm>
            <a:off x="7223760" y="960120"/>
            <a:ext cx="1554480" cy="411480"/>
          </a:xfrm>
          <a:prstGeom prst="rect">
            <a:avLst/>
          </a:prstGeom>
          <a:solidFill>
            <a:srgbClr val="002060"/>
          </a:solidFill>
          <a:ln/>
        </p:spPr>
      </p:sp>
      <p:sp>
        <p:nvSpPr>
          <p:cNvPr id="11" name="Text 9"/>
          <p:cNvSpPr/>
          <p:nvPr/>
        </p:nvSpPr>
        <p:spPr>
          <a:xfrm>
            <a:off x="7223760" y="960120"/>
            <a:ext cx="1554480" cy="41148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VEGF</a:t>
            </a:r>
            <a:endParaRPr lang="en-US" sz="800" dirty="0"/>
          </a:p>
          <a:p>
            <a:pPr algn="ctr" indent="0" marL="0">
              <a:buNone/>
            </a:pPr>
            <a:r>
              <a:rPr lang="en-US" sz="800" b="1" dirty="0">
                <a:solidFill>
                  <a:srgbClr val="FFFFFF"/>
                </a:solidFill>
                <a:latin typeface="Arial" pitchFamily="34" charset="0"/>
                <a:ea typeface="Arial" pitchFamily="34" charset="-122"/>
                <a:cs typeface="Arial" pitchFamily="34" charset="-120"/>
              </a:rPr>
              <a:t>bispec</a:t>
            </a:r>
            <a:endParaRPr lang="en-US" sz="800" dirty="0"/>
          </a:p>
        </p:txBody>
      </p:sp>
      <p:sp>
        <p:nvSpPr>
          <p:cNvPr id="12" name="Shape 10"/>
          <p:cNvSpPr/>
          <p:nvPr/>
        </p:nvSpPr>
        <p:spPr>
          <a:xfrm>
            <a:off x="8778240" y="960120"/>
            <a:ext cx="1554480" cy="411480"/>
          </a:xfrm>
          <a:prstGeom prst="rect">
            <a:avLst/>
          </a:prstGeom>
          <a:solidFill>
            <a:srgbClr val="002060"/>
          </a:solidFill>
          <a:ln/>
        </p:spPr>
      </p:sp>
      <p:sp>
        <p:nvSpPr>
          <p:cNvPr id="13" name="Text 11"/>
          <p:cNvSpPr/>
          <p:nvPr/>
        </p:nvSpPr>
        <p:spPr>
          <a:xfrm>
            <a:off x="8778240" y="960120"/>
            <a:ext cx="1554480" cy="41148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TIGIT</a:t>
            </a:r>
            <a:endParaRPr lang="en-US" sz="800" dirty="0"/>
          </a:p>
        </p:txBody>
      </p:sp>
      <p:sp>
        <p:nvSpPr>
          <p:cNvPr id="14" name="Shape 12"/>
          <p:cNvSpPr/>
          <p:nvPr/>
        </p:nvSpPr>
        <p:spPr>
          <a:xfrm>
            <a:off x="10332720" y="960120"/>
            <a:ext cx="1554480" cy="411480"/>
          </a:xfrm>
          <a:prstGeom prst="rect">
            <a:avLst/>
          </a:prstGeom>
          <a:solidFill>
            <a:srgbClr val="002060"/>
          </a:solidFill>
          <a:ln/>
        </p:spPr>
      </p:sp>
      <p:sp>
        <p:nvSpPr>
          <p:cNvPr id="15" name="Text 13"/>
          <p:cNvSpPr/>
          <p:nvPr/>
        </p:nvSpPr>
        <p:spPr>
          <a:xfrm>
            <a:off x="10332720" y="960120"/>
            <a:ext cx="1554480" cy="41148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EGFR/</a:t>
            </a:r>
            <a:endParaRPr lang="en-US" sz="800" dirty="0"/>
          </a:p>
          <a:p>
            <a:pPr algn="ctr" indent="0" marL="0">
              <a:buNone/>
            </a:pPr>
            <a:r>
              <a:rPr lang="en-US" sz="800" b="1" dirty="0">
                <a:solidFill>
                  <a:srgbClr val="FFFFFF"/>
                </a:solidFill>
                <a:latin typeface="Arial" pitchFamily="34" charset="0"/>
                <a:ea typeface="Arial" pitchFamily="34" charset="-122"/>
                <a:cs typeface="Arial" pitchFamily="34" charset="-120"/>
              </a:rPr>
              <a:t>HER2</a:t>
            </a:r>
            <a:endParaRPr lang="en-US" sz="800" dirty="0"/>
          </a:p>
        </p:txBody>
      </p:sp>
      <p:sp>
        <p:nvSpPr>
          <p:cNvPr id="16" name="Shape 14"/>
          <p:cNvSpPr/>
          <p:nvPr/>
        </p:nvSpPr>
        <p:spPr>
          <a:xfrm>
            <a:off x="1463040" y="1371600"/>
            <a:ext cx="1097280" cy="502920"/>
          </a:xfrm>
          <a:prstGeom prst="rect">
            <a:avLst/>
          </a:prstGeom>
          <a:solidFill>
            <a:srgbClr val="F8FAFC"/>
          </a:solidFill>
          <a:ln/>
        </p:spPr>
      </p:sp>
      <p:sp>
        <p:nvSpPr>
          <p:cNvPr id="17" name="Text 15"/>
          <p:cNvSpPr/>
          <p:nvPr/>
        </p:nvSpPr>
        <p:spPr>
          <a:xfrm>
            <a:off x="1463040" y="1371600"/>
            <a:ext cx="1097280" cy="502920"/>
          </a:xfrm>
          <a:prstGeom prst="rect">
            <a:avLst/>
          </a:prstGeom>
          <a:noFill/>
          <a:ln/>
        </p:spPr>
        <p:txBody>
          <a:bodyPr wrap="square" rtlCol="0" anchor="ctr"/>
          <a:lstStyle/>
          <a:p>
            <a:pPr algn="l" indent="0" marL="0">
              <a:buNone/>
            </a:pPr>
            <a:r>
              <a:rPr lang="en-US" sz="900" b="1" dirty="0">
                <a:solidFill>
                  <a:srgbClr val="002060"/>
                </a:solidFill>
                <a:latin typeface="Arial" pitchFamily="34" charset="0"/>
                <a:ea typeface="Arial" pitchFamily="34" charset="-122"/>
                <a:cs typeface="Arial" pitchFamily="34" charset="-120"/>
              </a:rPr>
              <a:t>AZN (9 drugs)</a:t>
            </a:r>
            <a:endParaRPr lang="en-US" sz="900" dirty="0"/>
          </a:p>
        </p:txBody>
      </p:sp>
      <p:sp>
        <p:nvSpPr>
          <p:cNvPr id="18" name="Shape 16"/>
          <p:cNvSpPr/>
          <p:nvPr/>
        </p:nvSpPr>
        <p:spPr>
          <a:xfrm>
            <a:off x="2560320" y="1371600"/>
            <a:ext cx="1554480" cy="502920"/>
          </a:xfrm>
          <a:prstGeom prst="rect">
            <a:avLst/>
          </a:prstGeom>
          <a:solidFill>
            <a:srgbClr val="F8FAFC"/>
          </a:solidFill>
          <a:ln w="3810">
            <a:solidFill>
              <a:srgbClr val="E8ECF0"/>
            </a:solidFill>
            <a:prstDash val="solid"/>
          </a:ln>
        </p:spPr>
      </p:sp>
      <p:sp>
        <p:nvSpPr>
          <p:cNvPr id="19" name="Shape 17"/>
          <p:cNvSpPr/>
          <p:nvPr/>
        </p:nvSpPr>
        <p:spPr>
          <a:xfrm>
            <a:off x="3095244" y="1380744"/>
            <a:ext cx="484632" cy="484632"/>
          </a:xfrm>
          <a:prstGeom prst="ellipse">
            <a:avLst/>
          </a:prstGeom>
          <a:solidFill>
            <a:srgbClr val="002060"/>
          </a:solidFill>
          <a:ln/>
        </p:spPr>
      </p:sp>
      <p:sp>
        <p:nvSpPr>
          <p:cNvPr id="20" name="Text 18"/>
          <p:cNvSpPr/>
          <p:nvPr/>
        </p:nvSpPr>
        <p:spPr>
          <a:xfrm>
            <a:off x="3095244" y="1380744"/>
            <a:ext cx="484632" cy="484632"/>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21" name="Shape 19"/>
          <p:cNvSpPr/>
          <p:nvPr/>
        </p:nvSpPr>
        <p:spPr>
          <a:xfrm>
            <a:off x="4114800" y="1371600"/>
            <a:ext cx="1554480" cy="502920"/>
          </a:xfrm>
          <a:prstGeom prst="rect">
            <a:avLst/>
          </a:prstGeom>
          <a:solidFill>
            <a:srgbClr val="F8FAFC"/>
          </a:solidFill>
          <a:ln w="3810">
            <a:solidFill>
              <a:srgbClr val="E8ECF0"/>
            </a:solidFill>
            <a:prstDash val="solid"/>
          </a:ln>
        </p:spPr>
      </p:sp>
      <p:sp>
        <p:nvSpPr>
          <p:cNvPr id="22" name="Shape 20"/>
          <p:cNvSpPr/>
          <p:nvPr/>
        </p:nvSpPr>
        <p:spPr>
          <a:xfrm>
            <a:off x="5669280" y="1371600"/>
            <a:ext cx="1554480" cy="502920"/>
          </a:xfrm>
          <a:prstGeom prst="rect">
            <a:avLst/>
          </a:prstGeom>
          <a:solidFill>
            <a:srgbClr val="F8FAFC"/>
          </a:solidFill>
          <a:ln w="3810">
            <a:solidFill>
              <a:srgbClr val="E8ECF0"/>
            </a:solidFill>
            <a:prstDash val="solid"/>
          </a:ln>
        </p:spPr>
      </p:sp>
      <p:sp>
        <p:nvSpPr>
          <p:cNvPr id="23" name="Shape 21"/>
          <p:cNvSpPr/>
          <p:nvPr/>
        </p:nvSpPr>
        <p:spPr>
          <a:xfrm>
            <a:off x="6332220" y="1508760"/>
            <a:ext cx="228600" cy="228600"/>
          </a:xfrm>
          <a:prstGeom prst="ellipse">
            <a:avLst/>
          </a:prstGeom>
          <a:solidFill>
            <a:srgbClr val="00B0B9"/>
          </a:solidFill>
          <a:ln/>
        </p:spPr>
      </p:sp>
      <p:sp>
        <p:nvSpPr>
          <p:cNvPr id="24" name="Text 22"/>
          <p:cNvSpPr/>
          <p:nvPr/>
        </p:nvSpPr>
        <p:spPr>
          <a:xfrm>
            <a:off x="6332220" y="1508760"/>
            <a:ext cx="228600" cy="2286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25" name="Shape 23"/>
          <p:cNvSpPr/>
          <p:nvPr/>
        </p:nvSpPr>
        <p:spPr>
          <a:xfrm>
            <a:off x="7223760" y="1371600"/>
            <a:ext cx="1554480" cy="502920"/>
          </a:xfrm>
          <a:prstGeom prst="rect">
            <a:avLst/>
          </a:prstGeom>
          <a:solidFill>
            <a:srgbClr val="F8FAFC"/>
          </a:solidFill>
          <a:ln w="3810">
            <a:solidFill>
              <a:srgbClr val="E8ECF0"/>
            </a:solidFill>
            <a:prstDash val="solid"/>
          </a:ln>
        </p:spPr>
      </p:sp>
      <p:sp>
        <p:nvSpPr>
          <p:cNvPr id="26" name="Shape 24"/>
          <p:cNvSpPr/>
          <p:nvPr/>
        </p:nvSpPr>
        <p:spPr>
          <a:xfrm>
            <a:off x="8778240" y="1371600"/>
            <a:ext cx="1554480" cy="502920"/>
          </a:xfrm>
          <a:prstGeom prst="rect">
            <a:avLst/>
          </a:prstGeom>
          <a:solidFill>
            <a:srgbClr val="F8FAFC"/>
          </a:solidFill>
          <a:ln w="3810">
            <a:solidFill>
              <a:srgbClr val="E8ECF0"/>
            </a:solidFill>
            <a:prstDash val="solid"/>
          </a:ln>
        </p:spPr>
      </p:sp>
      <p:sp>
        <p:nvSpPr>
          <p:cNvPr id="27" name="Shape 25"/>
          <p:cNvSpPr/>
          <p:nvPr/>
        </p:nvSpPr>
        <p:spPr>
          <a:xfrm>
            <a:off x="9377172" y="1444752"/>
            <a:ext cx="356616" cy="356616"/>
          </a:xfrm>
          <a:prstGeom prst="ellipse">
            <a:avLst/>
          </a:prstGeom>
          <a:solidFill>
            <a:srgbClr val="007A85"/>
          </a:solidFill>
          <a:ln/>
        </p:spPr>
      </p:sp>
      <p:sp>
        <p:nvSpPr>
          <p:cNvPr id="28" name="Text 26"/>
          <p:cNvSpPr/>
          <p:nvPr/>
        </p:nvSpPr>
        <p:spPr>
          <a:xfrm>
            <a:off x="9377172" y="1444752"/>
            <a:ext cx="356616" cy="356616"/>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9" name="Shape 27"/>
          <p:cNvSpPr/>
          <p:nvPr/>
        </p:nvSpPr>
        <p:spPr>
          <a:xfrm>
            <a:off x="10332720" y="1371600"/>
            <a:ext cx="1554480" cy="502920"/>
          </a:xfrm>
          <a:prstGeom prst="rect">
            <a:avLst/>
          </a:prstGeom>
          <a:solidFill>
            <a:srgbClr val="F8FAFC"/>
          </a:solidFill>
          <a:ln w="3810">
            <a:solidFill>
              <a:srgbClr val="E8ECF0"/>
            </a:solidFill>
            <a:prstDash val="solid"/>
          </a:ln>
        </p:spPr>
      </p:sp>
      <p:sp>
        <p:nvSpPr>
          <p:cNvPr id="30" name="Shape 28"/>
          <p:cNvSpPr/>
          <p:nvPr/>
        </p:nvSpPr>
        <p:spPr>
          <a:xfrm>
            <a:off x="1463040" y="1874520"/>
            <a:ext cx="1097280" cy="502920"/>
          </a:xfrm>
          <a:prstGeom prst="rect">
            <a:avLst/>
          </a:prstGeom>
          <a:solidFill>
            <a:srgbClr val="FFFFFF"/>
          </a:solidFill>
          <a:ln/>
        </p:spPr>
      </p:sp>
      <p:sp>
        <p:nvSpPr>
          <p:cNvPr id="31" name="Text 29"/>
          <p:cNvSpPr/>
          <p:nvPr/>
        </p:nvSpPr>
        <p:spPr>
          <a:xfrm>
            <a:off x="1463040" y="1874520"/>
            <a:ext cx="1097280" cy="502920"/>
          </a:xfrm>
          <a:prstGeom prst="rect">
            <a:avLst/>
          </a:prstGeom>
          <a:noFill/>
          <a:ln/>
        </p:spPr>
        <p:txBody>
          <a:bodyPr wrap="square" rtlCol="0" anchor="ctr"/>
          <a:lstStyle/>
          <a:p>
            <a:pPr algn="l" indent="0" marL="0">
              <a:buNone/>
            </a:pPr>
            <a:r>
              <a:rPr lang="en-US" sz="900" b="1" dirty="0">
                <a:solidFill>
                  <a:srgbClr val="002060"/>
                </a:solidFill>
                <a:latin typeface="Arial" pitchFamily="34" charset="0"/>
                <a:ea typeface="Arial" pitchFamily="34" charset="-122"/>
                <a:cs typeface="Arial" pitchFamily="34" charset="-120"/>
              </a:rPr>
              <a:t>DSNKY (6)</a:t>
            </a:r>
            <a:endParaRPr lang="en-US" sz="900" dirty="0"/>
          </a:p>
        </p:txBody>
      </p:sp>
      <p:sp>
        <p:nvSpPr>
          <p:cNvPr id="32" name="Shape 30"/>
          <p:cNvSpPr/>
          <p:nvPr/>
        </p:nvSpPr>
        <p:spPr>
          <a:xfrm>
            <a:off x="2560320" y="1874520"/>
            <a:ext cx="1554480" cy="502920"/>
          </a:xfrm>
          <a:prstGeom prst="rect">
            <a:avLst/>
          </a:prstGeom>
          <a:solidFill>
            <a:srgbClr val="FFFFFF"/>
          </a:solidFill>
          <a:ln w="3810">
            <a:solidFill>
              <a:srgbClr val="E8ECF0"/>
            </a:solidFill>
            <a:prstDash val="solid"/>
          </a:ln>
        </p:spPr>
      </p:sp>
      <p:sp>
        <p:nvSpPr>
          <p:cNvPr id="33" name="Shape 31"/>
          <p:cNvSpPr/>
          <p:nvPr/>
        </p:nvSpPr>
        <p:spPr>
          <a:xfrm>
            <a:off x="3191256" y="1979676"/>
            <a:ext cx="292608" cy="292608"/>
          </a:xfrm>
          <a:prstGeom prst="ellipse">
            <a:avLst/>
          </a:prstGeom>
          <a:solidFill>
            <a:srgbClr val="002060"/>
          </a:solidFill>
          <a:ln/>
        </p:spPr>
      </p:sp>
      <p:sp>
        <p:nvSpPr>
          <p:cNvPr id="34" name="Text 32"/>
          <p:cNvSpPr/>
          <p:nvPr/>
        </p:nvSpPr>
        <p:spPr>
          <a:xfrm>
            <a:off x="3191256" y="1979676"/>
            <a:ext cx="292608" cy="29260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35" name="Shape 33"/>
          <p:cNvSpPr/>
          <p:nvPr/>
        </p:nvSpPr>
        <p:spPr>
          <a:xfrm>
            <a:off x="4114800" y="1874520"/>
            <a:ext cx="1554480" cy="502920"/>
          </a:xfrm>
          <a:prstGeom prst="rect">
            <a:avLst/>
          </a:prstGeom>
          <a:solidFill>
            <a:srgbClr val="FFFFFF"/>
          </a:solidFill>
          <a:ln w="3810">
            <a:solidFill>
              <a:srgbClr val="E8ECF0"/>
            </a:solidFill>
            <a:prstDash val="solid"/>
          </a:ln>
        </p:spPr>
      </p:sp>
      <p:sp>
        <p:nvSpPr>
          <p:cNvPr id="36" name="Shape 34"/>
          <p:cNvSpPr/>
          <p:nvPr/>
        </p:nvSpPr>
        <p:spPr>
          <a:xfrm>
            <a:off x="5669280" y="1874520"/>
            <a:ext cx="1554480" cy="502920"/>
          </a:xfrm>
          <a:prstGeom prst="rect">
            <a:avLst/>
          </a:prstGeom>
          <a:solidFill>
            <a:srgbClr val="FFFFFF"/>
          </a:solidFill>
          <a:ln w="3810">
            <a:solidFill>
              <a:srgbClr val="E8ECF0"/>
            </a:solidFill>
            <a:prstDash val="solid"/>
          </a:ln>
        </p:spPr>
      </p:sp>
      <p:sp>
        <p:nvSpPr>
          <p:cNvPr id="37" name="Shape 35"/>
          <p:cNvSpPr/>
          <p:nvPr/>
        </p:nvSpPr>
        <p:spPr>
          <a:xfrm>
            <a:off x="6268212" y="1947672"/>
            <a:ext cx="356616" cy="356616"/>
          </a:xfrm>
          <a:prstGeom prst="ellipse">
            <a:avLst/>
          </a:prstGeom>
          <a:solidFill>
            <a:srgbClr val="00B0B9"/>
          </a:solidFill>
          <a:ln/>
        </p:spPr>
      </p:sp>
      <p:sp>
        <p:nvSpPr>
          <p:cNvPr id="38" name="Text 36"/>
          <p:cNvSpPr/>
          <p:nvPr/>
        </p:nvSpPr>
        <p:spPr>
          <a:xfrm>
            <a:off x="6268212" y="1947672"/>
            <a:ext cx="356616" cy="356616"/>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39" name="Shape 37"/>
          <p:cNvSpPr/>
          <p:nvPr/>
        </p:nvSpPr>
        <p:spPr>
          <a:xfrm>
            <a:off x="7223760" y="1874520"/>
            <a:ext cx="1554480" cy="502920"/>
          </a:xfrm>
          <a:prstGeom prst="rect">
            <a:avLst/>
          </a:prstGeom>
          <a:solidFill>
            <a:srgbClr val="FFFFFF"/>
          </a:solidFill>
          <a:ln w="3810">
            <a:solidFill>
              <a:srgbClr val="E8ECF0"/>
            </a:solidFill>
            <a:prstDash val="solid"/>
          </a:ln>
        </p:spPr>
      </p:sp>
      <p:sp>
        <p:nvSpPr>
          <p:cNvPr id="40" name="Shape 38"/>
          <p:cNvSpPr/>
          <p:nvPr/>
        </p:nvSpPr>
        <p:spPr>
          <a:xfrm>
            <a:off x="8778240" y="1874520"/>
            <a:ext cx="1554480" cy="502920"/>
          </a:xfrm>
          <a:prstGeom prst="rect">
            <a:avLst/>
          </a:prstGeom>
          <a:solidFill>
            <a:srgbClr val="FFFFFF"/>
          </a:solidFill>
          <a:ln w="3810">
            <a:solidFill>
              <a:srgbClr val="E8ECF0"/>
            </a:solidFill>
            <a:prstDash val="solid"/>
          </a:ln>
        </p:spPr>
      </p:sp>
      <p:sp>
        <p:nvSpPr>
          <p:cNvPr id="41" name="Shape 39"/>
          <p:cNvSpPr/>
          <p:nvPr/>
        </p:nvSpPr>
        <p:spPr>
          <a:xfrm>
            <a:off x="10332720" y="1874520"/>
            <a:ext cx="1554480" cy="502920"/>
          </a:xfrm>
          <a:prstGeom prst="rect">
            <a:avLst/>
          </a:prstGeom>
          <a:solidFill>
            <a:srgbClr val="FFFFFF"/>
          </a:solidFill>
          <a:ln w="3810">
            <a:solidFill>
              <a:srgbClr val="E8ECF0"/>
            </a:solidFill>
            <a:prstDash val="solid"/>
          </a:ln>
        </p:spPr>
      </p:sp>
      <p:sp>
        <p:nvSpPr>
          <p:cNvPr id="42" name="Shape 40"/>
          <p:cNvSpPr/>
          <p:nvPr/>
        </p:nvSpPr>
        <p:spPr>
          <a:xfrm>
            <a:off x="10995660" y="2011680"/>
            <a:ext cx="228600" cy="228600"/>
          </a:xfrm>
          <a:prstGeom prst="ellipse">
            <a:avLst/>
          </a:prstGeom>
          <a:solidFill>
            <a:srgbClr val="E65100"/>
          </a:solidFill>
          <a:ln/>
        </p:spPr>
      </p:sp>
      <p:sp>
        <p:nvSpPr>
          <p:cNvPr id="43" name="Text 41"/>
          <p:cNvSpPr/>
          <p:nvPr/>
        </p:nvSpPr>
        <p:spPr>
          <a:xfrm>
            <a:off x="10995660" y="2011680"/>
            <a:ext cx="228600" cy="2286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44" name="Shape 42"/>
          <p:cNvSpPr/>
          <p:nvPr/>
        </p:nvSpPr>
        <p:spPr>
          <a:xfrm>
            <a:off x="1463040" y="2377440"/>
            <a:ext cx="1097280" cy="502920"/>
          </a:xfrm>
          <a:prstGeom prst="rect">
            <a:avLst/>
          </a:prstGeom>
          <a:solidFill>
            <a:srgbClr val="F8FAFC"/>
          </a:solidFill>
          <a:ln/>
        </p:spPr>
      </p:sp>
      <p:sp>
        <p:nvSpPr>
          <p:cNvPr id="45" name="Text 43"/>
          <p:cNvSpPr/>
          <p:nvPr/>
        </p:nvSpPr>
        <p:spPr>
          <a:xfrm>
            <a:off x="1463040" y="2377440"/>
            <a:ext cx="1097280" cy="502920"/>
          </a:xfrm>
          <a:prstGeom prst="rect">
            <a:avLst/>
          </a:prstGeom>
          <a:noFill/>
          <a:ln/>
        </p:spPr>
        <p:txBody>
          <a:bodyPr wrap="square" rtlCol="0" anchor="ctr"/>
          <a:lstStyle/>
          <a:p>
            <a:pPr algn="l" indent="0" marL="0">
              <a:buNone/>
            </a:pPr>
            <a:r>
              <a:rPr lang="en-US" sz="900" b="1" dirty="0">
                <a:solidFill>
                  <a:srgbClr val="002060"/>
                </a:solidFill>
                <a:latin typeface="Arial" pitchFamily="34" charset="0"/>
                <a:ea typeface="Arial" pitchFamily="34" charset="-122"/>
                <a:cs typeface="Arial" pitchFamily="34" charset="-120"/>
              </a:rPr>
              <a:t>BMY (6)</a:t>
            </a:r>
            <a:endParaRPr lang="en-US" sz="900" dirty="0"/>
          </a:p>
        </p:txBody>
      </p:sp>
      <p:sp>
        <p:nvSpPr>
          <p:cNvPr id="46" name="Shape 44"/>
          <p:cNvSpPr/>
          <p:nvPr/>
        </p:nvSpPr>
        <p:spPr>
          <a:xfrm>
            <a:off x="2560320" y="2377440"/>
            <a:ext cx="1554480" cy="502920"/>
          </a:xfrm>
          <a:prstGeom prst="rect">
            <a:avLst/>
          </a:prstGeom>
          <a:solidFill>
            <a:srgbClr val="F8FAFC"/>
          </a:solidFill>
          <a:ln w="3810">
            <a:solidFill>
              <a:srgbClr val="E8ECF0"/>
            </a:solidFill>
            <a:prstDash val="solid"/>
          </a:ln>
        </p:spPr>
      </p:sp>
      <p:sp>
        <p:nvSpPr>
          <p:cNvPr id="47" name="Shape 45"/>
          <p:cNvSpPr/>
          <p:nvPr/>
        </p:nvSpPr>
        <p:spPr>
          <a:xfrm>
            <a:off x="3159252" y="2450592"/>
            <a:ext cx="356616" cy="356616"/>
          </a:xfrm>
          <a:prstGeom prst="ellipse">
            <a:avLst/>
          </a:prstGeom>
          <a:solidFill>
            <a:srgbClr val="002060"/>
          </a:solidFill>
          <a:ln/>
        </p:spPr>
      </p:sp>
      <p:sp>
        <p:nvSpPr>
          <p:cNvPr id="48" name="Text 46"/>
          <p:cNvSpPr/>
          <p:nvPr/>
        </p:nvSpPr>
        <p:spPr>
          <a:xfrm>
            <a:off x="3159252" y="2450592"/>
            <a:ext cx="356616" cy="356616"/>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49" name="Shape 47"/>
          <p:cNvSpPr/>
          <p:nvPr/>
        </p:nvSpPr>
        <p:spPr>
          <a:xfrm>
            <a:off x="4114800" y="2377440"/>
            <a:ext cx="1554480" cy="502920"/>
          </a:xfrm>
          <a:prstGeom prst="rect">
            <a:avLst/>
          </a:prstGeom>
          <a:solidFill>
            <a:srgbClr val="F8FAFC"/>
          </a:solidFill>
          <a:ln w="3810">
            <a:solidFill>
              <a:srgbClr val="E8ECF0"/>
            </a:solidFill>
            <a:prstDash val="solid"/>
          </a:ln>
        </p:spPr>
      </p:sp>
      <p:sp>
        <p:nvSpPr>
          <p:cNvPr id="50" name="Shape 48"/>
          <p:cNvSpPr/>
          <p:nvPr/>
        </p:nvSpPr>
        <p:spPr>
          <a:xfrm>
            <a:off x="4713732" y="2450592"/>
            <a:ext cx="356616" cy="356616"/>
          </a:xfrm>
          <a:prstGeom prst="ellipse">
            <a:avLst/>
          </a:prstGeom>
          <a:solidFill>
            <a:srgbClr val="4A148C"/>
          </a:solidFill>
          <a:ln/>
        </p:spPr>
      </p:sp>
      <p:sp>
        <p:nvSpPr>
          <p:cNvPr id="51" name="Text 49"/>
          <p:cNvSpPr/>
          <p:nvPr/>
        </p:nvSpPr>
        <p:spPr>
          <a:xfrm>
            <a:off x="4713732" y="2450592"/>
            <a:ext cx="356616" cy="356616"/>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52" name="Shape 50"/>
          <p:cNvSpPr/>
          <p:nvPr/>
        </p:nvSpPr>
        <p:spPr>
          <a:xfrm>
            <a:off x="5669280" y="2377440"/>
            <a:ext cx="1554480" cy="502920"/>
          </a:xfrm>
          <a:prstGeom prst="rect">
            <a:avLst/>
          </a:prstGeom>
          <a:solidFill>
            <a:srgbClr val="F8FAFC"/>
          </a:solidFill>
          <a:ln w="3810">
            <a:solidFill>
              <a:srgbClr val="E8ECF0"/>
            </a:solidFill>
            <a:prstDash val="solid"/>
          </a:ln>
        </p:spPr>
      </p:sp>
      <p:sp>
        <p:nvSpPr>
          <p:cNvPr id="53" name="Shape 51"/>
          <p:cNvSpPr/>
          <p:nvPr/>
        </p:nvSpPr>
        <p:spPr>
          <a:xfrm>
            <a:off x="7223760" y="2377440"/>
            <a:ext cx="1554480" cy="502920"/>
          </a:xfrm>
          <a:prstGeom prst="rect">
            <a:avLst/>
          </a:prstGeom>
          <a:solidFill>
            <a:srgbClr val="F8FAFC"/>
          </a:solidFill>
          <a:ln w="3810">
            <a:solidFill>
              <a:srgbClr val="E8ECF0"/>
            </a:solidFill>
            <a:prstDash val="solid"/>
          </a:ln>
        </p:spPr>
      </p:sp>
      <p:sp>
        <p:nvSpPr>
          <p:cNvPr id="54" name="Shape 52"/>
          <p:cNvSpPr/>
          <p:nvPr/>
        </p:nvSpPr>
        <p:spPr>
          <a:xfrm>
            <a:off x="8778240" y="2377440"/>
            <a:ext cx="1554480" cy="502920"/>
          </a:xfrm>
          <a:prstGeom prst="rect">
            <a:avLst/>
          </a:prstGeom>
          <a:solidFill>
            <a:srgbClr val="F8FAFC"/>
          </a:solidFill>
          <a:ln w="3810">
            <a:solidFill>
              <a:srgbClr val="E8ECF0"/>
            </a:solidFill>
            <a:prstDash val="solid"/>
          </a:ln>
        </p:spPr>
      </p:sp>
      <p:sp>
        <p:nvSpPr>
          <p:cNvPr id="55" name="Shape 53"/>
          <p:cNvSpPr/>
          <p:nvPr/>
        </p:nvSpPr>
        <p:spPr>
          <a:xfrm>
            <a:off x="10332720" y="2377440"/>
            <a:ext cx="1554480" cy="502920"/>
          </a:xfrm>
          <a:prstGeom prst="rect">
            <a:avLst/>
          </a:prstGeom>
          <a:solidFill>
            <a:srgbClr val="F8FAFC"/>
          </a:solidFill>
          <a:ln w="3810">
            <a:solidFill>
              <a:srgbClr val="E8ECF0"/>
            </a:solidFill>
            <a:prstDash val="solid"/>
          </a:ln>
        </p:spPr>
      </p:sp>
      <p:sp>
        <p:nvSpPr>
          <p:cNvPr id="56" name="Shape 54"/>
          <p:cNvSpPr/>
          <p:nvPr/>
        </p:nvSpPr>
        <p:spPr>
          <a:xfrm>
            <a:off x="1463040" y="2880360"/>
            <a:ext cx="1097280" cy="502920"/>
          </a:xfrm>
          <a:prstGeom prst="rect">
            <a:avLst/>
          </a:prstGeom>
          <a:solidFill>
            <a:srgbClr val="FFFFFF"/>
          </a:solidFill>
          <a:ln/>
        </p:spPr>
      </p:sp>
      <p:sp>
        <p:nvSpPr>
          <p:cNvPr id="57" name="Text 55"/>
          <p:cNvSpPr/>
          <p:nvPr/>
        </p:nvSpPr>
        <p:spPr>
          <a:xfrm>
            <a:off x="1463040" y="2880360"/>
            <a:ext cx="1097280" cy="502920"/>
          </a:xfrm>
          <a:prstGeom prst="rect">
            <a:avLst/>
          </a:prstGeom>
          <a:noFill/>
          <a:ln/>
        </p:spPr>
        <p:txBody>
          <a:bodyPr wrap="square" rtlCol="0" anchor="ctr"/>
          <a:lstStyle/>
          <a:p>
            <a:pPr algn="l" indent="0" marL="0">
              <a:buNone/>
            </a:pPr>
            <a:r>
              <a:rPr lang="en-US" sz="900" b="1" dirty="0">
                <a:solidFill>
                  <a:srgbClr val="002060"/>
                </a:solidFill>
                <a:latin typeface="Arial" pitchFamily="34" charset="0"/>
                <a:ea typeface="Arial" pitchFamily="34" charset="-122"/>
                <a:cs typeface="Arial" pitchFamily="34" charset="-120"/>
              </a:rPr>
              <a:t>MRK (4)</a:t>
            </a:r>
            <a:endParaRPr lang="en-US" sz="900" dirty="0"/>
          </a:p>
        </p:txBody>
      </p:sp>
      <p:sp>
        <p:nvSpPr>
          <p:cNvPr id="58" name="Shape 56"/>
          <p:cNvSpPr/>
          <p:nvPr/>
        </p:nvSpPr>
        <p:spPr>
          <a:xfrm>
            <a:off x="2560320" y="2880360"/>
            <a:ext cx="1554480" cy="502920"/>
          </a:xfrm>
          <a:prstGeom prst="rect">
            <a:avLst/>
          </a:prstGeom>
          <a:solidFill>
            <a:srgbClr val="FFFFFF"/>
          </a:solidFill>
          <a:ln w="3810">
            <a:solidFill>
              <a:srgbClr val="E8ECF0"/>
            </a:solidFill>
            <a:prstDash val="solid"/>
          </a:ln>
        </p:spPr>
      </p:sp>
      <p:sp>
        <p:nvSpPr>
          <p:cNvPr id="59" name="Shape 57"/>
          <p:cNvSpPr/>
          <p:nvPr/>
        </p:nvSpPr>
        <p:spPr>
          <a:xfrm>
            <a:off x="3223260" y="3017520"/>
            <a:ext cx="228600" cy="228600"/>
          </a:xfrm>
          <a:prstGeom prst="ellipse">
            <a:avLst/>
          </a:prstGeom>
          <a:solidFill>
            <a:srgbClr val="002060"/>
          </a:solidFill>
          <a:ln/>
        </p:spPr>
      </p:sp>
      <p:sp>
        <p:nvSpPr>
          <p:cNvPr id="60" name="Text 58"/>
          <p:cNvSpPr/>
          <p:nvPr/>
        </p:nvSpPr>
        <p:spPr>
          <a:xfrm>
            <a:off x="3223260" y="3017520"/>
            <a:ext cx="228600" cy="2286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61" name="Shape 59"/>
          <p:cNvSpPr/>
          <p:nvPr/>
        </p:nvSpPr>
        <p:spPr>
          <a:xfrm>
            <a:off x="4114800" y="2880360"/>
            <a:ext cx="1554480" cy="502920"/>
          </a:xfrm>
          <a:prstGeom prst="rect">
            <a:avLst/>
          </a:prstGeom>
          <a:solidFill>
            <a:srgbClr val="FFFFFF"/>
          </a:solidFill>
          <a:ln w="3810">
            <a:solidFill>
              <a:srgbClr val="E8ECF0"/>
            </a:solidFill>
            <a:prstDash val="solid"/>
          </a:ln>
        </p:spPr>
      </p:sp>
      <p:sp>
        <p:nvSpPr>
          <p:cNvPr id="62" name="Shape 60"/>
          <p:cNvSpPr/>
          <p:nvPr/>
        </p:nvSpPr>
        <p:spPr>
          <a:xfrm>
            <a:off x="4745736" y="2985516"/>
            <a:ext cx="292608" cy="292608"/>
          </a:xfrm>
          <a:prstGeom prst="ellipse">
            <a:avLst/>
          </a:prstGeom>
          <a:solidFill>
            <a:srgbClr val="4A148C"/>
          </a:solidFill>
          <a:ln/>
        </p:spPr>
      </p:sp>
      <p:sp>
        <p:nvSpPr>
          <p:cNvPr id="63" name="Text 61"/>
          <p:cNvSpPr/>
          <p:nvPr/>
        </p:nvSpPr>
        <p:spPr>
          <a:xfrm>
            <a:off x="4745736" y="2985516"/>
            <a:ext cx="292608" cy="29260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64" name="Shape 62"/>
          <p:cNvSpPr/>
          <p:nvPr/>
        </p:nvSpPr>
        <p:spPr>
          <a:xfrm>
            <a:off x="5669280" y="2880360"/>
            <a:ext cx="1554480" cy="502920"/>
          </a:xfrm>
          <a:prstGeom prst="rect">
            <a:avLst/>
          </a:prstGeom>
          <a:solidFill>
            <a:srgbClr val="FFFFFF"/>
          </a:solidFill>
          <a:ln w="3810">
            <a:solidFill>
              <a:srgbClr val="E8ECF0"/>
            </a:solidFill>
            <a:prstDash val="solid"/>
          </a:ln>
        </p:spPr>
      </p:sp>
      <p:sp>
        <p:nvSpPr>
          <p:cNvPr id="65" name="Shape 63"/>
          <p:cNvSpPr/>
          <p:nvPr/>
        </p:nvSpPr>
        <p:spPr>
          <a:xfrm>
            <a:off x="6300216" y="2985516"/>
            <a:ext cx="292608" cy="292608"/>
          </a:xfrm>
          <a:prstGeom prst="ellipse">
            <a:avLst/>
          </a:prstGeom>
          <a:solidFill>
            <a:srgbClr val="00B0B9"/>
          </a:solidFill>
          <a:ln/>
        </p:spPr>
      </p:sp>
      <p:sp>
        <p:nvSpPr>
          <p:cNvPr id="66" name="Text 64"/>
          <p:cNvSpPr/>
          <p:nvPr/>
        </p:nvSpPr>
        <p:spPr>
          <a:xfrm>
            <a:off x="6300216" y="2985516"/>
            <a:ext cx="292608" cy="29260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67" name="Shape 65"/>
          <p:cNvSpPr/>
          <p:nvPr/>
        </p:nvSpPr>
        <p:spPr>
          <a:xfrm>
            <a:off x="7223760" y="2880360"/>
            <a:ext cx="1554480" cy="502920"/>
          </a:xfrm>
          <a:prstGeom prst="rect">
            <a:avLst/>
          </a:prstGeom>
          <a:solidFill>
            <a:srgbClr val="FFFFFF"/>
          </a:solidFill>
          <a:ln w="3810">
            <a:solidFill>
              <a:srgbClr val="E8ECF0"/>
            </a:solidFill>
            <a:prstDash val="solid"/>
          </a:ln>
        </p:spPr>
      </p:sp>
      <p:sp>
        <p:nvSpPr>
          <p:cNvPr id="68" name="Shape 66"/>
          <p:cNvSpPr/>
          <p:nvPr/>
        </p:nvSpPr>
        <p:spPr>
          <a:xfrm>
            <a:off x="8778240" y="2880360"/>
            <a:ext cx="1554480" cy="502920"/>
          </a:xfrm>
          <a:prstGeom prst="rect">
            <a:avLst/>
          </a:prstGeom>
          <a:solidFill>
            <a:srgbClr val="FFFFFF"/>
          </a:solidFill>
          <a:ln w="3810">
            <a:solidFill>
              <a:srgbClr val="E8ECF0"/>
            </a:solidFill>
            <a:prstDash val="solid"/>
          </a:ln>
        </p:spPr>
      </p:sp>
      <p:sp>
        <p:nvSpPr>
          <p:cNvPr id="69" name="Shape 67"/>
          <p:cNvSpPr/>
          <p:nvPr/>
        </p:nvSpPr>
        <p:spPr>
          <a:xfrm>
            <a:off x="10332720" y="2880360"/>
            <a:ext cx="1554480" cy="502920"/>
          </a:xfrm>
          <a:prstGeom prst="rect">
            <a:avLst/>
          </a:prstGeom>
          <a:solidFill>
            <a:srgbClr val="FFFFFF"/>
          </a:solidFill>
          <a:ln w="3810">
            <a:solidFill>
              <a:srgbClr val="E8ECF0"/>
            </a:solidFill>
            <a:prstDash val="solid"/>
          </a:ln>
        </p:spPr>
      </p:sp>
      <p:sp>
        <p:nvSpPr>
          <p:cNvPr id="70" name="Shape 68"/>
          <p:cNvSpPr/>
          <p:nvPr/>
        </p:nvSpPr>
        <p:spPr>
          <a:xfrm>
            <a:off x="1463040" y="3383280"/>
            <a:ext cx="1097280" cy="502920"/>
          </a:xfrm>
          <a:prstGeom prst="rect">
            <a:avLst/>
          </a:prstGeom>
          <a:solidFill>
            <a:srgbClr val="F8FAFC"/>
          </a:solidFill>
          <a:ln/>
        </p:spPr>
      </p:sp>
      <p:sp>
        <p:nvSpPr>
          <p:cNvPr id="71" name="Text 69"/>
          <p:cNvSpPr/>
          <p:nvPr/>
        </p:nvSpPr>
        <p:spPr>
          <a:xfrm>
            <a:off x="1463040" y="3383280"/>
            <a:ext cx="1097280" cy="502920"/>
          </a:xfrm>
          <a:prstGeom prst="rect">
            <a:avLst/>
          </a:prstGeom>
          <a:noFill/>
          <a:ln/>
        </p:spPr>
        <p:txBody>
          <a:bodyPr wrap="square" rtlCol="0" anchor="ctr"/>
          <a:lstStyle/>
          <a:p>
            <a:pPr algn="l" indent="0" marL="0">
              <a:buNone/>
            </a:pPr>
            <a:r>
              <a:rPr lang="en-US" sz="900" b="1" dirty="0">
                <a:solidFill>
                  <a:srgbClr val="002060"/>
                </a:solidFill>
                <a:latin typeface="Arial" pitchFamily="34" charset="0"/>
                <a:ea typeface="Arial" pitchFamily="34" charset="-122"/>
                <a:cs typeface="Arial" pitchFamily="34" charset="-120"/>
              </a:rPr>
              <a:t>SMMT (2)</a:t>
            </a:r>
            <a:endParaRPr lang="en-US" sz="900" dirty="0"/>
          </a:p>
        </p:txBody>
      </p:sp>
      <p:sp>
        <p:nvSpPr>
          <p:cNvPr id="72" name="Shape 70"/>
          <p:cNvSpPr/>
          <p:nvPr/>
        </p:nvSpPr>
        <p:spPr>
          <a:xfrm>
            <a:off x="2560320" y="3383280"/>
            <a:ext cx="1554480" cy="502920"/>
          </a:xfrm>
          <a:prstGeom prst="rect">
            <a:avLst/>
          </a:prstGeom>
          <a:solidFill>
            <a:srgbClr val="F8FAFC"/>
          </a:solidFill>
          <a:ln w="3810">
            <a:solidFill>
              <a:srgbClr val="E8ECF0"/>
            </a:solidFill>
            <a:prstDash val="solid"/>
          </a:ln>
        </p:spPr>
      </p:sp>
      <p:sp>
        <p:nvSpPr>
          <p:cNvPr id="73" name="Shape 71"/>
          <p:cNvSpPr/>
          <p:nvPr/>
        </p:nvSpPr>
        <p:spPr>
          <a:xfrm>
            <a:off x="4114800" y="3383280"/>
            <a:ext cx="1554480" cy="502920"/>
          </a:xfrm>
          <a:prstGeom prst="rect">
            <a:avLst/>
          </a:prstGeom>
          <a:solidFill>
            <a:srgbClr val="F8FAFC"/>
          </a:solidFill>
          <a:ln w="3810">
            <a:solidFill>
              <a:srgbClr val="E8ECF0"/>
            </a:solidFill>
            <a:prstDash val="solid"/>
          </a:ln>
        </p:spPr>
      </p:sp>
      <p:sp>
        <p:nvSpPr>
          <p:cNvPr id="74" name="Shape 72"/>
          <p:cNvSpPr/>
          <p:nvPr/>
        </p:nvSpPr>
        <p:spPr>
          <a:xfrm>
            <a:off x="5669280" y="3383280"/>
            <a:ext cx="1554480" cy="502920"/>
          </a:xfrm>
          <a:prstGeom prst="rect">
            <a:avLst/>
          </a:prstGeom>
          <a:solidFill>
            <a:srgbClr val="F8FAFC"/>
          </a:solidFill>
          <a:ln w="3810">
            <a:solidFill>
              <a:srgbClr val="E8ECF0"/>
            </a:solidFill>
            <a:prstDash val="solid"/>
          </a:ln>
        </p:spPr>
      </p:sp>
      <p:sp>
        <p:nvSpPr>
          <p:cNvPr id="75" name="Shape 73"/>
          <p:cNvSpPr/>
          <p:nvPr/>
        </p:nvSpPr>
        <p:spPr>
          <a:xfrm>
            <a:off x="7223760" y="3383280"/>
            <a:ext cx="1554480" cy="502920"/>
          </a:xfrm>
          <a:prstGeom prst="rect">
            <a:avLst/>
          </a:prstGeom>
          <a:solidFill>
            <a:srgbClr val="F8FAFC"/>
          </a:solidFill>
          <a:ln w="3810">
            <a:solidFill>
              <a:srgbClr val="E8ECF0"/>
            </a:solidFill>
            <a:prstDash val="solid"/>
          </a:ln>
        </p:spPr>
      </p:sp>
      <p:sp>
        <p:nvSpPr>
          <p:cNvPr id="76" name="Shape 74"/>
          <p:cNvSpPr/>
          <p:nvPr/>
        </p:nvSpPr>
        <p:spPr>
          <a:xfrm>
            <a:off x="7854696" y="3488436"/>
            <a:ext cx="292608" cy="292608"/>
          </a:xfrm>
          <a:prstGeom prst="ellipse">
            <a:avLst/>
          </a:prstGeom>
          <a:solidFill>
            <a:srgbClr val="01579B"/>
          </a:solidFill>
          <a:ln/>
        </p:spPr>
      </p:sp>
      <p:sp>
        <p:nvSpPr>
          <p:cNvPr id="77" name="Text 75"/>
          <p:cNvSpPr/>
          <p:nvPr/>
        </p:nvSpPr>
        <p:spPr>
          <a:xfrm>
            <a:off x="7854696" y="3488436"/>
            <a:ext cx="292608" cy="29260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78" name="Shape 76"/>
          <p:cNvSpPr/>
          <p:nvPr/>
        </p:nvSpPr>
        <p:spPr>
          <a:xfrm>
            <a:off x="8778240" y="3383280"/>
            <a:ext cx="1554480" cy="502920"/>
          </a:xfrm>
          <a:prstGeom prst="rect">
            <a:avLst/>
          </a:prstGeom>
          <a:solidFill>
            <a:srgbClr val="F8FAFC"/>
          </a:solidFill>
          <a:ln w="3810">
            <a:solidFill>
              <a:srgbClr val="E8ECF0"/>
            </a:solidFill>
            <a:prstDash val="solid"/>
          </a:ln>
        </p:spPr>
      </p:sp>
      <p:sp>
        <p:nvSpPr>
          <p:cNvPr id="79" name="Shape 77"/>
          <p:cNvSpPr/>
          <p:nvPr/>
        </p:nvSpPr>
        <p:spPr>
          <a:xfrm>
            <a:off x="10332720" y="3383280"/>
            <a:ext cx="1554480" cy="502920"/>
          </a:xfrm>
          <a:prstGeom prst="rect">
            <a:avLst/>
          </a:prstGeom>
          <a:solidFill>
            <a:srgbClr val="F8FAFC"/>
          </a:solidFill>
          <a:ln w="3810">
            <a:solidFill>
              <a:srgbClr val="E8ECF0"/>
            </a:solidFill>
            <a:prstDash val="solid"/>
          </a:ln>
        </p:spPr>
      </p:sp>
      <p:sp>
        <p:nvSpPr>
          <p:cNvPr id="80" name="Shape 78"/>
          <p:cNvSpPr/>
          <p:nvPr/>
        </p:nvSpPr>
        <p:spPr>
          <a:xfrm>
            <a:off x="1463040" y="3886200"/>
            <a:ext cx="1097280" cy="502920"/>
          </a:xfrm>
          <a:prstGeom prst="rect">
            <a:avLst/>
          </a:prstGeom>
          <a:solidFill>
            <a:srgbClr val="FFFFFF"/>
          </a:solidFill>
          <a:ln/>
        </p:spPr>
      </p:sp>
      <p:sp>
        <p:nvSpPr>
          <p:cNvPr id="81" name="Text 79"/>
          <p:cNvSpPr/>
          <p:nvPr/>
        </p:nvSpPr>
        <p:spPr>
          <a:xfrm>
            <a:off x="1463040" y="3886200"/>
            <a:ext cx="1097280" cy="502920"/>
          </a:xfrm>
          <a:prstGeom prst="rect">
            <a:avLst/>
          </a:prstGeom>
          <a:noFill/>
          <a:ln/>
        </p:spPr>
        <p:txBody>
          <a:bodyPr wrap="square" rtlCol="0" anchor="ctr"/>
          <a:lstStyle/>
          <a:p>
            <a:pPr algn="l" indent="0" marL="0">
              <a:buNone/>
            </a:pPr>
            <a:r>
              <a:rPr lang="en-US" sz="900" b="1" dirty="0">
                <a:solidFill>
                  <a:srgbClr val="002060"/>
                </a:solidFill>
                <a:latin typeface="Arial" pitchFamily="34" charset="0"/>
                <a:ea typeface="Arial" pitchFamily="34" charset="-122"/>
                <a:cs typeface="Arial" pitchFamily="34" charset="-120"/>
              </a:rPr>
              <a:t>REGN (2)</a:t>
            </a:r>
            <a:endParaRPr lang="en-US" sz="900" dirty="0"/>
          </a:p>
        </p:txBody>
      </p:sp>
      <p:sp>
        <p:nvSpPr>
          <p:cNvPr id="82" name="Shape 80"/>
          <p:cNvSpPr/>
          <p:nvPr/>
        </p:nvSpPr>
        <p:spPr>
          <a:xfrm>
            <a:off x="2560320" y="3886200"/>
            <a:ext cx="1554480" cy="502920"/>
          </a:xfrm>
          <a:prstGeom prst="rect">
            <a:avLst/>
          </a:prstGeom>
          <a:solidFill>
            <a:srgbClr val="FFFFFF"/>
          </a:solidFill>
          <a:ln w="3810">
            <a:solidFill>
              <a:srgbClr val="E8ECF0"/>
            </a:solidFill>
            <a:prstDash val="solid"/>
          </a:ln>
        </p:spPr>
      </p:sp>
      <p:sp>
        <p:nvSpPr>
          <p:cNvPr id="83" name="Shape 81"/>
          <p:cNvSpPr/>
          <p:nvPr/>
        </p:nvSpPr>
        <p:spPr>
          <a:xfrm>
            <a:off x="3191256" y="3991356"/>
            <a:ext cx="292608" cy="292608"/>
          </a:xfrm>
          <a:prstGeom prst="ellipse">
            <a:avLst/>
          </a:prstGeom>
          <a:solidFill>
            <a:srgbClr val="002060"/>
          </a:solidFill>
          <a:ln/>
        </p:spPr>
      </p:sp>
      <p:sp>
        <p:nvSpPr>
          <p:cNvPr id="84" name="Text 82"/>
          <p:cNvSpPr/>
          <p:nvPr/>
        </p:nvSpPr>
        <p:spPr>
          <a:xfrm>
            <a:off x="3191256" y="3991356"/>
            <a:ext cx="292608" cy="29260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85" name="Shape 83"/>
          <p:cNvSpPr/>
          <p:nvPr/>
        </p:nvSpPr>
        <p:spPr>
          <a:xfrm>
            <a:off x="4114800" y="3886200"/>
            <a:ext cx="1554480" cy="502920"/>
          </a:xfrm>
          <a:prstGeom prst="rect">
            <a:avLst/>
          </a:prstGeom>
          <a:solidFill>
            <a:srgbClr val="FFFFFF"/>
          </a:solidFill>
          <a:ln w="3810">
            <a:solidFill>
              <a:srgbClr val="E8ECF0"/>
            </a:solidFill>
            <a:prstDash val="solid"/>
          </a:ln>
        </p:spPr>
      </p:sp>
      <p:sp>
        <p:nvSpPr>
          <p:cNvPr id="86" name="Shape 84"/>
          <p:cNvSpPr/>
          <p:nvPr/>
        </p:nvSpPr>
        <p:spPr>
          <a:xfrm>
            <a:off x="5669280" y="3886200"/>
            <a:ext cx="1554480" cy="502920"/>
          </a:xfrm>
          <a:prstGeom prst="rect">
            <a:avLst/>
          </a:prstGeom>
          <a:solidFill>
            <a:srgbClr val="FFFFFF"/>
          </a:solidFill>
          <a:ln w="3810">
            <a:solidFill>
              <a:srgbClr val="E8ECF0"/>
            </a:solidFill>
            <a:prstDash val="solid"/>
          </a:ln>
        </p:spPr>
      </p:sp>
      <p:sp>
        <p:nvSpPr>
          <p:cNvPr id="87" name="Shape 85"/>
          <p:cNvSpPr/>
          <p:nvPr/>
        </p:nvSpPr>
        <p:spPr>
          <a:xfrm>
            <a:off x="7223760" y="3886200"/>
            <a:ext cx="1554480" cy="502920"/>
          </a:xfrm>
          <a:prstGeom prst="rect">
            <a:avLst/>
          </a:prstGeom>
          <a:solidFill>
            <a:srgbClr val="FFFFFF"/>
          </a:solidFill>
          <a:ln w="3810">
            <a:solidFill>
              <a:srgbClr val="E8ECF0"/>
            </a:solidFill>
            <a:prstDash val="solid"/>
          </a:ln>
        </p:spPr>
      </p:sp>
      <p:sp>
        <p:nvSpPr>
          <p:cNvPr id="88" name="Shape 86"/>
          <p:cNvSpPr/>
          <p:nvPr/>
        </p:nvSpPr>
        <p:spPr>
          <a:xfrm>
            <a:off x="8778240" y="3886200"/>
            <a:ext cx="1554480" cy="502920"/>
          </a:xfrm>
          <a:prstGeom prst="rect">
            <a:avLst/>
          </a:prstGeom>
          <a:solidFill>
            <a:srgbClr val="FFFFFF"/>
          </a:solidFill>
          <a:ln w="3810">
            <a:solidFill>
              <a:srgbClr val="E8ECF0"/>
            </a:solidFill>
            <a:prstDash val="solid"/>
          </a:ln>
        </p:spPr>
      </p:sp>
      <p:sp>
        <p:nvSpPr>
          <p:cNvPr id="89" name="Shape 87"/>
          <p:cNvSpPr/>
          <p:nvPr/>
        </p:nvSpPr>
        <p:spPr>
          <a:xfrm>
            <a:off x="10332720" y="3886200"/>
            <a:ext cx="1554480" cy="502920"/>
          </a:xfrm>
          <a:prstGeom prst="rect">
            <a:avLst/>
          </a:prstGeom>
          <a:solidFill>
            <a:srgbClr val="FFFFFF"/>
          </a:solidFill>
          <a:ln w="3810">
            <a:solidFill>
              <a:srgbClr val="E8ECF0"/>
            </a:solidFill>
            <a:prstDash val="solid"/>
          </a:ln>
        </p:spPr>
      </p:sp>
      <p:sp>
        <p:nvSpPr>
          <p:cNvPr id="90" name="Shape 88"/>
          <p:cNvSpPr/>
          <p:nvPr/>
        </p:nvSpPr>
        <p:spPr>
          <a:xfrm>
            <a:off x="1463040" y="4389120"/>
            <a:ext cx="1097280" cy="502920"/>
          </a:xfrm>
          <a:prstGeom prst="rect">
            <a:avLst/>
          </a:prstGeom>
          <a:solidFill>
            <a:srgbClr val="F8FAFC"/>
          </a:solidFill>
          <a:ln/>
        </p:spPr>
      </p:sp>
      <p:sp>
        <p:nvSpPr>
          <p:cNvPr id="91" name="Text 89"/>
          <p:cNvSpPr/>
          <p:nvPr/>
        </p:nvSpPr>
        <p:spPr>
          <a:xfrm>
            <a:off x="1463040" y="4389120"/>
            <a:ext cx="1097280" cy="502920"/>
          </a:xfrm>
          <a:prstGeom prst="rect">
            <a:avLst/>
          </a:prstGeom>
          <a:noFill/>
          <a:ln/>
        </p:spPr>
        <p:txBody>
          <a:bodyPr wrap="square" rtlCol="0" anchor="ctr"/>
          <a:lstStyle/>
          <a:p>
            <a:pPr algn="l" indent="0" marL="0">
              <a:buNone/>
            </a:pPr>
            <a:r>
              <a:rPr lang="en-US" sz="900" b="1" dirty="0">
                <a:solidFill>
                  <a:srgbClr val="002060"/>
                </a:solidFill>
                <a:latin typeface="Arial" pitchFamily="34" charset="0"/>
                <a:ea typeface="Arial" pitchFamily="34" charset="-122"/>
                <a:cs typeface="Arial" pitchFamily="34" charset="-120"/>
              </a:rPr>
              <a:t>LLY (2)</a:t>
            </a:r>
            <a:endParaRPr lang="en-US" sz="900" dirty="0"/>
          </a:p>
        </p:txBody>
      </p:sp>
      <p:sp>
        <p:nvSpPr>
          <p:cNvPr id="92" name="Shape 90"/>
          <p:cNvSpPr/>
          <p:nvPr/>
        </p:nvSpPr>
        <p:spPr>
          <a:xfrm>
            <a:off x="2560320" y="4389120"/>
            <a:ext cx="1554480" cy="502920"/>
          </a:xfrm>
          <a:prstGeom prst="rect">
            <a:avLst/>
          </a:prstGeom>
          <a:solidFill>
            <a:srgbClr val="F8FAFC"/>
          </a:solidFill>
          <a:ln w="3810">
            <a:solidFill>
              <a:srgbClr val="E8ECF0"/>
            </a:solidFill>
            <a:prstDash val="solid"/>
          </a:ln>
        </p:spPr>
      </p:sp>
      <p:sp>
        <p:nvSpPr>
          <p:cNvPr id="93" name="Shape 91"/>
          <p:cNvSpPr/>
          <p:nvPr/>
        </p:nvSpPr>
        <p:spPr>
          <a:xfrm>
            <a:off x="4114800" y="4389120"/>
            <a:ext cx="1554480" cy="502920"/>
          </a:xfrm>
          <a:prstGeom prst="rect">
            <a:avLst/>
          </a:prstGeom>
          <a:solidFill>
            <a:srgbClr val="F8FAFC"/>
          </a:solidFill>
          <a:ln w="3810">
            <a:solidFill>
              <a:srgbClr val="E8ECF0"/>
            </a:solidFill>
            <a:prstDash val="solid"/>
          </a:ln>
        </p:spPr>
      </p:sp>
      <p:sp>
        <p:nvSpPr>
          <p:cNvPr id="94" name="Shape 92"/>
          <p:cNvSpPr/>
          <p:nvPr/>
        </p:nvSpPr>
        <p:spPr>
          <a:xfrm>
            <a:off x="4745736" y="4494276"/>
            <a:ext cx="292608" cy="292608"/>
          </a:xfrm>
          <a:prstGeom prst="ellipse">
            <a:avLst/>
          </a:prstGeom>
          <a:solidFill>
            <a:srgbClr val="4A148C"/>
          </a:solidFill>
          <a:ln/>
        </p:spPr>
      </p:sp>
      <p:sp>
        <p:nvSpPr>
          <p:cNvPr id="95" name="Text 93"/>
          <p:cNvSpPr/>
          <p:nvPr/>
        </p:nvSpPr>
        <p:spPr>
          <a:xfrm>
            <a:off x="4745736" y="4494276"/>
            <a:ext cx="292608" cy="29260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96" name="Shape 94"/>
          <p:cNvSpPr/>
          <p:nvPr/>
        </p:nvSpPr>
        <p:spPr>
          <a:xfrm>
            <a:off x="5669280" y="4389120"/>
            <a:ext cx="1554480" cy="502920"/>
          </a:xfrm>
          <a:prstGeom prst="rect">
            <a:avLst/>
          </a:prstGeom>
          <a:solidFill>
            <a:srgbClr val="F8FAFC"/>
          </a:solidFill>
          <a:ln w="3810">
            <a:solidFill>
              <a:srgbClr val="E8ECF0"/>
            </a:solidFill>
            <a:prstDash val="solid"/>
          </a:ln>
        </p:spPr>
      </p:sp>
      <p:sp>
        <p:nvSpPr>
          <p:cNvPr id="97" name="Shape 95"/>
          <p:cNvSpPr/>
          <p:nvPr/>
        </p:nvSpPr>
        <p:spPr>
          <a:xfrm>
            <a:off x="7223760" y="4389120"/>
            <a:ext cx="1554480" cy="502920"/>
          </a:xfrm>
          <a:prstGeom prst="rect">
            <a:avLst/>
          </a:prstGeom>
          <a:solidFill>
            <a:srgbClr val="F8FAFC"/>
          </a:solidFill>
          <a:ln w="3810">
            <a:solidFill>
              <a:srgbClr val="E8ECF0"/>
            </a:solidFill>
            <a:prstDash val="solid"/>
          </a:ln>
        </p:spPr>
      </p:sp>
      <p:sp>
        <p:nvSpPr>
          <p:cNvPr id="98" name="Shape 96"/>
          <p:cNvSpPr/>
          <p:nvPr/>
        </p:nvSpPr>
        <p:spPr>
          <a:xfrm>
            <a:off x="8778240" y="4389120"/>
            <a:ext cx="1554480" cy="502920"/>
          </a:xfrm>
          <a:prstGeom prst="rect">
            <a:avLst/>
          </a:prstGeom>
          <a:solidFill>
            <a:srgbClr val="F8FAFC"/>
          </a:solidFill>
          <a:ln w="3810">
            <a:solidFill>
              <a:srgbClr val="E8ECF0"/>
            </a:solidFill>
            <a:prstDash val="solid"/>
          </a:ln>
        </p:spPr>
      </p:sp>
      <p:sp>
        <p:nvSpPr>
          <p:cNvPr id="99" name="Shape 97"/>
          <p:cNvSpPr/>
          <p:nvPr/>
        </p:nvSpPr>
        <p:spPr>
          <a:xfrm>
            <a:off x="10332720" y="4389120"/>
            <a:ext cx="1554480" cy="502920"/>
          </a:xfrm>
          <a:prstGeom prst="rect">
            <a:avLst/>
          </a:prstGeom>
          <a:solidFill>
            <a:srgbClr val="F8FAFC"/>
          </a:solidFill>
          <a:ln w="3810">
            <a:solidFill>
              <a:srgbClr val="E8ECF0"/>
            </a:solidFill>
            <a:prstDash val="solid"/>
          </a:ln>
        </p:spPr>
      </p:sp>
      <p:sp>
        <p:nvSpPr>
          <p:cNvPr id="100" name="Shape 98"/>
          <p:cNvSpPr/>
          <p:nvPr/>
        </p:nvSpPr>
        <p:spPr>
          <a:xfrm>
            <a:off x="1463040" y="4892040"/>
            <a:ext cx="1097280" cy="502920"/>
          </a:xfrm>
          <a:prstGeom prst="rect">
            <a:avLst/>
          </a:prstGeom>
          <a:solidFill>
            <a:srgbClr val="FFFFFF"/>
          </a:solidFill>
          <a:ln/>
        </p:spPr>
      </p:sp>
      <p:sp>
        <p:nvSpPr>
          <p:cNvPr id="101" name="Text 99"/>
          <p:cNvSpPr/>
          <p:nvPr/>
        </p:nvSpPr>
        <p:spPr>
          <a:xfrm>
            <a:off x="1463040" y="4892040"/>
            <a:ext cx="1097280" cy="502920"/>
          </a:xfrm>
          <a:prstGeom prst="rect">
            <a:avLst/>
          </a:prstGeom>
          <a:noFill/>
          <a:ln/>
        </p:spPr>
        <p:txBody>
          <a:bodyPr wrap="square" rtlCol="0" anchor="ctr"/>
          <a:lstStyle/>
          <a:p>
            <a:pPr algn="l" indent="0" marL="0">
              <a:buNone/>
            </a:pPr>
            <a:r>
              <a:rPr lang="en-US" sz="900" b="1" dirty="0">
                <a:solidFill>
                  <a:srgbClr val="002060"/>
                </a:solidFill>
                <a:latin typeface="Arial" pitchFamily="34" charset="0"/>
                <a:ea typeface="Arial" pitchFamily="34" charset="-122"/>
                <a:cs typeface="Arial" pitchFamily="34" charset="-120"/>
              </a:rPr>
              <a:t>GILD (1+)</a:t>
            </a:r>
            <a:endParaRPr lang="en-US" sz="900" dirty="0"/>
          </a:p>
        </p:txBody>
      </p:sp>
      <p:sp>
        <p:nvSpPr>
          <p:cNvPr id="102" name="Shape 100"/>
          <p:cNvSpPr/>
          <p:nvPr/>
        </p:nvSpPr>
        <p:spPr>
          <a:xfrm>
            <a:off x="2560320" y="4892040"/>
            <a:ext cx="1554480" cy="502920"/>
          </a:xfrm>
          <a:prstGeom prst="rect">
            <a:avLst/>
          </a:prstGeom>
          <a:solidFill>
            <a:srgbClr val="FFFFFF"/>
          </a:solidFill>
          <a:ln w="3810">
            <a:solidFill>
              <a:srgbClr val="E8ECF0"/>
            </a:solidFill>
            <a:prstDash val="solid"/>
          </a:ln>
        </p:spPr>
      </p:sp>
      <p:sp>
        <p:nvSpPr>
          <p:cNvPr id="103" name="Shape 101"/>
          <p:cNvSpPr/>
          <p:nvPr/>
        </p:nvSpPr>
        <p:spPr>
          <a:xfrm>
            <a:off x="4114800" y="4892040"/>
            <a:ext cx="1554480" cy="502920"/>
          </a:xfrm>
          <a:prstGeom prst="rect">
            <a:avLst/>
          </a:prstGeom>
          <a:solidFill>
            <a:srgbClr val="FFFFFF"/>
          </a:solidFill>
          <a:ln w="3810">
            <a:solidFill>
              <a:srgbClr val="E8ECF0"/>
            </a:solidFill>
            <a:prstDash val="solid"/>
          </a:ln>
        </p:spPr>
      </p:sp>
      <p:sp>
        <p:nvSpPr>
          <p:cNvPr id="104" name="Shape 102"/>
          <p:cNvSpPr/>
          <p:nvPr/>
        </p:nvSpPr>
        <p:spPr>
          <a:xfrm>
            <a:off x="5669280" y="4892040"/>
            <a:ext cx="1554480" cy="502920"/>
          </a:xfrm>
          <a:prstGeom prst="rect">
            <a:avLst/>
          </a:prstGeom>
          <a:solidFill>
            <a:srgbClr val="FFFFFF"/>
          </a:solidFill>
          <a:ln w="3810">
            <a:solidFill>
              <a:srgbClr val="E8ECF0"/>
            </a:solidFill>
            <a:prstDash val="solid"/>
          </a:ln>
        </p:spPr>
      </p:sp>
      <p:sp>
        <p:nvSpPr>
          <p:cNvPr id="105" name="Shape 103"/>
          <p:cNvSpPr/>
          <p:nvPr/>
        </p:nvSpPr>
        <p:spPr>
          <a:xfrm>
            <a:off x="6332220" y="5029200"/>
            <a:ext cx="228600" cy="228600"/>
          </a:xfrm>
          <a:prstGeom prst="ellipse">
            <a:avLst/>
          </a:prstGeom>
          <a:solidFill>
            <a:srgbClr val="00B0B9"/>
          </a:solidFill>
          <a:ln/>
        </p:spPr>
      </p:sp>
      <p:sp>
        <p:nvSpPr>
          <p:cNvPr id="106" name="Text 104"/>
          <p:cNvSpPr/>
          <p:nvPr/>
        </p:nvSpPr>
        <p:spPr>
          <a:xfrm>
            <a:off x="6332220" y="5029200"/>
            <a:ext cx="228600" cy="2286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07" name="Shape 105"/>
          <p:cNvSpPr/>
          <p:nvPr/>
        </p:nvSpPr>
        <p:spPr>
          <a:xfrm>
            <a:off x="7223760" y="4892040"/>
            <a:ext cx="1554480" cy="502920"/>
          </a:xfrm>
          <a:prstGeom prst="rect">
            <a:avLst/>
          </a:prstGeom>
          <a:solidFill>
            <a:srgbClr val="FFFFFF"/>
          </a:solidFill>
          <a:ln w="3810">
            <a:solidFill>
              <a:srgbClr val="E8ECF0"/>
            </a:solidFill>
            <a:prstDash val="solid"/>
          </a:ln>
        </p:spPr>
      </p:sp>
      <p:sp>
        <p:nvSpPr>
          <p:cNvPr id="108" name="Shape 106"/>
          <p:cNvSpPr/>
          <p:nvPr/>
        </p:nvSpPr>
        <p:spPr>
          <a:xfrm>
            <a:off x="8778240" y="4892040"/>
            <a:ext cx="1554480" cy="502920"/>
          </a:xfrm>
          <a:prstGeom prst="rect">
            <a:avLst/>
          </a:prstGeom>
          <a:solidFill>
            <a:srgbClr val="FFFFFF"/>
          </a:solidFill>
          <a:ln w="3810">
            <a:solidFill>
              <a:srgbClr val="E8ECF0"/>
            </a:solidFill>
            <a:prstDash val="solid"/>
          </a:ln>
        </p:spPr>
      </p:sp>
      <p:sp>
        <p:nvSpPr>
          <p:cNvPr id="109" name="Shape 107"/>
          <p:cNvSpPr/>
          <p:nvPr/>
        </p:nvSpPr>
        <p:spPr>
          <a:xfrm>
            <a:off x="9441180" y="5029200"/>
            <a:ext cx="228600" cy="228600"/>
          </a:xfrm>
          <a:prstGeom prst="ellipse">
            <a:avLst/>
          </a:prstGeom>
          <a:solidFill>
            <a:srgbClr val="007A85"/>
          </a:solidFill>
          <a:ln/>
        </p:spPr>
      </p:sp>
      <p:sp>
        <p:nvSpPr>
          <p:cNvPr id="110" name="Text 108"/>
          <p:cNvSpPr/>
          <p:nvPr/>
        </p:nvSpPr>
        <p:spPr>
          <a:xfrm>
            <a:off x="9441180" y="5029200"/>
            <a:ext cx="228600" cy="2286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11" name="Shape 109"/>
          <p:cNvSpPr/>
          <p:nvPr/>
        </p:nvSpPr>
        <p:spPr>
          <a:xfrm>
            <a:off x="10332720" y="4892040"/>
            <a:ext cx="1554480" cy="502920"/>
          </a:xfrm>
          <a:prstGeom prst="rect">
            <a:avLst/>
          </a:prstGeom>
          <a:solidFill>
            <a:srgbClr val="FFFFFF"/>
          </a:solidFill>
          <a:ln w="3810">
            <a:solidFill>
              <a:srgbClr val="E8ECF0"/>
            </a:solidFill>
            <a:prstDash val="solid"/>
          </a:ln>
        </p:spPr>
      </p:sp>
      <p:sp>
        <p:nvSpPr>
          <p:cNvPr id="112" name="Shape 110"/>
          <p:cNvSpPr/>
          <p:nvPr/>
        </p:nvSpPr>
        <p:spPr>
          <a:xfrm>
            <a:off x="1463040" y="5394960"/>
            <a:ext cx="1097280" cy="502920"/>
          </a:xfrm>
          <a:prstGeom prst="rect">
            <a:avLst/>
          </a:prstGeom>
          <a:solidFill>
            <a:srgbClr val="F8FAFC"/>
          </a:solidFill>
          <a:ln/>
        </p:spPr>
      </p:sp>
      <p:sp>
        <p:nvSpPr>
          <p:cNvPr id="113" name="Text 111"/>
          <p:cNvSpPr/>
          <p:nvPr/>
        </p:nvSpPr>
        <p:spPr>
          <a:xfrm>
            <a:off x="1463040" y="5394960"/>
            <a:ext cx="1097280" cy="502920"/>
          </a:xfrm>
          <a:prstGeom prst="rect">
            <a:avLst/>
          </a:prstGeom>
          <a:noFill/>
          <a:ln/>
        </p:spPr>
        <p:txBody>
          <a:bodyPr wrap="square" rtlCol="0" anchor="ctr"/>
          <a:lstStyle/>
          <a:p>
            <a:pPr algn="l" indent="0" marL="0">
              <a:buNone/>
            </a:pPr>
            <a:r>
              <a:rPr lang="en-US" sz="900" b="1" dirty="0">
                <a:solidFill>
                  <a:srgbClr val="002060"/>
                </a:solidFill>
                <a:latin typeface="Arial" pitchFamily="34" charset="0"/>
                <a:ea typeface="Arial" pitchFamily="34" charset="-122"/>
                <a:cs typeface="Arial" pitchFamily="34" charset="-120"/>
              </a:rPr>
              <a:t>PFE (3)</a:t>
            </a:r>
            <a:endParaRPr lang="en-US" sz="900" dirty="0"/>
          </a:p>
        </p:txBody>
      </p:sp>
      <p:sp>
        <p:nvSpPr>
          <p:cNvPr id="114" name="Shape 112"/>
          <p:cNvSpPr/>
          <p:nvPr/>
        </p:nvSpPr>
        <p:spPr>
          <a:xfrm>
            <a:off x="2560320" y="5394960"/>
            <a:ext cx="1554480" cy="502920"/>
          </a:xfrm>
          <a:prstGeom prst="rect">
            <a:avLst/>
          </a:prstGeom>
          <a:solidFill>
            <a:srgbClr val="F8FAFC"/>
          </a:solidFill>
          <a:ln w="3810">
            <a:solidFill>
              <a:srgbClr val="E8ECF0"/>
            </a:solidFill>
            <a:prstDash val="solid"/>
          </a:ln>
        </p:spPr>
      </p:sp>
      <p:sp>
        <p:nvSpPr>
          <p:cNvPr id="115" name="Shape 113"/>
          <p:cNvSpPr/>
          <p:nvPr/>
        </p:nvSpPr>
        <p:spPr>
          <a:xfrm>
            <a:off x="3223260" y="5532120"/>
            <a:ext cx="228600" cy="228600"/>
          </a:xfrm>
          <a:prstGeom prst="ellipse">
            <a:avLst/>
          </a:prstGeom>
          <a:solidFill>
            <a:srgbClr val="002060"/>
          </a:solidFill>
          <a:ln/>
        </p:spPr>
      </p:sp>
      <p:sp>
        <p:nvSpPr>
          <p:cNvPr id="116" name="Text 114"/>
          <p:cNvSpPr/>
          <p:nvPr/>
        </p:nvSpPr>
        <p:spPr>
          <a:xfrm>
            <a:off x="3223260" y="5532120"/>
            <a:ext cx="228600" cy="2286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17" name="Shape 115"/>
          <p:cNvSpPr/>
          <p:nvPr/>
        </p:nvSpPr>
        <p:spPr>
          <a:xfrm>
            <a:off x="4114800" y="5394960"/>
            <a:ext cx="1554480" cy="502920"/>
          </a:xfrm>
          <a:prstGeom prst="rect">
            <a:avLst/>
          </a:prstGeom>
          <a:solidFill>
            <a:srgbClr val="F8FAFC"/>
          </a:solidFill>
          <a:ln w="3810">
            <a:solidFill>
              <a:srgbClr val="E8ECF0"/>
            </a:solidFill>
            <a:prstDash val="solid"/>
          </a:ln>
        </p:spPr>
      </p:sp>
      <p:sp>
        <p:nvSpPr>
          <p:cNvPr id="118" name="Shape 116"/>
          <p:cNvSpPr/>
          <p:nvPr/>
        </p:nvSpPr>
        <p:spPr>
          <a:xfrm>
            <a:off x="5669280" y="5394960"/>
            <a:ext cx="1554480" cy="502920"/>
          </a:xfrm>
          <a:prstGeom prst="rect">
            <a:avLst/>
          </a:prstGeom>
          <a:solidFill>
            <a:srgbClr val="F8FAFC"/>
          </a:solidFill>
          <a:ln w="3810">
            <a:solidFill>
              <a:srgbClr val="E8ECF0"/>
            </a:solidFill>
            <a:prstDash val="solid"/>
          </a:ln>
        </p:spPr>
      </p:sp>
      <p:sp>
        <p:nvSpPr>
          <p:cNvPr id="119" name="Shape 117"/>
          <p:cNvSpPr/>
          <p:nvPr/>
        </p:nvSpPr>
        <p:spPr>
          <a:xfrm>
            <a:off x="7223760" y="5394960"/>
            <a:ext cx="1554480" cy="502920"/>
          </a:xfrm>
          <a:prstGeom prst="rect">
            <a:avLst/>
          </a:prstGeom>
          <a:solidFill>
            <a:srgbClr val="F8FAFC"/>
          </a:solidFill>
          <a:ln w="3810">
            <a:solidFill>
              <a:srgbClr val="E8ECF0"/>
            </a:solidFill>
            <a:prstDash val="solid"/>
          </a:ln>
        </p:spPr>
      </p:sp>
      <p:sp>
        <p:nvSpPr>
          <p:cNvPr id="120" name="Shape 118"/>
          <p:cNvSpPr/>
          <p:nvPr/>
        </p:nvSpPr>
        <p:spPr>
          <a:xfrm>
            <a:off x="7886700" y="5532120"/>
            <a:ext cx="228600" cy="228600"/>
          </a:xfrm>
          <a:prstGeom prst="ellipse">
            <a:avLst/>
          </a:prstGeom>
          <a:solidFill>
            <a:srgbClr val="01579B"/>
          </a:solidFill>
          <a:ln/>
        </p:spPr>
      </p:sp>
      <p:sp>
        <p:nvSpPr>
          <p:cNvPr id="121" name="Text 119"/>
          <p:cNvSpPr/>
          <p:nvPr/>
        </p:nvSpPr>
        <p:spPr>
          <a:xfrm>
            <a:off x="7886700" y="5532120"/>
            <a:ext cx="228600" cy="2286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22" name="Shape 120"/>
          <p:cNvSpPr/>
          <p:nvPr/>
        </p:nvSpPr>
        <p:spPr>
          <a:xfrm>
            <a:off x="8778240" y="5394960"/>
            <a:ext cx="1554480" cy="502920"/>
          </a:xfrm>
          <a:prstGeom prst="rect">
            <a:avLst/>
          </a:prstGeom>
          <a:solidFill>
            <a:srgbClr val="F8FAFC"/>
          </a:solidFill>
          <a:ln w="3810">
            <a:solidFill>
              <a:srgbClr val="E8ECF0"/>
            </a:solidFill>
            <a:prstDash val="solid"/>
          </a:ln>
        </p:spPr>
      </p:sp>
      <p:sp>
        <p:nvSpPr>
          <p:cNvPr id="123" name="Shape 121"/>
          <p:cNvSpPr/>
          <p:nvPr/>
        </p:nvSpPr>
        <p:spPr>
          <a:xfrm>
            <a:off x="10332720" y="5394960"/>
            <a:ext cx="1554480" cy="502920"/>
          </a:xfrm>
          <a:prstGeom prst="rect">
            <a:avLst/>
          </a:prstGeom>
          <a:solidFill>
            <a:srgbClr val="F8FAFC"/>
          </a:solidFill>
          <a:ln w="3810">
            <a:solidFill>
              <a:srgbClr val="E8ECF0"/>
            </a:solidFill>
            <a:prstDash val="solid"/>
          </a:ln>
        </p:spPr>
      </p:sp>
      <p:sp>
        <p:nvSpPr>
          <p:cNvPr id="124" name="Shape 122"/>
          <p:cNvSpPr/>
          <p:nvPr/>
        </p:nvSpPr>
        <p:spPr>
          <a:xfrm>
            <a:off x="10995660" y="5532120"/>
            <a:ext cx="228600" cy="228600"/>
          </a:xfrm>
          <a:prstGeom prst="ellipse">
            <a:avLst/>
          </a:prstGeom>
          <a:solidFill>
            <a:srgbClr val="E65100"/>
          </a:solidFill>
          <a:ln/>
        </p:spPr>
      </p:sp>
      <p:sp>
        <p:nvSpPr>
          <p:cNvPr id="125" name="Text 123"/>
          <p:cNvSpPr/>
          <p:nvPr/>
        </p:nvSpPr>
        <p:spPr>
          <a:xfrm>
            <a:off x="10995660" y="5532120"/>
            <a:ext cx="228600" cy="2286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26" name="Shape 124"/>
          <p:cNvSpPr/>
          <p:nvPr/>
        </p:nvSpPr>
        <p:spPr>
          <a:xfrm>
            <a:off x="365760" y="5623560"/>
            <a:ext cx="11430000" cy="868680"/>
          </a:xfrm>
          <a:prstGeom prst="rect">
            <a:avLst/>
          </a:prstGeom>
          <a:solidFill>
            <a:srgbClr val="001540"/>
          </a:solidFill>
          <a:ln/>
        </p:spPr>
      </p:sp>
      <p:sp>
        <p:nvSpPr>
          <p:cNvPr id="127" name="Text 125"/>
          <p:cNvSpPr/>
          <p:nvPr/>
        </p:nvSpPr>
        <p:spPr>
          <a:xfrm>
            <a:off x="548640" y="5669280"/>
            <a:ext cx="11064240" cy="777240"/>
          </a:xfrm>
          <a:prstGeom prst="rect">
            <a:avLst/>
          </a:prstGeom>
          <a:noFill/>
          <a:ln/>
        </p:spPr>
        <p:txBody>
          <a:bodyPr wrap="square" rtlCol="0" anchor="ctr"/>
          <a:lstStyle/>
          <a:p>
            <a:pPr indent="0" marL="0">
              <a:buNone/>
            </a:pPr>
            <a:r>
              <a:rPr lang="en-US" sz="900" b="1" dirty="0">
                <a:solidFill>
                  <a:srgbClr val="00B0B9"/>
                </a:solidFill>
                <a:latin typeface="Arial" pitchFamily="34" charset="0"/>
                <a:ea typeface="Arial" pitchFamily="34" charset="-122"/>
                <a:cs typeface="Arial" pitchFamily="34" charset="-120"/>
              </a:rPr>
              <a:t>Keytruda Implications: </a:t>
            </a:r>
            <a:pPr indent="0" marL="0">
              <a:buNone/>
            </a:pPr>
            <a:r>
              <a:rPr lang="en-US" sz="850" dirty="0">
                <a:solidFill>
                  <a:srgbClr val="FFFFFF"/>
                </a:solidFill>
                <a:latin typeface="Arial" pitchFamily="34" charset="0"/>
                <a:ea typeface="Arial" pitchFamily="34" charset="-122"/>
                <a:cs typeface="Arial" pitchFamily="34" charset="-120"/>
              </a:rPr>
              <a:t>AstraZeneca poses the broadest threat to Keytruda — 9 drugs across IO, TIGIT, and TROP2, including rilvegostomig (a PD1/TIGIT bispecific that could replace pembro outright). Daiichi Sankyo's TROP2/ADC combos with pembro are pembro-supportive but threaten the chemo backbone. Summit (SMMT) is the purest displacement bet — ivonescimab replaces pembro entirely. MRK's own pipeline defense (calderasib + sac-TMT, 4 drugs) is narrower than its competitive exposure, which is notable given 4 biosimilars approaching. BMY's dual IO+KRAS strategy (6 drugs) is aggressive but most assets ADD to pembro rather than replace it.</a:t>
            </a:r>
            <a:endParaRPr lang="en-US" sz="900" dirty="0"/>
          </a:p>
        </p:txBody>
      </p:sp>
      <p:sp>
        <p:nvSpPr>
          <p:cNvPr id="128" name="Text 126"/>
          <p:cNvSpPr/>
          <p:nvPr/>
        </p:nvSpPr>
        <p:spPr>
          <a:xfrm>
            <a:off x="365760" y="6629400"/>
            <a:ext cx="11430000" cy="137160"/>
          </a:xfrm>
          <a:prstGeom prst="rect">
            <a:avLst/>
          </a:prstGeom>
          <a:noFill/>
          <a:ln/>
        </p:spPr>
        <p:txBody>
          <a:bodyPr wrap="square" rtlCol="0" anchor="ctr"/>
          <a:lstStyle/>
          <a:p>
            <a:pPr indent="0" marL="0">
              <a:buNone/>
            </a:pPr>
            <a:r>
              <a:rPr lang="en-US" sz="600" i="1" dirty="0">
                <a:solidFill>
                  <a:srgbClr val="AAAAAA"/>
                </a:solidFill>
                <a:latin typeface="Arial" pitchFamily="34" charset="0"/>
                <a:ea typeface="Arial" pitchFamily="34" charset="-122"/>
                <a:cs typeface="Arial" pitchFamily="34" charset="-120"/>
              </a:rPr>
              <a:t>Source: Pipeline database | Phase 3 only, non-biosimilar | March 2026</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1540"/>
        </a:solidFill>
      </p:bgPr>
    </p:bg>
    <p:spTree>
      <p:nvGrpSpPr>
        <p:cNvPr id="1" name=""/>
        <p:cNvGrpSpPr/>
        <p:nvPr/>
      </p:nvGrpSpPr>
      <p:grpSpPr>
        <a:xfrm>
          <a:off x="0" y="0"/>
          <a:ext cx="0" cy="0"/>
          <a:chOff x="0" y="0"/>
          <a:chExt cx="0" cy="0"/>
        </a:xfrm>
      </p:grpSpPr>
      <p:sp>
        <p:nvSpPr>
          <p:cNvPr id="2" name="Text 0"/>
          <p:cNvSpPr/>
          <p:nvPr/>
        </p:nvSpPr>
        <p:spPr>
          <a:xfrm>
            <a:off x="365760" y="228600"/>
            <a:ext cx="114300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Keytruda Competitive Positioning — Investment Summary</a:t>
            </a:r>
            <a:endParaRPr lang="en-US" sz="1800" dirty="0"/>
          </a:p>
        </p:txBody>
      </p:sp>
      <p:sp>
        <p:nvSpPr>
          <p:cNvPr id="3" name="Shape 1"/>
          <p:cNvSpPr/>
          <p:nvPr/>
        </p:nvSpPr>
        <p:spPr>
          <a:xfrm>
            <a:off x="3200400" y="731520"/>
            <a:ext cx="5760720" cy="0"/>
          </a:xfrm>
          <a:prstGeom prst="line">
            <a:avLst/>
          </a:prstGeom>
          <a:noFill/>
          <a:ln w="25400">
            <a:solidFill>
              <a:srgbClr val="00B0B9"/>
            </a:solidFill>
            <a:prstDash val="solid"/>
          </a:ln>
        </p:spPr>
      </p:sp>
      <p:sp>
        <p:nvSpPr>
          <p:cNvPr id="4" name="Shape 2"/>
          <p:cNvSpPr/>
          <p:nvPr/>
        </p:nvSpPr>
        <p:spPr>
          <a:xfrm>
            <a:off x="457200" y="1033272"/>
            <a:ext cx="347472" cy="347472"/>
          </a:xfrm>
          <a:prstGeom prst="ellipse">
            <a:avLst/>
          </a:prstGeom>
          <a:solidFill>
            <a:srgbClr val="00B0B9"/>
          </a:solidFill>
          <a:ln/>
        </p:spPr>
      </p:sp>
      <p:sp>
        <p:nvSpPr>
          <p:cNvPr id="5" name="Text 3"/>
          <p:cNvSpPr/>
          <p:nvPr/>
        </p:nvSpPr>
        <p:spPr>
          <a:xfrm>
            <a:off x="457200" y="1033272"/>
            <a:ext cx="347472" cy="347472"/>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960120" y="978408"/>
            <a:ext cx="10835640" cy="292608"/>
          </a:xfrm>
          <a:prstGeom prst="rect">
            <a:avLst/>
          </a:prstGeom>
          <a:noFill/>
          <a:ln/>
        </p:spPr>
        <p:txBody>
          <a:bodyPr wrap="square" lIns="0" tIns="0" rIns="0" bIns="0" rtlCol="0" anchor="ctr"/>
          <a:lstStyle/>
          <a:p>
            <a:pPr indent="0" marL="0">
              <a:buNone/>
            </a:pPr>
            <a:r>
              <a:rPr lang="en-US" sz="1100" b="1" dirty="0">
                <a:solidFill>
                  <a:srgbClr val="00B0B9"/>
                </a:solidFill>
                <a:latin typeface="Arial" pitchFamily="34" charset="0"/>
                <a:ea typeface="Arial" pitchFamily="34" charset="-122"/>
                <a:cs typeface="Arial" pitchFamily="34" charset="-120"/>
              </a:rPr>
              <a:t>Pembro's 1L position is defensible but narrowing — displacement risks are real but concentrated.</a:t>
            </a:r>
            <a:endParaRPr lang="en-US" sz="1100" dirty="0"/>
          </a:p>
        </p:txBody>
      </p:sp>
      <p:sp>
        <p:nvSpPr>
          <p:cNvPr id="7" name="Text 5"/>
          <p:cNvSpPr/>
          <p:nvPr/>
        </p:nvSpPr>
        <p:spPr>
          <a:xfrm>
            <a:off x="960120" y="1289304"/>
            <a:ext cx="10835640" cy="713232"/>
          </a:xfrm>
          <a:prstGeom prst="rect">
            <a:avLst/>
          </a:prstGeom>
          <a:noFill/>
          <a:ln/>
        </p:spPr>
        <p:txBody>
          <a:bodyPr wrap="square" lIns="0" tIns="0" rIns="0" bIns="0" rtlCol="0" anchor="t"/>
          <a:lstStyle/>
          <a:p>
            <a:pPr indent="0" marL="0">
              <a:buNone/>
            </a:pPr>
            <a:r>
              <a:rPr lang="en-US" sz="900" dirty="0">
                <a:solidFill>
                  <a:srgbClr val="B0BEC5"/>
                </a:solidFill>
                <a:latin typeface="Arial" pitchFamily="34" charset="0"/>
                <a:ea typeface="Arial" pitchFamily="34" charset="-122"/>
                <a:cs typeface="Arial" pitchFamily="34" charset="-120"/>
              </a:rPr>
              <a:t>73% of 1L Phase 3 drugs include an IO checkpoint component — pembro remains central. But PD1/VEGF bispecifics (ivonescimab) and TROP2 ADC monotherapy aim to REPLACE pembro entirely. These are the drugs to watch. KRAS inhibitors (12 drugs) actually reinforce pembro's role by layering on top of it.</a:t>
            </a:r>
            <a:endParaRPr lang="en-US" sz="900" dirty="0"/>
          </a:p>
        </p:txBody>
      </p:sp>
      <p:sp>
        <p:nvSpPr>
          <p:cNvPr id="8" name="Shape 6"/>
          <p:cNvSpPr/>
          <p:nvPr/>
        </p:nvSpPr>
        <p:spPr>
          <a:xfrm>
            <a:off x="457200" y="2112264"/>
            <a:ext cx="347472" cy="347472"/>
          </a:xfrm>
          <a:prstGeom prst="ellipse">
            <a:avLst/>
          </a:prstGeom>
          <a:solidFill>
            <a:srgbClr val="00B0B9"/>
          </a:solidFill>
          <a:ln/>
        </p:spPr>
      </p:sp>
      <p:sp>
        <p:nvSpPr>
          <p:cNvPr id="9" name="Text 7"/>
          <p:cNvSpPr/>
          <p:nvPr/>
        </p:nvSpPr>
        <p:spPr>
          <a:xfrm>
            <a:off x="457200" y="2112264"/>
            <a:ext cx="347472" cy="347472"/>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0" name="Text 8"/>
          <p:cNvSpPr/>
          <p:nvPr/>
        </p:nvSpPr>
        <p:spPr>
          <a:xfrm>
            <a:off x="960120" y="2057400"/>
            <a:ext cx="10835640" cy="292608"/>
          </a:xfrm>
          <a:prstGeom prst="rect">
            <a:avLst/>
          </a:prstGeom>
          <a:noFill/>
          <a:ln/>
        </p:spPr>
        <p:txBody>
          <a:bodyPr wrap="square" lIns="0" tIns="0" rIns="0" bIns="0" rtlCol="0" anchor="ctr"/>
          <a:lstStyle/>
          <a:p>
            <a:pPr indent="0" marL="0">
              <a:buNone/>
            </a:pPr>
            <a:r>
              <a:rPr lang="en-US" sz="1100" b="1" dirty="0">
                <a:solidFill>
                  <a:srgbClr val="00B0B9"/>
                </a:solidFill>
                <a:latin typeface="Arial" pitchFamily="34" charset="0"/>
                <a:ea typeface="Arial" pitchFamily="34" charset="-122"/>
                <a:cs typeface="Arial" pitchFamily="34" charset="-120"/>
              </a:rPr>
              <a:t>2026 is Keytruda's most critical competitive year — 3 catalysts that reshape the thesis.</a:t>
            </a:r>
            <a:endParaRPr lang="en-US" sz="1100" dirty="0"/>
          </a:p>
        </p:txBody>
      </p:sp>
      <p:sp>
        <p:nvSpPr>
          <p:cNvPr id="11" name="Text 9"/>
          <p:cNvSpPr/>
          <p:nvPr/>
        </p:nvSpPr>
        <p:spPr>
          <a:xfrm>
            <a:off x="960120" y="2368296"/>
            <a:ext cx="10835640" cy="713232"/>
          </a:xfrm>
          <a:prstGeom prst="rect">
            <a:avLst/>
          </a:prstGeom>
          <a:noFill/>
          <a:ln/>
        </p:spPr>
        <p:txBody>
          <a:bodyPr wrap="square" lIns="0" tIns="0" rIns="0" bIns="0" rtlCol="0" anchor="t"/>
          <a:lstStyle/>
          <a:p>
            <a:pPr indent="0" marL="0">
              <a:buNone/>
            </a:pPr>
            <a:r>
              <a:rPr lang="en-US" sz="900" dirty="0">
                <a:solidFill>
                  <a:srgbClr val="B0BEC5"/>
                </a:solidFill>
                <a:latin typeface="Arial" pitchFamily="34" charset="0"/>
                <a:ea typeface="Arial" pitchFamily="34" charset="-122"/>
                <a:cs typeface="Arial" pitchFamily="34" charset="-120"/>
              </a:rPr>
              <a:t>Ivonescimab all-comers data (pembro replacement?), adagrasib+pembro (KRAS layering works in 1L?), and the first biosimilar (Samsung Bioepis PCD Mar '26). Each answers a different question about Keytruda's future. 13 total Phase 3 drugs have 2026 PCDs.</a:t>
            </a:r>
            <a:endParaRPr lang="en-US" sz="900" dirty="0"/>
          </a:p>
        </p:txBody>
      </p:sp>
      <p:sp>
        <p:nvSpPr>
          <p:cNvPr id="12" name="Shape 10"/>
          <p:cNvSpPr/>
          <p:nvPr/>
        </p:nvSpPr>
        <p:spPr>
          <a:xfrm>
            <a:off x="457200" y="3191256"/>
            <a:ext cx="347472" cy="347472"/>
          </a:xfrm>
          <a:prstGeom prst="ellipse">
            <a:avLst/>
          </a:prstGeom>
          <a:solidFill>
            <a:srgbClr val="00B0B9"/>
          </a:solidFill>
          <a:ln/>
        </p:spPr>
      </p:sp>
      <p:sp>
        <p:nvSpPr>
          <p:cNvPr id="13" name="Text 11"/>
          <p:cNvSpPr/>
          <p:nvPr/>
        </p:nvSpPr>
        <p:spPr>
          <a:xfrm>
            <a:off x="457200" y="3191256"/>
            <a:ext cx="347472" cy="347472"/>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4" name="Text 12"/>
          <p:cNvSpPr/>
          <p:nvPr/>
        </p:nvSpPr>
        <p:spPr>
          <a:xfrm>
            <a:off x="960120" y="3136392"/>
            <a:ext cx="10835640" cy="292608"/>
          </a:xfrm>
          <a:prstGeom prst="rect">
            <a:avLst/>
          </a:prstGeom>
          <a:noFill/>
          <a:ln/>
        </p:spPr>
        <p:txBody>
          <a:bodyPr wrap="square" lIns="0" tIns="0" rIns="0" bIns="0" rtlCol="0" anchor="ctr"/>
          <a:lstStyle/>
          <a:p>
            <a:pPr indent="0" marL="0">
              <a:buNone/>
            </a:pPr>
            <a:r>
              <a:rPr lang="en-US" sz="1100" b="1" dirty="0">
                <a:solidFill>
                  <a:srgbClr val="00B0B9"/>
                </a:solidFill>
                <a:latin typeface="Arial" pitchFamily="34" charset="0"/>
                <a:ea typeface="Arial" pitchFamily="34" charset="-122"/>
                <a:cs typeface="Arial" pitchFamily="34" charset="-120"/>
              </a:rPr>
              <a:t>Biosimilars are the single biggest risk to MRK earnings — worse than any pipeline competitor.</a:t>
            </a:r>
            <a:endParaRPr lang="en-US" sz="1100" dirty="0"/>
          </a:p>
        </p:txBody>
      </p:sp>
      <p:sp>
        <p:nvSpPr>
          <p:cNvPr id="15" name="Text 13"/>
          <p:cNvSpPr/>
          <p:nvPr/>
        </p:nvSpPr>
        <p:spPr>
          <a:xfrm>
            <a:off x="960120" y="3447288"/>
            <a:ext cx="10835640" cy="713232"/>
          </a:xfrm>
          <a:prstGeom prst="rect">
            <a:avLst/>
          </a:prstGeom>
          <a:noFill/>
          <a:ln/>
        </p:spPr>
        <p:txBody>
          <a:bodyPr wrap="square" lIns="0" tIns="0" rIns="0" bIns="0" rtlCol="0" anchor="t"/>
          <a:lstStyle/>
          <a:p>
            <a:pPr indent="0" marL="0">
              <a:buNone/>
            </a:pPr>
            <a:r>
              <a:rPr lang="en-US" sz="900" dirty="0">
                <a:solidFill>
                  <a:srgbClr val="B0BEC5"/>
                </a:solidFill>
                <a:latin typeface="Arial" pitchFamily="34" charset="0"/>
                <a:ea typeface="Arial" pitchFamily="34" charset="-122"/>
                <a:cs typeface="Arial" pitchFamily="34" charset="-120"/>
              </a:rPr>
              <a:t>4 pembro biosimilars in Phase 3 (2026-2028 PCDs). Unlike pipeline threats that affect one patient segment, biosimilars erode the entire $25B+ Keytruda franchise across ALL indications. Bevacizumab precedent: 6 approved biosimilars drove ~70% price erosion.</a:t>
            </a:r>
            <a:endParaRPr lang="en-US" sz="900" dirty="0"/>
          </a:p>
        </p:txBody>
      </p:sp>
      <p:sp>
        <p:nvSpPr>
          <p:cNvPr id="16" name="Shape 14"/>
          <p:cNvSpPr/>
          <p:nvPr/>
        </p:nvSpPr>
        <p:spPr>
          <a:xfrm>
            <a:off x="457200" y="4270248"/>
            <a:ext cx="347472" cy="347472"/>
          </a:xfrm>
          <a:prstGeom prst="ellipse">
            <a:avLst/>
          </a:prstGeom>
          <a:solidFill>
            <a:srgbClr val="00B0B9"/>
          </a:solidFill>
          <a:ln/>
        </p:spPr>
      </p:sp>
      <p:sp>
        <p:nvSpPr>
          <p:cNvPr id="17" name="Text 15"/>
          <p:cNvSpPr/>
          <p:nvPr/>
        </p:nvSpPr>
        <p:spPr>
          <a:xfrm>
            <a:off x="457200" y="4270248"/>
            <a:ext cx="347472" cy="347472"/>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8" name="Text 16"/>
          <p:cNvSpPr/>
          <p:nvPr/>
        </p:nvSpPr>
        <p:spPr>
          <a:xfrm>
            <a:off x="960120" y="4215384"/>
            <a:ext cx="10835640" cy="292608"/>
          </a:xfrm>
          <a:prstGeom prst="rect">
            <a:avLst/>
          </a:prstGeom>
          <a:noFill/>
          <a:ln/>
        </p:spPr>
        <p:txBody>
          <a:bodyPr wrap="square" lIns="0" tIns="0" rIns="0" bIns="0" rtlCol="0" anchor="ctr"/>
          <a:lstStyle/>
          <a:p>
            <a:pPr indent="0" marL="0">
              <a:buNone/>
            </a:pPr>
            <a:r>
              <a:rPr lang="en-US" sz="1100" b="1" dirty="0">
                <a:solidFill>
                  <a:srgbClr val="00B0B9"/>
                </a:solidFill>
                <a:latin typeface="Arial" pitchFamily="34" charset="0"/>
                <a:ea typeface="Arial" pitchFamily="34" charset="-122"/>
                <a:cs typeface="Arial" pitchFamily="34" charset="-120"/>
              </a:rPr>
              <a:t>MRK's pipeline defense is narrower than its revenue exposure — a key investor concern.</a:t>
            </a:r>
            <a:endParaRPr lang="en-US" sz="1100" dirty="0"/>
          </a:p>
        </p:txBody>
      </p:sp>
      <p:sp>
        <p:nvSpPr>
          <p:cNvPr id="19" name="Text 17"/>
          <p:cNvSpPr/>
          <p:nvPr/>
        </p:nvSpPr>
        <p:spPr>
          <a:xfrm>
            <a:off x="960120" y="4526280"/>
            <a:ext cx="10835640" cy="713232"/>
          </a:xfrm>
          <a:prstGeom prst="rect">
            <a:avLst/>
          </a:prstGeom>
          <a:noFill/>
          <a:ln/>
        </p:spPr>
        <p:txBody>
          <a:bodyPr wrap="square" lIns="0" tIns="0" rIns="0" bIns="0" rtlCol="0" anchor="t"/>
          <a:lstStyle/>
          <a:p>
            <a:pPr indent="0" marL="0">
              <a:buNone/>
            </a:pPr>
            <a:r>
              <a:rPr lang="en-US" sz="900" dirty="0">
                <a:solidFill>
                  <a:srgbClr val="B0BEC5"/>
                </a:solidFill>
                <a:latin typeface="Arial" pitchFamily="34" charset="0"/>
                <a:ea typeface="Arial" pitchFamily="34" charset="-122"/>
                <a:cs typeface="Arial" pitchFamily="34" charset="-120"/>
              </a:rPr>
              <a:t>MRK has only 4 Phase 3 NSCLC pipeline assets (calderasib + sac-TMT). Compare to AZN (9), DSNKY (6), BMY (6). MRK's Keytruda defense depends more on patent litigation timelines and lifecycle management than on pipeline breadth.</a:t>
            </a:r>
            <a:endParaRPr lang="en-US" sz="900" dirty="0"/>
          </a:p>
        </p:txBody>
      </p:sp>
      <p:sp>
        <p:nvSpPr>
          <p:cNvPr id="20" name="Shape 18"/>
          <p:cNvSpPr/>
          <p:nvPr/>
        </p:nvSpPr>
        <p:spPr>
          <a:xfrm>
            <a:off x="457200" y="5349240"/>
            <a:ext cx="347472" cy="347472"/>
          </a:xfrm>
          <a:prstGeom prst="ellipse">
            <a:avLst/>
          </a:prstGeom>
          <a:solidFill>
            <a:srgbClr val="00B0B9"/>
          </a:solidFill>
          <a:ln/>
        </p:spPr>
      </p:sp>
      <p:sp>
        <p:nvSpPr>
          <p:cNvPr id="21" name="Text 19"/>
          <p:cNvSpPr/>
          <p:nvPr/>
        </p:nvSpPr>
        <p:spPr>
          <a:xfrm>
            <a:off x="457200" y="5349240"/>
            <a:ext cx="347472" cy="347472"/>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22" name="Text 20"/>
          <p:cNvSpPr/>
          <p:nvPr/>
        </p:nvSpPr>
        <p:spPr>
          <a:xfrm>
            <a:off x="960120" y="5294376"/>
            <a:ext cx="10835640" cy="292608"/>
          </a:xfrm>
          <a:prstGeom prst="rect">
            <a:avLst/>
          </a:prstGeom>
          <a:noFill/>
          <a:ln/>
        </p:spPr>
        <p:txBody>
          <a:bodyPr wrap="square" lIns="0" tIns="0" rIns="0" bIns="0" rtlCol="0" anchor="ctr"/>
          <a:lstStyle/>
          <a:p>
            <a:pPr indent="0" marL="0">
              <a:buNone/>
            </a:pPr>
            <a:r>
              <a:rPr lang="en-US" sz="1100" b="1" dirty="0">
                <a:solidFill>
                  <a:srgbClr val="00B0B9"/>
                </a:solidFill>
                <a:latin typeface="Arial" pitchFamily="34" charset="0"/>
                <a:ea typeface="Arial" pitchFamily="34" charset="-122"/>
                <a:cs typeface="Arial" pitchFamily="34" charset="-120"/>
              </a:rPr>
              <a:t>Squamous NSCLC (~30% of patients) is under-served — potential whitespace for Keytruda defense.</a:t>
            </a:r>
            <a:endParaRPr lang="en-US" sz="1100" dirty="0"/>
          </a:p>
        </p:txBody>
      </p:sp>
      <p:sp>
        <p:nvSpPr>
          <p:cNvPr id="23" name="Text 21"/>
          <p:cNvSpPr/>
          <p:nvPr/>
        </p:nvSpPr>
        <p:spPr>
          <a:xfrm>
            <a:off x="960120" y="5605272"/>
            <a:ext cx="10835640" cy="713232"/>
          </a:xfrm>
          <a:prstGeom prst="rect">
            <a:avLst/>
          </a:prstGeom>
          <a:noFill/>
          <a:ln/>
        </p:spPr>
        <p:txBody>
          <a:bodyPr wrap="square" lIns="0" tIns="0" rIns="0" bIns="0" rtlCol="0" anchor="t"/>
          <a:lstStyle/>
          <a:p>
            <a:pPr indent="0" marL="0">
              <a:buNone/>
            </a:pPr>
            <a:r>
              <a:rPr lang="en-US" sz="900" dirty="0">
                <a:solidFill>
                  <a:srgbClr val="B0BEC5"/>
                </a:solidFill>
                <a:latin typeface="Arial" pitchFamily="34" charset="0"/>
                <a:ea typeface="Arial" pitchFamily="34" charset="-122"/>
                <a:cs typeface="Arial" pitchFamily="34" charset="-120"/>
              </a:rPr>
              <a:t>Only 3 Phase 3 drugs target squamous-only populations. Most competitors test in 'both' or non-squamous. This gives Keytruda a natural moat in squamous, but it also means MRK has less competitive intelligence in a segment that contributes meaningfully to revenue.</a:t>
            </a:r>
            <a:endParaRPr lang="en-US" sz="900" dirty="0"/>
          </a:p>
        </p:txBody>
      </p:sp>
      <p:sp>
        <p:nvSpPr>
          <p:cNvPr id="24" name="Shape 22"/>
          <p:cNvSpPr/>
          <p:nvPr/>
        </p:nvSpPr>
        <p:spPr>
          <a:xfrm>
            <a:off x="365760" y="6446520"/>
            <a:ext cx="11430000" cy="0"/>
          </a:xfrm>
          <a:prstGeom prst="line">
            <a:avLst/>
          </a:prstGeom>
          <a:noFill/>
          <a:ln w="12700">
            <a:solidFill>
              <a:srgbClr val="007A85"/>
            </a:solidFill>
            <a:prstDash val="solid"/>
          </a:ln>
        </p:spPr>
      </p:sp>
      <p:sp>
        <p:nvSpPr>
          <p:cNvPr id="25" name="Text 23"/>
          <p:cNvSpPr/>
          <p:nvPr/>
        </p:nvSpPr>
        <p:spPr>
          <a:xfrm>
            <a:off x="365760" y="6492240"/>
            <a:ext cx="11430000" cy="182880"/>
          </a:xfrm>
          <a:prstGeom prst="rect">
            <a:avLst/>
          </a:prstGeom>
          <a:noFill/>
          <a:ln/>
        </p:spPr>
        <p:txBody>
          <a:bodyPr wrap="square" rtlCol="0" anchor="ctr"/>
          <a:lstStyle/>
          <a:p>
            <a:pPr algn="ctr" indent="0" marL="0">
              <a:buNone/>
            </a:pPr>
            <a:r>
              <a:rPr lang="en-US" sz="700" i="1" dirty="0">
                <a:solidFill>
                  <a:srgbClr val="546E7A"/>
                </a:solidFill>
                <a:latin typeface="Arial" pitchFamily="34" charset="0"/>
                <a:ea typeface="Arial" pitchFamily="34" charset="-122"/>
                <a:cs typeface="Arial" pitchFamily="34" charset="-120"/>
              </a:rPr>
              <a:t>Source: Pipeline database, ClinicalTrials.gov | Phase 3 analysis | March 2026</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NSCLC Competitive Landscape Exhibits</dc:title>
  <dc:subject>PptxGenJS Presentation</dc:subject>
  <dc:creator>Equity Research</dc:creator>
  <cp:lastModifiedBy>Equity Research</cp:lastModifiedBy>
  <cp:revision>1</cp:revision>
  <dcterms:created xsi:type="dcterms:W3CDTF">2026-03-31T13:58:43Z</dcterms:created>
  <dcterms:modified xsi:type="dcterms:W3CDTF">2026-03-31T13:58:43Z</dcterms:modified>
</cp:coreProperties>
</file>