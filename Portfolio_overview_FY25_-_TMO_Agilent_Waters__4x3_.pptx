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Lst>
  <p:notesMasterIdLst>
    <p:notesMasterId r:id="rId5"/>
  </p:notesMasterIdLst>
  <p:sldSz cx="13716000" cy="10287000"/>
  <p:notesSz cx="10287000" cy="13716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 Thermo Fisher Scientific (TMO) portfolio overview, FY25.
PRIMARY SOURCE: Thermo Fisher Scientific 2025 Form 10-K, filed with the SEC on February 26, 2026. https://www.sec.gov/cgi-bin/browse-edgar?action=getcompany&amp;CIK=0000097745&amp;type=10-K
SEGMENT AND SUB-BUSINESS REVENUE — all figures lifted directly from 10-K Note 11 (Business Segment and Geographical Information), 'Revenues by business' table. TMO discloses revenue at the sub-business level, so no estimates were required.
Reported FY25 sub-business revenues (in $M):
  Life Sciences Solutions $10,374
    – Biosciences $4,169
    – Genetic sciences $2,870
    – BioProduction $3,200
    – Other $136  ← NEW DISCLOSURE LINE IN FY25 (was $0 in FY24 and $1M in FY23)
  Analytical Instruments $7,554
    – Chromatography and mass spectrometry $3,360
    – Chemical analysis $1,237
    – Electron microscopy $2,957
  Specialty Diagnostics $4,676
    – Clinical diagnostics $1,115
    – ImmunoDiagnostics $912
    – Microbiology $645
    – Transplant diagnostics $492
    – Healthcare market channel $1,788
    – Intrasegment eliminations $(275)
  Laboratory Products and Biopharma Services $23,984
    – Laboratory products $2,407
    – Research and safety market channel $7,440
    – Pharma services $7,142
    – Clinical research $7,915
    – Intrasegment eliminations $(920)
  Intersegment eliminations $(2,033)
  Consolidated revenue $44,556
SEGMENT % CALCULATION: shown as share of gross segment revenue ($46,589M = $10,374 + $7,554 + $4,676 + $23,984) before $2,033M of intersegment eliminations. Using gross rather than net keeps the four segments summing to 100%.
NEW SUB-SEGMENT 'OTHER' IN LIFE SCIENCES SOLUTIONS — The $136M 'Other' line is a new disclosure in FY25 and corresponds to the industrial filtration and membrane solutions piece of the Solventum filtration &amp; separation business acquired September 1, 2025. The 10-K MD&amp;A (Acquisitions section) explicitly notes that the business 'strengthens the segment's bioproduction offerings' (i.e., bulk of revenue lands in BioProduction) AND that 'its industrial filtration and membrane solutions will expand our reach into industries including battery, semiconductor and medical device manufacturing' (i.e., the non-biologics industrial revenue, reported as 'Other').
M&amp;A FLAGS SINCE 2022 (sourced from 10-K Note 2 — Business Combinations):
  – Olink (acquired 2024) → Life Sciences Solutions / Genetic sciences (proteomics)
  – The Binding Site Group (acquired Jan 2023) → Specialty Diagnostics / ImmunoDiagnostics (multiple myeloma)
  – CorEvitas (acquired Aug 2023) → LP&amp;BS / Clinical research (real-world evidence)
  – Solventum filtration &amp; separation business (acquired Sept 2025) → LSS / BioProduction (biologics) + LSS / Other (industrial filtration)
  – Sanofi Ridgefield sterile fill-finish facility (acquired 2025) → LP&amp;BS / Pharma services
  – Clario (announced for 2026 close) → LP&amp;BS / Clinical research (endpoint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2 — Agilent Technologies portfolio overview, FY25.
PRIMARY SOURCE: Agilent Technologies 2025 Form 10-K, fiscal year ended October 31, 2025. https://www.sec.gov/cgi-bin/browse-edgar?action=getcompany&amp;CIK=0001090872&amp;type=10-K
REPORTED SEGMENT-LEVEL REVENUE (10-K Note 23, Segment Information) — these numbers are disclosed:
  Life Sciences and Diagnostics Markets $2,726M
  Agilent CrossLab $2,908M
  Applied Markets $1,314M
  Total net revenue $6,948M
  (Segment % computed as share of $6,948M.)
SEGMENT % CALCULATION: LSDG 39% = 2,726/6,948; CrossLab 42% = 2,908/6,948; Applied 19% = 1,314/6,948.
KEY CONTEXT — NEW SEGMENT STRUCTURE: In November 2024 Agilent reorganized into the three segments above. The former Diagnostics &amp; Genomics segment combined with LC and LC-MS instruments to form Life Sciences and Diagnostics Markets; chemistries &amp; supplies, lab automation, and software &amp; informatics moved from the former Life Sciences &amp; Applied Markets segment into Agilent CrossLab; GC, GC-MS, spectroscopy, vacuum, and remarketed instruments became the new Applied Markets. All historical periods were recast.
*** IMPORTANT — SUB-BUSINESS $ ESTIMATES ARE NOT FROM THE 10-K ***
Agilent does NOT disclose revenue at the sub-business level (LC, GC, pathology, cell analysis, etc.). The sub-segment $ figures on this slide are estimates and should be treated as directional only. Methodology used for each:
LIFE SCIENCES AND DIAGNOSTICS MARKETS ($2,726M total):
  • CDMO ~$0.4B — anchored to BIOVECTRA's disclosed FY25 contribution. The 10-K MD&amp;A states: 'Revenue from our BIOVECTRA acquisition contributed approximately 5 percentage points in 2025 [to LSDG]'. 5% × prior-year LSDG base of $2,466M ≈ $125M of incremental revenue; BIOVECTRA was acquired Sept 20, 2024, so FY25 was the first ~full year of contribution. Annualized BIOVECTRA run-rate ≈ $200-250M; combined with legacy Nucleic Acid Solutions (~$150-200M) → CDMO total ~$400M.
  • LC &amp; LC-MS ~$1.0B — largest sub-business in the segment per management commentary ('strong revenue growth in the pharmaceutical market led by revenue from our contract development and manufacturing organization, liquid chromatography and liquid chromatography mass spectrometry businesses'). Sized at ~$1.0B based on legacy LC/LC-MS market share and sell-side initiation estimates.
  • Pathology ~$0.5B — anchored to the 2012 Dako acquisition ($2.2B price; ~$340M revenue at deal close per Agilent press release) plus 13 years of mid-single-digit organic growth.
  • Cell analysis ~$0.3B — built primarily from M&amp;A: ACEA Biosciences (2018), BioTek (2019, $1.165B; ~$200M run-rate at close per press release), Seahorse Bioscience (2015, ~$50M).
  • Genomics ~$0.3B — residual after subtracting above estimates; consistent with legacy DGG genomics product line size after the 2023 exit of Resolution Bioscience.
  • Companion diagnostics ~$0.1B and Biomolecular analysis ~$0.1B — sized as small specialty businesses; sum-of-parts reconciles to $2.7B segment total.
AGILENT CROSSLAB ($2,908M total):
  • Services ~$1.6B — dominant component per management commentary; the 10-K describes services as the largest portion of CrossLab and 'a significant number of our Agilent CrossLab customers are also customers of our Life Sciences and Diagnostics Markets and Applied Markets segments'.
  • Consumables ~$1.0B — chemistries &amp; supplies (LC/GC columns, sample prep, reagents).
  • Lab automation ~$0.2B and Software &amp; informatics ~$0.1B — newer/smaller divisions moved in under the November 2024 reorganization; sum-of-parts reconciles to $2.9B.
APPLIED MARKETS ($1,314M total):
  • GC &amp; GC-MS ~$0.7B — bulk of the segment; Agilent is the global GC leader.
  • Spectroscopy ~$0.3B — Agilent and Varian (acquired 2010) heritage portfolio.
  • Vacuum technologies ~$0.2B — from the 2010 Varian acquisition.
  • Remarketed instruments ~$0.1B — residual small business; sum-of-parts reconciles to $1.3B.
For authoritative sub-business sizing, recommend cross-checking against sell-side initiation reports (Citi, Morgan Stanley, Bernstein) which publish more granular bottoms-up estimates.
M&amp;A SINCE 2022:
  – BIOVECTRA (Sept 2024, $915M cash) → LSDG / CDMO
  – Resolution Bioscience (liquid biopsy) exited in 2023 — wound down rather than divested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3 — Waters Corporation portfolio overview, post-BD Biosciences &amp; Diagnostic Solutions acquisition (pro forma FY25).
PRIMARY SOURCES:
  – Waters 2025 Form 10-K, fiscal year ended December 31, 2025, filed February 23, 2026. https://www.sec.gov/cgi-bin/browse-edgar?action=getcompany&amp;CIK=0001000697&amp;type=10-K
  – Waters Q4 2025 earnings press release (Feb 9, 2026): https://ir.waters.com/News--Events/newsroom/news-details/2026/
  – Waters Q4 2025 earnings call transcript (Feb 9, 2026)
  – BD historical 10-K disclosures (FY ended Sept 30) for BD Biosciences &amp; Diagnostic Solutions revenue
REPORTED FY25 ACTUALS — Waters as a standalone:
  Total net revenue: $3,165M (+7% reported and constant currency vs. $2,958M in FY24)
  Operating segments (per 10-K Note 17): Waters and TA — aggregated into one reporting segment for financial statements due to similar economic characteristics
  Q4 FY25 Waters segment revenue: $823.9M
  Q4 FY25 TA segment revenue: $108.4M
  Q4 total: $932.4M
  Service &gt;35% of Waters segment sales in FY25; service &gt;25% of TA segment sales in FY25
  FY25 growth mix: instruments +5%, recurring (service + chemistry) +8%, with chemistry +12% and service +7%
BD BIOSCIENCES &amp; DIAGNOSTIC SOLUTIONS ACQUISITION (closed Feb 9, 2026):
  Per Waters 10-K (Item 1 — Acquisition of BD Biosciences &amp; Diagnostic Solutions Businesses):
  – Total purchase price (including assumed debt): $16.8 billion
  – Reverse Morris Trust transaction: BD spun off the BDS Business to its shareholders, then merged with a Waters subsidiary; SpinCo Cash Distribution to BD = ~$4.0B funded by $4.0B new SpinCo indebtedness ($3.5B due Feb 2027 + $500M due Feb 2028) assumed by Waters
  – Post-close ownership: BD shareholders 39.2%, legacy Waters shareholders 60.8%
  – Number of new Waters shares issued: 38,541,852
  – Expected synergies: $200M cost synergies within 3 years; $290M revenue synergies within 5 years
  – FY26 BD revenue contribution guidance: ~$3.0 billion (full-year, risk-adjusted, +2.5% constant-currency growth)
  – FY26 total combined company revenue guidance: $6.41–$6.46B (about 5.3% blended YoY at midpoint)
  – FY26 adjusted EPS guidance: $14.30–$14.50 (+8.9%–10.4%)
POST-BD SEGMENT STRUCTURE (per FY25 10-K, Item 1):
  Waters reorganized into four new reporting segments effective post-close:
  1. Waters Analytical Sciences — legacy Waters operating segment (LC, MS, light scattering, particle analysis, chemistry consumables, service)
  2. Waters Biosciences — research flow cytometry and reagents from BD Biosciences
  3. Waters Advanced Diagnostics — molecular diagnostics, microbiology, and specimen management from BD Diagnostic Solutions
  4. Waters Materials Sciences — legacy TA Instruments (thermal analysis, rheometry, calorimetry)
SEGMENT % CALCULATION (pro forma):
  Legacy Waters segment ~$2.8B + TA ~$0.4B + BD Biosciences ~$1.5B + BD Diagnostic Solutions ~$1.8B ≈ $6.5B total
  Waters Analytical Sciences: 44% = 2.8/6.5
  Waters Biosciences: 24% = 1.5/6.5
  Waters Advanced Diagnostics: 28% = 1.8/6.5
  Waters Materials Sciences: 6% = 0.4/6.5
*** SUB-BUSINESS $ ARE ESTIMATES, NOT FROM 10-K ***
  Waters does not disclose sub-business revenue below segment level. Splits used:
  • Waters Analytical Sciences ($2.8B): LC ~$1.0B (largest franchise per management commentary), MS ~$0.4B, Light scattering &amp; particle analysis ~$0.1B (Wyatt disclosed at $110M at 2023 acquisition + Halo Labs 2025), Chemistry ~$0.7B (Waters disclosed chemistry +12% FY25, applying growth to FY22 reference of ~$525M), Service ~$1.0B (10-K states service &gt;35% of Waters segment sales).
  • Waters Biosciences ($1.5B): Per BD's prior 10-K disclosures, Biosciences (research flow cytometry) was ~$1.5B run-rate; instruments vs. reagents split ~40/60 typical for flow cytometry economics.
  • Waters Advanced Diagnostics ($1.8B): Per BD's prior disclosures, Integrated Diagnostic Solutions revenue ~$1.8B, split between Diagnostic Systems (~$1.1B — molecular/microbiology) and Specimen Management (~$0.7B — Vacutainer, transport media).
  • Waters Materials Sciences ($0.4B): TA Q4 was $108M → annualized ~$370M; Instruments ~75%, Service ~25% per 10-K commentary.
M&amp;A SINCE 2022 ON LEGACY WATERS SIDE:
  – Wyatt Technology (May 2023, $1.36B) → light scattering (MALS/DLS/FFF) — now in Waters Analytical Sciences
  – Halo Labs (2025) → particle imaging for cell/protein/gene therapies — now in Waters Analytical Sciences
  – BD Biosciences &amp; Diagnostic Solutions (Feb 9, 2026, $16.8B) → new Biosciences + Advanced Diagnostics segments
MAJOR CAVEATS:
  – BDS revenue figures above are based on BD's prior fiscal year (ended Sept 30, 2025), not on Waters' ownership period. Waters owned the BDS Business for only ~10.5 months of FY26 (closing Feb 9, 2026), so its actual FY26 contribution is the ~$3B guided figure, not BD's full prior-year revenue.
  – Sub-business splits within new segments will be formalized once Waters reports under the new structure in FY26 10-Q/10-K filings.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42900" y="209550"/>
            <a:ext cx="13421106" cy="400050"/>
          </a:xfrm>
          <a:prstGeom prst="rect">
            <a:avLst/>
          </a:prstGeom>
          <a:noFill/>
          <a:ln/>
        </p:spPr>
        <p:txBody>
          <a:bodyPr wrap="square" lIns="25400" tIns="25400" rIns="25400" bIns="25400" rtlCol="0" anchor="t">
            <a:normAutofit/>
          </a:bodyPr>
          <a:lstStyle/>
          <a:p>
            <a:pPr algn="l" indent="0" marL="0">
              <a:buNone/>
            </a:pPr>
            <a:r>
              <a:rPr lang="en-US" sz="2400" b="1" spc="-37" kern="0" dirty="0">
                <a:solidFill>
                  <a:srgbClr val="111111"/>
                </a:solidFill>
                <a:latin typeface="Arial" pitchFamily="34" charset="0"/>
                <a:ea typeface="Arial" pitchFamily="34" charset="-122"/>
                <a:cs typeface="Arial" pitchFamily="34" charset="-120"/>
              </a:rPr>
              <a:t>Thermo Fisher portfolio overview (FY25)</a:t>
            </a:r>
            <a:endParaRPr lang="en-US" sz="2400" dirty="0"/>
          </a:p>
        </p:txBody>
      </p:sp>
      <p:sp>
        <p:nvSpPr>
          <p:cNvPr id="3" name="Shape 1"/>
          <p:cNvSpPr/>
          <p:nvPr/>
        </p:nvSpPr>
        <p:spPr>
          <a:xfrm>
            <a:off x="342900" y="666750"/>
            <a:ext cx="1571625" cy="1990725"/>
          </a:xfrm>
          <a:prstGeom prst="rect">
            <a:avLst/>
          </a:prstGeom>
          <a:solidFill>
            <a:srgbClr val="1F3864"/>
          </a:solidFill>
          <a:ln/>
        </p:spPr>
      </p:sp>
      <p:sp>
        <p:nvSpPr>
          <p:cNvPr id="4" name="Text 2"/>
          <p:cNvSpPr/>
          <p:nvPr/>
        </p:nvSpPr>
        <p:spPr>
          <a:xfrm>
            <a:off x="685428" y="1149995"/>
            <a:ext cx="886495" cy="662285"/>
          </a:xfrm>
          <a:prstGeom prst="rect">
            <a:avLst/>
          </a:prstGeom>
          <a:noFill/>
          <a:ln/>
        </p:spPr>
        <p:txBody>
          <a:bodyPr wrap="square" lIns="25400" tIns="25400" rIns="25400" bIns="25400" rtlCol="0" anchor="t">
            <a:normAutofit/>
          </a:bodyPr>
          <a:lstStyle/>
          <a:p>
            <a:pPr algn="ctr" indent="0" marL="0">
              <a:lnSpc>
                <a:spcPct val="115000"/>
              </a:lnSpc>
              <a:buNone/>
            </a:pPr>
            <a:r>
              <a:rPr lang="en-US" sz="1425" b="1" dirty="0">
                <a:solidFill>
                  <a:srgbClr val="FFFFFF"/>
                </a:solidFill>
                <a:latin typeface="Arial" pitchFamily="34" charset="0"/>
                <a:ea typeface="Arial" pitchFamily="34" charset="-122"/>
                <a:cs typeface="Arial" pitchFamily="34" charset="-120"/>
              </a:rPr>
              <a:t>Life Sciences Solutions</a:t>
            </a:r>
            <a:endParaRPr lang="en-US" sz="1425" dirty="0"/>
          </a:p>
        </p:txBody>
      </p:sp>
      <p:sp>
        <p:nvSpPr>
          <p:cNvPr id="5" name="Text 3"/>
          <p:cNvSpPr/>
          <p:nvPr/>
        </p:nvSpPr>
        <p:spPr>
          <a:xfrm>
            <a:off x="838646" y="1831330"/>
            <a:ext cx="580132" cy="381000"/>
          </a:xfrm>
          <a:prstGeom prst="rect">
            <a:avLst/>
          </a:prstGeom>
          <a:noFill/>
          <a:ln/>
        </p:spPr>
        <p:txBody>
          <a:bodyPr wrap="square" lIns="25400" tIns="25400" rIns="25400" bIns="25400" rtlCol="0" anchor="t">
            <a:normAutofit/>
          </a:bodyPr>
          <a:lstStyle/>
          <a:p>
            <a:pPr algn="ctr" indent="0" marL="0">
              <a:lnSpc>
                <a:spcPct val="120000"/>
              </a:lnSpc>
              <a:buNone/>
            </a:pPr>
            <a:r>
              <a:rPr lang="en-US" sz="1125" i="1" dirty="0">
                <a:solidFill>
                  <a:srgbClr val="FFFFFF"/>
                </a:solidFill>
                <a:latin typeface="Arial" pitchFamily="34" charset="0"/>
                <a:ea typeface="Arial" pitchFamily="34" charset="-122"/>
                <a:cs typeface="Arial" pitchFamily="34" charset="-120"/>
              </a:rPr>
              <a:t>(22% $10.4B)</a:t>
            </a:r>
            <a:endParaRPr lang="en-US" sz="1125" dirty="0"/>
          </a:p>
        </p:txBody>
      </p:sp>
      <p:sp>
        <p:nvSpPr>
          <p:cNvPr id="6" name="Shape 4"/>
          <p:cNvSpPr/>
          <p:nvPr/>
        </p:nvSpPr>
        <p:spPr>
          <a:xfrm>
            <a:off x="1943100" y="666750"/>
            <a:ext cx="2571750" cy="476250"/>
          </a:xfrm>
          <a:prstGeom prst="rect">
            <a:avLst/>
          </a:prstGeom>
          <a:solidFill>
            <a:srgbClr val="2E74B5"/>
          </a:solidFill>
          <a:ln/>
        </p:spPr>
      </p:sp>
      <p:sp>
        <p:nvSpPr>
          <p:cNvPr id="7" name="Text 5"/>
          <p:cNvSpPr/>
          <p:nvPr/>
        </p:nvSpPr>
        <p:spPr>
          <a:xfrm>
            <a:off x="2772742" y="747489"/>
            <a:ext cx="912391"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Biosciences</a:t>
            </a:r>
            <a:endParaRPr lang="en-US" sz="1125" dirty="0"/>
          </a:p>
        </p:txBody>
      </p:sp>
      <p:sp>
        <p:nvSpPr>
          <p:cNvPr id="8" name="Text 6"/>
          <p:cNvSpPr/>
          <p:nvPr/>
        </p:nvSpPr>
        <p:spPr>
          <a:xfrm>
            <a:off x="2948955" y="930846"/>
            <a:ext cx="560040"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(~$4.2B)</a:t>
            </a:r>
            <a:endParaRPr lang="en-US" sz="900" dirty="0"/>
          </a:p>
        </p:txBody>
      </p:sp>
      <p:sp>
        <p:nvSpPr>
          <p:cNvPr id="9" name="Shape 7"/>
          <p:cNvSpPr/>
          <p:nvPr/>
        </p:nvSpPr>
        <p:spPr>
          <a:xfrm>
            <a:off x="4543425" y="666750"/>
            <a:ext cx="8829675" cy="476250"/>
          </a:xfrm>
          <a:prstGeom prst="rect">
            <a:avLst/>
          </a:prstGeom>
          <a:solidFill>
            <a:srgbClr val="D9E5F1"/>
          </a:solidFill>
          <a:ln/>
        </p:spPr>
      </p:sp>
      <p:sp>
        <p:nvSpPr>
          <p:cNvPr id="10" name="Text 8"/>
          <p:cNvSpPr/>
          <p:nvPr/>
        </p:nvSpPr>
        <p:spPr>
          <a:xfrm>
            <a:off x="4676775" y="825624"/>
            <a:ext cx="8819864" cy="196528"/>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Instruments, reagents and consumables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that support biological and medical research</a:t>
            </a:r>
            <a:endParaRPr lang="en-US" sz="975" dirty="0"/>
          </a:p>
        </p:txBody>
      </p:sp>
      <p:sp>
        <p:nvSpPr>
          <p:cNvPr id="11" name="Shape 9"/>
          <p:cNvSpPr/>
          <p:nvPr/>
        </p:nvSpPr>
        <p:spPr>
          <a:xfrm>
            <a:off x="1943100" y="1171575"/>
            <a:ext cx="2571750" cy="476250"/>
          </a:xfrm>
          <a:prstGeom prst="rect">
            <a:avLst/>
          </a:prstGeom>
          <a:solidFill>
            <a:srgbClr val="2E74B5"/>
          </a:solidFill>
          <a:ln/>
        </p:spPr>
      </p:sp>
      <p:sp>
        <p:nvSpPr>
          <p:cNvPr id="12" name="Text 10"/>
          <p:cNvSpPr/>
          <p:nvPr/>
        </p:nvSpPr>
        <p:spPr>
          <a:xfrm>
            <a:off x="2597274" y="1252314"/>
            <a:ext cx="1263402"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Genetic sciences</a:t>
            </a:r>
            <a:endParaRPr lang="en-US" sz="1125" dirty="0"/>
          </a:p>
        </p:txBody>
      </p:sp>
      <p:sp>
        <p:nvSpPr>
          <p:cNvPr id="13" name="Text 11"/>
          <p:cNvSpPr/>
          <p:nvPr/>
        </p:nvSpPr>
        <p:spPr>
          <a:xfrm>
            <a:off x="2948732" y="1435671"/>
            <a:ext cx="560487"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(~$2.9B)</a:t>
            </a:r>
            <a:endParaRPr lang="en-US" sz="900" dirty="0"/>
          </a:p>
        </p:txBody>
      </p:sp>
      <p:sp>
        <p:nvSpPr>
          <p:cNvPr id="14" name="Shape 12"/>
          <p:cNvSpPr/>
          <p:nvPr/>
        </p:nvSpPr>
        <p:spPr>
          <a:xfrm>
            <a:off x="4543425" y="1171575"/>
            <a:ext cx="8829675" cy="476250"/>
          </a:xfrm>
          <a:prstGeom prst="rect">
            <a:avLst/>
          </a:prstGeom>
          <a:solidFill>
            <a:srgbClr val="D9E5F1"/>
          </a:solidFill>
          <a:ln/>
        </p:spPr>
      </p:sp>
      <p:sp>
        <p:nvSpPr>
          <p:cNvPr id="15" name="Text 13"/>
          <p:cNvSpPr/>
          <p:nvPr/>
        </p:nvSpPr>
        <p:spPr>
          <a:xfrm>
            <a:off x="4676775" y="1330449"/>
            <a:ext cx="8819864" cy="196528"/>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Instruments and reagents for genomics,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including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Ion Torrent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gene sequencer line; expanded by 2024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Olink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proteomics acquisition</a:t>
            </a:r>
            <a:endParaRPr lang="en-US" sz="975" dirty="0"/>
          </a:p>
        </p:txBody>
      </p:sp>
      <p:sp>
        <p:nvSpPr>
          <p:cNvPr id="16" name="Shape 14"/>
          <p:cNvSpPr/>
          <p:nvPr/>
        </p:nvSpPr>
        <p:spPr>
          <a:xfrm>
            <a:off x="1943100" y="1676400"/>
            <a:ext cx="2571750" cy="476250"/>
          </a:xfrm>
          <a:prstGeom prst="rect">
            <a:avLst/>
          </a:prstGeom>
          <a:solidFill>
            <a:srgbClr val="2E74B5"/>
          </a:solidFill>
          <a:ln/>
        </p:spPr>
      </p:sp>
      <p:sp>
        <p:nvSpPr>
          <p:cNvPr id="17" name="Text 15"/>
          <p:cNvSpPr/>
          <p:nvPr/>
        </p:nvSpPr>
        <p:spPr>
          <a:xfrm>
            <a:off x="2695724" y="1757139"/>
            <a:ext cx="1066502"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BioProduction</a:t>
            </a:r>
            <a:endParaRPr lang="en-US" sz="1125" dirty="0"/>
          </a:p>
        </p:txBody>
      </p:sp>
      <p:sp>
        <p:nvSpPr>
          <p:cNvPr id="18" name="Text 16"/>
          <p:cNvSpPr/>
          <p:nvPr/>
        </p:nvSpPr>
        <p:spPr>
          <a:xfrm>
            <a:off x="2949625" y="1940496"/>
            <a:ext cx="558701"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(~$3.2B)</a:t>
            </a:r>
            <a:endParaRPr lang="en-US" sz="900" dirty="0"/>
          </a:p>
        </p:txBody>
      </p:sp>
      <p:sp>
        <p:nvSpPr>
          <p:cNvPr id="19" name="Shape 17"/>
          <p:cNvSpPr/>
          <p:nvPr/>
        </p:nvSpPr>
        <p:spPr>
          <a:xfrm>
            <a:off x="4543425" y="1676400"/>
            <a:ext cx="8829675" cy="476250"/>
          </a:xfrm>
          <a:prstGeom prst="rect">
            <a:avLst/>
          </a:prstGeom>
          <a:solidFill>
            <a:srgbClr val="D9E5F1"/>
          </a:solidFill>
          <a:ln/>
        </p:spPr>
      </p:sp>
      <p:sp>
        <p:nvSpPr>
          <p:cNvPr id="20" name="Text 18"/>
          <p:cNvSpPr/>
          <p:nvPr/>
        </p:nvSpPr>
        <p:spPr>
          <a:xfrm>
            <a:off x="4676775" y="1756097"/>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Bioprocessing portfolio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covering upstream cell culture, downstream purification, and analytics; includes a sizable single-use product offering; expanded by 2025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Solventum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filtration &amp; separation acquisition</a:t>
            </a:r>
            <a:endParaRPr lang="en-US" sz="975" dirty="0"/>
          </a:p>
        </p:txBody>
      </p:sp>
      <p:sp>
        <p:nvSpPr>
          <p:cNvPr id="21" name="Shape 19"/>
          <p:cNvSpPr/>
          <p:nvPr/>
        </p:nvSpPr>
        <p:spPr>
          <a:xfrm>
            <a:off x="1943100" y="2181225"/>
            <a:ext cx="2571750" cy="476250"/>
          </a:xfrm>
          <a:prstGeom prst="rect">
            <a:avLst/>
          </a:prstGeom>
          <a:solidFill>
            <a:srgbClr val="2E74B5"/>
          </a:solidFill>
          <a:ln/>
        </p:spPr>
      </p:sp>
      <p:sp>
        <p:nvSpPr>
          <p:cNvPr id="22" name="Text 20"/>
          <p:cNvSpPr/>
          <p:nvPr/>
        </p:nvSpPr>
        <p:spPr>
          <a:xfrm>
            <a:off x="2991594" y="2261964"/>
            <a:ext cx="474762"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Other</a:t>
            </a:r>
            <a:endParaRPr lang="en-US" sz="1125" dirty="0"/>
          </a:p>
        </p:txBody>
      </p:sp>
      <p:sp>
        <p:nvSpPr>
          <p:cNvPr id="23" name="Text 21"/>
          <p:cNvSpPr/>
          <p:nvPr/>
        </p:nvSpPr>
        <p:spPr>
          <a:xfrm>
            <a:off x="2961233" y="2445321"/>
            <a:ext cx="535484"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(~$0.1B)</a:t>
            </a:r>
            <a:endParaRPr lang="en-US" sz="900" dirty="0"/>
          </a:p>
        </p:txBody>
      </p:sp>
      <p:sp>
        <p:nvSpPr>
          <p:cNvPr id="24" name="Shape 22"/>
          <p:cNvSpPr/>
          <p:nvPr/>
        </p:nvSpPr>
        <p:spPr>
          <a:xfrm>
            <a:off x="4543425" y="2181225"/>
            <a:ext cx="8829675" cy="476250"/>
          </a:xfrm>
          <a:prstGeom prst="rect">
            <a:avLst/>
          </a:prstGeom>
          <a:solidFill>
            <a:srgbClr val="D9E5F1"/>
          </a:solidFill>
          <a:ln/>
        </p:spPr>
      </p:sp>
      <p:sp>
        <p:nvSpPr>
          <p:cNvPr id="25" name="Text 23"/>
          <p:cNvSpPr/>
          <p:nvPr/>
        </p:nvSpPr>
        <p:spPr>
          <a:xfrm>
            <a:off x="4676775" y="2260922"/>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Industrial filtration and membrane solutions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(from 2025 Solventum acquisition) serving battery, semiconductor, and medical device manufacturing — new FY25 disclosure line</a:t>
            </a:r>
            <a:endParaRPr lang="en-US" sz="975" dirty="0"/>
          </a:p>
        </p:txBody>
      </p:sp>
      <p:sp>
        <p:nvSpPr>
          <p:cNvPr id="26" name="Shape 24"/>
          <p:cNvSpPr/>
          <p:nvPr/>
        </p:nvSpPr>
        <p:spPr>
          <a:xfrm>
            <a:off x="342900" y="2686050"/>
            <a:ext cx="1571625" cy="1485900"/>
          </a:xfrm>
          <a:prstGeom prst="rect">
            <a:avLst/>
          </a:prstGeom>
          <a:solidFill>
            <a:srgbClr val="1F3864"/>
          </a:solidFill>
          <a:ln/>
        </p:spPr>
      </p:sp>
      <p:sp>
        <p:nvSpPr>
          <p:cNvPr id="27" name="Text 25"/>
          <p:cNvSpPr/>
          <p:nvPr/>
        </p:nvSpPr>
        <p:spPr>
          <a:xfrm>
            <a:off x="565249" y="3020913"/>
            <a:ext cx="1126852" cy="454223"/>
          </a:xfrm>
          <a:prstGeom prst="rect">
            <a:avLst/>
          </a:prstGeom>
          <a:noFill/>
          <a:ln/>
        </p:spPr>
        <p:txBody>
          <a:bodyPr wrap="square" lIns="25400" tIns="25400" rIns="25400" bIns="25400" rtlCol="0" anchor="t">
            <a:normAutofit/>
          </a:bodyPr>
          <a:lstStyle/>
          <a:p>
            <a:pPr algn="ctr" indent="0" marL="0">
              <a:lnSpc>
                <a:spcPct val="115000"/>
              </a:lnSpc>
              <a:buNone/>
            </a:pPr>
            <a:r>
              <a:rPr lang="en-US" sz="1425" b="1" dirty="0">
                <a:solidFill>
                  <a:srgbClr val="FFFFFF"/>
                </a:solidFill>
                <a:latin typeface="Arial" pitchFamily="34" charset="0"/>
                <a:ea typeface="Arial" pitchFamily="34" charset="-122"/>
                <a:cs typeface="Arial" pitchFamily="34" charset="-120"/>
              </a:rPr>
              <a:t>Analytical Instruments</a:t>
            </a:r>
            <a:endParaRPr lang="en-US" sz="1425" dirty="0"/>
          </a:p>
        </p:txBody>
      </p:sp>
      <p:sp>
        <p:nvSpPr>
          <p:cNvPr id="28" name="Text 26"/>
          <p:cNvSpPr/>
          <p:nvPr/>
        </p:nvSpPr>
        <p:spPr>
          <a:xfrm>
            <a:off x="879053" y="3494187"/>
            <a:ext cx="499244" cy="381000"/>
          </a:xfrm>
          <a:prstGeom prst="rect">
            <a:avLst/>
          </a:prstGeom>
          <a:noFill/>
          <a:ln/>
        </p:spPr>
        <p:txBody>
          <a:bodyPr wrap="square" lIns="25400" tIns="25400" rIns="25400" bIns="25400" rtlCol="0" anchor="t">
            <a:normAutofit/>
          </a:bodyPr>
          <a:lstStyle/>
          <a:p>
            <a:pPr algn="ctr" indent="0" marL="0">
              <a:lnSpc>
                <a:spcPct val="120000"/>
              </a:lnSpc>
              <a:buNone/>
            </a:pPr>
            <a:r>
              <a:rPr lang="en-US" sz="1125" i="1" dirty="0">
                <a:solidFill>
                  <a:srgbClr val="FFFFFF"/>
                </a:solidFill>
                <a:latin typeface="Arial" pitchFamily="34" charset="0"/>
                <a:ea typeface="Arial" pitchFamily="34" charset="-122"/>
                <a:cs typeface="Arial" pitchFamily="34" charset="-120"/>
              </a:rPr>
              <a:t>(16% $7.6B)</a:t>
            </a:r>
            <a:endParaRPr lang="en-US" sz="1125" dirty="0"/>
          </a:p>
        </p:txBody>
      </p:sp>
      <p:sp>
        <p:nvSpPr>
          <p:cNvPr id="29" name="Shape 27"/>
          <p:cNvSpPr/>
          <p:nvPr/>
        </p:nvSpPr>
        <p:spPr>
          <a:xfrm>
            <a:off x="1943100" y="2686050"/>
            <a:ext cx="2571750" cy="476250"/>
          </a:xfrm>
          <a:prstGeom prst="rect">
            <a:avLst/>
          </a:prstGeom>
          <a:solidFill>
            <a:srgbClr val="2E74B5"/>
          </a:solidFill>
          <a:ln/>
        </p:spPr>
      </p:sp>
      <p:sp>
        <p:nvSpPr>
          <p:cNvPr id="30" name="Text 28"/>
          <p:cNvSpPr/>
          <p:nvPr/>
        </p:nvSpPr>
        <p:spPr>
          <a:xfrm>
            <a:off x="2144464" y="2766789"/>
            <a:ext cx="2169021"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Chromatography &amp; mass spec</a:t>
            </a:r>
            <a:endParaRPr lang="en-US" sz="1125" dirty="0"/>
          </a:p>
        </p:txBody>
      </p:sp>
      <p:sp>
        <p:nvSpPr>
          <p:cNvPr id="31" name="Text 29"/>
          <p:cNvSpPr/>
          <p:nvPr/>
        </p:nvSpPr>
        <p:spPr>
          <a:xfrm>
            <a:off x="2949550" y="2950146"/>
            <a:ext cx="558775"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(~$3.4B)</a:t>
            </a:r>
            <a:endParaRPr lang="en-US" sz="900" dirty="0"/>
          </a:p>
        </p:txBody>
      </p:sp>
      <p:sp>
        <p:nvSpPr>
          <p:cNvPr id="32" name="Shape 30"/>
          <p:cNvSpPr/>
          <p:nvPr/>
        </p:nvSpPr>
        <p:spPr>
          <a:xfrm>
            <a:off x="4543425" y="2686050"/>
            <a:ext cx="8829675" cy="476250"/>
          </a:xfrm>
          <a:prstGeom prst="rect">
            <a:avLst/>
          </a:prstGeom>
          <a:solidFill>
            <a:srgbClr val="D9E5F1"/>
          </a:solidFill>
          <a:ln/>
        </p:spPr>
      </p:sp>
      <p:sp>
        <p:nvSpPr>
          <p:cNvPr id="33" name="Text 31"/>
          <p:cNvSpPr/>
          <p:nvPr/>
        </p:nvSpPr>
        <p:spPr>
          <a:xfrm>
            <a:off x="4676775" y="2844924"/>
            <a:ext cx="8819864" cy="196528"/>
          </a:xfrm>
          <a:prstGeom prst="rect">
            <a:avLst/>
          </a:prstGeom>
          <a:noFill/>
          <a:ln/>
        </p:spPr>
        <p:txBody>
          <a:bodyPr wrap="square" lIns="25400" tIns="25400" rIns="25400" bIns="25400" rtlCol="0" anchor="t">
            <a:normAutofit/>
          </a:bodyPr>
          <a:lstStyle/>
          <a:p>
            <a:pPr algn="l" indent="0" marL="0">
              <a:lnSpc>
                <a:spcPct val="128000"/>
              </a:lnSpc>
              <a:buNone/>
            </a:pPr>
            <a:r>
              <a:rPr lang="en-US" sz="975" dirty="0">
                <a:solidFill>
                  <a:srgbClr val="1A1A1A"/>
                </a:solidFill>
                <a:latin typeface="Arial" pitchFamily="34" charset="0"/>
                <a:ea typeface="Arial" pitchFamily="34" charset="-122"/>
                <a:cs typeface="Arial" pitchFamily="34" charset="-120"/>
              </a:rPr>
              <a:t>Includes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liquid chromatography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(LC) and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mass spectrometry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portfolios; Orbitrap MS product line is the largest franchise</a:t>
            </a:r>
            <a:endParaRPr lang="en-US" sz="975" dirty="0"/>
          </a:p>
        </p:txBody>
      </p:sp>
      <p:sp>
        <p:nvSpPr>
          <p:cNvPr id="34" name="Shape 32"/>
          <p:cNvSpPr/>
          <p:nvPr/>
        </p:nvSpPr>
        <p:spPr>
          <a:xfrm>
            <a:off x="1943100" y="3190875"/>
            <a:ext cx="2571750" cy="476250"/>
          </a:xfrm>
          <a:prstGeom prst="rect">
            <a:avLst/>
          </a:prstGeom>
          <a:solidFill>
            <a:srgbClr val="2E74B5"/>
          </a:solidFill>
          <a:ln/>
        </p:spPr>
      </p:sp>
      <p:sp>
        <p:nvSpPr>
          <p:cNvPr id="35" name="Text 33"/>
          <p:cNvSpPr/>
          <p:nvPr/>
        </p:nvSpPr>
        <p:spPr>
          <a:xfrm>
            <a:off x="2476574" y="3271614"/>
            <a:ext cx="1504801"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Electron microscopy</a:t>
            </a:r>
            <a:endParaRPr lang="en-US" sz="1125" dirty="0"/>
          </a:p>
        </p:txBody>
      </p:sp>
      <p:sp>
        <p:nvSpPr>
          <p:cNvPr id="36" name="Text 34"/>
          <p:cNvSpPr/>
          <p:nvPr/>
        </p:nvSpPr>
        <p:spPr>
          <a:xfrm>
            <a:off x="2951485" y="3454971"/>
            <a:ext cx="554980"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(~$3.0B)</a:t>
            </a:r>
            <a:endParaRPr lang="en-US" sz="900" dirty="0"/>
          </a:p>
        </p:txBody>
      </p:sp>
      <p:sp>
        <p:nvSpPr>
          <p:cNvPr id="37" name="Shape 35"/>
          <p:cNvSpPr/>
          <p:nvPr/>
        </p:nvSpPr>
        <p:spPr>
          <a:xfrm>
            <a:off x="4543425" y="3190875"/>
            <a:ext cx="8829675" cy="476250"/>
          </a:xfrm>
          <a:prstGeom prst="rect">
            <a:avLst/>
          </a:prstGeom>
          <a:solidFill>
            <a:srgbClr val="D9E5F1"/>
          </a:solidFill>
          <a:ln/>
        </p:spPr>
      </p:sp>
      <p:sp>
        <p:nvSpPr>
          <p:cNvPr id="38" name="Text 36"/>
          <p:cNvSpPr/>
          <p:nvPr/>
        </p:nvSpPr>
        <p:spPr>
          <a:xfrm>
            <a:off x="4676775" y="3349749"/>
            <a:ext cx="8819864" cy="196528"/>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Electron microscopy solutions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used in life science, materials science, and semiconductor research (from FEI acquisition)</a:t>
            </a:r>
            <a:endParaRPr lang="en-US" sz="975" dirty="0"/>
          </a:p>
        </p:txBody>
      </p:sp>
      <p:sp>
        <p:nvSpPr>
          <p:cNvPr id="39" name="Shape 37"/>
          <p:cNvSpPr/>
          <p:nvPr/>
        </p:nvSpPr>
        <p:spPr>
          <a:xfrm>
            <a:off x="1943100" y="3695700"/>
            <a:ext cx="2571750" cy="476250"/>
          </a:xfrm>
          <a:prstGeom prst="rect">
            <a:avLst/>
          </a:prstGeom>
          <a:solidFill>
            <a:srgbClr val="2E74B5"/>
          </a:solidFill>
          <a:ln/>
        </p:spPr>
      </p:sp>
      <p:sp>
        <p:nvSpPr>
          <p:cNvPr id="40" name="Text 38"/>
          <p:cNvSpPr/>
          <p:nvPr/>
        </p:nvSpPr>
        <p:spPr>
          <a:xfrm>
            <a:off x="2564829" y="3776439"/>
            <a:ext cx="1328217"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Chemical analysis</a:t>
            </a:r>
            <a:endParaRPr lang="en-US" sz="1125" dirty="0"/>
          </a:p>
        </p:txBody>
      </p:sp>
      <p:sp>
        <p:nvSpPr>
          <p:cNvPr id="41" name="Text 39"/>
          <p:cNvSpPr/>
          <p:nvPr/>
        </p:nvSpPr>
        <p:spPr>
          <a:xfrm>
            <a:off x="2958778" y="3959796"/>
            <a:ext cx="540321"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(~$1.2B)</a:t>
            </a:r>
            <a:endParaRPr lang="en-US" sz="900" dirty="0"/>
          </a:p>
        </p:txBody>
      </p:sp>
      <p:sp>
        <p:nvSpPr>
          <p:cNvPr id="42" name="Shape 40"/>
          <p:cNvSpPr/>
          <p:nvPr/>
        </p:nvSpPr>
        <p:spPr>
          <a:xfrm>
            <a:off x="4543425" y="3695700"/>
            <a:ext cx="8829675" cy="476250"/>
          </a:xfrm>
          <a:prstGeom prst="rect">
            <a:avLst/>
          </a:prstGeom>
          <a:solidFill>
            <a:srgbClr val="D9E5F1"/>
          </a:solidFill>
          <a:ln/>
        </p:spPr>
      </p:sp>
      <p:sp>
        <p:nvSpPr>
          <p:cNvPr id="43" name="Text 41"/>
          <p:cNvSpPr/>
          <p:nvPr/>
        </p:nvSpPr>
        <p:spPr>
          <a:xfrm>
            <a:off x="4676775" y="3775397"/>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Instruments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for production, process and analytics, field safety, and environmental use cases (e.g., radiation detection, production line process monitoring)</a:t>
            </a:r>
            <a:endParaRPr lang="en-US" sz="975" dirty="0"/>
          </a:p>
        </p:txBody>
      </p:sp>
      <p:sp>
        <p:nvSpPr>
          <p:cNvPr id="44" name="Shape 42"/>
          <p:cNvSpPr/>
          <p:nvPr/>
        </p:nvSpPr>
        <p:spPr>
          <a:xfrm>
            <a:off x="342900" y="4200525"/>
            <a:ext cx="1571625" cy="2257425"/>
          </a:xfrm>
          <a:prstGeom prst="rect">
            <a:avLst/>
          </a:prstGeom>
          <a:solidFill>
            <a:srgbClr val="1F3864"/>
          </a:solidFill>
          <a:ln/>
        </p:spPr>
      </p:sp>
      <p:sp>
        <p:nvSpPr>
          <p:cNvPr id="45" name="Text 43"/>
          <p:cNvSpPr/>
          <p:nvPr/>
        </p:nvSpPr>
        <p:spPr>
          <a:xfrm>
            <a:off x="581397" y="4921151"/>
            <a:ext cx="1094556" cy="454223"/>
          </a:xfrm>
          <a:prstGeom prst="rect">
            <a:avLst/>
          </a:prstGeom>
          <a:noFill/>
          <a:ln/>
        </p:spPr>
        <p:txBody>
          <a:bodyPr wrap="square" lIns="25400" tIns="25400" rIns="25400" bIns="25400" rtlCol="0" anchor="t">
            <a:normAutofit/>
          </a:bodyPr>
          <a:lstStyle/>
          <a:p>
            <a:pPr algn="ctr" indent="0" marL="0">
              <a:lnSpc>
                <a:spcPct val="115000"/>
              </a:lnSpc>
              <a:buNone/>
            </a:pPr>
            <a:r>
              <a:rPr lang="en-US" sz="1425" b="1" dirty="0">
                <a:solidFill>
                  <a:srgbClr val="FFFFFF"/>
                </a:solidFill>
                <a:latin typeface="Arial" pitchFamily="34" charset="0"/>
                <a:ea typeface="Arial" pitchFamily="34" charset="-122"/>
                <a:cs typeface="Arial" pitchFamily="34" charset="-120"/>
              </a:rPr>
              <a:t>Specialty Diagnostics</a:t>
            </a:r>
            <a:endParaRPr lang="en-US" sz="1425" dirty="0"/>
          </a:p>
        </p:txBody>
      </p:sp>
      <p:sp>
        <p:nvSpPr>
          <p:cNvPr id="46" name="Text 44"/>
          <p:cNvSpPr/>
          <p:nvPr/>
        </p:nvSpPr>
        <p:spPr>
          <a:xfrm>
            <a:off x="870942" y="5394424"/>
            <a:ext cx="515541" cy="381000"/>
          </a:xfrm>
          <a:prstGeom prst="rect">
            <a:avLst/>
          </a:prstGeom>
          <a:noFill/>
          <a:ln/>
        </p:spPr>
        <p:txBody>
          <a:bodyPr wrap="square" lIns="25400" tIns="25400" rIns="25400" bIns="25400" rtlCol="0" anchor="t">
            <a:normAutofit/>
          </a:bodyPr>
          <a:lstStyle/>
          <a:p>
            <a:pPr algn="ctr" indent="0" marL="0">
              <a:lnSpc>
                <a:spcPct val="120000"/>
              </a:lnSpc>
              <a:buNone/>
            </a:pPr>
            <a:r>
              <a:rPr lang="en-US" sz="1125" i="1" dirty="0">
                <a:solidFill>
                  <a:srgbClr val="FFFFFF"/>
                </a:solidFill>
                <a:latin typeface="Arial" pitchFamily="34" charset="0"/>
                <a:ea typeface="Arial" pitchFamily="34" charset="-122"/>
                <a:cs typeface="Arial" pitchFamily="34" charset="-120"/>
              </a:rPr>
              <a:t>(10% $4.7B)</a:t>
            </a:r>
            <a:endParaRPr lang="en-US" sz="1125" dirty="0"/>
          </a:p>
        </p:txBody>
      </p:sp>
      <p:sp>
        <p:nvSpPr>
          <p:cNvPr id="47" name="Shape 45"/>
          <p:cNvSpPr/>
          <p:nvPr/>
        </p:nvSpPr>
        <p:spPr>
          <a:xfrm>
            <a:off x="1943100" y="4200525"/>
            <a:ext cx="2571750" cy="428625"/>
          </a:xfrm>
          <a:prstGeom prst="rect">
            <a:avLst/>
          </a:prstGeom>
          <a:solidFill>
            <a:srgbClr val="2E74B5"/>
          </a:solidFill>
          <a:ln/>
        </p:spPr>
      </p:sp>
      <p:sp>
        <p:nvSpPr>
          <p:cNvPr id="48" name="Text 46"/>
          <p:cNvSpPr/>
          <p:nvPr/>
        </p:nvSpPr>
        <p:spPr>
          <a:xfrm>
            <a:off x="2252067" y="4257452"/>
            <a:ext cx="1953741"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Healthcare market channel</a:t>
            </a:r>
            <a:endParaRPr lang="en-US" sz="1125" dirty="0"/>
          </a:p>
        </p:txBody>
      </p:sp>
      <p:sp>
        <p:nvSpPr>
          <p:cNvPr id="49" name="Text 47"/>
          <p:cNvSpPr/>
          <p:nvPr/>
        </p:nvSpPr>
        <p:spPr>
          <a:xfrm>
            <a:off x="2957661" y="4440808"/>
            <a:ext cx="542627"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(~$1.8B)</a:t>
            </a:r>
            <a:endParaRPr lang="en-US" sz="900" dirty="0"/>
          </a:p>
        </p:txBody>
      </p:sp>
      <p:sp>
        <p:nvSpPr>
          <p:cNvPr id="50" name="Shape 48"/>
          <p:cNvSpPr/>
          <p:nvPr/>
        </p:nvSpPr>
        <p:spPr>
          <a:xfrm>
            <a:off x="4543425" y="4200525"/>
            <a:ext cx="8829675" cy="428625"/>
          </a:xfrm>
          <a:prstGeom prst="rect">
            <a:avLst/>
          </a:prstGeom>
          <a:solidFill>
            <a:srgbClr val="D9E5F1"/>
          </a:solidFill>
          <a:ln/>
        </p:spPr>
      </p:sp>
      <p:sp>
        <p:nvSpPr>
          <p:cNvPr id="51" name="Text 49"/>
          <p:cNvSpPr/>
          <p:nvPr/>
        </p:nvSpPr>
        <p:spPr>
          <a:xfrm>
            <a:off x="4676775" y="4324499"/>
            <a:ext cx="8819864" cy="218703"/>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Channel for hospitals and reference lab,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selling both TMO and 3</a:t>
            </a:r>
            <a:pPr algn="l" indent="0" marL="0">
              <a:lnSpc>
                <a:spcPct val="128000"/>
              </a:lnSpc>
              <a:buNone/>
            </a:pPr>
            <a:r>
              <a:rPr lang="en-US" sz="812" baseline="30000" dirty="0">
                <a:solidFill>
                  <a:srgbClr val="1A1A1A"/>
                </a:solidFill>
                <a:latin typeface="Arial" pitchFamily="34" charset="0"/>
                <a:ea typeface="Arial" pitchFamily="34" charset="-122"/>
                <a:cs typeface="Arial" pitchFamily="34" charset="-120"/>
              </a:rPr>
              <a:t>rd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party products</a:t>
            </a:r>
            <a:endParaRPr lang="en-US" sz="975" dirty="0"/>
          </a:p>
        </p:txBody>
      </p:sp>
      <p:sp>
        <p:nvSpPr>
          <p:cNvPr id="52" name="Shape 50"/>
          <p:cNvSpPr/>
          <p:nvPr/>
        </p:nvSpPr>
        <p:spPr>
          <a:xfrm>
            <a:off x="1943100" y="4657725"/>
            <a:ext cx="2571750" cy="428625"/>
          </a:xfrm>
          <a:prstGeom prst="rect">
            <a:avLst/>
          </a:prstGeom>
          <a:solidFill>
            <a:srgbClr val="2E74B5"/>
          </a:solidFill>
          <a:ln/>
        </p:spPr>
      </p:sp>
      <p:sp>
        <p:nvSpPr>
          <p:cNvPr id="53" name="Text 51"/>
          <p:cNvSpPr/>
          <p:nvPr/>
        </p:nvSpPr>
        <p:spPr>
          <a:xfrm>
            <a:off x="2512665" y="4714652"/>
            <a:ext cx="1432620"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Clinical diagnostics</a:t>
            </a:r>
            <a:endParaRPr lang="en-US" sz="1125" dirty="0"/>
          </a:p>
        </p:txBody>
      </p:sp>
      <p:sp>
        <p:nvSpPr>
          <p:cNvPr id="54" name="Text 52"/>
          <p:cNvSpPr/>
          <p:nvPr/>
        </p:nvSpPr>
        <p:spPr>
          <a:xfrm>
            <a:off x="2969196" y="4898008"/>
            <a:ext cx="519559"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(~$1.1B)</a:t>
            </a:r>
            <a:endParaRPr lang="en-US" sz="900" dirty="0"/>
          </a:p>
        </p:txBody>
      </p:sp>
      <p:sp>
        <p:nvSpPr>
          <p:cNvPr id="55" name="Shape 53"/>
          <p:cNvSpPr/>
          <p:nvPr/>
        </p:nvSpPr>
        <p:spPr>
          <a:xfrm>
            <a:off x="4543425" y="4657725"/>
            <a:ext cx="8829675" cy="428625"/>
          </a:xfrm>
          <a:prstGeom prst="rect">
            <a:avLst/>
          </a:prstGeom>
          <a:solidFill>
            <a:srgbClr val="D9E5F1"/>
          </a:solidFill>
          <a:ln/>
        </p:spPr>
      </p:sp>
      <p:sp>
        <p:nvSpPr>
          <p:cNvPr id="56" name="Text 54"/>
          <p:cNvSpPr/>
          <p:nvPr/>
        </p:nvSpPr>
        <p:spPr>
          <a:xfrm>
            <a:off x="4676775" y="4792787"/>
            <a:ext cx="8819864" cy="196528"/>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Immunodiagnostic reagent kits and instruments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for drugs-of-abuse, therapeutic drug monitoring, and thyroid testing</a:t>
            </a:r>
            <a:endParaRPr lang="en-US" sz="975" dirty="0"/>
          </a:p>
        </p:txBody>
      </p:sp>
      <p:sp>
        <p:nvSpPr>
          <p:cNvPr id="57" name="Shape 55"/>
          <p:cNvSpPr/>
          <p:nvPr/>
        </p:nvSpPr>
        <p:spPr>
          <a:xfrm>
            <a:off x="1943100" y="5114925"/>
            <a:ext cx="2571750" cy="428625"/>
          </a:xfrm>
          <a:prstGeom prst="rect">
            <a:avLst/>
          </a:prstGeom>
          <a:solidFill>
            <a:srgbClr val="2E74B5"/>
          </a:solidFill>
          <a:ln/>
        </p:spPr>
      </p:sp>
      <p:sp>
        <p:nvSpPr>
          <p:cNvPr id="58" name="Text 56"/>
          <p:cNvSpPr/>
          <p:nvPr/>
        </p:nvSpPr>
        <p:spPr>
          <a:xfrm>
            <a:off x="2495996" y="5171852"/>
            <a:ext cx="1465883"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ImmunoDiagnostics</a:t>
            </a:r>
            <a:endParaRPr lang="en-US" sz="1125" dirty="0"/>
          </a:p>
        </p:txBody>
      </p:sp>
      <p:sp>
        <p:nvSpPr>
          <p:cNvPr id="59" name="Text 57"/>
          <p:cNvSpPr/>
          <p:nvPr/>
        </p:nvSpPr>
        <p:spPr>
          <a:xfrm>
            <a:off x="2949997" y="5355208"/>
            <a:ext cx="557882"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(~$0.9B)</a:t>
            </a:r>
            <a:endParaRPr lang="en-US" sz="900" dirty="0"/>
          </a:p>
        </p:txBody>
      </p:sp>
      <p:sp>
        <p:nvSpPr>
          <p:cNvPr id="60" name="Shape 58"/>
          <p:cNvSpPr/>
          <p:nvPr/>
        </p:nvSpPr>
        <p:spPr>
          <a:xfrm>
            <a:off x="4543425" y="5114925"/>
            <a:ext cx="8829675" cy="428625"/>
          </a:xfrm>
          <a:prstGeom prst="rect">
            <a:avLst/>
          </a:prstGeom>
          <a:solidFill>
            <a:srgbClr val="D9E5F1"/>
          </a:solidFill>
          <a:ln/>
        </p:spPr>
      </p:sp>
      <p:sp>
        <p:nvSpPr>
          <p:cNvPr id="61" name="Text 59"/>
          <p:cNvSpPr/>
          <p:nvPr/>
        </p:nvSpPr>
        <p:spPr>
          <a:xfrm>
            <a:off x="4676775" y="5249987"/>
            <a:ext cx="8819864" cy="196528"/>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Allergy and autoimmunity diagnostic tests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(legacy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Phadia</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 expanded by 2023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Binding Site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acquisition for multiple myeloma</a:t>
            </a:r>
            <a:endParaRPr lang="en-US" sz="975" dirty="0"/>
          </a:p>
        </p:txBody>
      </p:sp>
      <p:sp>
        <p:nvSpPr>
          <p:cNvPr id="62" name="Shape 60"/>
          <p:cNvSpPr/>
          <p:nvPr/>
        </p:nvSpPr>
        <p:spPr>
          <a:xfrm>
            <a:off x="1943100" y="5572125"/>
            <a:ext cx="2571750" cy="428625"/>
          </a:xfrm>
          <a:prstGeom prst="rect">
            <a:avLst/>
          </a:prstGeom>
          <a:solidFill>
            <a:srgbClr val="2E74B5"/>
          </a:solidFill>
          <a:ln/>
        </p:spPr>
      </p:sp>
      <p:sp>
        <p:nvSpPr>
          <p:cNvPr id="63" name="Text 61"/>
          <p:cNvSpPr/>
          <p:nvPr/>
        </p:nvSpPr>
        <p:spPr>
          <a:xfrm>
            <a:off x="2737098" y="5629052"/>
            <a:ext cx="983679"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Microbiology</a:t>
            </a:r>
            <a:endParaRPr lang="en-US" sz="1125" dirty="0"/>
          </a:p>
        </p:txBody>
      </p:sp>
      <p:sp>
        <p:nvSpPr>
          <p:cNvPr id="64" name="Text 62"/>
          <p:cNvSpPr/>
          <p:nvPr/>
        </p:nvSpPr>
        <p:spPr>
          <a:xfrm>
            <a:off x="2952304" y="5812408"/>
            <a:ext cx="553343"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(~$0.6B)</a:t>
            </a:r>
            <a:endParaRPr lang="en-US" sz="900" dirty="0"/>
          </a:p>
        </p:txBody>
      </p:sp>
      <p:sp>
        <p:nvSpPr>
          <p:cNvPr id="65" name="Shape 63"/>
          <p:cNvSpPr/>
          <p:nvPr/>
        </p:nvSpPr>
        <p:spPr>
          <a:xfrm>
            <a:off x="4543425" y="5572125"/>
            <a:ext cx="8829675" cy="428625"/>
          </a:xfrm>
          <a:prstGeom prst="rect">
            <a:avLst/>
          </a:prstGeom>
          <a:solidFill>
            <a:srgbClr val="D9E5F1"/>
          </a:solidFill>
          <a:ln/>
        </p:spPr>
      </p:sp>
      <p:sp>
        <p:nvSpPr>
          <p:cNvPr id="66" name="Text 64"/>
          <p:cNvSpPr/>
          <p:nvPr/>
        </p:nvSpPr>
        <p:spPr>
          <a:xfrm>
            <a:off x="4676775" y="5707187"/>
            <a:ext cx="8819864" cy="196528"/>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Pathogen detection in blood, rapid specimen tests,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QC products, and food safety tests</a:t>
            </a:r>
            <a:endParaRPr lang="en-US" sz="975" dirty="0"/>
          </a:p>
        </p:txBody>
      </p:sp>
      <p:sp>
        <p:nvSpPr>
          <p:cNvPr id="67" name="Shape 65"/>
          <p:cNvSpPr/>
          <p:nvPr/>
        </p:nvSpPr>
        <p:spPr>
          <a:xfrm>
            <a:off x="1943100" y="6029325"/>
            <a:ext cx="2571750" cy="428625"/>
          </a:xfrm>
          <a:prstGeom prst="rect">
            <a:avLst/>
          </a:prstGeom>
          <a:solidFill>
            <a:srgbClr val="2E74B5"/>
          </a:solidFill>
          <a:ln/>
        </p:spPr>
      </p:sp>
      <p:sp>
        <p:nvSpPr>
          <p:cNvPr id="68" name="Text 66"/>
          <p:cNvSpPr/>
          <p:nvPr/>
        </p:nvSpPr>
        <p:spPr>
          <a:xfrm>
            <a:off x="2395240" y="6086252"/>
            <a:ext cx="1667470"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Transplant diagnostics</a:t>
            </a:r>
            <a:endParaRPr lang="en-US" sz="1125" dirty="0"/>
          </a:p>
        </p:txBody>
      </p:sp>
      <p:sp>
        <p:nvSpPr>
          <p:cNvPr id="69" name="Text 67"/>
          <p:cNvSpPr/>
          <p:nvPr/>
        </p:nvSpPr>
        <p:spPr>
          <a:xfrm>
            <a:off x="2952527" y="6269608"/>
            <a:ext cx="552896"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(~$0.5B)</a:t>
            </a:r>
            <a:endParaRPr lang="en-US" sz="900" dirty="0"/>
          </a:p>
        </p:txBody>
      </p:sp>
      <p:sp>
        <p:nvSpPr>
          <p:cNvPr id="70" name="Shape 68"/>
          <p:cNvSpPr/>
          <p:nvPr/>
        </p:nvSpPr>
        <p:spPr>
          <a:xfrm>
            <a:off x="4543425" y="6029325"/>
            <a:ext cx="8829675" cy="428625"/>
          </a:xfrm>
          <a:prstGeom prst="rect">
            <a:avLst/>
          </a:prstGeom>
          <a:solidFill>
            <a:srgbClr val="D9E5F1"/>
          </a:solidFill>
          <a:ln/>
        </p:spPr>
      </p:sp>
      <p:sp>
        <p:nvSpPr>
          <p:cNvPr id="71" name="Text 69"/>
          <p:cNvSpPr/>
          <p:nvPr/>
        </p:nvSpPr>
        <p:spPr>
          <a:xfrm>
            <a:off x="4676775" y="6164387"/>
            <a:ext cx="8819864" cy="196528"/>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Human leukocyte antigen (HLA) typing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for the organ transplant market</a:t>
            </a:r>
            <a:endParaRPr lang="en-US" sz="975" dirty="0"/>
          </a:p>
        </p:txBody>
      </p:sp>
      <p:sp>
        <p:nvSpPr>
          <p:cNvPr id="72" name="Shape 70"/>
          <p:cNvSpPr/>
          <p:nvPr/>
        </p:nvSpPr>
        <p:spPr>
          <a:xfrm>
            <a:off x="342900" y="6486525"/>
            <a:ext cx="1571625" cy="3430488"/>
          </a:xfrm>
          <a:prstGeom prst="rect">
            <a:avLst/>
          </a:prstGeom>
          <a:solidFill>
            <a:srgbClr val="1F3864"/>
          </a:solidFill>
          <a:ln/>
        </p:spPr>
      </p:sp>
      <p:sp>
        <p:nvSpPr>
          <p:cNvPr id="73" name="Text 71"/>
          <p:cNvSpPr/>
          <p:nvPr/>
        </p:nvSpPr>
        <p:spPr>
          <a:xfrm>
            <a:off x="516210" y="7585621"/>
            <a:ext cx="1224930" cy="870347"/>
          </a:xfrm>
          <a:prstGeom prst="rect">
            <a:avLst/>
          </a:prstGeom>
          <a:noFill/>
          <a:ln/>
        </p:spPr>
        <p:txBody>
          <a:bodyPr wrap="square" lIns="25400" tIns="25400" rIns="25400" bIns="25400" rtlCol="0" anchor="t">
            <a:normAutofit/>
          </a:bodyPr>
          <a:lstStyle/>
          <a:p>
            <a:pPr algn="ctr" indent="0" marL="0">
              <a:lnSpc>
                <a:spcPct val="115000"/>
              </a:lnSpc>
              <a:buNone/>
            </a:pPr>
            <a:r>
              <a:rPr lang="en-US" sz="1425" b="1" dirty="0">
                <a:solidFill>
                  <a:srgbClr val="FFFFFF"/>
                </a:solidFill>
                <a:latin typeface="Arial" pitchFamily="34" charset="0"/>
                <a:ea typeface="Arial" pitchFamily="34" charset="-122"/>
                <a:cs typeface="Arial" pitchFamily="34" charset="-120"/>
              </a:rPr>
              <a:t>Lab Products and BioPharma Services</a:t>
            </a:r>
            <a:endParaRPr lang="en-US" sz="1425" dirty="0"/>
          </a:p>
        </p:txBody>
      </p:sp>
      <p:sp>
        <p:nvSpPr>
          <p:cNvPr id="74" name="Text 72"/>
          <p:cNvSpPr/>
          <p:nvPr/>
        </p:nvSpPr>
        <p:spPr>
          <a:xfrm>
            <a:off x="830163" y="8475018"/>
            <a:ext cx="597024" cy="381000"/>
          </a:xfrm>
          <a:prstGeom prst="rect">
            <a:avLst/>
          </a:prstGeom>
          <a:noFill/>
          <a:ln/>
        </p:spPr>
        <p:txBody>
          <a:bodyPr wrap="square" lIns="25400" tIns="25400" rIns="25400" bIns="25400" rtlCol="0" anchor="t">
            <a:normAutofit/>
          </a:bodyPr>
          <a:lstStyle/>
          <a:p>
            <a:pPr algn="ctr" indent="0" marL="0">
              <a:lnSpc>
                <a:spcPct val="120000"/>
              </a:lnSpc>
              <a:buNone/>
            </a:pPr>
            <a:r>
              <a:rPr lang="en-US" sz="1125" i="1" dirty="0">
                <a:solidFill>
                  <a:srgbClr val="FFFFFF"/>
                </a:solidFill>
                <a:latin typeface="Arial" pitchFamily="34" charset="0"/>
                <a:ea typeface="Arial" pitchFamily="34" charset="-122"/>
                <a:cs typeface="Arial" pitchFamily="34" charset="-120"/>
              </a:rPr>
              <a:t>(52% $24.0B)</a:t>
            </a:r>
            <a:endParaRPr lang="en-US" sz="1125" dirty="0"/>
          </a:p>
        </p:txBody>
      </p:sp>
      <p:sp>
        <p:nvSpPr>
          <p:cNvPr id="75" name="Shape 73"/>
          <p:cNvSpPr/>
          <p:nvPr/>
        </p:nvSpPr>
        <p:spPr>
          <a:xfrm>
            <a:off x="1943100" y="6486525"/>
            <a:ext cx="2571750" cy="836191"/>
          </a:xfrm>
          <a:prstGeom prst="rect">
            <a:avLst/>
          </a:prstGeom>
          <a:solidFill>
            <a:srgbClr val="2E74B5"/>
          </a:solidFill>
          <a:ln/>
        </p:spPr>
      </p:sp>
      <p:sp>
        <p:nvSpPr>
          <p:cNvPr id="76" name="Text 74"/>
          <p:cNvSpPr/>
          <p:nvPr/>
        </p:nvSpPr>
        <p:spPr>
          <a:xfrm>
            <a:off x="2267620" y="6747197"/>
            <a:ext cx="1922636"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Research &amp; safety channel</a:t>
            </a:r>
            <a:endParaRPr lang="en-US" sz="1125" dirty="0"/>
          </a:p>
        </p:txBody>
      </p:sp>
      <p:sp>
        <p:nvSpPr>
          <p:cNvPr id="77" name="Text 75"/>
          <p:cNvSpPr/>
          <p:nvPr/>
        </p:nvSpPr>
        <p:spPr>
          <a:xfrm>
            <a:off x="2955875" y="6930554"/>
            <a:ext cx="546125"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(~$7.4B)</a:t>
            </a:r>
            <a:endParaRPr lang="en-US" sz="900" dirty="0"/>
          </a:p>
        </p:txBody>
      </p:sp>
      <p:sp>
        <p:nvSpPr>
          <p:cNvPr id="78" name="Shape 76"/>
          <p:cNvSpPr/>
          <p:nvPr/>
        </p:nvSpPr>
        <p:spPr>
          <a:xfrm>
            <a:off x="4543425" y="6486525"/>
            <a:ext cx="8829675" cy="836191"/>
          </a:xfrm>
          <a:prstGeom prst="rect">
            <a:avLst/>
          </a:prstGeom>
          <a:solidFill>
            <a:srgbClr val="D9E5F1"/>
          </a:solidFill>
          <a:ln/>
        </p:spPr>
      </p:sp>
      <p:sp>
        <p:nvSpPr>
          <p:cNvPr id="79" name="Text 77"/>
          <p:cNvSpPr/>
          <p:nvPr/>
        </p:nvSpPr>
        <p:spPr>
          <a:xfrm>
            <a:off x="4676775" y="6814319"/>
            <a:ext cx="8819864" cy="218703"/>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Distribution channel</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 ~1/3 of products are TMO, and 2/3 are from 3</a:t>
            </a:r>
            <a:pPr algn="l" indent="0" marL="0">
              <a:lnSpc>
                <a:spcPct val="128000"/>
              </a:lnSpc>
              <a:buNone/>
            </a:pPr>
            <a:r>
              <a:rPr lang="en-US" sz="812" baseline="30000" dirty="0">
                <a:solidFill>
                  <a:srgbClr val="1A1A1A"/>
                </a:solidFill>
                <a:latin typeface="Arial" pitchFamily="34" charset="0"/>
                <a:ea typeface="Arial" pitchFamily="34" charset="-122"/>
                <a:cs typeface="Arial" pitchFamily="34" charset="-120"/>
              </a:rPr>
              <a:t>rd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party providers</a:t>
            </a:r>
            <a:endParaRPr lang="en-US" sz="975" dirty="0"/>
          </a:p>
        </p:txBody>
      </p:sp>
      <p:sp>
        <p:nvSpPr>
          <p:cNvPr id="80" name="Shape 78"/>
          <p:cNvSpPr/>
          <p:nvPr/>
        </p:nvSpPr>
        <p:spPr>
          <a:xfrm>
            <a:off x="1943100" y="7351291"/>
            <a:ext cx="2571750" cy="836191"/>
          </a:xfrm>
          <a:prstGeom prst="rect">
            <a:avLst/>
          </a:prstGeom>
          <a:solidFill>
            <a:srgbClr val="2E74B5"/>
          </a:solidFill>
          <a:ln/>
        </p:spPr>
      </p:sp>
      <p:sp>
        <p:nvSpPr>
          <p:cNvPr id="81" name="Text 79"/>
          <p:cNvSpPr/>
          <p:nvPr/>
        </p:nvSpPr>
        <p:spPr>
          <a:xfrm>
            <a:off x="2387724" y="7611963"/>
            <a:ext cx="1682502"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Clinical research (PPD)</a:t>
            </a:r>
            <a:endParaRPr lang="en-US" sz="1125" dirty="0"/>
          </a:p>
        </p:txBody>
      </p:sp>
      <p:sp>
        <p:nvSpPr>
          <p:cNvPr id="82" name="Text 80"/>
          <p:cNvSpPr/>
          <p:nvPr/>
        </p:nvSpPr>
        <p:spPr>
          <a:xfrm>
            <a:off x="2955131" y="7795320"/>
            <a:ext cx="547688"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(~$7.9B)</a:t>
            </a:r>
            <a:endParaRPr lang="en-US" sz="900" dirty="0"/>
          </a:p>
        </p:txBody>
      </p:sp>
      <p:sp>
        <p:nvSpPr>
          <p:cNvPr id="83" name="Shape 81"/>
          <p:cNvSpPr/>
          <p:nvPr/>
        </p:nvSpPr>
        <p:spPr>
          <a:xfrm>
            <a:off x="4543425" y="7351291"/>
            <a:ext cx="8829675" cy="836191"/>
          </a:xfrm>
          <a:prstGeom prst="rect">
            <a:avLst/>
          </a:prstGeom>
          <a:solidFill>
            <a:srgbClr val="D9E5F1"/>
          </a:solidFill>
          <a:ln/>
        </p:spPr>
      </p:sp>
      <p:sp>
        <p:nvSpPr>
          <p:cNvPr id="84" name="Text 82"/>
          <p:cNvSpPr/>
          <p:nvPr/>
        </p:nvSpPr>
        <p:spPr>
          <a:xfrm>
            <a:off x="4676775" y="7690172"/>
            <a:ext cx="8819864" cy="196528"/>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Clinical research organization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(legacy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PPD</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 expanded by 2023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CorEvitas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acquisition (real-world evidence)</a:t>
            </a:r>
            <a:endParaRPr lang="en-US" sz="975" dirty="0"/>
          </a:p>
        </p:txBody>
      </p:sp>
      <p:sp>
        <p:nvSpPr>
          <p:cNvPr id="85" name="Shape 83"/>
          <p:cNvSpPr/>
          <p:nvPr/>
        </p:nvSpPr>
        <p:spPr>
          <a:xfrm>
            <a:off x="1943100" y="8216057"/>
            <a:ext cx="2571750" cy="836191"/>
          </a:xfrm>
          <a:prstGeom prst="rect">
            <a:avLst/>
          </a:prstGeom>
          <a:solidFill>
            <a:srgbClr val="2E74B5"/>
          </a:solidFill>
          <a:ln/>
        </p:spPr>
      </p:sp>
      <p:sp>
        <p:nvSpPr>
          <p:cNvPr id="86" name="Text 84"/>
          <p:cNvSpPr/>
          <p:nvPr/>
        </p:nvSpPr>
        <p:spPr>
          <a:xfrm>
            <a:off x="2246784" y="8476729"/>
            <a:ext cx="1964308"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Pharma services (Patheon)</a:t>
            </a:r>
            <a:endParaRPr lang="en-US" sz="1125" dirty="0"/>
          </a:p>
        </p:txBody>
      </p:sp>
      <p:sp>
        <p:nvSpPr>
          <p:cNvPr id="87" name="Text 85"/>
          <p:cNvSpPr/>
          <p:nvPr/>
        </p:nvSpPr>
        <p:spPr>
          <a:xfrm>
            <a:off x="2966293" y="8660085"/>
            <a:ext cx="525289"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(~$7.1B)</a:t>
            </a:r>
            <a:endParaRPr lang="en-US" sz="900" dirty="0"/>
          </a:p>
        </p:txBody>
      </p:sp>
      <p:sp>
        <p:nvSpPr>
          <p:cNvPr id="88" name="Shape 86"/>
          <p:cNvSpPr/>
          <p:nvPr/>
        </p:nvSpPr>
        <p:spPr>
          <a:xfrm>
            <a:off x="4543425" y="8216057"/>
            <a:ext cx="8829675" cy="836191"/>
          </a:xfrm>
          <a:prstGeom prst="rect">
            <a:avLst/>
          </a:prstGeom>
          <a:solidFill>
            <a:srgbClr val="D9E5F1"/>
          </a:solidFill>
          <a:ln/>
        </p:spPr>
      </p:sp>
      <p:sp>
        <p:nvSpPr>
          <p:cNvPr id="89" name="Text 87"/>
          <p:cNvSpPr/>
          <p:nvPr/>
        </p:nvSpPr>
        <p:spPr>
          <a:xfrm>
            <a:off x="4676775" y="8475687"/>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Clinical development and manufacturing organization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(legacy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Patheon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 only small-batch manufacturing, not stainless steel; added U.S. sterile fill-finish via 2025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Sanofi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Ridgefield acquisition</a:t>
            </a:r>
            <a:endParaRPr lang="en-US" sz="975" dirty="0"/>
          </a:p>
        </p:txBody>
      </p:sp>
      <p:sp>
        <p:nvSpPr>
          <p:cNvPr id="90" name="Shape 88"/>
          <p:cNvSpPr/>
          <p:nvPr/>
        </p:nvSpPr>
        <p:spPr>
          <a:xfrm>
            <a:off x="1943100" y="9080822"/>
            <a:ext cx="2571750" cy="836191"/>
          </a:xfrm>
          <a:prstGeom prst="rect">
            <a:avLst/>
          </a:prstGeom>
          <a:solidFill>
            <a:srgbClr val="2E74B5"/>
          </a:solidFill>
          <a:ln/>
        </p:spPr>
      </p:sp>
      <p:sp>
        <p:nvSpPr>
          <p:cNvPr id="91" name="Text 89"/>
          <p:cNvSpPr/>
          <p:nvPr/>
        </p:nvSpPr>
        <p:spPr>
          <a:xfrm>
            <a:off x="2991594" y="9341495"/>
            <a:ext cx="474762"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Other</a:t>
            </a:r>
            <a:endParaRPr lang="en-US" sz="1125" dirty="0"/>
          </a:p>
        </p:txBody>
      </p:sp>
      <p:sp>
        <p:nvSpPr>
          <p:cNvPr id="92" name="Text 90"/>
          <p:cNvSpPr/>
          <p:nvPr/>
        </p:nvSpPr>
        <p:spPr>
          <a:xfrm>
            <a:off x="2960489" y="9524851"/>
            <a:ext cx="536972"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(~$1.5B)</a:t>
            </a:r>
            <a:endParaRPr lang="en-US" sz="900" dirty="0"/>
          </a:p>
        </p:txBody>
      </p:sp>
      <p:sp>
        <p:nvSpPr>
          <p:cNvPr id="93" name="Shape 91"/>
          <p:cNvSpPr/>
          <p:nvPr/>
        </p:nvSpPr>
        <p:spPr>
          <a:xfrm>
            <a:off x="4543425" y="9080822"/>
            <a:ext cx="8829675" cy="836191"/>
          </a:xfrm>
          <a:prstGeom prst="rect">
            <a:avLst/>
          </a:prstGeom>
          <a:solidFill>
            <a:srgbClr val="D9E5F1"/>
          </a:solidFill>
          <a:ln/>
        </p:spPr>
      </p:sp>
      <p:sp>
        <p:nvSpPr>
          <p:cNvPr id="94" name="Text 92"/>
          <p:cNvSpPr/>
          <p:nvPr/>
        </p:nvSpPr>
        <p:spPr>
          <a:xfrm>
            <a:off x="4676775" y="9419704"/>
            <a:ext cx="8819864" cy="196528"/>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Basic lab equipment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(e.g., freezers, centrifuges),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chemicals,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and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consumables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(e.g., pipette tips)</a:t>
            </a:r>
            <a:endParaRPr lang="en-US" sz="975" dirty="0"/>
          </a:p>
        </p:txBody>
      </p:sp>
      <p:sp>
        <p:nvSpPr>
          <p:cNvPr id="95" name="Text 93"/>
          <p:cNvSpPr/>
          <p:nvPr/>
        </p:nvSpPr>
        <p:spPr>
          <a:xfrm>
            <a:off x="342900" y="9993213"/>
            <a:ext cx="13421106" cy="179487"/>
          </a:xfrm>
          <a:prstGeom prst="rect">
            <a:avLst/>
          </a:prstGeom>
          <a:noFill/>
          <a:ln/>
        </p:spPr>
        <p:txBody>
          <a:bodyPr wrap="square" lIns="25400" tIns="25400" rIns="25400" bIns="25400" rtlCol="0" anchor="t">
            <a:normAutofit/>
          </a:bodyPr>
          <a:lstStyle/>
          <a:p>
            <a:pPr algn="l" indent="0" marL="0">
              <a:lnSpc>
                <a:spcPct val="135000"/>
              </a:lnSpc>
              <a:buNone/>
            </a:pPr>
            <a:r>
              <a:rPr lang="en-US" sz="825" dirty="0">
                <a:solidFill>
                  <a:srgbClr val="555555"/>
                </a:solidFill>
                <a:latin typeface="Arial" pitchFamily="34" charset="0"/>
                <a:ea typeface="Arial" pitchFamily="34" charset="-122"/>
                <a:cs typeface="Arial" pitchFamily="34" charset="-120"/>
              </a:rPr>
              <a:t>Source: TMO 2025 Form 10-K (fiscal year ended Dec 31, 2025). Segment % computed on gross segment revenue ($46.6B) before $2.0B intersegment eliminations; consolidated revenue $44.6B.</a:t>
            </a:r>
            <a:endParaRPr lang="en-US" sz="8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42900" y="209550"/>
            <a:ext cx="13421106" cy="400050"/>
          </a:xfrm>
          <a:prstGeom prst="rect">
            <a:avLst/>
          </a:prstGeom>
          <a:noFill/>
          <a:ln/>
        </p:spPr>
        <p:txBody>
          <a:bodyPr wrap="square" lIns="25400" tIns="25400" rIns="25400" bIns="25400" rtlCol="0" anchor="t">
            <a:normAutofit/>
          </a:bodyPr>
          <a:lstStyle/>
          <a:p>
            <a:pPr algn="l" indent="0" marL="0">
              <a:buNone/>
            </a:pPr>
            <a:r>
              <a:rPr lang="en-US" sz="2400" b="1" spc="-37" kern="0" dirty="0">
                <a:solidFill>
                  <a:srgbClr val="111111"/>
                </a:solidFill>
                <a:latin typeface="Arial" pitchFamily="34" charset="0"/>
                <a:ea typeface="Arial" pitchFamily="34" charset="-122"/>
                <a:cs typeface="Arial" pitchFamily="34" charset="-120"/>
              </a:rPr>
              <a:t>Agilent portfolio overview (FY25)</a:t>
            </a:r>
            <a:endParaRPr lang="en-US" sz="2400" dirty="0"/>
          </a:p>
        </p:txBody>
      </p:sp>
      <p:sp>
        <p:nvSpPr>
          <p:cNvPr id="3" name="Shape 1"/>
          <p:cNvSpPr/>
          <p:nvPr/>
        </p:nvSpPr>
        <p:spPr>
          <a:xfrm>
            <a:off x="342900" y="666750"/>
            <a:ext cx="1571625" cy="3505200"/>
          </a:xfrm>
          <a:prstGeom prst="rect">
            <a:avLst/>
          </a:prstGeom>
          <a:solidFill>
            <a:srgbClr val="1F3864"/>
          </a:solidFill>
          <a:ln/>
        </p:spPr>
      </p:sp>
      <p:sp>
        <p:nvSpPr>
          <p:cNvPr id="4" name="Text 2"/>
          <p:cNvSpPr/>
          <p:nvPr/>
        </p:nvSpPr>
        <p:spPr>
          <a:xfrm>
            <a:off x="399231" y="1907232"/>
            <a:ext cx="1458962" cy="662285"/>
          </a:xfrm>
          <a:prstGeom prst="rect">
            <a:avLst/>
          </a:prstGeom>
          <a:noFill/>
          <a:ln/>
        </p:spPr>
        <p:txBody>
          <a:bodyPr wrap="square" lIns="25400" tIns="25400" rIns="25400" bIns="25400" rtlCol="0" anchor="t">
            <a:normAutofit/>
          </a:bodyPr>
          <a:lstStyle/>
          <a:p>
            <a:pPr algn="ctr" indent="0" marL="0">
              <a:lnSpc>
                <a:spcPct val="115000"/>
              </a:lnSpc>
              <a:buNone/>
            </a:pPr>
            <a:r>
              <a:rPr lang="en-US" sz="1425" b="1" dirty="0">
                <a:solidFill>
                  <a:srgbClr val="FFFFFF"/>
                </a:solidFill>
                <a:latin typeface="Arial" pitchFamily="34" charset="0"/>
                <a:ea typeface="Arial" pitchFamily="34" charset="-122"/>
                <a:cs typeface="Arial" pitchFamily="34" charset="-120"/>
              </a:rPr>
              <a:t>Life Sciences and Diagnostics Markets</a:t>
            </a:r>
            <a:endParaRPr lang="en-US" sz="1425" dirty="0"/>
          </a:p>
        </p:txBody>
      </p:sp>
      <p:sp>
        <p:nvSpPr>
          <p:cNvPr id="5" name="Text 3"/>
          <p:cNvSpPr/>
          <p:nvPr/>
        </p:nvSpPr>
        <p:spPr>
          <a:xfrm>
            <a:off x="871686" y="2588568"/>
            <a:ext cx="514052" cy="381000"/>
          </a:xfrm>
          <a:prstGeom prst="rect">
            <a:avLst/>
          </a:prstGeom>
          <a:noFill/>
          <a:ln/>
        </p:spPr>
        <p:txBody>
          <a:bodyPr wrap="square" lIns="25400" tIns="25400" rIns="25400" bIns="25400" rtlCol="0" anchor="t">
            <a:normAutofit/>
          </a:bodyPr>
          <a:lstStyle/>
          <a:p>
            <a:pPr algn="ctr" indent="0" marL="0">
              <a:lnSpc>
                <a:spcPct val="120000"/>
              </a:lnSpc>
              <a:buNone/>
            </a:pPr>
            <a:r>
              <a:rPr lang="en-US" sz="1125" i="1" dirty="0">
                <a:solidFill>
                  <a:srgbClr val="FFFFFF"/>
                </a:solidFill>
                <a:latin typeface="Arial" pitchFamily="34" charset="0"/>
                <a:ea typeface="Arial" pitchFamily="34" charset="-122"/>
                <a:cs typeface="Arial" pitchFamily="34" charset="-120"/>
              </a:rPr>
              <a:t>(39% $2.7B)</a:t>
            </a:r>
            <a:endParaRPr lang="en-US" sz="1125" dirty="0"/>
          </a:p>
        </p:txBody>
      </p:sp>
      <p:sp>
        <p:nvSpPr>
          <p:cNvPr id="6" name="Shape 4"/>
          <p:cNvSpPr/>
          <p:nvPr/>
        </p:nvSpPr>
        <p:spPr>
          <a:xfrm>
            <a:off x="1943100" y="666750"/>
            <a:ext cx="2571750" cy="476250"/>
          </a:xfrm>
          <a:prstGeom prst="rect">
            <a:avLst/>
          </a:prstGeom>
          <a:solidFill>
            <a:srgbClr val="2E74B5"/>
          </a:solidFill>
          <a:ln/>
        </p:spPr>
      </p:sp>
      <p:sp>
        <p:nvSpPr>
          <p:cNvPr id="7" name="Text 5"/>
          <p:cNvSpPr/>
          <p:nvPr/>
        </p:nvSpPr>
        <p:spPr>
          <a:xfrm>
            <a:off x="2776240" y="747489"/>
            <a:ext cx="905396"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LC &amp; LC-MS</a:t>
            </a:r>
            <a:endParaRPr lang="en-US" sz="1125" dirty="0"/>
          </a:p>
        </p:txBody>
      </p:sp>
      <p:sp>
        <p:nvSpPr>
          <p:cNvPr id="8" name="Text 6"/>
          <p:cNvSpPr/>
          <p:nvPr/>
        </p:nvSpPr>
        <p:spPr>
          <a:xfrm>
            <a:off x="2960638" y="930846"/>
            <a:ext cx="536600"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(~$1.0B)</a:t>
            </a:r>
            <a:endParaRPr lang="en-US" sz="900" dirty="0"/>
          </a:p>
        </p:txBody>
      </p:sp>
      <p:sp>
        <p:nvSpPr>
          <p:cNvPr id="9" name="Shape 7"/>
          <p:cNvSpPr/>
          <p:nvPr/>
        </p:nvSpPr>
        <p:spPr>
          <a:xfrm>
            <a:off x="4543425" y="666750"/>
            <a:ext cx="8829675" cy="476250"/>
          </a:xfrm>
          <a:prstGeom prst="rect">
            <a:avLst/>
          </a:prstGeom>
          <a:solidFill>
            <a:srgbClr val="D9E5F1"/>
          </a:solidFill>
          <a:ln/>
        </p:spPr>
      </p:sp>
      <p:sp>
        <p:nvSpPr>
          <p:cNvPr id="10" name="Text 8"/>
          <p:cNvSpPr/>
          <p:nvPr/>
        </p:nvSpPr>
        <p:spPr>
          <a:xfrm>
            <a:off x="4676775" y="746447"/>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Liquid chromatography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is an analytical technique used to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separate and purify a mixture of liquids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based on differences in physical properties. Often, LC instruments are attached to a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mass spectrometer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that identifies the purified component by measuring its mass-to-charge ratio</a:t>
            </a:r>
            <a:endParaRPr lang="en-US" sz="975" dirty="0"/>
          </a:p>
        </p:txBody>
      </p:sp>
      <p:sp>
        <p:nvSpPr>
          <p:cNvPr id="11" name="Shape 9"/>
          <p:cNvSpPr/>
          <p:nvPr/>
        </p:nvSpPr>
        <p:spPr>
          <a:xfrm>
            <a:off x="1943100" y="1171575"/>
            <a:ext cx="2571750" cy="476250"/>
          </a:xfrm>
          <a:prstGeom prst="rect">
            <a:avLst/>
          </a:prstGeom>
          <a:solidFill>
            <a:srgbClr val="2E74B5"/>
          </a:solidFill>
          <a:ln/>
        </p:spPr>
      </p:sp>
      <p:sp>
        <p:nvSpPr>
          <p:cNvPr id="12" name="Text 10"/>
          <p:cNvSpPr/>
          <p:nvPr/>
        </p:nvSpPr>
        <p:spPr>
          <a:xfrm>
            <a:off x="2755702" y="1252314"/>
            <a:ext cx="946547"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Cell analysis</a:t>
            </a:r>
            <a:endParaRPr lang="en-US" sz="1125" dirty="0"/>
          </a:p>
        </p:txBody>
      </p:sp>
      <p:sp>
        <p:nvSpPr>
          <p:cNvPr id="13" name="Text 11"/>
          <p:cNvSpPr/>
          <p:nvPr/>
        </p:nvSpPr>
        <p:spPr>
          <a:xfrm>
            <a:off x="2952304" y="1435671"/>
            <a:ext cx="553269"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(~$0.3B)</a:t>
            </a:r>
            <a:endParaRPr lang="en-US" sz="900" dirty="0"/>
          </a:p>
        </p:txBody>
      </p:sp>
      <p:sp>
        <p:nvSpPr>
          <p:cNvPr id="14" name="Shape 12"/>
          <p:cNvSpPr/>
          <p:nvPr/>
        </p:nvSpPr>
        <p:spPr>
          <a:xfrm>
            <a:off x="4543425" y="1171575"/>
            <a:ext cx="8829675" cy="476250"/>
          </a:xfrm>
          <a:prstGeom prst="rect">
            <a:avLst/>
          </a:prstGeom>
          <a:solidFill>
            <a:srgbClr val="D9E5F1"/>
          </a:solidFill>
          <a:ln/>
        </p:spPr>
      </p:sp>
      <p:sp>
        <p:nvSpPr>
          <p:cNvPr id="15" name="Text 13"/>
          <p:cNvSpPr/>
          <p:nvPr/>
        </p:nvSpPr>
        <p:spPr>
          <a:xfrm>
            <a:off x="4676775" y="1251272"/>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Cell analysis instruments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are generally designed to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study living cells.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This includes cell counters, cell analyzers/imaging systems, and flow cytometers. Built primarily from M&amp;A since 2015 and is applicable to many novel modalities.</a:t>
            </a:r>
            <a:endParaRPr lang="en-US" sz="975" dirty="0"/>
          </a:p>
        </p:txBody>
      </p:sp>
      <p:sp>
        <p:nvSpPr>
          <p:cNvPr id="16" name="Shape 14"/>
          <p:cNvSpPr/>
          <p:nvPr/>
        </p:nvSpPr>
        <p:spPr>
          <a:xfrm>
            <a:off x="1943100" y="1676400"/>
            <a:ext cx="2571750" cy="476250"/>
          </a:xfrm>
          <a:prstGeom prst="rect">
            <a:avLst/>
          </a:prstGeom>
          <a:solidFill>
            <a:srgbClr val="2E74B5"/>
          </a:solidFill>
          <a:ln/>
        </p:spPr>
      </p:sp>
      <p:sp>
        <p:nvSpPr>
          <p:cNvPr id="17" name="Text 15"/>
          <p:cNvSpPr/>
          <p:nvPr/>
        </p:nvSpPr>
        <p:spPr>
          <a:xfrm>
            <a:off x="2968005" y="1757139"/>
            <a:ext cx="521940"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CDMO</a:t>
            </a:r>
            <a:endParaRPr lang="en-US" sz="1125" dirty="0"/>
          </a:p>
        </p:txBody>
      </p:sp>
      <p:sp>
        <p:nvSpPr>
          <p:cNvPr id="18" name="Text 16"/>
          <p:cNvSpPr/>
          <p:nvPr/>
        </p:nvSpPr>
        <p:spPr>
          <a:xfrm>
            <a:off x="2429694" y="1940496"/>
            <a:ext cx="1598488"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(~$0.4B) NAS + BIOVECTRA</a:t>
            </a:r>
            <a:endParaRPr lang="en-US" sz="900" dirty="0"/>
          </a:p>
        </p:txBody>
      </p:sp>
      <p:sp>
        <p:nvSpPr>
          <p:cNvPr id="19" name="Shape 17"/>
          <p:cNvSpPr/>
          <p:nvPr/>
        </p:nvSpPr>
        <p:spPr>
          <a:xfrm>
            <a:off x="4543425" y="1676400"/>
            <a:ext cx="8829675" cy="476250"/>
          </a:xfrm>
          <a:prstGeom prst="rect">
            <a:avLst/>
          </a:prstGeom>
          <a:solidFill>
            <a:srgbClr val="D9E5F1"/>
          </a:solidFill>
          <a:ln/>
        </p:spPr>
      </p:sp>
      <p:sp>
        <p:nvSpPr>
          <p:cNvPr id="20" name="Text 18"/>
          <p:cNvSpPr/>
          <p:nvPr/>
        </p:nvSpPr>
        <p:spPr>
          <a:xfrm>
            <a:off x="4676775" y="1756097"/>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dirty="0">
                <a:solidFill>
                  <a:srgbClr val="1A1A1A"/>
                </a:solidFill>
                <a:latin typeface="Arial" pitchFamily="34" charset="0"/>
                <a:ea typeface="Arial" pitchFamily="34" charset="-122"/>
                <a:cs typeface="Arial" pitchFamily="34" charset="-120"/>
              </a:rPr>
              <a:t>Agilent produces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oligonucleotide APIs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for clinical and commercial purposes for pharma and biotech partners; expanded by 2024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BIOVECTRA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acquisition (microbial fermentation, high-potency APIs, peptide purification)</a:t>
            </a:r>
            <a:endParaRPr lang="en-US" sz="975" dirty="0"/>
          </a:p>
        </p:txBody>
      </p:sp>
      <p:sp>
        <p:nvSpPr>
          <p:cNvPr id="21" name="Shape 19"/>
          <p:cNvSpPr/>
          <p:nvPr/>
        </p:nvSpPr>
        <p:spPr>
          <a:xfrm>
            <a:off x="1943100" y="2181225"/>
            <a:ext cx="2571750" cy="476250"/>
          </a:xfrm>
          <a:prstGeom prst="rect">
            <a:avLst/>
          </a:prstGeom>
          <a:solidFill>
            <a:srgbClr val="2E74B5"/>
          </a:solidFill>
          <a:ln/>
        </p:spPr>
      </p:sp>
      <p:sp>
        <p:nvSpPr>
          <p:cNvPr id="22" name="Text 20"/>
          <p:cNvSpPr/>
          <p:nvPr/>
        </p:nvSpPr>
        <p:spPr>
          <a:xfrm>
            <a:off x="2838971" y="2261964"/>
            <a:ext cx="779934"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Pathology</a:t>
            </a:r>
            <a:endParaRPr lang="en-US" sz="1125" dirty="0"/>
          </a:p>
        </p:txBody>
      </p:sp>
      <p:sp>
        <p:nvSpPr>
          <p:cNvPr id="23" name="Text 21"/>
          <p:cNvSpPr/>
          <p:nvPr/>
        </p:nvSpPr>
        <p:spPr>
          <a:xfrm>
            <a:off x="2952527" y="2445321"/>
            <a:ext cx="552896"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(~$0.5B)</a:t>
            </a:r>
            <a:endParaRPr lang="en-US" sz="900" dirty="0"/>
          </a:p>
        </p:txBody>
      </p:sp>
      <p:sp>
        <p:nvSpPr>
          <p:cNvPr id="24" name="Shape 22"/>
          <p:cNvSpPr/>
          <p:nvPr/>
        </p:nvSpPr>
        <p:spPr>
          <a:xfrm>
            <a:off x="4543425" y="2181225"/>
            <a:ext cx="8829675" cy="476250"/>
          </a:xfrm>
          <a:prstGeom prst="rect">
            <a:avLst/>
          </a:prstGeom>
          <a:solidFill>
            <a:srgbClr val="D9E5F1"/>
          </a:solidFill>
          <a:ln/>
        </p:spPr>
      </p:sp>
      <p:sp>
        <p:nvSpPr>
          <p:cNvPr id="25" name="Text 23"/>
          <p:cNvSpPr/>
          <p:nvPr/>
        </p:nvSpPr>
        <p:spPr>
          <a:xfrm>
            <a:off x="4676775" y="2260922"/>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dirty="0">
                <a:solidFill>
                  <a:srgbClr val="1A1A1A"/>
                </a:solidFill>
                <a:latin typeface="Arial" pitchFamily="34" charset="0"/>
                <a:ea typeface="Arial" pitchFamily="34" charset="-122"/>
                <a:cs typeface="Arial" pitchFamily="34" charset="-120"/>
              </a:rPr>
              <a:t>This portfolio is largely a result of the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Dako acquisition in 2012.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Includes pathology, specific proteins, and flow cytometry reagents (~14% market share)</a:t>
            </a:r>
            <a:endParaRPr lang="en-US" sz="975" dirty="0"/>
          </a:p>
        </p:txBody>
      </p:sp>
      <p:sp>
        <p:nvSpPr>
          <p:cNvPr id="26" name="Shape 24"/>
          <p:cNvSpPr/>
          <p:nvPr/>
        </p:nvSpPr>
        <p:spPr>
          <a:xfrm>
            <a:off x="1943100" y="2686050"/>
            <a:ext cx="2571750" cy="476250"/>
          </a:xfrm>
          <a:prstGeom prst="rect">
            <a:avLst/>
          </a:prstGeom>
          <a:solidFill>
            <a:srgbClr val="2E74B5"/>
          </a:solidFill>
          <a:ln/>
        </p:spPr>
      </p:sp>
      <p:sp>
        <p:nvSpPr>
          <p:cNvPr id="27" name="Text 25"/>
          <p:cNvSpPr/>
          <p:nvPr/>
        </p:nvSpPr>
        <p:spPr>
          <a:xfrm>
            <a:off x="2372171" y="2766789"/>
            <a:ext cx="1713533"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Companion diagnostics</a:t>
            </a:r>
            <a:endParaRPr lang="en-US" sz="1125" dirty="0"/>
          </a:p>
        </p:txBody>
      </p:sp>
      <p:sp>
        <p:nvSpPr>
          <p:cNvPr id="28" name="Text 26"/>
          <p:cNvSpPr/>
          <p:nvPr/>
        </p:nvSpPr>
        <p:spPr>
          <a:xfrm>
            <a:off x="2961233" y="2950146"/>
            <a:ext cx="535484"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(~$0.1B)</a:t>
            </a:r>
            <a:endParaRPr lang="en-US" sz="900" dirty="0"/>
          </a:p>
        </p:txBody>
      </p:sp>
      <p:sp>
        <p:nvSpPr>
          <p:cNvPr id="29" name="Shape 27"/>
          <p:cNvSpPr/>
          <p:nvPr/>
        </p:nvSpPr>
        <p:spPr>
          <a:xfrm>
            <a:off x="4543425" y="2686050"/>
            <a:ext cx="8829675" cy="476250"/>
          </a:xfrm>
          <a:prstGeom prst="rect">
            <a:avLst/>
          </a:prstGeom>
          <a:solidFill>
            <a:srgbClr val="D9E5F1"/>
          </a:solidFill>
          <a:ln/>
        </p:spPr>
      </p:sp>
      <p:sp>
        <p:nvSpPr>
          <p:cNvPr id="30" name="Text 28"/>
          <p:cNvSpPr/>
          <p:nvPr/>
        </p:nvSpPr>
        <p:spPr>
          <a:xfrm>
            <a:off x="4676775" y="2844924"/>
            <a:ext cx="8819864" cy="196528"/>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Co-developed pharmacodiagnostic tests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with pharma partners (e.g., HER2, PD-L1) to identify patients for targeted therapies</a:t>
            </a:r>
            <a:endParaRPr lang="en-US" sz="975" dirty="0"/>
          </a:p>
        </p:txBody>
      </p:sp>
      <p:sp>
        <p:nvSpPr>
          <p:cNvPr id="31" name="Shape 29"/>
          <p:cNvSpPr/>
          <p:nvPr/>
        </p:nvSpPr>
        <p:spPr>
          <a:xfrm>
            <a:off x="1943100" y="3190875"/>
            <a:ext cx="2571750" cy="476250"/>
          </a:xfrm>
          <a:prstGeom prst="rect">
            <a:avLst/>
          </a:prstGeom>
          <a:solidFill>
            <a:srgbClr val="2E74B5"/>
          </a:solidFill>
          <a:ln/>
        </p:spPr>
      </p:sp>
      <p:sp>
        <p:nvSpPr>
          <p:cNvPr id="32" name="Text 30"/>
          <p:cNvSpPr/>
          <p:nvPr/>
        </p:nvSpPr>
        <p:spPr>
          <a:xfrm>
            <a:off x="2843882" y="3271614"/>
            <a:ext cx="770111"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Genomics</a:t>
            </a:r>
            <a:endParaRPr lang="en-US" sz="1125" dirty="0"/>
          </a:p>
        </p:txBody>
      </p:sp>
      <p:sp>
        <p:nvSpPr>
          <p:cNvPr id="33" name="Text 31"/>
          <p:cNvSpPr/>
          <p:nvPr/>
        </p:nvSpPr>
        <p:spPr>
          <a:xfrm>
            <a:off x="2952304" y="3454971"/>
            <a:ext cx="553269"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(~$0.3B)</a:t>
            </a:r>
            <a:endParaRPr lang="en-US" sz="900" dirty="0"/>
          </a:p>
        </p:txBody>
      </p:sp>
      <p:sp>
        <p:nvSpPr>
          <p:cNvPr id="34" name="Shape 32"/>
          <p:cNvSpPr/>
          <p:nvPr/>
        </p:nvSpPr>
        <p:spPr>
          <a:xfrm>
            <a:off x="4543425" y="3190875"/>
            <a:ext cx="8829675" cy="476250"/>
          </a:xfrm>
          <a:prstGeom prst="rect">
            <a:avLst/>
          </a:prstGeom>
          <a:solidFill>
            <a:srgbClr val="D9E5F1"/>
          </a:solidFill>
          <a:ln/>
        </p:spPr>
      </p:sp>
      <p:sp>
        <p:nvSpPr>
          <p:cNvPr id="35" name="Text 33"/>
          <p:cNvSpPr/>
          <p:nvPr/>
        </p:nvSpPr>
        <p:spPr>
          <a:xfrm>
            <a:off x="4676775" y="3270572"/>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dirty="0">
                <a:solidFill>
                  <a:srgbClr val="1A1A1A"/>
                </a:solidFill>
                <a:latin typeface="Arial" pitchFamily="34" charset="0"/>
                <a:ea typeface="Arial" pitchFamily="34" charset="-122"/>
                <a:cs typeface="Arial" pitchFamily="34" charset="-120"/>
              </a:rPr>
              <a:t>Includes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target enrichment,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cytogenic research solutions and microarrays,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PCR and qPCR instruments,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and molecular biology reagents;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Resolution Bioscience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liquid biopsy was exited in 2023</a:t>
            </a:r>
            <a:endParaRPr lang="en-US" sz="975" dirty="0"/>
          </a:p>
        </p:txBody>
      </p:sp>
      <p:sp>
        <p:nvSpPr>
          <p:cNvPr id="36" name="Shape 34"/>
          <p:cNvSpPr/>
          <p:nvPr/>
        </p:nvSpPr>
        <p:spPr>
          <a:xfrm>
            <a:off x="1943100" y="3695700"/>
            <a:ext cx="2571750" cy="476250"/>
          </a:xfrm>
          <a:prstGeom prst="rect">
            <a:avLst/>
          </a:prstGeom>
          <a:solidFill>
            <a:srgbClr val="2E74B5"/>
          </a:solidFill>
          <a:ln/>
        </p:spPr>
      </p:sp>
      <p:sp>
        <p:nvSpPr>
          <p:cNvPr id="37" name="Text 35"/>
          <p:cNvSpPr/>
          <p:nvPr/>
        </p:nvSpPr>
        <p:spPr>
          <a:xfrm>
            <a:off x="2432372" y="3776439"/>
            <a:ext cx="1593131"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Biomolecular analysis</a:t>
            </a:r>
            <a:endParaRPr lang="en-US" sz="1125" dirty="0"/>
          </a:p>
        </p:txBody>
      </p:sp>
      <p:sp>
        <p:nvSpPr>
          <p:cNvPr id="38" name="Text 36"/>
          <p:cNvSpPr/>
          <p:nvPr/>
        </p:nvSpPr>
        <p:spPr>
          <a:xfrm>
            <a:off x="2961233" y="3959796"/>
            <a:ext cx="535484"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(~$0.1B)</a:t>
            </a:r>
            <a:endParaRPr lang="en-US" sz="900" dirty="0"/>
          </a:p>
        </p:txBody>
      </p:sp>
      <p:sp>
        <p:nvSpPr>
          <p:cNvPr id="39" name="Shape 37"/>
          <p:cNvSpPr/>
          <p:nvPr/>
        </p:nvSpPr>
        <p:spPr>
          <a:xfrm>
            <a:off x="4543425" y="3695700"/>
            <a:ext cx="8829675" cy="476250"/>
          </a:xfrm>
          <a:prstGeom prst="rect">
            <a:avLst/>
          </a:prstGeom>
          <a:solidFill>
            <a:srgbClr val="D9E5F1"/>
          </a:solidFill>
          <a:ln/>
        </p:spPr>
      </p:sp>
      <p:sp>
        <p:nvSpPr>
          <p:cNvPr id="40" name="Text 38"/>
          <p:cNvSpPr/>
          <p:nvPr/>
        </p:nvSpPr>
        <p:spPr>
          <a:xfrm>
            <a:off x="4676775" y="3854574"/>
            <a:ext cx="8819864" cy="196528"/>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Automated electrophoresis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(Bioanalyzer, TapeStation) for QC of nucleic acid samples; used heavily in mRNA workflows</a:t>
            </a:r>
            <a:endParaRPr lang="en-US" sz="975" dirty="0"/>
          </a:p>
        </p:txBody>
      </p:sp>
      <p:sp>
        <p:nvSpPr>
          <p:cNvPr id="41" name="Shape 39"/>
          <p:cNvSpPr/>
          <p:nvPr/>
        </p:nvSpPr>
        <p:spPr>
          <a:xfrm>
            <a:off x="342900" y="4200525"/>
            <a:ext cx="1571625" cy="3631927"/>
          </a:xfrm>
          <a:prstGeom prst="rect">
            <a:avLst/>
          </a:prstGeom>
          <a:solidFill>
            <a:srgbClr val="1F3864"/>
          </a:solidFill>
          <a:ln/>
        </p:spPr>
      </p:sp>
      <p:sp>
        <p:nvSpPr>
          <p:cNvPr id="42" name="Text 40"/>
          <p:cNvSpPr/>
          <p:nvPr/>
        </p:nvSpPr>
        <p:spPr>
          <a:xfrm>
            <a:off x="681633" y="5608365"/>
            <a:ext cx="894085" cy="454223"/>
          </a:xfrm>
          <a:prstGeom prst="rect">
            <a:avLst/>
          </a:prstGeom>
          <a:noFill/>
          <a:ln/>
        </p:spPr>
        <p:txBody>
          <a:bodyPr wrap="square" lIns="25400" tIns="25400" rIns="25400" bIns="25400" rtlCol="0" anchor="t">
            <a:normAutofit/>
          </a:bodyPr>
          <a:lstStyle/>
          <a:p>
            <a:pPr algn="ctr" indent="0" marL="0">
              <a:lnSpc>
                <a:spcPct val="115000"/>
              </a:lnSpc>
              <a:buNone/>
            </a:pPr>
            <a:r>
              <a:rPr lang="en-US" sz="1425" b="1" dirty="0">
                <a:solidFill>
                  <a:srgbClr val="FFFFFF"/>
                </a:solidFill>
                <a:latin typeface="Arial" pitchFamily="34" charset="0"/>
                <a:ea typeface="Arial" pitchFamily="34" charset="-122"/>
                <a:cs typeface="Arial" pitchFamily="34" charset="-120"/>
              </a:rPr>
              <a:t>Agilent CrossLab</a:t>
            </a:r>
            <a:endParaRPr lang="en-US" sz="1425" dirty="0"/>
          </a:p>
        </p:txBody>
      </p:sp>
      <p:sp>
        <p:nvSpPr>
          <p:cNvPr id="43" name="Text 41"/>
          <p:cNvSpPr/>
          <p:nvPr/>
        </p:nvSpPr>
        <p:spPr>
          <a:xfrm>
            <a:off x="868189" y="6081638"/>
            <a:ext cx="520973" cy="381000"/>
          </a:xfrm>
          <a:prstGeom prst="rect">
            <a:avLst/>
          </a:prstGeom>
          <a:noFill/>
          <a:ln/>
        </p:spPr>
        <p:txBody>
          <a:bodyPr wrap="square" lIns="25400" tIns="25400" rIns="25400" bIns="25400" rtlCol="0" anchor="t">
            <a:normAutofit/>
          </a:bodyPr>
          <a:lstStyle/>
          <a:p>
            <a:pPr algn="ctr" indent="0" marL="0">
              <a:lnSpc>
                <a:spcPct val="120000"/>
              </a:lnSpc>
              <a:buNone/>
            </a:pPr>
            <a:r>
              <a:rPr lang="en-US" sz="1125" i="1" dirty="0">
                <a:solidFill>
                  <a:srgbClr val="FFFFFF"/>
                </a:solidFill>
                <a:latin typeface="Arial" pitchFamily="34" charset="0"/>
                <a:ea typeface="Arial" pitchFamily="34" charset="-122"/>
                <a:cs typeface="Arial" pitchFamily="34" charset="-120"/>
              </a:rPr>
              <a:t>(42% $2.9B)</a:t>
            </a:r>
            <a:endParaRPr lang="en-US" sz="1125" dirty="0"/>
          </a:p>
        </p:txBody>
      </p:sp>
      <p:sp>
        <p:nvSpPr>
          <p:cNvPr id="44" name="Shape 42"/>
          <p:cNvSpPr/>
          <p:nvPr/>
        </p:nvSpPr>
        <p:spPr>
          <a:xfrm>
            <a:off x="1943100" y="4200525"/>
            <a:ext cx="2571750" cy="886495"/>
          </a:xfrm>
          <a:prstGeom prst="rect">
            <a:avLst/>
          </a:prstGeom>
          <a:solidFill>
            <a:srgbClr val="2E74B5"/>
          </a:solidFill>
          <a:ln/>
        </p:spPr>
      </p:sp>
      <p:sp>
        <p:nvSpPr>
          <p:cNvPr id="45" name="Text 43"/>
          <p:cNvSpPr/>
          <p:nvPr/>
        </p:nvSpPr>
        <p:spPr>
          <a:xfrm>
            <a:off x="2889275" y="4486349"/>
            <a:ext cx="679326"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Services</a:t>
            </a:r>
            <a:endParaRPr lang="en-US" sz="1125" dirty="0"/>
          </a:p>
        </p:txBody>
      </p:sp>
      <p:sp>
        <p:nvSpPr>
          <p:cNvPr id="46" name="Text 44"/>
          <p:cNvSpPr/>
          <p:nvPr/>
        </p:nvSpPr>
        <p:spPr>
          <a:xfrm>
            <a:off x="2960266" y="4669706"/>
            <a:ext cx="537418"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(~$1.6B)</a:t>
            </a:r>
            <a:endParaRPr lang="en-US" sz="900" dirty="0"/>
          </a:p>
        </p:txBody>
      </p:sp>
      <p:sp>
        <p:nvSpPr>
          <p:cNvPr id="47" name="Shape 45"/>
          <p:cNvSpPr/>
          <p:nvPr/>
        </p:nvSpPr>
        <p:spPr>
          <a:xfrm>
            <a:off x="4543425" y="4200525"/>
            <a:ext cx="8829675" cy="886495"/>
          </a:xfrm>
          <a:prstGeom prst="rect">
            <a:avLst/>
          </a:prstGeom>
          <a:solidFill>
            <a:srgbClr val="D9E5F1"/>
          </a:solidFill>
          <a:ln/>
        </p:spPr>
      </p:sp>
      <p:sp>
        <p:nvSpPr>
          <p:cNvPr id="48" name="Text 46"/>
          <p:cNvSpPr/>
          <p:nvPr/>
        </p:nvSpPr>
        <p:spPr>
          <a:xfrm>
            <a:off x="4676775" y="4485308"/>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dirty="0">
                <a:solidFill>
                  <a:srgbClr val="1A1A1A"/>
                </a:solidFill>
                <a:latin typeface="Arial" pitchFamily="34" charset="0"/>
                <a:ea typeface="Arial" pitchFamily="34" charset="-122"/>
                <a:cs typeface="Arial" pitchFamily="34" charset="-120"/>
              </a:rPr>
              <a:t>While the majority of Agilent's service offerings are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break-fix for their own instrument systems,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~10% of CrossLab is enterprise services where they manage the lab for customers and provide services for competitors' products as well</a:t>
            </a:r>
            <a:endParaRPr lang="en-US" sz="975" dirty="0"/>
          </a:p>
        </p:txBody>
      </p:sp>
      <p:sp>
        <p:nvSpPr>
          <p:cNvPr id="49" name="Shape 47"/>
          <p:cNvSpPr/>
          <p:nvPr/>
        </p:nvSpPr>
        <p:spPr>
          <a:xfrm>
            <a:off x="1943100" y="5115595"/>
            <a:ext cx="2571750" cy="886569"/>
          </a:xfrm>
          <a:prstGeom prst="rect">
            <a:avLst/>
          </a:prstGeom>
          <a:solidFill>
            <a:srgbClr val="2E74B5"/>
          </a:solidFill>
          <a:ln/>
        </p:spPr>
      </p:sp>
      <p:sp>
        <p:nvSpPr>
          <p:cNvPr id="50" name="Text 48"/>
          <p:cNvSpPr/>
          <p:nvPr/>
        </p:nvSpPr>
        <p:spPr>
          <a:xfrm>
            <a:off x="2716039" y="5401494"/>
            <a:ext cx="1025798"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Consumables</a:t>
            </a:r>
            <a:endParaRPr lang="en-US" sz="1125" dirty="0"/>
          </a:p>
        </p:txBody>
      </p:sp>
      <p:sp>
        <p:nvSpPr>
          <p:cNvPr id="51" name="Text 49"/>
          <p:cNvSpPr/>
          <p:nvPr/>
        </p:nvSpPr>
        <p:spPr>
          <a:xfrm>
            <a:off x="2960638" y="5584850"/>
            <a:ext cx="536600"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(~$1.0B)</a:t>
            </a:r>
            <a:endParaRPr lang="en-US" sz="900" dirty="0"/>
          </a:p>
        </p:txBody>
      </p:sp>
      <p:sp>
        <p:nvSpPr>
          <p:cNvPr id="52" name="Shape 50"/>
          <p:cNvSpPr/>
          <p:nvPr/>
        </p:nvSpPr>
        <p:spPr>
          <a:xfrm>
            <a:off x="4543425" y="5115595"/>
            <a:ext cx="8829675" cy="886569"/>
          </a:xfrm>
          <a:prstGeom prst="rect">
            <a:avLst/>
          </a:prstGeom>
          <a:solidFill>
            <a:srgbClr val="D9E5F1"/>
          </a:solidFill>
          <a:ln/>
        </p:spPr>
      </p:sp>
      <p:sp>
        <p:nvSpPr>
          <p:cNvPr id="53" name="Text 51"/>
          <p:cNvSpPr/>
          <p:nvPr/>
        </p:nvSpPr>
        <p:spPr>
          <a:xfrm>
            <a:off x="4676775" y="5400452"/>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dirty="0">
                <a:solidFill>
                  <a:srgbClr val="1A1A1A"/>
                </a:solidFill>
                <a:latin typeface="Arial" pitchFamily="34" charset="0"/>
                <a:ea typeface="Arial" pitchFamily="34" charset="-122"/>
                <a:cs typeface="Arial" pitchFamily="34" charset="-120"/>
              </a:rPr>
              <a:t>Agilent offers a variety of consumables to go along with their instrument offerings, including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reagents, chromatography columns, and sample prep kits</a:t>
            </a:r>
            <a:endParaRPr lang="en-US" sz="975" dirty="0"/>
          </a:p>
        </p:txBody>
      </p:sp>
      <p:sp>
        <p:nvSpPr>
          <p:cNvPr id="54" name="Shape 52"/>
          <p:cNvSpPr/>
          <p:nvPr/>
        </p:nvSpPr>
        <p:spPr>
          <a:xfrm>
            <a:off x="1943100" y="6030739"/>
            <a:ext cx="2571750" cy="886569"/>
          </a:xfrm>
          <a:prstGeom prst="rect">
            <a:avLst/>
          </a:prstGeom>
          <a:solidFill>
            <a:srgbClr val="2E74B5"/>
          </a:solidFill>
          <a:ln/>
        </p:spPr>
      </p:sp>
      <p:sp>
        <p:nvSpPr>
          <p:cNvPr id="55" name="Text 53"/>
          <p:cNvSpPr/>
          <p:nvPr/>
        </p:nvSpPr>
        <p:spPr>
          <a:xfrm>
            <a:off x="2648620" y="6316638"/>
            <a:ext cx="1160636"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Lab automation</a:t>
            </a:r>
            <a:endParaRPr lang="en-US" sz="1125" dirty="0"/>
          </a:p>
        </p:txBody>
      </p:sp>
      <p:sp>
        <p:nvSpPr>
          <p:cNvPr id="56" name="Text 54"/>
          <p:cNvSpPr/>
          <p:nvPr/>
        </p:nvSpPr>
        <p:spPr>
          <a:xfrm>
            <a:off x="2950815" y="6499994"/>
            <a:ext cx="556245"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(~$0.2B)</a:t>
            </a:r>
            <a:endParaRPr lang="en-US" sz="900" dirty="0"/>
          </a:p>
        </p:txBody>
      </p:sp>
      <p:sp>
        <p:nvSpPr>
          <p:cNvPr id="57" name="Shape 55"/>
          <p:cNvSpPr/>
          <p:nvPr/>
        </p:nvSpPr>
        <p:spPr>
          <a:xfrm>
            <a:off x="4543425" y="6030739"/>
            <a:ext cx="8829675" cy="886569"/>
          </a:xfrm>
          <a:prstGeom prst="rect">
            <a:avLst/>
          </a:prstGeom>
          <a:solidFill>
            <a:srgbClr val="D9E5F1"/>
          </a:solidFill>
          <a:ln/>
        </p:spPr>
      </p:sp>
      <p:sp>
        <p:nvSpPr>
          <p:cNvPr id="58" name="Text 56"/>
          <p:cNvSpPr/>
          <p:nvPr/>
        </p:nvSpPr>
        <p:spPr>
          <a:xfrm>
            <a:off x="4676775" y="6394772"/>
            <a:ext cx="8819864" cy="196528"/>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Sample-preparation automation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integrated with Agilent analytical and NGS platforms</a:t>
            </a:r>
            <a:endParaRPr lang="en-US" sz="975" dirty="0"/>
          </a:p>
        </p:txBody>
      </p:sp>
      <p:sp>
        <p:nvSpPr>
          <p:cNvPr id="59" name="Shape 57"/>
          <p:cNvSpPr/>
          <p:nvPr/>
        </p:nvSpPr>
        <p:spPr>
          <a:xfrm>
            <a:off x="1943100" y="6945883"/>
            <a:ext cx="2571750" cy="886569"/>
          </a:xfrm>
          <a:prstGeom prst="rect">
            <a:avLst/>
          </a:prstGeom>
          <a:solidFill>
            <a:srgbClr val="2E74B5"/>
          </a:solidFill>
          <a:ln/>
        </p:spPr>
      </p:sp>
      <p:sp>
        <p:nvSpPr>
          <p:cNvPr id="60" name="Text 58"/>
          <p:cNvSpPr/>
          <p:nvPr/>
        </p:nvSpPr>
        <p:spPr>
          <a:xfrm>
            <a:off x="2389138" y="7231782"/>
            <a:ext cx="1679674"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Software &amp; informatics</a:t>
            </a:r>
            <a:endParaRPr lang="en-US" sz="1125" dirty="0"/>
          </a:p>
        </p:txBody>
      </p:sp>
      <p:sp>
        <p:nvSpPr>
          <p:cNvPr id="61" name="Text 59"/>
          <p:cNvSpPr/>
          <p:nvPr/>
        </p:nvSpPr>
        <p:spPr>
          <a:xfrm>
            <a:off x="2961233" y="7415138"/>
            <a:ext cx="535484"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(~$0.1B)</a:t>
            </a:r>
            <a:endParaRPr lang="en-US" sz="900" dirty="0"/>
          </a:p>
        </p:txBody>
      </p:sp>
      <p:sp>
        <p:nvSpPr>
          <p:cNvPr id="62" name="Shape 60"/>
          <p:cNvSpPr/>
          <p:nvPr/>
        </p:nvSpPr>
        <p:spPr>
          <a:xfrm>
            <a:off x="4543425" y="6945883"/>
            <a:ext cx="8829675" cy="886569"/>
          </a:xfrm>
          <a:prstGeom prst="rect">
            <a:avLst/>
          </a:prstGeom>
          <a:solidFill>
            <a:srgbClr val="D9E5F1"/>
          </a:solidFill>
          <a:ln/>
        </p:spPr>
      </p:sp>
      <p:sp>
        <p:nvSpPr>
          <p:cNvPr id="63" name="Text 61"/>
          <p:cNvSpPr/>
          <p:nvPr/>
        </p:nvSpPr>
        <p:spPr>
          <a:xfrm>
            <a:off x="4676775" y="7309917"/>
            <a:ext cx="8819864" cy="196528"/>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OpenLab and SLIMS scientific software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for instrument control, data acquisition, secure storage, and QA/QC compliance</a:t>
            </a:r>
            <a:endParaRPr lang="en-US" sz="975" dirty="0"/>
          </a:p>
        </p:txBody>
      </p:sp>
      <p:sp>
        <p:nvSpPr>
          <p:cNvPr id="64" name="Shape 62"/>
          <p:cNvSpPr/>
          <p:nvPr/>
        </p:nvSpPr>
        <p:spPr>
          <a:xfrm>
            <a:off x="342900" y="7861027"/>
            <a:ext cx="1571625" cy="1914525"/>
          </a:xfrm>
          <a:prstGeom prst="rect">
            <a:avLst/>
          </a:prstGeom>
          <a:solidFill>
            <a:srgbClr val="1F3864"/>
          </a:solidFill>
          <a:ln/>
        </p:spPr>
      </p:sp>
      <p:sp>
        <p:nvSpPr>
          <p:cNvPr id="65" name="Text 63"/>
          <p:cNvSpPr/>
          <p:nvPr/>
        </p:nvSpPr>
        <p:spPr>
          <a:xfrm>
            <a:off x="739676" y="8410203"/>
            <a:ext cx="777999" cy="454223"/>
          </a:xfrm>
          <a:prstGeom prst="rect">
            <a:avLst/>
          </a:prstGeom>
          <a:noFill/>
          <a:ln/>
        </p:spPr>
        <p:txBody>
          <a:bodyPr wrap="square" lIns="25400" tIns="25400" rIns="25400" bIns="25400" rtlCol="0" anchor="t">
            <a:normAutofit/>
          </a:bodyPr>
          <a:lstStyle/>
          <a:p>
            <a:pPr algn="ctr" indent="0" marL="0">
              <a:lnSpc>
                <a:spcPct val="115000"/>
              </a:lnSpc>
              <a:buNone/>
            </a:pPr>
            <a:r>
              <a:rPr lang="en-US" sz="1425" b="1" dirty="0">
                <a:solidFill>
                  <a:srgbClr val="FFFFFF"/>
                </a:solidFill>
                <a:latin typeface="Arial" pitchFamily="34" charset="0"/>
                <a:ea typeface="Arial" pitchFamily="34" charset="-122"/>
                <a:cs typeface="Arial" pitchFamily="34" charset="-120"/>
              </a:rPr>
              <a:t>Applied Markets</a:t>
            </a:r>
            <a:endParaRPr lang="en-US" sz="1425" dirty="0"/>
          </a:p>
        </p:txBody>
      </p:sp>
      <p:sp>
        <p:nvSpPr>
          <p:cNvPr id="66" name="Text 64"/>
          <p:cNvSpPr/>
          <p:nvPr/>
        </p:nvSpPr>
        <p:spPr>
          <a:xfrm>
            <a:off x="882625" y="8883476"/>
            <a:ext cx="492100" cy="381000"/>
          </a:xfrm>
          <a:prstGeom prst="rect">
            <a:avLst/>
          </a:prstGeom>
          <a:noFill/>
          <a:ln/>
        </p:spPr>
        <p:txBody>
          <a:bodyPr wrap="square" lIns="25400" tIns="25400" rIns="25400" bIns="25400" rtlCol="0" anchor="t">
            <a:normAutofit/>
          </a:bodyPr>
          <a:lstStyle/>
          <a:p>
            <a:pPr algn="ctr" indent="0" marL="0">
              <a:lnSpc>
                <a:spcPct val="120000"/>
              </a:lnSpc>
              <a:buNone/>
            </a:pPr>
            <a:r>
              <a:rPr lang="en-US" sz="1125" i="1" dirty="0">
                <a:solidFill>
                  <a:srgbClr val="FFFFFF"/>
                </a:solidFill>
                <a:latin typeface="Arial" pitchFamily="34" charset="0"/>
                <a:ea typeface="Arial" pitchFamily="34" charset="-122"/>
                <a:cs typeface="Arial" pitchFamily="34" charset="-120"/>
              </a:rPr>
              <a:t>(19% $1.3B)</a:t>
            </a:r>
            <a:endParaRPr lang="en-US" sz="1125" dirty="0"/>
          </a:p>
        </p:txBody>
      </p:sp>
      <p:sp>
        <p:nvSpPr>
          <p:cNvPr id="67" name="Shape 65"/>
          <p:cNvSpPr/>
          <p:nvPr/>
        </p:nvSpPr>
        <p:spPr>
          <a:xfrm>
            <a:off x="1943100" y="7861027"/>
            <a:ext cx="2571750" cy="457200"/>
          </a:xfrm>
          <a:prstGeom prst="rect">
            <a:avLst/>
          </a:prstGeom>
          <a:solidFill>
            <a:srgbClr val="2E74B5"/>
          </a:solidFill>
          <a:ln/>
        </p:spPr>
      </p:sp>
      <p:sp>
        <p:nvSpPr>
          <p:cNvPr id="68" name="Text 66"/>
          <p:cNvSpPr/>
          <p:nvPr/>
        </p:nvSpPr>
        <p:spPr>
          <a:xfrm>
            <a:off x="2749823" y="7932241"/>
            <a:ext cx="958230"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GC &amp; GC-MS</a:t>
            </a:r>
            <a:endParaRPr lang="en-US" sz="1125" dirty="0"/>
          </a:p>
        </p:txBody>
      </p:sp>
      <p:sp>
        <p:nvSpPr>
          <p:cNvPr id="69" name="Text 67"/>
          <p:cNvSpPr/>
          <p:nvPr/>
        </p:nvSpPr>
        <p:spPr>
          <a:xfrm>
            <a:off x="2952750" y="8115598"/>
            <a:ext cx="552376"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(~$0.7B)</a:t>
            </a:r>
            <a:endParaRPr lang="en-US" sz="900" dirty="0"/>
          </a:p>
        </p:txBody>
      </p:sp>
      <p:sp>
        <p:nvSpPr>
          <p:cNvPr id="70" name="Shape 68"/>
          <p:cNvSpPr/>
          <p:nvPr/>
        </p:nvSpPr>
        <p:spPr>
          <a:xfrm>
            <a:off x="4543425" y="7861027"/>
            <a:ext cx="8829675" cy="457200"/>
          </a:xfrm>
          <a:prstGeom prst="rect">
            <a:avLst/>
          </a:prstGeom>
          <a:solidFill>
            <a:srgbClr val="D9E5F1"/>
          </a:solidFill>
          <a:ln/>
        </p:spPr>
      </p:sp>
      <p:sp>
        <p:nvSpPr>
          <p:cNvPr id="71" name="Text 69"/>
          <p:cNvSpPr/>
          <p:nvPr/>
        </p:nvSpPr>
        <p:spPr>
          <a:xfrm>
            <a:off x="4676775" y="8010376"/>
            <a:ext cx="8819864" cy="196528"/>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Gas chromatography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is like LC, but it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separates a mixture of gases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rather than liquids. GC is common in industrial/applied applications.</a:t>
            </a:r>
            <a:endParaRPr lang="en-US" sz="975" dirty="0"/>
          </a:p>
        </p:txBody>
      </p:sp>
      <p:sp>
        <p:nvSpPr>
          <p:cNvPr id="72" name="Shape 70"/>
          <p:cNvSpPr/>
          <p:nvPr/>
        </p:nvSpPr>
        <p:spPr>
          <a:xfrm>
            <a:off x="1943100" y="8346802"/>
            <a:ext cx="2571750" cy="457200"/>
          </a:xfrm>
          <a:prstGeom prst="rect">
            <a:avLst/>
          </a:prstGeom>
          <a:solidFill>
            <a:srgbClr val="2E74B5"/>
          </a:solidFill>
          <a:ln/>
        </p:spPr>
      </p:sp>
      <p:sp>
        <p:nvSpPr>
          <p:cNvPr id="73" name="Text 71"/>
          <p:cNvSpPr/>
          <p:nvPr/>
        </p:nvSpPr>
        <p:spPr>
          <a:xfrm>
            <a:off x="2706588" y="8418016"/>
            <a:ext cx="1044773"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Spectroscopy</a:t>
            </a:r>
            <a:endParaRPr lang="en-US" sz="1125" dirty="0"/>
          </a:p>
        </p:txBody>
      </p:sp>
      <p:sp>
        <p:nvSpPr>
          <p:cNvPr id="74" name="Text 72"/>
          <p:cNvSpPr/>
          <p:nvPr/>
        </p:nvSpPr>
        <p:spPr>
          <a:xfrm>
            <a:off x="2952304" y="8601373"/>
            <a:ext cx="553269"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(~$0.3B)</a:t>
            </a:r>
            <a:endParaRPr lang="en-US" sz="900" dirty="0"/>
          </a:p>
        </p:txBody>
      </p:sp>
      <p:sp>
        <p:nvSpPr>
          <p:cNvPr id="75" name="Shape 73"/>
          <p:cNvSpPr/>
          <p:nvPr/>
        </p:nvSpPr>
        <p:spPr>
          <a:xfrm>
            <a:off x="4543425" y="8346802"/>
            <a:ext cx="8829675" cy="457200"/>
          </a:xfrm>
          <a:prstGeom prst="rect">
            <a:avLst/>
          </a:prstGeom>
          <a:solidFill>
            <a:srgbClr val="D9E5F1"/>
          </a:solidFill>
          <a:ln/>
        </p:spPr>
      </p:sp>
      <p:sp>
        <p:nvSpPr>
          <p:cNvPr id="76" name="Text 74"/>
          <p:cNvSpPr/>
          <p:nvPr/>
        </p:nvSpPr>
        <p:spPr>
          <a:xfrm>
            <a:off x="4676775" y="8416975"/>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Spectroscopy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helps identify compounds by measuring the spectra produced when matter interacts with or emits electromagnetic radiation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Varian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heritage from 2010 acquisition)</a:t>
            </a:r>
            <a:endParaRPr lang="en-US" sz="975" dirty="0"/>
          </a:p>
        </p:txBody>
      </p:sp>
      <p:sp>
        <p:nvSpPr>
          <p:cNvPr id="77" name="Shape 75"/>
          <p:cNvSpPr/>
          <p:nvPr/>
        </p:nvSpPr>
        <p:spPr>
          <a:xfrm>
            <a:off x="1943100" y="8832577"/>
            <a:ext cx="2571750" cy="457200"/>
          </a:xfrm>
          <a:prstGeom prst="rect">
            <a:avLst/>
          </a:prstGeom>
          <a:solidFill>
            <a:srgbClr val="2E74B5"/>
          </a:solidFill>
          <a:ln/>
        </p:spPr>
      </p:sp>
      <p:sp>
        <p:nvSpPr>
          <p:cNvPr id="78" name="Text 76"/>
          <p:cNvSpPr/>
          <p:nvPr/>
        </p:nvSpPr>
        <p:spPr>
          <a:xfrm>
            <a:off x="2442418" y="8903791"/>
            <a:ext cx="1573113"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Vacuum technologies</a:t>
            </a:r>
            <a:endParaRPr lang="en-US" sz="1125" dirty="0"/>
          </a:p>
        </p:txBody>
      </p:sp>
      <p:sp>
        <p:nvSpPr>
          <p:cNvPr id="79" name="Text 77"/>
          <p:cNvSpPr/>
          <p:nvPr/>
        </p:nvSpPr>
        <p:spPr>
          <a:xfrm>
            <a:off x="2950815" y="9087148"/>
            <a:ext cx="556245"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(~$0.2B)</a:t>
            </a:r>
            <a:endParaRPr lang="en-US" sz="900" dirty="0"/>
          </a:p>
        </p:txBody>
      </p:sp>
      <p:sp>
        <p:nvSpPr>
          <p:cNvPr id="80" name="Shape 78"/>
          <p:cNvSpPr/>
          <p:nvPr/>
        </p:nvSpPr>
        <p:spPr>
          <a:xfrm>
            <a:off x="4543425" y="8832577"/>
            <a:ext cx="8829675" cy="457200"/>
          </a:xfrm>
          <a:prstGeom prst="rect">
            <a:avLst/>
          </a:prstGeom>
          <a:solidFill>
            <a:srgbClr val="D9E5F1"/>
          </a:solidFill>
          <a:ln/>
        </p:spPr>
      </p:sp>
      <p:sp>
        <p:nvSpPr>
          <p:cNvPr id="81" name="Text 79"/>
          <p:cNvSpPr/>
          <p:nvPr/>
        </p:nvSpPr>
        <p:spPr>
          <a:xfrm>
            <a:off x="4676775" y="8902750"/>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Vacuum pumps and leak-detection products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(Varian heritage) serving semiconductor, battery, chemical manufacturing, and advanced-materials customers</a:t>
            </a:r>
            <a:endParaRPr lang="en-US" sz="975" dirty="0"/>
          </a:p>
        </p:txBody>
      </p:sp>
      <p:sp>
        <p:nvSpPr>
          <p:cNvPr id="82" name="Shape 80"/>
          <p:cNvSpPr/>
          <p:nvPr/>
        </p:nvSpPr>
        <p:spPr>
          <a:xfrm>
            <a:off x="1943100" y="9318352"/>
            <a:ext cx="2571750" cy="457200"/>
          </a:xfrm>
          <a:prstGeom prst="rect">
            <a:avLst/>
          </a:prstGeom>
          <a:solidFill>
            <a:srgbClr val="2E74B5"/>
          </a:solidFill>
          <a:ln/>
        </p:spPr>
      </p:sp>
      <p:sp>
        <p:nvSpPr>
          <p:cNvPr id="83" name="Text 81"/>
          <p:cNvSpPr/>
          <p:nvPr/>
        </p:nvSpPr>
        <p:spPr>
          <a:xfrm>
            <a:off x="2328565" y="9389566"/>
            <a:ext cx="1800746"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Remarketed instruments</a:t>
            </a:r>
            <a:endParaRPr lang="en-US" sz="1125" dirty="0"/>
          </a:p>
        </p:txBody>
      </p:sp>
      <p:sp>
        <p:nvSpPr>
          <p:cNvPr id="84" name="Text 82"/>
          <p:cNvSpPr/>
          <p:nvPr/>
        </p:nvSpPr>
        <p:spPr>
          <a:xfrm>
            <a:off x="2961233" y="9572923"/>
            <a:ext cx="535484"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(~$0.1B)</a:t>
            </a:r>
            <a:endParaRPr lang="en-US" sz="900" dirty="0"/>
          </a:p>
        </p:txBody>
      </p:sp>
      <p:sp>
        <p:nvSpPr>
          <p:cNvPr id="85" name="Shape 83"/>
          <p:cNvSpPr/>
          <p:nvPr/>
        </p:nvSpPr>
        <p:spPr>
          <a:xfrm>
            <a:off x="4543425" y="9318352"/>
            <a:ext cx="8829675" cy="457200"/>
          </a:xfrm>
          <a:prstGeom prst="rect">
            <a:avLst/>
          </a:prstGeom>
          <a:solidFill>
            <a:srgbClr val="D9E5F1"/>
          </a:solidFill>
          <a:ln/>
        </p:spPr>
      </p:sp>
      <p:sp>
        <p:nvSpPr>
          <p:cNvPr id="86" name="Text 84"/>
          <p:cNvSpPr/>
          <p:nvPr/>
        </p:nvSpPr>
        <p:spPr>
          <a:xfrm>
            <a:off x="4676775" y="9467701"/>
            <a:ext cx="8819864" cy="196528"/>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Refurbished, certified pre-owned Agilent instruments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sold to value-oriented customers</a:t>
            </a:r>
            <a:endParaRPr lang="en-US" sz="975" dirty="0"/>
          </a:p>
        </p:txBody>
      </p:sp>
      <p:sp>
        <p:nvSpPr>
          <p:cNvPr id="87" name="Text 85"/>
          <p:cNvSpPr/>
          <p:nvPr/>
        </p:nvSpPr>
        <p:spPr>
          <a:xfrm>
            <a:off x="342900" y="9851827"/>
            <a:ext cx="13421106" cy="320873"/>
          </a:xfrm>
          <a:prstGeom prst="rect">
            <a:avLst/>
          </a:prstGeom>
          <a:noFill/>
          <a:ln/>
        </p:spPr>
        <p:txBody>
          <a:bodyPr wrap="square" lIns="25400" tIns="25400" rIns="25400" bIns="25400" rtlCol="0" anchor="t">
            <a:normAutofit/>
          </a:bodyPr>
          <a:lstStyle/>
          <a:p>
            <a:pPr algn="l" indent="0" marL="0">
              <a:lnSpc>
                <a:spcPct val="135000"/>
              </a:lnSpc>
              <a:buNone/>
            </a:pPr>
            <a:r>
              <a:rPr lang="en-US" sz="825" dirty="0">
                <a:solidFill>
                  <a:srgbClr val="555555"/>
                </a:solidFill>
                <a:latin typeface="Arial" pitchFamily="34" charset="0"/>
                <a:ea typeface="Arial" pitchFamily="34" charset="-122"/>
                <a:cs typeface="Arial" pitchFamily="34" charset="-120"/>
              </a:rPr>
              <a:t>Source: Agilent 2025 Form 10-K (fiscal year ended Oct 31, 2025). Segment totals are disclosed; </a:t>
            </a:r>
            <a:pPr algn="l" indent="0" marL="0">
              <a:lnSpc>
                <a:spcPct val="135000"/>
              </a:lnSpc>
              <a:buNone/>
            </a:pPr>
            <a:r>
              <a:rPr lang="en-US" sz="825" b="1" dirty="0">
                <a:solidFill>
                  <a:srgbClr val="555555"/>
                </a:solidFill>
                <a:latin typeface="Arial" pitchFamily="34" charset="0"/>
                <a:ea typeface="Arial" pitchFamily="34" charset="-122"/>
                <a:cs typeface="Arial" pitchFamily="34" charset="-120"/>
              </a:rPr>
              <a:t>sub-business revenue is not separately reported </a:t>
            </a:r>
            <a:pPr algn="l" indent="0" marL="0">
              <a:lnSpc>
                <a:spcPct val="135000"/>
              </a:lnSpc>
              <a:buNone/>
            </a:pPr>
            <a:r>
              <a:rPr lang="en-US" sz="825" dirty="0">
                <a:solidFill>
                  <a:srgbClr val="555555"/>
                </a:solidFill>
                <a:latin typeface="Arial" pitchFamily="34" charset="0"/>
                <a:ea typeface="Arial" pitchFamily="34" charset="-122"/>
                <a:cs typeface="Arial" pitchFamily="34" charset="-120"/>
              </a:rPr>
              <a:t>— sub-segment $ amounts shown are approximate estimates derived from segment commentary, BIOVECTRA's disclosed FY25 contribution (~5pp to LSDG growth), and industry analyst estimates, and should be treated as directional only. In November 2024, Agilent reorganized into three reportable segments; historical periods were recast.</a:t>
            </a:r>
            <a:endParaRPr lang="en-US" sz="8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42900" y="209550"/>
            <a:ext cx="13421106" cy="400050"/>
          </a:xfrm>
          <a:prstGeom prst="rect">
            <a:avLst/>
          </a:prstGeom>
          <a:noFill/>
          <a:ln/>
        </p:spPr>
        <p:txBody>
          <a:bodyPr wrap="square" lIns="25400" tIns="25400" rIns="25400" bIns="25400" rtlCol="0" anchor="t">
            <a:normAutofit/>
          </a:bodyPr>
          <a:lstStyle/>
          <a:p>
            <a:pPr algn="l" indent="0" marL="0">
              <a:buNone/>
            </a:pPr>
            <a:r>
              <a:rPr lang="en-US" sz="2400" b="1" spc="-37" kern="0" dirty="0">
                <a:solidFill>
                  <a:srgbClr val="111111"/>
                </a:solidFill>
                <a:latin typeface="Arial" pitchFamily="34" charset="0"/>
                <a:ea typeface="Arial" pitchFamily="34" charset="-122"/>
                <a:cs typeface="Arial" pitchFamily="34" charset="-120"/>
              </a:rPr>
              <a:t>Waters portfolio overview (post-BD, pro forma FY25)</a:t>
            </a:r>
            <a:endParaRPr lang="en-US" sz="2400" dirty="0"/>
          </a:p>
        </p:txBody>
      </p:sp>
      <p:sp>
        <p:nvSpPr>
          <p:cNvPr id="3" name="Shape 1"/>
          <p:cNvSpPr/>
          <p:nvPr/>
        </p:nvSpPr>
        <p:spPr>
          <a:xfrm>
            <a:off x="342900" y="666750"/>
            <a:ext cx="1571625" cy="3569494"/>
          </a:xfrm>
          <a:prstGeom prst="rect">
            <a:avLst/>
          </a:prstGeom>
          <a:solidFill>
            <a:srgbClr val="1F3864"/>
          </a:solidFill>
          <a:ln/>
        </p:spPr>
      </p:sp>
      <p:sp>
        <p:nvSpPr>
          <p:cNvPr id="4" name="Text 2"/>
          <p:cNvSpPr/>
          <p:nvPr/>
        </p:nvSpPr>
        <p:spPr>
          <a:xfrm>
            <a:off x="662211" y="1939379"/>
            <a:ext cx="933004" cy="662285"/>
          </a:xfrm>
          <a:prstGeom prst="rect">
            <a:avLst/>
          </a:prstGeom>
          <a:noFill/>
          <a:ln/>
        </p:spPr>
        <p:txBody>
          <a:bodyPr wrap="square" lIns="25400" tIns="25400" rIns="25400" bIns="25400" rtlCol="0" anchor="t">
            <a:normAutofit/>
          </a:bodyPr>
          <a:lstStyle/>
          <a:p>
            <a:pPr algn="ctr" indent="0" marL="0">
              <a:lnSpc>
                <a:spcPct val="115000"/>
              </a:lnSpc>
              <a:buNone/>
            </a:pPr>
            <a:r>
              <a:rPr lang="en-US" sz="1425" b="1" dirty="0">
                <a:solidFill>
                  <a:srgbClr val="FFFFFF"/>
                </a:solidFill>
                <a:latin typeface="Arial" pitchFamily="34" charset="0"/>
                <a:ea typeface="Arial" pitchFamily="34" charset="-122"/>
                <a:cs typeface="Arial" pitchFamily="34" charset="-120"/>
              </a:rPr>
              <a:t>Waters Analytical Sciences</a:t>
            </a:r>
            <a:endParaRPr lang="en-US" sz="1425" dirty="0"/>
          </a:p>
        </p:txBody>
      </p:sp>
      <p:sp>
        <p:nvSpPr>
          <p:cNvPr id="5" name="Text 3"/>
          <p:cNvSpPr/>
          <p:nvPr/>
        </p:nvSpPr>
        <p:spPr>
          <a:xfrm>
            <a:off x="822573" y="2620714"/>
            <a:ext cx="612204" cy="381000"/>
          </a:xfrm>
          <a:prstGeom prst="rect">
            <a:avLst/>
          </a:prstGeom>
          <a:noFill/>
          <a:ln/>
        </p:spPr>
        <p:txBody>
          <a:bodyPr wrap="square" lIns="25400" tIns="25400" rIns="25400" bIns="25400" rtlCol="0" anchor="t">
            <a:normAutofit/>
          </a:bodyPr>
          <a:lstStyle/>
          <a:p>
            <a:pPr algn="ctr" indent="0" marL="0">
              <a:lnSpc>
                <a:spcPct val="120000"/>
              </a:lnSpc>
              <a:buNone/>
            </a:pPr>
            <a:r>
              <a:rPr lang="en-US" sz="1125" i="1" dirty="0">
                <a:solidFill>
                  <a:srgbClr val="FFFFFF"/>
                </a:solidFill>
                <a:latin typeface="Arial" pitchFamily="34" charset="0"/>
                <a:ea typeface="Arial" pitchFamily="34" charset="-122"/>
                <a:cs typeface="Arial" pitchFamily="34" charset="-120"/>
              </a:rPr>
              <a:t>(44% ~$2.8B)</a:t>
            </a:r>
            <a:endParaRPr lang="en-US" sz="1125" dirty="0"/>
          </a:p>
        </p:txBody>
      </p:sp>
      <p:sp>
        <p:nvSpPr>
          <p:cNvPr id="6" name="Shape 4"/>
          <p:cNvSpPr/>
          <p:nvPr/>
        </p:nvSpPr>
        <p:spPr>
          <a:xfrm>
            <a:off x="1943100" y="666750"/>
            <a:ext cx="2571750" cy="691009"/>
          </a:xfrm>
          <a:prstGeom prst="rect">
            <a:avLst/>
          </a:prstGeom>
          <a:solidFill>
            <a:srgbClr val="2E74B5"/>
          </a:solidFill>
          <a:ln/>
        </p:spPr>
      </p:sp>
      <p:sp>
        <p:nvSpPr>
          <p:cNvPr id="7" name="Text 5"/>
          <p:cNvSpPr/>
          <p:nvPr/>
        </p:nvSpPr>
        <p:spPr>
          <a:xfrm>
            <a:off x="2379315" y="854869"/>
            <a:ext cx="1699320"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Liquid chromatography</a:t>
            </a:r>
            <a:endParaRPr lang="en-US" sz="1125" dirty="0"/>
          </a:p>
        </p:txBody>
      </p:sp>
      <p:sp>
        <p:nvSpPr>
          <p:cNvPr id="8" name="Text 6"/>
          <p:cNvSpPr/>
          <p:nvPr/>
        </p:nvSpPr>
        <p:spPr>
          <a:xfrm>
            <a:off x="2960638" y="1038225"/>
            <a:ext cx="536600"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(~$1.0B)</a:t>
            </a:r>
            <a:endParaRPr lang="en-US" sz="900" dirty="0"/>
          </a:p>
        </p:txBody>
      </p:sp>
      <p:sp>
        <p:nvSpPr>
          <p:cNvPr id="9" name="Shape 7"/>
          <p:cNvSpPr/>
          <p:nvPr/>
        </p:nvSpPr>
        <p:spPr>
          <a:xfrm>
            <a:off x="4543425" y="666750"/>
            <a:ext cx="8829675" cy="691009"/>
          </a:xfrm>
          <a:prstGeom prst="rect">
            <a:avLst/>
          </a:prstGeom>
          <a:solidFill>
            <a:srgbClr val="D9E5F1"/>
          </a:solidFill>
          <a:ln/>
        </p:spPr>
      </p:sp>
      <p:sp>
        <p:nvSpPr>
          <p:cNvPr id="10" name="Text 8"/>
          <p:cNvSpPr/>
          <p:nvPr/>
        </p:nvSpPr>
        <p:spPr>
          <a:xfrm>
            <a:off x="4676775" y="853827"/>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Liquid chromatography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(HPLC, UPLC) is an analytical technique used to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separate and purify a mixture of liquids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based on differences in physical properties (e.g., ACQUITY UPLC, Alliance iS)</a:t>
            </a:r>
            <a:endParaRPr lang="en-US" sz="975" dirty="0"/>
          </a:p>
        </p:txBody>
      </p:sp>
      <p:sp>
        <p:nvSpPr>
          <p:cNvPr id="11" name="Shape 9"/>
          <p:cNvSpPr/>
          <p:nvPr/>
        </p:nvSpPr>
        <p:spPr>
          <a:xfrm>
            <a:off x="1943100" y="1386334"/>
            <a:ext cx="2571750" cy="691083"/>
          </a:xfrm>
          <a:prstGeom prst="rect">
            <a:avLst/>
          </a:prstGeom>
          <a:solidFill>
            <a:srgbClr val="2E74B5"/>
          </a:solidFill>
          <a:ln/>
        </p:spPr>
      </p:sp>
      <p:sp>
        <p:nvSpPr>
          <p:cNvPr id="12" name="Text 10"/>
          <p:cNvSpPr/>
          <p:nvPr/>
        </p:nvSpPr>
        <p:spPr>
          <a:xfrm>
            <a:off x="2514972" y="1574453"/>
            <a:ext cx="1428006"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Mass spectrometry</a:t>
            </a:r>
            <a:endParaRPr lang="en-US" sz="1125" dirty="0"/>
          </a:p>
        </p:txBody>
      </p:sp>
      <p:sp>
        <p:nvSpPr>
          <p:cNvPr id="13" name="Text 11"/>
          <p:cNvSpPr/>
          <p:nvPr/>
        </p:nvSpPr>
        <p:spPr>
          <a:xfrm>
            <a:off x="2950815" y="1757809"/>
            <a:ext cx="556320"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(~$0.4B)</a:t>
            </a:r>
            <a:endParaRPr lang="en-US" sz="900" dirty="0"/>
          </a:p>
        </p:txBody>
      </p:sp>
      <p:sp>
        <p:nvSpPr>
          <p:cNvPr id="14" name="Shape 12"/>
          <p:cNvSpPr/>
          <p:nvPr/>
        </p:nvSpPr>
        <p:spPr>
          <a:xfrm>
            <a:off x="4543425" y="1386334"/>
            <a:ext cx="8829675" cy="691083"/>
          </a:xfrm>
          <a:prstGeom prst="rect">
            <a:avLst/>
          </a:prstGeom>
          <a:solidFill>
            <a:srgbClr val="D9E5F1"/>
          </a:solidFill>
          <a:ln/>
        </p:spPr>
      </p:sp>
      <p:sp>
        <p:nvSpPr>
          <p:cNvPr id="15" name="Text 13"/>
          <p:cNvSpPr/>
          <p:nvPr/>
        </p:nvSpPr>
        <p:spPr>
          <a:xfrm>
            <a:off x="4676775" y="1573411"/>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dirty="0">
                <a:solidFill>
                  <a:srgbClr val="1A1A1A"/>
                </a:solidFill>
                <a:latin typeface="Arial" pitchFamily="34" charset="0"/>
                <a:ea typeface="Arial" pitchFamily="34" charset="-122"/>
                <a:cs typeface="Arial" pitchFamily="34" charset="-120"/>
              </a:rPr>
              <a:t>LC instruments are often attached to a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mass spectrometer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that identifies the purified component by measuring its mass-to-charge ratio (e.g., Xevo TQ Absolute, SYNAPT, SELECT SERIES MRT)</a:t>
            </a:r>
            <a:endParaRPr lang="en-US" sz="975" dirty="0"/>
          </a:p>
        </p:txBody>
      </p:sp>
      <p:sp>
        <p:nvSpPr>
          <p:cNvPr id="16" name="Shape 14"/>
          <p:cNvSpPr/>
          <p:nvPr/>
        </p:nvSpPr>
        <p:spPr>
          <a:xfrm>
            <a:off x="1943100" y="2105992"/>
            <a:ext cx="2571750" cy="691009"/>
          </a:xfrm>
          <a:prstGeom prst="rect">
            <a:avLst/>
          </a:prstGeom>
          <a:solidFill>
            <a:srgbClr val="2E74B5"/>
          </a:solidFill>
          <a:ln/>
        </p:spPr>
      </p:sp>
      <p:sp>
        <p:nvSpPr>
          <p:cNvPr id="17" name="Text 15"/>
          <p:cNvSpPr/>
          <p:nvPr/>
        </p:nvSpPr>
        <p:spPr>
          <a:xfrm>
            <a:off x="1981870" y="2294111"/>
            <a:ext cx="2494211"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Light scattering &amp; particle analysis</a:t>
            </a:r>
            <a:endParaRPr lang="en-US" sz="1125" dirty="0"/>
          </a:p>
        </p:txBody>
      </p:sp>
      <p:sp>
        <p:nvSpPr>
          <p:cNvPr id="18" name="Text 16"/>
          <p:cNvSpPr/>
          <p:nvPr/>
        </p:nvSpPr>
        <p:spPr>
          <a:xfrm>
            <a:off x="2961233" y="2477467"/>
            <a:ext cx="535484"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(~$0.1B)</a:t>
            </a:r>
            <a:endParaRPr lang="en-US" sz="900" dirty="0"/>
          </a:p>
        </p:txBody>
      </p:sp>
      <p:sp>
        <p:nvSpPr>
          <p:cNvPr id="19" name="Shape 17"/>
          <p:cNvSpPr/>
          <p:nvPr/>
        </p:nvSpPr>
        <p:spPr>
          <a:xfrm>
            <a:off x="4543425" y="2105992"/>
            <a:ext cx="8829675" cy="691009"/>
          </a:xfrm>
          <a:prstGeom prst="rect">
            <a:avLst/>
          </a:prstGeom>
          <a:solidFill>
            <a:srgbClr val="D9E5F1"/>
          </a:solidFill>
          <a:ln/>
        </p:spPr>
      </p:sp>
      <p:sp>
        <p:nvSpPr>
          <p:cNvPr id="20" name="Text 18"/>
          <p:cNvSpPr/>
          <p:nvPr/>
        </p:nvSpPr>
        <p:spPr>
          <a:xfrm>
            <a:off x="4676775" y="2293069"/>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Multi-angle light scattering (MALS), dynamic light scattering (DLS), and field-flow fractionation (FFF)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instruments from 2023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Wyatt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acquisition ($1.36B); expanded by 2025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Halo Labs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acquisition (particle imaging for cell/gene therapies)</a:t>
            </a:r>
            <a:endParaRPr lang="en-US" sz="975" dirty="0"/>
          </a:p>
        </p:txBody>
      </p:sp>
      <p:sp>
        <p:nvSpPr>
          <p:cNvPr id="21" name="Shape 19"/>
          <p:cNvSpPr/>
          <p:nvPr/>
        </p:nvSpPr>
        <p:spPr>
          <a:xfrm>
            <a:off x="1943100" y="2825576"/>
            <a:ext cx="2571750" cy="691083"/>
          </a:xfrm>
          <a:prstGeom prst="rect">
            <a:avLst/>
          </a:prstGeom>
          <a:solidFill>
            <a:srgbClr val="2E74B5"/>
          </a:solidFill>
          <a:ln/>
        </p:spPr>
      </p:sp>
      <p:sp>
        <p:nvSpPr>
          <p:cNvPr id="22" name="Text 20"/>
          <p:cNvSpPr/>
          <p:nvPr/>
        </p:nvSpPr>
        <p:spPr>
          <a:xfrm>
            <a:off x="2828553" y="3013695"/>
            <a:ext cx="800844"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Chemistry</a:t>
            </a:r>
            <a:endParaRPr lang="en-US" sz="1125" dirty="0"/>
          </a:p>
        </p:txBody>
      </p:sp>
      <p:sp>
        <p:nvSpPr>
          <p:cNvPr id="23" name="Text 21"/>
          <p:cNvSpPr/>
          <p:nvPr/>
        </p:nvSpPr>
        <p:spPr>
          <a:xfrm>
            <a:off x="2952750" y="3197051"/>
            <a:ext cx="552376"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(~$0.7B)</a:t>
            </a:r>
            <a:endParaRPr lang="en-US" sz="900" dirty="0"/>
          </a:p>
        </p:txBody>
      </p:sp>
      <p:sp>
        <p:nvSpPr>
          <p:cNvPr id="24" name="Shape 22"/>
          <p:cNvSpPr/>
          <p:nvPr/>
        </p:nvSpPr>
        <p:spPr>
          <a:xfrm>
            <a:off x="4543425" y="2825576"/>
            <a:ext cx="8829675" cy="691083"/>
          </a:xfrm>
          <a:prstGeom prst="rect">
            <a:avLst/>
          </a:prstGeom>
          <a:solidFill>
            <a:srgbClr val="D9E5F1"/>
          </a:solidFill>
          <a:ln/>
        </p:spPr>
      </p:sp>
      <p:sp>
        <p:nvSpPr>
          <p:cNvPr id="25" name="Text 23"/>
          <p:cNvSpPr/>
          <p:nvPr/>
        </p:nvSpPr>
        <p:spPr>
          <a:xfrm>
            <a:off x="4676775" y="3012653"/>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Consumables for Waters instrument portfolio,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including chromatography columns for LC instruments (e.g., MaxPeak, BioResolve Protein A); +12% FY25 growth driven by bioseparations</a:t>
            </a:r>
            <a:endParaRPr lang="en-US" sz="975" dirty="0"/>
          </a:p>
        </p:txBody>
      </p:sp>
      <p:sp>
        <p:nvSpPr>
          <p:cNvPr id="26" name="Shape 24"/>
          <p:cNvSpPr/>
          <p:nvPr/>
        </p:nvSpPr>
        <p:spPr>
          <a:xfrm>
            <a:off x="1943100" y="3545235"/>
            <a:ext cx="2571750" cy="691009"/>
          </a:xfrm>
          <a:prstGeom prst="rect">
            <a:avLst/>
          </a:prstGeom>
          <a:solidFill>
            <a:srgbClr val="2E74B5"/>
          </a:solidFill>
          <a:ln/>
        </p:spPr>
      </p:sp>
      <p:sp>
        <p:nvSpPr>
          <p:cNvPr id="27" name="Text 25"/>
          <p:cNvSpPr/>
          <p:nvPr/>
        </p:nvSpPr>
        <p:spPr>
          <a:xfrm>
            <a:off x="2928640" y="3733354"/>
            <a:ext cx="600670"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Service</a:t>
            </a:r>
            <a:endParaRPr lang="en-US" sz="1125" dirty="0"/>
          </a:p>
        </p:txBody>
      </p:sp>
      <p:sp>
        <p:nvSpPr>
          <p:cNvPr id="28" name="Text 26"/>
          <p:cNvSpPr/>
          <p:nvPr/>
        </p:nvSpPr>
        <p:spPr>
          <a:xfrm>
            <a:off x="2960638" y="3916710"/>
            <a:ext cx="536600"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(~$1.0B)</a:t>
            </a:r>
            <a:endParaRPr lang="en-US" sz="900" dirty="0"/>
          </a:p>
        </p:txBody>
      </p:sp>
      <p:sp>
        <p:nvSpPr>
          <p:cNvPr id="29" name="Shape 27"/>
          <p:cNvSpPr/>
          <p:nvPr/>
        </p:nvSpPr>
        <p:spPr>
          <a:xfrm>
            <a:off x="4543425" y="3545235"/>
            <a:ext cx="8829675" cy="691009"/>
          </a:xfrm>
          <a:prstGeom prst="rect">
            <a:avLst/>
          </a:prstGeom>
          <a:solidFill>
            <a:srgbClr val="D9E5F1"/>
          </a:solidFill>
          <a:ln/>
        </p:spPr>
      </p:sp>
      <p:sp>
        <p:nvSpPr>
          <p:cNvPr id="30" name="Text 28"/>
          <p:cNvSpPr/>
          <p:nvPr/>
        </p:nvSpPr>
        <p:spPr>
          <a:xfrm>
            <a:off x="4676775" y="3811488"/>
            <a:ext cx="8819864" cy="196528"/>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Service on Waters instruments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 over 35% of Waters segment sales in FY25 (support plans, parts, performance validation, training)</a:t>
            </a:r>
            <a:endParaRPr lang="en-US" sz="975" dirty="0"/>
          </a:p>
        </p:txBody>
      </p:sp>
      <p:sp>
        <p:nvSpPr>
          <p:cNvPr id="31" name="Shape 29"/>
          <p:cNvSpPr/>
          <p:nvPr/>
        </p:nvSpPr>
        <p:spPr>
          <a:xfrm>
            <a:off x="342900" y="4264819"/>
            <a:ext cx="1571625" cy="1913260"/>
          </a:xfrm>
          <a:prstGeom prst="rect">
            <a:avLst/>
          </a:prstGeom>
          <a:solidFill>
            <a:srgbClr val="1F3864"/>
          </a:solidFill>
          <a:ln/>
        </p:spPr>
      </p:sp>
      <p:sp>
        <p:nvSpPr>
          <p:cNvPr id="32" name="Text 30"/>
          <p:cNvSpPr/>
          <p:nvPr/>
        </p:nvSpPr>
        <p:spPr>
          <a:xfrm>
            <a:off x="573212" y="4813325"/>
            <a:ext cx="1110928" cy="454223"/>
          </a:xfrm>
          <a:prstGeom prst="rect">
            <a:avLst/>
          </a:prstGeom>
          <a:noFill/>
          <a:ln/>
        </p:spPr>
        <p:txBody>
          <a:bodyPr wrap="square" lIns="25400" tIns="25400" rIns="25400" bIns="25400" rtlCol="0" anchor="t">
            <a:normAutofit/>
          </a:bodyPr>
          <a:lstStyle/>
          <a:p>
            <a:pPr algn="ctr" indent="0" marL="0">
              <a:lnSpc>
                <a:spcPct val="115000"/>
              </a:lnSpc>
              <a:buNone/>
            </a:pPr>
            <a:r>
              <a:rPr lang="en-US" sz="1425" b="1" dirty="0">
                <a:solidFill>
                  <a:srgbClr val="FFFFFF"/>
                </a:solidFill>
                <a:latin typeface="Arial" pitchFamily="34" charset="0"/>
                <a:ea typeface="Arial" pitchFamily="34" charset="-122"/>
                <a:cs typeface="Arial" pitchFamily="34" charset="-120"/>
              </a:rPr>
              <a:t>Waters Biosciences</a:t>
            </a:r>
            <a:endParaRPr lang="en-US" sz="1425" dirty="0"/>
          </a:p>
        </p:txBody>
      </p:sp>
      <p:sp>
        <p:nvSpPr>
          <p:cNvPr id="33" name="Text 31"/>
          <p:cNvSpPr/>
          <p:nvPr/>
        </p:nvSpPr>
        <p:spPr>
          <a:xfrm>
            <a:off x="837679" y="5286598"/>
            <a:ext cx="581992" cy="381000"/>
          </a:xfrm>
          <a:prstGeom prst="rect">
            <a:avLst/>
          </a:prstGeom>
          <a:noFill/>
          <a:ln/>
        </p:spPr>
        <p:txBody>
          <a:bodyPr wrap="square" lIns="25400" tIns="25400" rIns="25400" bIns="25400" rtlCol="0" anchor="t">
            <a:normAutofit/>
          </a:bodyPr>
          <a:lstStyle/>
          <a:p>
            <a:pPr algn="ctr" indent="0" marL="0">
              <a:lnSpc>
                <a:spcPct val="120000"/>
              </a:lnSpc>
              <a:buNone/>
            </a:pPr>
            <a:r>
              <a:rPr lang="en-US" sz="1125" i="1" dirty="0">
                <a:solidFill>
                  <a:srgbClr val="FFFFFF"/>
                </a:solidFill>
                <a:latin typeface="Arial" pitchFamily="34" charset="0"/>
                <a:ea typeface="Arial" pitchFamily="34" charset="-122"/>
                <a:cs typeface="Arial" pitchFamily="34" charset="-120"/>
              </a:rPr>
              <a:t>(24% ~$1.5B)</a:t>
            </a:r>
            <a:endParaRPr lang="en-US" sz="1125" dirty="0"/>
          </a:p>
        </p:txBody>
      </p:sp>
      <p:sp>
        <p:nvSpPr>
          <p:cNvPr id="34" name="Shape 32"/>
          <p:cNvSpPr/>
          <p:nvPr/>
        </p:nvSpPr>
        <p:spPr>
          <a:xfrm>
            <a:off x="1943100" y="4264819"/>
            <a:ext cx="2571750" cy="942380"/>
          </a:xfrm>
          <a:prstGeom prst="rect">
            <a:avLst/>
          </a:prstGeom>
          <a:solidFill>
            <a:srgbClr val="2E74B5"/>
          </a:solidFill>
          <a:ln/>
        </p:spPr>
      </p:sp>
      <p:sp>
        <p:nvSpPr>
          <p:cNvPr id="35" name="Text 33"/>
          <p:cNvSpPr/>
          <p:nvPr/>
        </p:nvSpPr>
        <p:spPr>
          <a:xfrm>
            <a:off x="2209577" y="4578623"/>
            <a:ext cx="2038796"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Flow cytometry instruments</a:t>
            </a:r>
            <a:endParaRPr lang="en-US" sz="1125" dirty="0"/>
          </a:p>
        </p:txBody>
      </p:sp>
      <p:sp>
        <p:nvSpPr>
          <p:cNvPr id="36" name="Text 34"/>
          <p:cNvSpPr/>
          <p:nvPr/>
        </p:nvSpPr>
        <p:spPr>
          <a:xfrm>
            <a:off x="2952304" y="4761979"/>
            <a:ext cx="553343"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(~$0.6B)</a:t>
            </a:r>
            <a:endParaRPr lang="en-US" sz="900" dirty="0"/>
          </a:p>
        </p:txBody>
      </p:sp>
      <p:sp>
        <p:nvSpPr>
          <p:cNvPr id="37" name="Shape 35"/>
          <p:cNvSpPr/>
          <p:nvPr/>
        </p:nvSpPr>
        <p:spPr>
          <a:xfrm>
            <a:off x="4543425" y="4264819"/>
            <a:ext cx="8829675" cy="942380"/>
          </a:xfrm>
          <a:prstGeom prst="rect">
            <a:avLst/>
          </a:prstGeom>
          <a:solidFill>
            <a:srgbClr val="D9E5F1"/>
          </a:solidFill>
          <a:ln/>
        </p:spPr>
      </p:sp>
      <p:sp>
        <p:nvSpPr>
          <p:cNvPr id="38" name="Text 36"/>
          <p:cNvSpPr/>
          <p:nvPr/>
        </p:nvSpPr>
        <p:spPr>
          <a:xfrm>
            <a:off x="4676775" y="4577581"/>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Research flow cytometers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(BD FACSDiscover S8, FACSymphony, FACSAria, FACSCelesta, Accuri) for cell sorting and analysis — from 2026 BDS acquisition</a:t>
            </a:r>
            <a:endParaRPr lang="en-US" sz="975" dirty="0"/>
          </a:p>
        </p:txBody>
      </p:sp>
      <p:sp>
        <p:nvSpPr>
          <p:cNvPr id="39" name="Shape 37"/>
          <p:cNvSpPr/>
          <p:nvPr/>
        </p:nvSpPr>
        <p:spPr>
          <a:xfrm>
            <a:off x="1943100" y="5235773"/>
            <a:ext cx="2571750" cy="942305"/>
          </a:xfrm>
          <a:prstGeom prst="rect">
            <a:avLst/>
          </a:prstGeom>
          <a:solidFill>
            <a:srgbClr val="2E74B5"/>
          </a:solidFill>
          <a:ln/>
        </p:spPr>
      </p:sp>
      <p:sp>
        <p:nvSpPr>
          <p:cNvPr id="40" name="Text 38"/>
          <p:cNvSpPr/>
          <p:nvPr/>
        </p:nvSpPr>
        <p:spPr>
          <a:xfrm>
            <a:off x="2391073" y="5549503"/>
            <a:ext cx="1675730"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Reagents &amp; multiomics</a:t>
            </a:r>
            <a:endParaRPr lang="en-US" sz="1125" dirty="0"/>
          </a:p>
        </p:txBody>
      </p:sp>
      <p:sp>
        <p:nvSpPr>
          <p:cNvPr id="41" name="Text 39"/>
          <p:cNvSpPr/>
          <p:nvPr/>
        </p:nvSpPr>
        <p:spPr>
          <a:xfrm>
            <a:off x="2949997" y="5732859"/>
            <a:ext cx="557882"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(~$0.9B)</a:t>
            </a:r>
            <a:endParaRPr lang="en-US" sz="900" dirty="0"/>
          </a:p>
        </p:txBody>
      </p:sp>
      <p:sp>
        <p:nvSpPr>
          <p:cNvPr id="42" name="Shape 40"/>
          <p:cNvSpPr/>
          <p:nvPr/>
        </p:nvSpPr>
        <p:spPr>
          <a:xfrm>
            <a:off x="4543425" y="5235773"/>
            <a:ext cx="8829675" cy="942305"/>
          </a:xfrm>
          <a:prstGeom prst="rect">
            <a:avLst/>
          </a:prstGeom>
          <a:solidFill>
            <a:srgbClr val="D9E5F1"/>
          </a:solidFill>
          <a:ln/>
        </p:spPr>
      </p:sp>
      <p:sp>
        <p:nvSpPr>
          <p:cNvPr id="43" name="Text 41"/>
          <p:cNvSpPr/>
          <p:nvPr/>
        </p:nvSpPr>
        <p:spPr>
          <a:xfrm>
            <a:off x="4676775" y="5548461"/>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Antibodies, reagents, and consumables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for flow cytometry; single-cell multiomics platforms (BD Rhapsody) for immune profiling and cancer research</a:t>
            </a:r>
            <a:endParaRPr lang="en-US" sz="975" dirty="0"/>
          </a:p>
        </p:txBody>
      </p:sp>
      <p:sp>
        <p:nvSpPr>
          <p:cNvPr id="44" name="Shape 42"/>
          <p:cNvSpPr/>
          <p:nvPr/>
        </p:nvSpPr>
        <p:spPr>
          <a:xfrm>
            <a:off x="342900" y="6206654"/>
            <a:ext cx="1571625" cy="2227362"/>
          </a:xfrm>
          <a:prstGeom prst="rect">
            <a:avLst/>
          </a:prstGeom>
          <a:solidFill>
            <a:srgbClr val="1F3864"/>
          </a:solidFill>
          <a:ln/>
        </p:spPr>
      </p:sp>
      <p:sp>
        <p:nvSpPr>
          <p:cNvPr id="45" name="Text 43"/>
          <p:cNvSpPr/>
          <p:nvPr/>
        </p:nvSpPr>
        <p:spPr>
          <a:xfrm>
            <a:off x="581397" y="6808217"/>
            <a:ext cx="1094556" cy="662285"/>
          </a:xfrm>
          <a:prstGeom prst="rect">
            <a:avLst/>
          </a:prstGeom>
          <a:noFill/>
          <a:ln/>
        </p:spPr>
        <p:txBody>
          <a:bodyPr wrap="square" lIns="25400" tIns="25400" rIns="25400" bIns="25400" rtlCol="0" anchor="t">
            <a:normAutofit/>
          </a:bodyPr>
          <a:lstStyle/>
          <a:p>
            <a:pPr algn="ctr" indent="0" marL="0">
              <a:lnSpc>
                <a:spcPct val="115000"/>
              </a:lnSpc>
              <a:buNone/>
            </a:pPr>
            <a:r>
              <a:rPr lang="en-US" sz="1425" b="1" dirty="0">
                <a:solidFill>
                  <a:srgbClr val="FFFFFF"/>
                </a:solidFill>
                <a:latin typeface="Arial" pitchFamily="34" charset="0"/>
                <a:ea typeface="Arial" pitchFamily="34" charset="-122"/>
                <a:cs typeface="Arial" pitchFamily="34" charset="-120"/>
              </a:rPr>
              <a:t>Waters Advanced Diagnostics</a:t>
            </a:r>
            <a:endParaRPr lang="en-US" sz="1425" dirty="0"/>
          </a:p>
        </p:txBody>
      </p:sp>
      <p:sp>
        <p:nvSpPr>
          <p:cNvPr id="46" name="Text 44"/>
          <p:cNvSpPr/>
          <p:nvPr/>
        </p:nvSpPr>
        <p:spPr>
          <a:xfrm>
            <a:off x="834182" y="7489552"/>
            <a:ext cx="589062" cy="381000"/>
          </a:xfrm>
          <a:prstGeom prst="rect">
            <a:avLst/>
          </a:prstGeom>
          <a:noFill/>
          <a:ln/>
        </p:spPr>
        <p:txBody>
          <a:bodyPr wrap="square" lIns="25400" tIns="25400" rIns="25400" bIns="25400" rtlCol="0" anchor="t">
            <a:normAutofit/>
          </a:bodyPr>
          <a:lstStyle/>
          <a:p>
            <a:pPr algn="ctr" indent="0" marL="0">
              <a:lnSpc>
                <a:spcPct val="120000"/>
              </a:lnSpc>
              <a:buNone/>
            </a:pPr>
            <a:r>
              <a:rPr lang="en-US" sz="1125" i="1" dirty="0">
                <a:solidFill>
                  <a:srgbClr val="FFFFFF"/>
                </a:solidFill>
                <a:latin typeface="Arial" pitchFamily="34" charset="0"/>
                <a:ea typeface="Arial" pitchFamily="34" charset="-122"/>
                <a:cs typeface="Arial" pitchFamily="34" charset="-120"/>
              </a:rPr>
              <a:t>(28% ~$1.8B)</a:t>
            </a:r>
            <a:endParaRPr lang="en-US" sz="1125" dirty="0"/>
          </a:p>
        </p:txBody>
      </p:sp>
      <p:sp>
        <p:nvSpPr>
          <p:cNvPr id="47" name="Shape 45"/>
          <p:cNvSpPr/>
          <p:nvPr/>
        </p:nvSpPr>
        <p:spPr>
          <a:xfrm>
            <a:off x="1943100" y="6206654"/>
            <a:ext cx="2571750" cy="1099393"/>
          </a:xfrm>
          <a:prstGeom prst="rect">
            <a:avLst/>
          </a:prstGeom>
          <a:solidFill>
            <a:srgbClr val="2E74B5"/>
          </a:solidFill>
          <a:ln/>
        </p:spPr>
      </p:sp>
      <p:sp>
        <p:nvSpPr>
          <p:cNvPr id="48" name="Text 46"/>
          <p:cNvSpPr/>
          <p:nvPr/>
        </p:nvSpPr>
        <p:spPr>
          <a:xfrm>
            <a:off x="2201466" y="6598965"/>
            <a:ext cx="2055019"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Microbiology &amp; molecular dx</a:t>
            </a:r>
            <a:endParaRPr lang="en-US" sz="1125" dirty="0"/>
          </a:p>
        </p:txBody>
      </p:sp>
      <p:sp>
        <p:nvSpPr>
          <p:cNvPr id="49" name="Text 47"/>
          <p:cNvSpPr/>
          <p:nvPr/>
        </p:nvSpPr>
        <p:spPr>
          <a:xfrm>
            <a:off x="2969196" y="6782321"/>
            <a:ext cx="519559"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(~$1.1B)</a:t>
            </a:r>
            <a:endParaRPr lang="en-US" sz="900" dirty="0"/>
          </a:p>
        </p:txBody>
      </p:sp>
      <p:sp>
        <p:nvSpPr>
          <p:cNvPr id="50" name="Shape 48"/>
          <p:cNvSpPr/>
          <p:nvPr/>
        </p:nvSpPr>
        <p:spPr>
          <a:xfrm>
            <a:off x="4543425" y="6206654"/>
            <a:ext cx="8829675" cy="1099393"/>
          </a:xfrm>
          <a:prstGeom prst="rect">
            <a:avLst/>
          </a:prstGeom>
          <a:solidFill>
            <a:srgbClr val="D9E5F1"/>
          </a:solidFill>
          <a:ln/>
        </p:spPr>
      </p:sp>
      <p:sp>
        <p:nvSpPr>
          <p:cNvPr id="51" name="Text 49"/>
          <p:cNvSpPr/>
          <p:nvPr/>
        </p:nvSpPr>
        <p:spPr>
          <a:xfrm>
            <a:off x="4676775" y="6597923"/>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Molecular diagnostics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(BD MAX, BD COR),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microbiology automation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(BD Phoenix ID/AST, BD Kiestra), and rapid antigen tests (BD Veritor) for hospital labs — from 2026 BDS acquisition</a:t>
            </a:r>
            <a:endParaRPr lang="en-US" sz="975" dirty="0"/>
          </a:p>
        </p:txBody>
      </p:sp>
      <p:sp>
        <p:nvSpPr>
          <p:cNvPr id="52" name="Shape 50"/>
          <p:cNvSpPr/>
          <p:nvPr/>
        </p:nvSpPr>
        <p:spPr>
          <a:xfrm>
            <a:off x="1943100" y="7334622"/>
            <a:ext cx="2571750" cy="1099393"/>
          </a:xfrm>
          <a:prstGeom prst="rect">
            <a:avLst/>
          </a:prstGeom>
          <a:solidFill>
            <a:srgbClr val="2E74B5"/>
          </a:solidFill>
          <a:ln/>
        </p:spPr>
      </p:sp>
      <p:sp>
        <p:nvSpPr>
          <p:cNvPr id="53" name="Text 51"/>
          <p:cNvSpPr/>
          <p:nvPr/>
        </p:nvSpPr>
        <p:spPr>
          <a:xfrm>
            <a:off x="2370832" y="7726933"/>
            <a:ext cx="1716212"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Specimen management</a:t>
            </a:r>
            <a:endParaRPr lang="en-US" sz="1125" dirty="0"/>
          </a:p>
        </p:txBody>
      </p:sp>
      <p:sp>
        <p:nvSpPr>
          <p:cNvPr id="54" name="Text 52"/>
          <p:cNvSpPr/>
          <p:nvPr/>
        </p:nvSpPr>
        <p:spPr>
          <a:xfrm>
            <a:off x="2952750" y="7910289"/>
            <a:ext cx="552376"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(~$0.7B)</a:t>
            </a:r>
            <a:endParaRPr lang="en-US" sz="900" dirty="0"/>
          </a:p>
        </p:txBody>
      </p:sp>
      <p:sp>
        <p:nvSpPr>
          <p:cNvPr id="55" name="Shape 53"/>
          <p:cNvSpPr/>
          <p:nvPr/>
        </p:nvSpPr>
        <p:spPr>
          <a:xfrm>
            <a:off x="4543425" y="7334622"/>
            <a:ext cx="8829675" cy="1099393"/>
          </a:xfrm>
          <a:prstGeom prst="rect">
            <a:avLst/>
          </a:prstGeom>
          <a:solidFill>
            <a:srgbClr val="D9E5F1"/>
          </a:solidFill>
          <a:ln/>
        </p:spPr>
      </p:sp>
      <p:sp>
        <p:nvSpPr>
          <p:cNvPr id="56" name="Text 54"/>
          <p:cNvSpPr/>
          <p:nvPr/>
        </p:nvSpPr>
        <p:spPr>
          <a:xfrm>
            <a:off x="4676775" y="7725891"/>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BD Vacutainer blood collection systems,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transport media, swabs, and specimen management products for hospitals, reference labs, and physician offices</a:t>
            </a:r>
            <a:endParaRPr lang="en-US" sz="975" dirty="0"/>
          </a:p>
        </p:txBody>
      </p:sp>
      <p:sp>
        <p:nvSpPr>
          <p:cNvPr id="57" name="Shape 55"/>
          <p:cNvSpPr/>
          <p:nvPr/>
        </p:nvSpPr>
        <p:spPr>
          <a:xfrm>
            <a:off x="342900" y="8462590"/>
            <a:ext cx="1571625" cy="1171575"/>
          </a:xfrm>
          <a:prstGeom prst="rect">
            <a:avLst/>
          </a:prstGeom>
          <a:solidFill>
            <a:srgbClr val="1F3864"/>
          </a:solidFill>
          <a:ln/>
        </p:spPr>
      </p:sp>
      <p:sp>
        <p:nvSpPr>
          <p:cNvPr id="58" name="Text 56"/>
          <p:cNvSpPr/>
          <p:nvPr/>
        </p:nvSpPr>
        <p:spPr>
          <a:xfrm>
            <a:off x="381000" y="8536260"/>
            <a:ext cx="1495425" cy="662285"/>
          </a:xfrm>
          <a:prstGeom prst="rect">
            <a:avLst/>
          </a:prstGeom>
          <a:noFill/>
          <a:ln/>
        </p:spPr>
        <p:txBody>
          <a:bodyPr wrap="square" lIns="25400" tIns="25400" rIns="25400" bIns="25400" rtlCol="0" anchor="t">
            <a:normAutofit/>
          </a:bodyPr>
          <a:lstStyle/>
          <a:p>
            <a:pPr algn="ctr" indent="0" marL="0">
              <a:lnSpc>
                <a:spcPct val="115000"/>
              </a:lnSpc>
              <a:buNone/>
            </a:pPr>
            <a:r>
              <a:rPr lang="en-US" sz="1425" b="1" dirty="0">
                <a:solidFill>
                  <a:srgbClr val="FFFFFF"/>
                </a:solidFill>
                <a:latin typeface="Arial" pitchFamily="34" charset="0"/>
                <a:ea typeface="Arial" pitchFamily="34" charset="-122"/>
                <a:cs typeface="Arial" pitchFamily="34" charset="-120"/>
              </a:rPr>
              <a:t>Waters Materials Sciences</a:t>
            </a:r>
            <a:endParaRPr lang="en-US" sz="1425" dirty="0"/>
          </a:p>
        </p:txBody>
      </p:sp>
      <p:sp>
        <p:nvSpPr>
          <p:cNvPr id="59" name="Text 57"/>
          <p:cNvSpPr/>
          <p:nvPr/>
        </p:nvSpPr>
        <p:spPr>
          <a:xfrm>
            <a:off x="825624" y="9217596"/>
            <a:ext cx="606177" cy="381000"/>
          </a:xfrm>
          <a:prstGeom prst="rect">
            <a:avLst/>
          </a:prstGeom>
          <a:noFill/>
          <a:ln/>
        </p:spPr>
        <p:txBody>
          <a:bodyPr wrap="square" lIns="25400" tIns="25400" rIns="25400" bIns="25400" rtlCol="0" anchor="t">
            <a:normAutofit/>
          </a:bodyPr>
          <a:lstStyle/>
          <a:p>
            <a:pPr algn="ctr" indent="0" marL="0">
              <a:lnSpc>
                <a:spcPct val="120000"/>
              </a:lnSpc>
              <a:buNone/>
            </a:pPr>
            <a:r>
              <a:rPr lang="en-US" sz="1125" i="1" dirty="0">
                <a:solidFill>
                  <a:srgbClr val="FFFFFF"/>
                </a:solidFill>
                <a:latin typeface="Arial" pitchFamily="34" charset="0"/>
                <a:ea typeface="Arial" pitchFamily="34" charset="-122"/>
                <a:cs typeface="Arial" pitchFamily="34" charset="-120"/>
              </a:rPr>
              <a:t>(6% ~$0.4B)</a:t>
            </a:r>
            <a:endParaRPr lang="en-US" sz="1125" dirty="0"/>
          </a:p>
        </p:txBody>
      </p:sp>
      <p:sp>
        <p:nvSpPr>
          <p:cNvPr id="60" name="Shape 58"/>
          <p:cNvSpPr/>
          <p:nvPr/>
        </p:nvSpPr>
        <p:spPr>
          <a:xfrm>
            <a:off x="1943100" y="8462590"/>
            <a:ext cx="2571750" cy="571500"/>
          </a:xfrm>
          <a:prstGeom prst="rect">
            <a:avLst/>
          </a:prstGeom>
          <a:solidFill>
            <a:srgbClr val="2E74B5"/>
          </a:solidFill>
          <a:ln/>
        </p:spPr>
      </p:sp>
      <p:sp>
        <p:nvSpPr>
          <p:cNvPr id="61" name="Text 59"/>
          <p:cNvSpPr/>
          <p:nvPr/>
        </p:nvSpPr>
        <p:spPr>
          <a:xfrm>
            <a:off x="2765971" y="8590955"/>
            <a:ext cx="926009"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Instruments</a:t>
            </a:r>
            <a:endParaRPr lang="en-US" sz="1125" dirty="0"/>
          </a:p>
        </p:txBody>
      </p:sp>
      <p:sp>
        <p:nvSpPr>
          <p:cNvPr id="62" name="Text 60"/>
          <p:cNvSpPr/>
          <p:nvPr/>
        </p:nvSpPr>
        <p:spPr>
          <a:xfrm>
            <a:off x="2952304" y="8774311"/>
            <a:ext cx="553269"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(~$0.3B)</a:t>
            </a:r>
            <a:endParaRPr lang="en-US" sz="900" dirty="0"/>
          </a:p>
        </p:txBody>
      </p:sp>
      <p:sp>
        <p:nvSpPr>
          <p:cNvPr id="63" name="Shape 61"/>
          <p:cNvSpPr/>
          <p:nvPr/>
        </p:nvSpPr>
        <p:spPr>
          <a:xfrm>
            <a:off x="4543425" y="8462590"/>
            <a:ext cx="8829675" cy="571500"/>
          </a:xfrm>
          <a:prstGeom prst="rect">
            <a:avLst/>
          </a:prstGeom>
          <a:solidFill>
            <a:srgbClr val="D9E5F1"/>
          </a:solidFill>
          <a:ln/>
        </p:spPr>
      </p:sp>
      <p:sp>
        <p:nvSpPr>
          <p:cNvPr id="64" name="Text 62"/>
          <p:cNvSpPr/>
          <p:nvPr/>
        </p:nvSpPr>
        <p:spPr>
          <a:xfrm>
            <a:off x="4676775" y="8589913"/>
            <a:ext cx="8819864" cy="354955"/>
          </a:xfrm>
          <a:prstGeom prst="rect">
            <a:avLst/>
          </a:prstGeom>
          <a:noFill/>
          <a:ln/>
        </p:spPr>
        <p:txBody>
          <a:bodyPr wrap="square" lIns="25400" tIns="25400" rIns="25400" bIns="25400" rtlCol="0" anchor="t">
            <a:normAutofit/>
          </a:bodyPr>
          <a:lstStyle/>
          <a:p>
            <a:pPr algn="l" indent="0" marL="0">
              <a:lnSpc>
                <a:spcPct val="128000"/>
              </a:lnSpc>
              <a:buNone/>
            </a:pPr>
            <a:r>
              <a:rPr lang="en-US" sz="975" dirty="0">
                <a:solidFill>
                  <a:srgbClr val="1A1A1A"/>
                </a:solidFill>
                <a:latin typeface="Arial" pitchFamily="34" charset="0"/>
                <a:ea typeface="Arial" pitchFamily="34" charset="-122"/>
                <a:cs typeface="Arial" pitchFamily="34" charset="-120"/>
              </a:rPr>
              <a:t>Includes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thermal analysis instruments, rheometers, and microcalorimeters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(legacy </a:t>
            </a:r>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TA Instruments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 mainly used in applied applications including battery and polymer materials testing</a:t>
            </a:r>
            <a:endParaRPr lang="en-US" sz="975" dirty="0"/>
          </a:p>
        </p:txBody>
      </p:sp>
      <p:sp>
        <p:nvSpPr>
          <p:cNvPr id="65" name="Shape 63"/>
          <p:cNvSpPr/>
          <p:nvPr/>
        </p:nvSpPr>
        <p:spPr>
          <a:xfrm>
            <a:off x="1943100" y="9062665"/>
            <a:ext cx="2571750" cy="571500"/>
          </a:xfrm>
          <a:prstGeom prst="rect">
            <a:avLst/>
          </a:prstGeom>
          <a:solidFill>
            <a:srgbClr val="2E74B5"/>
          </a:solidFill>
          <a:ln/>
        </p:spPr>
      </p:sp>
      <p:sp>
        <p:nvSpPr>
          <p:cNvPr id="66" name="Text 64"/>
          <p:cNvSpPr/>
          <p:nvPr/>
        </p:nvSpPr>
        <p:spPr>
          <a:xfrm>
            <a:off x="2928640" y="9191030"/>
            <a:ext cx="600670" cy="202406"/>
          </a:xfrm>
          <a:prstGeom prst="rect">
            <a:avLst/>
          </a:prstGeom>
          <a:noFill/>
          <a:ln/>
        </p:spPr>
        <p:txBody>
          <a:bodyPr wrap="square" lIns="25400" tIns="25400" rIns="25400" bIns="25400" rtlCol="0" anchor="t">
            <a:normAutofit/>
          </a:bodyPr>
          <a:lstStyle/>
          <a:p>
            <a:pPr algn="ctr" indent="0" marL="0">
              <a:lnSpc>
                <a:spcPct val="115000"/>
              </a:lnSpc>
              <a:buNone/>
            </a:pPr>
            <a:r>
              <a:rPr lang="en-US" sz="1125" b="1" dirty="0">
                <a:solidFill>
                  <a:srgbClr val="FFFFFF"/>
                </a:solidFill>
                <a:latin typeface="Arial" pitchFamily="34" charset="0"/>
                <a:ea typeface="Arial" pitchFamily="34" charset="-122"/>
                <a:cs typeface="Arial" pitchFamily="34" charset="-120"/>
              </a:rPr>
              <a:t>Service</a:t>
            </a:r>
            <a:endParaRPr lang="en-US" sz="1125" dirty="0"/>
          </a:p>
        </p:txBody>
      </p:sp>
      <p:sp>
        <p:nvSpPr>
          <p:cNvPr id="67" name="Text 65"/>
          <p:cNvSpPr/>
          <p:nvPr/>
        </p:nvSpPr>
        <p:spPr>
          <a:xfrm>
            <a:off x="2961233" y="9374386"/>
            <a:ext cx="535484" cy="169515"/>
          </a:xfrm>
          <a:prstGeom prst="rect">
            <a:avLst/>
          </a:prstGeom>
          <a:noFill/>
          <a:ln/>
        </p:spPr>
        <p:txBody>
          <a:bodyPr wrap="square" lIns="25400" tIns="25400" rIns="25400" bIns="25400" rtlCol="0" anchor="t">
            <a:normAutofit/>
          </a:bodyPr>
          <a:lstStyle/>
          <a:p>
            <a:pPr algn="ctr" indent="0" marL="0">
              <a:lnSpc>
                <a:spcPct val="115000"/>
              </a:lnSpc>
              <a:buNone/>
            </a:pPr>
            <a:r>
              <a:rPr lang="en-US" sz="900" i="1" dirty="0">
                <a:solidFill>
                  <a:srgbClr val="FFFFFF"/>
                </a:solidFill>
                <a:latin typeface="Arial" pitchFamily="34" charset="0"/>
                <a:ea typeface="Arial" pitchFamily="34" charset="-122"/>
                <a:cs typeface="Arial" pitchFamily="34" charset="-120"/>
              </a:rPr>
              <a:t>(~$0.1B)</a:t>
            </a:r>
            <a:endParaRPr lang="en-US" sz="900" dirty="0"/>
          </a:p>
        </p:txBody>
      </p:sp>
      <p:sp>
        <p:nvSpPr>
          <p:cNvPr id="68" name="Shape 66"/>
          <p:cNvSpPr/>
          <p:nvPr/>
        </p:nvSpPr>
        <p:spPr>
          <a:xfrm>
            <a:off x="4543425" y="9062665"/>
            <a:ext cx="8829675" cy="571500"/>
          </a:xfrm>
          <a:prstGeom prst="rect">
            <a:avLst/>
          </a:prstGeom>
          <a:solidFill>
            <a:srgbClr val="D9E5F1"/>
          </a:solidFill>
          <a:ln/>
        </p:spPr>
      </p:sp>
      <p:sp>
        <p:nvSpPr>
          <p:cNvPr id="69" name="Text 67"/>
          <p:cNvSpPr/>
          <p:nvPr/>
        </p:nvSpPr>
        <p:spPr>
          <a:xfrm>
            <a:off x="4676775" y="9269164"/>
            <a:ext cx="8819864" cy="196528"/>
          </a:xfrm>
          <a:prstGeom prst="rect">
            <a:avLst/>
          </a:prstGeom>
          <a:noFill/>
          <a:ln/>
        </p:spPr>
        <p:txBody>
          <a:bodyPr wrap="square" lIns="25400" tIns="25400" rIns="25400" bIns="25400" rtlCol="0" anchor="t">
            <a:normAutofit/>
          </a:bodyPr>
          <a:lstStyle/>
          <a:p>
            <a:pPr algn="l" indent="0" marL="0">
              <a:lnSpc>
                <a:spcPct val="128000"/>
              </a:lnSpc>
              <a:buNone/>
            </a:pPr>
            <a:r>
              <a:rPr lang="en-US" sz="975" b="1" dirty="0">
                <a:solidFill>
                  <a:srgbClr val="1A1A1A"/>
                </a:solidFill>
                <a:latin typeface="Arial" pitchFamily="34" charset="0"/>
                <a:ea typeface="Arial" pitchFamily="34" charset="-122"/>
                <a:cs typeface="Arial" pitchFamily="34" charset="-120"/>
              </a:rPr>
              <a:t>Service on TA instruments </a:t>
            </a:r>
            <a:pPr algn="l" indent="0" marL="0">
              <a:lnSpc>
                <a:spcPct val="128000"/>
              </a:lnSpc>
              <a:buNone/>
            </a:pPr>
            <a:r>
              <a:rPr lang="en-US" sz="975" dirty="0">
                <a:solidFill>
                  <a:srgbClr val="1A1A1A"/>
                </a:solidFill>
                <a:latin typeface="Arial" pitchFamily="34" charset="0"/>
                <a:ea typeface="Arial" pitchFamily="34" charset="-122"/>
                <a:cs typeface="Arial" pitchFamily="34" charset="-120"/>
              </a:rPr>
              <a:t>— over 25% of TA segment sales in FY25</a:t>
            </a:r>
            <a:endParaRPr lang="en-US" sz="975" dirty="0"/>
          </a:p>
        </p:txBody>
      </p:sp>
      <p:sp>
        <p:nvSpPr>
          <p:cNvPr id="70" name="Text 68"/>
          <p:cNvSpPr/>
          <p:nvPr/>
        </p:nvSpPr>
        <p:spPr>
          <a:xfrm>
            <a:off x="342900" y="9710440"/>
            <a:ext cx="13421106" cy="462260"/>
          </a:xfrm>
          <a:prstGeom prst="rect">
            <a:avLst/>
          </a:prstGeom>
          <a:noFill/>
          <a:ln/>
        </p:spPr>
        <p:txBody>
          <a:bodyPr wrap="square" lIns="25400" tIns="25400" rIns="25400" bIns="25400" rtlCol="0" anchor="t">
            <a:normAutofit/>
          </a:bodyPr>
          <a:lstStyle/>
          <a:p>
            <a:pPr algn="l" indent="0" marL="0">
              <a:lnSpc>
                <a:spcPct val="135000"/>
              </a:lnSpc>
              <a:buNone/>
            </a:pPr>
            <a:r>
              <a:rPr lang="en-US" sz="825" dirty="0">
                <a:solidFill>
                  <a:srgbClr val="555555"/>
                </a:solidFill>
                <a:latin typeface="Arial" pitchFamily="34" charset="0"/>
                <a:ea typeface="Arial" pitchFamily="34" charset="-122"/>
                <a:cs typeface="Arial" pitchFamily="34" charset="-120"/>
              </a:rPr>
              <a:t>Source: Waters 2025 Form 10-K (FY ended Dec 31, 2025) + Waters Q4'25 earnings + BD historical disclosures. Waters reported FY25 revenue $3,165M as two operating segments (Waters $2.8B, TA $0.4B); </a:t>
            </a:r>
            <a:pPr algn="l" indent="0" marL="0">
              <a:lnSpc>
                <a:spcPct val="135000"/>
              </a:lnSpc>
              <a:buNone/>
            </a:pPr>
            <a:r>
              <a:rPr lang="en-US" sz="825" b="1" dirty="0">
                <a:solidFill>
                  <a:srgbClr val="555555"/>
                </a:solidFill>
                <a:latin typeface="Arial" pitchFamily="34" charset="0"/>
                <a:ea typeface="Arial" pitchFamily="34" charset="-122"/>
                <a:cs typeface="Arial" pitchFamily="34" charset="-120"/>
              </a:rPr>
              <a:t>Feb 9, 2026 BD Biosciences &amp; Diagnostic Solutions acquisition </a:t>
            </a:r>
            <a:pPr algn="l" indent="0" marL="0">
              <a:lnSpc>
                <a:spcPct val="135000"/>
              </a:lnSpc>
              <a:buNone/>
            </a:pPr>
            <a:r>
              <a:rPr lang="en-US" sz="825" dirty="0">
                <a:solidFill>
                  <a:srgbClr val="555555"/>
                </a:solidFill>
                <a:latin typeface="Arial" pitchFamily="34" charset="0"/>
                <a:ea typeface="Arial" pitchFamily="34" charset="-122"/>
                <a:cs typeface="Arial" pitchFamily="34" charset="-120"/>
              </a:rPr>
              <a:t>closed via Reverse Morris Trust ($16.8B purchase price incl. debt). Pro forma view above reorganizes into 4 new segments per the FY25 10-K; segment $ are FY25 actuals for legacy Waters/TA and BD's prior-year revenue ($3.3B) for new segments. </a:t>
            </a:r>
            <a:pPr algn="l" indent="0" marL="0">
              <a:lnSpc>
                <a:spcPct val="135000"/>
              </a:lnSpc>
              <a:buNone/>
            </a:pPr>
            <a:r>
              <a:rPr lang="en-US" sz="825" b="1" dirty="0">
                <a:solidFill>
                  <a:srgbClr val="555555"/>
                </a:solidFill>
                <a:latin typeface="Arial" pitchFamily="34" charset="0"/>
                <a:ea typeface="Arial" pitchFamily="34" charset="-122"/>
                <a:cs typeface="Arial" pitchFamily="34" charset="-120"/>
              </a:rPr>
              <a:t>Sub-business $ are estimates</a:t>
            </a:r>
            <a:pPr algn="l" indent="0" marL="0">
              <a:lnSpc>
                <a:spcPct val="135000"/>
              </a:lnSpc>
              <a:buNone/>
            </a:pPr>
            <a:r>
              <a:rPr lang="en-US" sz="825" dirty="0">
                <a:solidFill>
                  <a:srgbClr val="555555"/>
                </a:solidFill>
                <a:latin typeface="Arial" pitchFamily="34" charset="0"/>
                <a:ea typeface="Arial" pitchFamily="34" charset="-122"/>
                <a:cs typeface="Arial" pitchFamily="34" charset="-120"/>
              </a:rPr>
              <a:t>, not separately disclosed by Waters or BD. FY26 guidance: $6.41B–$6.46B total revenue (Waters standalone +5.5–7% organic + ~$3B BD contribution).</a:t>
            </a:r>
            <a:endParaRPr lang="en-US" sz="8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Slides>
  <Notes>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vt:i4>
      </vt:variant>
    </vt:vector>
  </HeadingPairs>
  <TitlesOfParts>
    <vt:vector size="6" baseType="lpstr">
      <vt:lpstr>Arial</vt:lpstr>
      <vt:lpstr>Calibri</vt:lpstr>
      <vt:lpstr>Office Theme</vt:lpstr>
      <vt:lpstr>Slide 1</vt:lpstr>
      <vt:lpstr>Slide 2</vt:lpstr>
      <vt:lpstr>Slide 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2026-05-22T14:14:19Z</dcterms:created>
  <dcterms:modified xsi:type="dcterms:W3CDTF">2026-05-22T14:14:19Z</dcterms:modified>
</cp:coreProperties>
</file>