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Revvity, Inc. (RVTY) portfolio overview, FY25.
PRIMARY SOURCE: Revvity 2025 Form 10-K, fiscal year ended December 28, 2025. SEC EDGAR (CIK 0000031791): https://www.sec.gov/cgi-bin/browse-edgar?action=getcompany&amp;CIK=0000031791&amp;type=10-K
Secondary structure source: Bernstein 'Revvity business size, competitive landscape, and growth' (Exhibit 8, FY23 estimates) provided by the user — used for sub-business decomposition and competitive context only.
REPORTED SEGMENT-LEVEL REVENUE (10-K Segment Information):
  Life Sciences:   $1,431.1M
  Diagnostics:     $1,424.9M
  Total revenue:   $2,856.1M
  Segment %: Life Sciences 50.1% = 1,431.1 / 2,856.1; Diagnostics 49.9% = 1,424.9 / 2,856.1. Revvity reports only these two segments with no intersegment eliminations, so segments sum to 100% of consolidated revenue.
REPORTED MAJOR PRODUCT/SERVICE LINES (10-K Note 2, disaggregation of revenue, FY25) — these four lines ARE disclosed:
  Life Sciences Solutions:  $1,194.7M  (within Life Sciences segment)
  Software (Signals):       $236.4M    (within Life Sciences segment)
  Immunodiagnostics:        $869.9M    (within Diagnostics segment)
  Reproductive health:      $555.0M    (within Diagnostics segment)
  Total:                    $2,856.1M
  Life Sciences segment = Life Sciences Solutions ($1,194.7M) + Software ($236.4M) = $1,431.1M.
  Diagnostics segment = Immunodiagnostics ($869.9M) + Reproductive health ($555.0M) = $1,424.9M.
SEGMENT RECAST IN FY25: Effective the start of FY25, Revvity moved its Applied Genomics business (NGS library prep, chemagic nucleic-acid isolation, automated liquid handling) OUT of the Diagnostics segment and INTO Life Sciences Solutions within the Life Sciences segment. The Bernstein source (FY23) shows Applied Genomics under Diagnostics; it now sits in Life Sciences. Prior periods were recast on the new basis.
*** SUB-BUSINESS (PRODUCT-TYPE) $ ARE ESTIMATES, NOT FROM THE 10-K ***
Revvity discloses revenue only at the four product-line levels above, not at the finer product-type level shown in the blue 'Business' column. Those finer figures are estimates, anchored to: (a) the disclosed FY25 product-line totals, and (b) the FY23 product-type proportions in the Bernstein Exhibit 8. They are directional only and were forced to sum to the disclosed totals.
LIFE SCIENCES SOLUTIONS ($1,194.7M disclosed) — estimated split:
  • BioLegend reagents ~$0.40B — Bernstein FY23 BioLegend flow cytometry (~$240M) + proteogenomics/recombinant proteins/immunoassay antibodies/GMP-grade (~$155M) ≈ $395M.
  • Detection &amp; gene-modulation reagents ~$0.33B — Bernstein FY23 'Other reagents' (Horizon, Dharmacon/Sirion, HTRF/AlphaLISA/DELFIA detection assays) ~$340M.
  • Instruments, imaging &amp; detection ~$0.34B — Bernstein FY23 Instruments segment ~$338M (preclinical imaging, high-content screening, plate readers, cell counters, plus closed-system instrument service ~$100M).
  • Applied genomics ~$0.13B — Bernstein FY23 Applied Genomics (instruments + consumables) ~$130M; now reported inside Life Sciences Solutions after the FY25 recast.
  Sum of estimates ≈ $1.20B ≈ disclosed $1.195B.
SOFTWARE / SIGNALS ($236.4M disclosed) — shown at disclosed value (~$0.24B). Signals research/clinical ELN, ChemDraw, image analytics. Subsequent event: Revvity acquired ACD/Labs (Jan 2026, ~$72M) to expand Signals analytical-data software.
IMMUNODIAGNOSTICS ($869.9M disclosed) — estimated split:
  • EUROIMMUN autoimmune &amp; infectious disease ~$0.65B — Bernstein FY23 EUROIMMUN-Autoimmune ~$615M scaled to FY25.
  • Allergy, latent-TB &amp; other ~$0.22B — Bernstein FY23 EUROIMMUN-Allergy + Oxford Immunotec T-SPOT.TB ~$75M plus other ImmunoDx ~$40M, scaled to FY25.
REPRODUCTIVE HEALTH ($555.0M disclosed) — estimated split:
  • Newborn screening ~$0.32B — Bernstein FY23 ~$320M (NeoBase, GSP, EONIS, NeoLSD via tandem mass spec / qPCR).
  • Prenatal &amp; NIPT ~$0.13B — Bernstein FY23 prenatal NIPT ~$80M + prenatal other ~$50M (DELFIA Xpress; Vanadis cfDNA NIPT).
  • ViaCord &amp; Revvity Omics ~$0.10B — Bernstein FY23 ViaCord ~$100M + genome lab ~$50M (cord-blood banking; clinical whole-genome/exome sequencing lab network), scaled to FY25.
M&amp;A / CORPORATE HISTORY (for context):
  – Company is the former PerkinElmer; sold the Applied/Food/Enterprise Services businesses to New Mountain Capital in March 2023 and rebranded as Revvity (May 2023).
  – EUROIMMUN acquired 2017 (~$1.3B, PerkinElmer era) → Immunodiagnostics.
  – Horizon Discovery acquired 2020 (~$383M) and Oxford Immunotec acquired 2021 → gene modulation / latent-TB testing.
  – BioLegend acquired Sept 2021 (~$5.25B) → Life Sciences reagents.
  – ACD/Labs acquired Jan 2026 (subsequent event) → Signals software.
FOR AUTHORITATIVE SUB-BUSINESS SIZING, recommend cross-checking against sell-side initiation reports; figures here are directional estimates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7650"/>
            <a:ext cx="1911096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Revvity portfolio overview (FY25)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6763"/>
            <a:ext cx="2190750" cy="4454723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867966" y="2520776"/>
            <a:ext cx="1369144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Sciences Segment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32669" y="3078882"/>
            <a:ext cx="639738" cy="4266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7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(50% $1.43B)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2676525" y="766763"/>
            <a:ext cx="3619500" cy="86804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3720926" y="918790"/>
            <a:ext cx="1530623" cy="420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Reagents &amp; assays (BioLegend)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4173810" y="1329407"/>
            <a:ext cx="624855" cy="19139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(~$0.4B)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24600" y="766763"/>
            <a:ext cx="11506200" cy="868040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10" name="Text 8"/>
          <p:cNvSpPr/>
          <p:nvPr/>
        </p:nvSpPr>
        <p:spPr>
          <a:xfrm>
            <a:off x="6477000" y="1015008"/>
            <a:ext cx="1153744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Antibodies, recombinant proteins and flow-cytometry reagents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(legacy </a:t>
            </a:r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BioLegend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2021); includes TotalSeq multiomics, Brilliant Violet dyes, and bead-based immunoassays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2676525" y="1663378"/>
            <a:ext cx="3619500" cy="86811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3646661" y="1815480"/>
            <a:ext cx="1679228" cy="420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&amp; gene modulation reagents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4175596" y="2226097"/>
            <a:ext cx="621357" cy="19139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(~$0.3B)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24600" y="1663378"/>
            <a:ext cx="11506200" cy="868114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15" name="Text 13"/>
          <p:cNvSpPr/>
          <p:nvPr/>
        </p:nvSpPr>
        <p:spPr>
          <a:xfrm>
            <a:off x="6477000" y="1911697"/>
            <a:ext cx="1153744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HTRF, AlphaLISA and DELFIA detection assays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Dharmacon RNAi and Horizon cell-engineering tools (legacy </a:t>
            </a:r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Discovery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2020); Pin-point base-editing platform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2676525" y="2560067"/>
            <a:ext cx="3619500" cy="86811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7" name="Text 15"/>
          <p:cNvSpPr/>
          <p:nvPr/>
        </p:nvSpPr>
        <p:spPr>
          <a:xfrm>
            <a:off x="3619723" y="2712169"/>
            <a:ext cx="1733029" cy="420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Instruments, imaging &amp; detection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4175596" y="3122786"/>
            <a:ext cx="621357" cy="19139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(~$0.3B)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4600" y="2560067"/>
            <a:ext cx="11506200" cy="868114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20" name="Text 18"/>
          <p:cNvSpPr/>
          <p:nvPr/>
        </p:nvSpPr>
        <p:spPr>
          <a:xfrm>
            <a:off x="6477000" y="2808387"/>
            <a:ext cx="1153744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Preclinical in-vivo imaging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(IVIS), </a:t>
            </a:r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high-content screening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(Opera Phenix), multimode plate readers (EnVision) and automated cell counters; market leader, includes closed-system instrument service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2676525" y="3456756"/>
            <a:ext cx="3619500" cy="86811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22" name="Text 20"/>
          <p:cNvSpPr/>
          <p:nvPr/>
        </p:nvSpPr>
        <p:spPr>
          <a:xfrm>
            <a:off x="3722158" y="3704332"/>
            <a:ext cx="1528160" cy="229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genomics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4185940" y="3923928"/>
            <a:ext cx="600596" cy="19139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(~$0.1B)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24600" y="3456756"/>
            <a:ext cx="11506200" cy="868114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25" name="Text 23"/>
          <p:cNvSpPr/>
          <p:nvPr/>
        </p:nvSpPr>
        <p:spPr>
          <a:xfrm>
            <a:off x="6477000" y="3705076"/>
            <a:ext cx="1153744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NGS library prep (NEXTFLEX), chemagic nucleic-acid isolation and automated liquid handling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moved into Life Sciences Solutions from Diagnostics in the FY25 segment recast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2676525" y="4353446"/>
            <a:ext cx="3619500" cy="86804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27" name="Text 25"/>
          <p:cNvSpPr/>
          <p:nvPr/>
        </p:nvSpPr>
        <p:spPr>
          <a:xfrm>
            <a:off x="3692604" y="4601021"/>
            <a:ext cx="1587341" cy="229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(Signals)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4173885" y="4820617"/>
            <a:ext cx="624780" cy="19139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(~$0.2B)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24600" y="4353446"/>
            <a:ext cx="11506200" cy="868040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30" name="Text 28"/>
          <p:cNvSpPr/>
          <p:nvPr/>
        </p:nvSpPr>
        <p:spPr>
          <a:xfrm>
            <a:off x="6477000" y="4601691"/>
            <a:ext cx="1153744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scientific software &amp; informatics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research ELN, ChemDraw, and clinical/image-analysis platforms; competes with Dotmatics and Benchling; expanded by 2026 </a:t>
            </a:r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ACD/Labs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457200" y="5250061"/>
            <a:ext cx="2190750" cy="445479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2" name="Text 30"/>
          <p:cNvSpPr/>
          <p:nvPr/>
        </p:nvSpPr>
        <p:spPr>
          <a:xfrm>
            <a:off x="935757" y="7004075"/>
            <a:ext cx="1233562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 Segment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234529" y="7562180"/>
            <a:ext cx="636017" cy="4266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7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(50% $1.42B)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2676525" y="5250061"/>
            <a:ext cx="3619500" cy="86811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35" name="Text 33"/>
          <p:cNvSpPr/>
          <p:nvPr/>
        </p:nvSpPr>
        <p:spPr>
          <a:xfrm>
            <a:off x="3681933" y="5402163"/>
            <a:ext cx="1608683" cy="420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Immunodiagnostics — autoimmune &amp; ID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4135041" y="5812780"/>
            <a:ext cx="702469" cy="19139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(~$0.65B)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24600" y="5250061"/>
            <a:ext cx="11506200" cy="868114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38" name="Text 36"/>
          <p:cNvSpPr/>
          <p:nvPr/>
        </p:nvSpPr>
        <p:spPr>
          <a:xfrm>
            <a:off x="6477000" y="5498381"/>
            <a:ext cx="1153744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Autoimmune and infectious-disease testing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indirect immunofluorescence, ELISA and chemiluminescence (legacy </a:t>
            </a:r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EUROIMMUN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2017); global market leader with a smaller U.S. presence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2676525" y="6146750"/>
            <a:ext cx="3619500" cy="86811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0" name="Text 38"/>
          <p:cNvSpPr/>
          <p:nvPr/>
        </p:nvSpPr>
        <p:spPr>
          <a:xfrm>
            <a:off x="3647926" y="6298853"/>
            <a:ext cx="1676698" cy="420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Immunodiagnostics — allergy &amp; latent TB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4134296" y="6709470"/>
            <a:ext cx="703883" cy="19139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(~$0.22B)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24600" y="6146750"/>
            <a:ext cx="11506200" cy="868114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43" name="Text 41"/>
          <p:cNvSpPr/>
          <p:nvPr/>
        </p:nvSpPr>
        <p:spPr>
          <a:xfrm>
            <a:off x="6477000" y="6395070"/>
            <a:ext cx="1153744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Allergy panels and latent-TB testing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EUROIMMUN allergen assays and the </a:t>
            </a:r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T-SPOT.TB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(legacy </a:t>
            </a:r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Oxford Immunotec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2021); plus China blood screening and endocrinology assays</a:t>
            </a:r>
            <a:endParaRPr lang="en-US" sz="1125" dirty="0"/>
          </a:p>
        </p:txBody>
      </p:sp>
      <p:sp>
        <p:nvSpPr>
          <p:cNvPr id="44" name="Shape 42"/>
          <p:cNvSpPr/>
          <p:nvPr/>
        </p:nvSpPr>
        <p:spPr>
          <a:xfrm>
            <a:off x="2676525" y="7043440"/>
            <a:ext cx="3619500" cy="86811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5" name="Text 43"/>
          <p:cNvSpPr/>
          <p:nvPr/>
        </p:nvSpPr>
        <p:spPr>
          <a:xfrm>
            <a:off x="3613398" y="7195542"/>
            <a:ext cx="1745754" cy="420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Reproductive health — newborn screening</a:t>
            </a:r>
            <a:endParaRPr lang="en-US" sz="1275" dirty="0"/>
          </a:p>
        </p:txBody>
      </p:sp>
      <p:sp>
        <p:nvSpPr>
          <p:cNvPr id="46" name="Text 44"/>
          <p:cNvSpPr/>
          <p:nvPr/>
        </p:nvSpPr>
        <p:spPr>
          <a:xfrm>
            <a:off x="4136008" y="7606159"/>
            <a:ext cx="700460" cy="19139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(~$0.32B)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324600" y="7043440"/>
            <a:ext cx="11506200" cy="868114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48" name="Text 46"/>
          <p:cNvSpPr/>
          <p:nvPr/>
        </p:nvSpPr>
        <p:spPr>
          <a:xfrm>
            <a:off x="6477000" y="7384628"/>
            <a:ext cx="1232154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Newborn screening for metabolic and genetic disorders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(NeoBase, GSP, EONIS, NeoLSD) via tandem mass spectrometry and qPCR; clear global market leader</a:t>
            </a:r>
            <a:endParaRPr lang="en-US" sz="1125" dirty="0"/>
          </a:p>
        </p:txBody>
      </p:sp>
      <p:sp>
        <p:nvSpPr>
          <p:cNvPr id="49" name="Shape 47"/>
          <p:cNvSpPr/>
          <p:nvPr/>
        </p:nvSpPr>
        <p:spPr>
          <a:xfrm>
            <a:off x="2676525" y="7940129"/>
            <a:ext cx="3619500" cy="86811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0" name="Text 48"/>
          <p:cNvSpPr/>
          <p:nvPr/>
        </p:nvSpPr>
        <p:spPr>
          <a:xfrm>
            <a:off x="3667720" y="8092232"/>
            <a:ext cx="1637035" cy="420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Reproductive health — prenatal &amp; NIPT</a:t>
            </a:r>
            <a:endParaRPr lang="en-US" sz="1275" dirty="0"/>
          </a:p>
        </p:txBody>
      </p:sp>
      <p:sp>
        <p:nvSpPr>
          <p:cNvPr id="51" name="Text 49"/>
          <p:cNvSpPr/>
          <p:nvPr/>
        </p:nvSpPr>
        <p:spPr>
          <a:xfrm>
            <a:off x="4144863" y="8502848"/>
            <a:ext cx="682749" cy="19139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(~$0.13B)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324600" y="7940129"/>
            <a:ext cx="11506200" cy="868114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53" name="Text 51"/>
          <p:cNvSpPr/>
          <p:nvPr/>
        </p:nvSpPr>
        <p:spPr>
          <a:xfrm>
            <a:off x="6477000" y="8281318"/>
            <a:ext cx="1232154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Prenatal and maternal screening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(DELFIA Xpress) and </a:t>
            </a:r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non-invasive prenatal testing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Vanadis cfDNA platform</a:t>
            </a:r>
            <a:endParaRPr lang="en-US" sz="1125" dirty="0"/>
          </a:p>
        </p:txBody>
      </p:sp>
      <p:sp>
        <p:nvSpPr>
          <p:cNvPr id="54" name="Shape 52"/>
          <p:cNvSpPr/>
          <p:nvPr/>
        </p:nvSpPr>
        <p:spPr>
          <a:xfrm>
            <a:off x="2676525" y="8836819"/>
            <a:ext cx="3619500" cy="86804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5" name="Text 53"/>
          <p:cNvSpPr/>
          <p:nvPr/>
        </p:nvSpPr>
        <p:spPr>
          <a:xfrm>
            <a:off x="3667720" y="8988847"/>
            <a:ext cx="1637035" cy="420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Reproductive health — ViaCord &amp; Omics</a:t>
            </a:r>
            <a:endParaRPr lang="en-US" sz="1275" dirty="0"/>
          </a:p>
        </p:txBody>
      </p:sp>
      <p:sp>
        <p:nvSpPr>
          <p:cNvPr id="56" name="Text 54"/>
          <p:cNvSpPr/>
          <p:nvPr/>
        </p:nvSpPr>
        <p:spPr>
          <a:xfrm>
            <a:off x="4144714" y="9399463"/>
            <a:ext cx="683121" cy="19139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(~$0.10B)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324600" y="8836819"/>
            <a:ext cx="11506200" cy="868040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58" name="Text 56"/>
          <p:cNvSpPr/>
          <p:nvPr/>
        </p:nvSpPr>
        <p:spPr>
          <a:xfrm>
            <a:off x="6477000" y="9177933"/>
            <a:ext cx="1232154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ViaCord cord-blood and cord-tissue banking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</a:t>
            </a:r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Revvity Omics 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lab network for clinical whole-genome and exome sequencing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457200" y="9800183"/>
            <a:ext cx="17894808" cy="353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Revvity 2025 Form 10-K (fiscal year ended Dec 28, 2025); segment and four product-line totals are disclosed. Segment % computed on total revenue $2,856.1M (no intersegment eliminations). </a:t>
            </a:r>
            <a:pPr algn="l" indent="0" marL="0">
              <a:lnSpc>
                <a:spcPct val="138000"/>
              </a:lnSpc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Finer product-type $ (blue column) are approximate estimates </a:t>
            </a:r>
            <a:pPr algn="l" indent="0" marL="0">
              <a:lnSpc>
                <a:spcPct val="138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anchored to disclosed product-line totals and FY23 Bernstein Exhibit 8 proportions, forced to sum to disclosed totals; directional only. In the FY25 recast, Applied Genomics moved from Diagnostics into Life Sciences Solutions; prior periods were recast. Revvity is the former PerkinElmer (rebranded 2023 after divesting its Applied/Food/Enterprise businesses).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2026-06-18T11:39:40Z</dcterms:created>
  <dcterms:modified xsi:type="dcterms:W3CDTF">2026-06-18T11:39:40Z</dcterms:modified>
</cp:coreProperties>
</file>