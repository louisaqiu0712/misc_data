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1504950"/>
            <a:ext cx="17221200" cy="14288"/>
          </a:xfrm>
          <a:prstGeom prst="rect">
            <a:avLst/>
          </a:prstGeom>
          <a:solidFill>
            <a:srgbClr val="0A1530"/>
          </a:solidFill>
          <a:ln/>
        </p:spPr>
      </p:sp>
      <p:sp>
        <p:nvSpPr>
          <p:cNvPr id="3" name="Text 1"/>
          <p:cNvSpPr/>
          <p:nvPr/>
        </p:nvSpPr>
        <p:spPr>
          <a:xfrm>
            <a:off x="533400" y="342900"/>
            <a:ext cx="7012923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98" kern="0" dirty="0">
                <a:solidFill>
                  <a:srgbClr val="2A4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· DRUG DEVELOPMENT PIPELINE · AI OVERLAY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33400" y="571500"/>
            <a:ext cx="7012923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spc="-75" kern="0" dirty="0">
                <a:solidFill>
                  <a:srgbClr val="0A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molecule to medicine — and where </a:t>
            </a:r>
            <a:pPr algn="l" indent="0" marL="0">
              <a:lnSpc>
                <a:spcPct val="100000"/>
              </a:lnSpc>
              <a:buNone/>
            </a:pPr>
            <a:r>
              <a:rPr lang="en-US" sz="3000" b="1" spc="-75" kern="0" dirty="0">
                <a:solidFill>
                  <a:srgbClr val="2A4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</a:t>
            </a:r>
            <a:pPr algn="l" indent="0" marL="0">
              <a:lnSpc>
                <a:spcPct val="100000"/>
              </a:lnSpc>
              <a:buNone/>
            </a:pPr>
            <a:r>
              <a:rPr lang="en-US" sz="3000" b="1" spc="-75" kern="0" dirty="0">
                <a:solidFill>
                  <a:srgbClr val="0A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bends the curve.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684963" y="561975"/>
            <a:ext cx="5009231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32" kern="0" dirty="0">
                <a:solidFill>
                  <a:srgbClr val="3F6B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DURATION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7684963" y="685800"/>
            <a:ext cx="5009231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-15" kern="0" dirty="0">
                <a:solidFill>
                  <a:srgbClr val="0A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10–15 years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684963" y="995363"/>
            <a:ext cx="5009231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32" kern="0" dirty="0">
                <a:solidFill>
                  <a:srgbClr val="3F6B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CAPITALIZED R&amp;D COST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7684963" y="1119188"/>
            <a:ext cx="5009231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-15" kern="0" dirty="0">
                <a:solidFill>
                  <a:srgbClr val="0A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$1.3–2.6B per drug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2891195" y="631031"/>
            <a:ext cx="104775" cy="104775"/>
          </a:xfrm>
          <a:prstGeom prst="roundRect">
            <a:avLst>
              <a:gd name="adj" fmla="val 27273"/>
            </a:avLst>
          </a:prstGeom>
          <a:solidFill>
            <a:srgbClr val="3F6BD1"/>
          </a:solidFill>
          <a:ln/>
        </p:spPr>
      </p:sp>
      <p:sp>
        <p:nvSpPr>
          <p:cNvPr id="10" name="Text 8"/>
          <p:cNvSpPr/>
          <p:nvPr/>
        </p:nvSpPr>
        <p:spPr>
          <a:xfrm>
            <a:off x="13091220" y="619125"/>
            <a:ext cx="159633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3" spc="69" kern="0" dirty="0">
                <a:solidFill>
                  <a:srgbClr val="0A1530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DISCOVERY · 2–4 YRS</a:t>
            </a:r>
            <a:endParaRPr lang="en-US" sz="863" dirty="0"/>
          </a:p>
        </p:txBody>
      </p:sp>
      <p:sp>
        <p:nvSpPr>
          <p:cNvPr id="11" name="Shape 9"/>
          <p:cNvSpPr/>
          <p:nvPr/>
        </p:nvSpPr>
        <p:spPr>
          <a:xfrm>
            <a:off x="12891195" y="826294"/>
            <a:ext cx="104775" cy="104775"/>
          </a:xfrm>
          <a:prstGeom prst="roundRect">
            <a:avLst>
              <a:gd name="adj" fmla="val 27273"/>
            </a:avLst>
          </a:prstGeom>
          <a:solidFill>
            <a:srgbClr val="1D3478"/>
          </a:solidFill>
          <a:ln/>
        </p:spPr>
      </p:sp>
      <p:sp>
        <p:nvSpPr>
          <p:cNvPr id="12" name="Text 10"/>
          <p:cNvSpPr/>
          <p:nvPr/>
        </p:nvSpPr>
        <p:spPr>
          <a:xfrm>
            <a:off x="13091220" y="814388"/>
            <a:ext cx="168681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3" spc="69" kern="0" dirty="0">
                <a:solidFill>
                  <a:srgbClr val="0A1530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PRECLINICAL · 1–3 YRS</a:t>
            </a:r>
            <a:endParaRPr lang="en-US" sz="863" dirty="0"/>
          </a:p>
        </p:txBody>
      </p:sp>
      <p:sp>
        <p:nvSpPr>
          <p:cNvPr id="13" name="Shape 11"/>
          <p:cNvSpPr/>
          <p:nvPr/>
        </p:nvSpPr>
        <p:spPr>
          <a:xfrm>
            <a:off x="12891195" y="1021556"/>
            <a:ext cx="104775" cy="104775"/>
          </a:xfrm>
          <a:prstGeom prst="roundRect">
            <a:avLst>
              <a:gd name="adj" fmla="val 27273"/>
            </a:avLst>
          </a:prstGeom>
          <a:solidFill>
            <a:srgbClr val="15275A"/>
          </a:solidFill>
          <a:ln/>
        </p:spPr>
      </p:sp>
      <p:sp>
        <p:nvSpPr>
          <p:cNvPr id="14" name="Text 12"/>
          <p:cNvSpPr/>
          <p:nvPr/>
        </p:nvSpPr>
        <p:spPr>
          <a:xfrm>
            <a:off x="13091220" y="1009650"/>
            <a:ext cx="143529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3" spc="69" kern="0" dirty="0">
                <a:solidFill>
                  <a:srgbClr val="0A1530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CLINICAL · 6–8 YRS</a:t>
            </a:r>
            <a:endParaRPr lang="en-US" sz="863" dirty="0"/>
          </a:p>
        </p:txBody>
      </p:sp>
      <p:sp>
        <p:nvSpPr>
          <p:cNvPr id="15" name="Shape 13"/>
          <p:cNvSpPr/>
          <p:nvPr/>
        </p:nvSpPr>
        <p:spPr>
          <a:xfrm>
            <a:off x="12891195" y="1216819"/>
            <a:ext cx="104775" cy="104775"/>
          </a:xfrm>
          <a:prstGeom prst="roundRect">
            <a:avLst>
              <a:gd name="adj" fmla="val 27273"/>
            </a:avLst>
          </a:prstGeom>
          <a:solidFill>
            <a:srgbClr val="060B1A"/>
          </a:solidFill>
          <a:ln/>
        </p:spPr>
      </p:sp>
      <p:sp>
        <p:nvSpPr>
          <p:cNvPr id="16" name="Text 14"/>
          <p:cNvSpPr/>
          <p:nvPr/>
        </p:nvSpPr>
        <p:spPr>
          <a:xfrm>
            <a:off x="13091220" y="1204913"/>
            <a:ext cx="162751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3" spc="69" kern="0" dirty="0">
                <a:solidFill>
                  <a:srgbClr val="0A1530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APPROVAL · 0.5–2 YRS</a:t>
            </a:r>
            <a:endParaRPr lang="en-US" sz="863" dirty="0"/>
          </a:p>
        </p:txBody>
      </p:sp>
      <p:sp>
        <p:nvSpPr>
          <p:cNvPr id="17" name="Shape 15"/>
          <p:cNvSpPr/>
          <p:nvPr/>
        </p:nvSpPr>
        <p:spPr>
          <a:xfrm>
            <a:off x="533400" y="1671638"/>
            <a:ext cx="1238250" cy="1656159"/>
          </a:xfrm>
          <a:prstGeom prst="roundRect">
            <a:avLst>
              <a:gd name="adj" fmla="val 9231"/>
            </a:avLst>
          </a:prstGeom>
          <a:solidFill>
            <a:srgbClr val="ECECEF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2062832"/>
            <a:ext cx="1009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32" kern="0" dirty="0">
                <a:solidFill>
                  <a:srgbClr val="3F6B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01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685800" y="2224757"/>
            <a:ext cx="1009650" cy="268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50" b="1" spc="-16" kern="0" dirty="0">
                <a:solidFill>
                  <a:srgbClr val="0A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685800" y="2512368"/>
            <a:ext cx="1009650" cy="462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8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~10,000 compounds screened</a:t>
            </a:r>
            <a:endParaRPr lang="en-US" sz="825" dirty="0"/>
          </a:p>
        </p:txBody>
      </p:sp>
      <p:sp>
        <p:nvSpPr>
          <p:cNvPr id="21" name="Shape 19"/>
          <p:cNvSpPr/>
          <p:nvPr/>
        </p:nvSpPr>
        <p:spPr>
          <a:xfrm>
            <a:off x="1924050" y="1671638"/>
            <a:ext cx="209550" cy="1656159"/>
          </a:xfrm>
          <a:prstGeom prst="roundRect">
            <a:avLst>
              <a:gd name="adj" fmla="val 36364"/>
            </a:avLst>
          </a:prstGeom>
          <a:solidFill>
            <a:srgbClr val="6A91E6"/>
          </a:solidFill>
          <a:ln/>
        </p:spPr>
      </p:sp>
      <p:sp>
        <p:nvSpPr>
          <p:cNvPr id="22" name="Shape 20"/>
          <p:cNvSpPr/>
          <p:nvPr/>
        </p:nvSpPr>
        <p:spPr>
          <a:xfrm>
            <a:off x="2286000" y="1671638"/>
            <a:ext cx="5041850" cy="669057"/>
          </a:xfrm>
          <a:prstGeom prst="roundRect">
            <a:avLst>
              <a:gd name="adj" fmla="val 14236"/>
            </a:avLst>
          </a:prstGeom>
          <a:solidFill>
            <a:srgbClr val="EEF3FC"/>
          </a:solidFill>
          <a:ln/>
        </p:spPr>
      </p:sp>
      <p:sp>
        <p:nvSpPr>
          <p:cNvPr id="23" name="Text 21"/>
          <p:cNvSpPr/>
          <p:nvPr/>
        </p:nvSpPr>
        <p:spPr>
          <a:xfrm>
            <a:off x="2409825" y="1757363"/>
            <a:ext cx="4938026" cy="2133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-12" kern="0" dirty="0">
                <a:solidFill>
                  <a:srgbClr val="0A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Identification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409825" y="1961183"/>
            <a:ext cx="4938026" cy="1794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8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Pinpoint a biological molecule causally linked to disease.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2409825" y="2159719"/>
            <a:ext cx="801960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spc="43" kern="0" dirty="0">
                <a:solidFill>
                  <a:srgbClr val="2A4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validated</a:t>
            </a:r>
            <a:endParaRPr lang="en-US" sz="713" dirty="0"/>
          </a:p>
        </p:txBody>
      </p:sp>
      <p:sp>
        <p:nvSpPr>
          <p:cNvPr id="26" name="Text 24"/>
          <p:cNvSpPr/>
          <p:nvPr/>
        </p:nvSpPr>
        <p:spPr>
          <a:xfrm>
            <a:off x="6813872" y="2159719"/>
            <a:ext cx="466353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spc="43" kern="0" dirty="0">
                <a:solidFill>
                  <a:srgbClr val="0A1530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6–12 mo</a:t>
            </a:r>
            <a:endParaRPr lang="en-US" sz="713" dirty="0"/>
          </a:p>
        </p:txBody>
      </p:sp>
      <p:sp>
        <p:nvSpPr>
          <p:cNvPr id="27" name="Shape 25"/>
          <p:cNvSpPr/>
          <p:nvPr/>
        </p:nvSpPr>
        <p:spPr>
          <a:xfrm>
            <a:off x="2286000" y="2340694"/>
            <a:ext cx="5041850" cy="987103"/>
          </a:xfrm>
          <a:prstGeom prst="rect">
            <a:avLst/>
          </a:prstGeom>
          <a:solidFill>
            <a:srgbClr val="0F1D44"/>
          </a:solidFill>
          <a:ln/>
        </p:spPr>
      </p:sp>
      <p:sp>
        <p:nvSpPr>
          <p:cNvPr id="28" name="Shape 26"/>
          <p:cNvSpPr/>
          <p:nvPr/>
        </p:nvSpPr>
        <p:spPr>
          <a:xfrm>
            <a:off x="2409825" y="2416894"/>
            <a:ext cx="209550" cy="123825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2371725" y="2416894"/>
            <a:ext cx="2857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675" b="1" spc="41" kern="0" dirty="0">
                <a:solidFill>
                  <a:srgbClr val="0A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675" dirty="0"/>
          </a:p>
        </p:txBody>
      </p:sp>
      <p:sp>
        <p:nvSpPr>
          <p:cNvPr id="30" name="Text 28"/>
          <p:cNvSpPr/>
          <p:nvPr/>
        </p:nvSpPr>
        <p:spPr>
          <a:xfrm>
            <a:off x="2676525" y="2426419"/>
            <a:ext cx="1495276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b="1" spc="11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EXAMPLES</a:t>
            </a:r>
            <a:endParaRPr lang="en-US" sz="713" dirty="0"/>
          </a:p>
        </p:txBody>
      </p:sp>
      <p:sp>
        <p:nvSpPr>
          <p:cNvPr id="31" name="Text 29"/>
          <p:cNvSpPr/>
          <p:nvPr/>
        </p:nvSpPr>
        <p:spPr>
          <a:xfrm>
            <a:off x="2308225" y="2588344"/>
            <a:ext cx="4972000" cy="519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825" dirty="0">
                <a:solidFill>
                  <a:srgbClr val="EEF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neural nets on multi-omics data</a:t>
            </a:r>
            <a:endParaRPr lang="en-US" sz="825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825" dirty="0">
                <a:solidFill>
                  <a:srgbClr val="EEF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&amp; knowledge-graph mining</a:t>
            </a:r>
            <a:endParaRPr lang="en-US" sz="825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825" dirty="0">
                <a:solidFill>
                  <a:srgbClr val="EEF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Druggability &amp; disease-linkage prediction</a:t>
            </a:r>
            <a:endParaRPr lang="en-US" sz="825" dirty="0"/>
          </a:p>
        </p:txBody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27850" y="1938337"/>
            <a:ext cx="171450" cy="133350"/>
          </a:xfrm>
          <a:prstGeom prst="rect">
            <a:avLst/>
          </a:prstGeom>
        </p:spPr>
      </p:pic>
      <p:sp>
        <p:nvSpPr>
          <p:cNvPr id="33" name="Shape 30"/>
          <p:cNvSpPr/>
          <p:nvPr/>
        </p:nvSpPr>
        <p:spPr>
          <a:xfrm>
            <a:off x="7499300" y="1671638"/>
            <a:ext cx="5041925" cy="669057"/>
          </a:xfrm>
          <a:prstGeom prst="roundRect">
            <a:avLst>
              <a:gd name="adj" fmla="val 14236"/>
            </a:avLst>
          </a:prstGeom>
          <a:solidFill>
            <a:srgbClr val="EEF3FC"/>
          </a:solidFill>
          <a:ln/>
        </p:spPr>
      </p:sp>
      <p:sp>
        <p:nvSpPr>
          <p:cNvPr id="34" name="Text 31"/>
          <p:cNvSpPr/>
          <p:nvPr/>
        </p:nvSpPr>
        <p:spPr>
          <a:xfrm>
            <a:off x="7623125" y="1757363"/>
            <a:ext cx="4938103" cy="2133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-12" kern="0" dirty="0">
                <a:solidFill>
                  <a:srgbClr val="0A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 Identification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7623125" y="1961183"/>
            <a:ext cx="4938103" cy="1794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8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libraries to find compounds that engage the target.</a:t>
            </a:r>
            <a:endParaRPr lang="en-US" sz="825" dirty="0"/>
          </a:p>
        </p:txBody>
      </p:sp>
      <p:sp>
        <p:nvSpPr>
          <p:cNvPr id="36" name="Text 33"/>
          <p:cNvSpPr/>
          <p:nvPr/>
        </p:nvSpPr>
        <p:spPr>
          <a:xfrm>
            <a:off x="7623125" y="2159719"/>
            <a:ext cx="735583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spc="43" kern="0" dirty="0">
                <a:solidFill>
                  <a:srgbClr val="2A4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Confirmed hits</a:t>
            </a:r>
            <a:endParaRPr lang="en-US" sz="713" dirty="0"/>
          </a:p>
        </p:txBody>
      </p:sp>
      <p:sp>
        <p:nvSpPr>
          <p:cNvPr id="37" name="Text 34"/>
          <p:cNvSpPr/>
          <p:nvPr/>
        </p:nvSpPr>
        <p:spPr>
          <a:xfrm>
            <a:off x="12027247" y="2159719"/>
            <a:ext cx="466353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spc="43" kern="0" dirty="0">
                <a:solidFill>
                  <a:srgbClr val="0A1530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6–12 mo</a:t>
            </a:r>
            <a:endParaRPr lang="en-US" sz="713" dirty="0"/>
          </a:p>
        </p:txBody>
      </p:sp>
      <p:sp>
        <p:nvSpPr>
          <p:cNvPr id="38" name="Shape 35"/>
          <p:cNvSpPr/>
          <p:nvPr/>
        </p:nvSpPr>
        <p:spPr>
          <a:xfrm>
            <a:off x="7499300" y="2340694"/>
            <a:ext cx="5041925" cy="987103"/>
          </a:xfrm>
          <a:prstGeom prst="rect">
            <a:avLst/>
          </a:prstGeom>
          <a:solidFill>
            <a:srgbClr val="0F1D44"/>
          </a:solidFill>
          <a:ln/>
        </p:spPr>
      </p:sp>
      <p:sp>
        <p:nvSpPr>
          <p:cNvPr id="39" name="Shape 36"/>
          <p:cNvSpPr/>
          <p:nvPr/>
        </p:nvSpPr>
        <p:spPr>
          <a:xfrm>
            <a:off x="7623125" y="2416894"/>
            <a:ext cx="209550" cy="123825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/>
        </p:spPr>
      </p:sp>
      <p:sp>
        <p:nvSpPr>
          <p:cNvPr id="40" name="Text 37"/>
          <p:cNvSpPr/>
          <p:nvPr/>
        </p:nvSpPr>
        <p:spPr>
          <a:xfrm>
            <a:off x="7585025" y="2416894"/>
            <a:ext cx="2857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675" b="1" spc="41" kern="0" dirty="0">
                <a:solidFill>
                  <a:srgbClr val="0A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675" dirty="0"/>
          </a:p>
        </p:txBody>
      </p:sp>
      <p:sp>
        <p:nvSpPr>
          <p:cNvPr id="41" name="Text 38"/>
          <p:cNvSpPr/>
          <p:nvPr/>
        </p:nvSpPr>
        <p:spPr>
          <a:xfrm>
            <a:off x="7889825" y="2426419"/>
            <a:ext cx="1495276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b="1" spc="11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EXAMPLES</a:t>
            </a:r>
            <a:endParaRPr lang="en-US" sz="713" dirty="0"/>
          </a:p>
        </p:txBody>
      </p:sp>
      <p:sp>
        <p:nvSpPr>
          <p:cNvPr id="42" name="Text 39"/>
          <p:cNvSpPr/>
          <p:nvPr/>
        </p:nvSpPr>
        <p:spPr>
          <a:xfrm>
            <a:off x="7521525" y="2588344"/>
            <a:ext cx="4972075" cy="519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825" dirty="0">
                <a:solidFill>
                  <a:srgbClr val="EEF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chemistry (diffusion, RL)</a:t>
            </a:r>
            <a:endParaRPr lang="en-US" sz="825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825" dirty="0">
                <a:solidFill>
                  <a:srgbClr val="EEF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Deep-learning docking at scale</a:t>
            </a:r>
            <a:endParaRPr lang="en-US" sz="825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825" dirty="0">
                <a:solidFill>
                  <a:srgbClr val="EEF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library screening (10⁹+ cpds)</a:t>
            </a:r>
            <a:endParaRPr lang="en-US" sz="825" dirty="0"/>
          </a:p>
        </p:txBody>
      </p:sp>
      <p:pic>
        <p:nvPicPr>
          <p:cNvPr id="4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41225" y="1938337"/>
            <a:ext cx="171450" cy="133350"/>
          </a:xfrm>
          <a:prstGeom prst="rect">
            <a:avLst/>
          </a:prstGeom>
        </p:spPr>
      </p:pic>
      <p:sp>
        <p:nvSpPr>
          <p:cNvPr id="44" name="Shape 40"/>
          <p:cNvSpPr/>
          <p:nvPr/>
        </p:nvSpPr>
        <p:spPr>
          <a:xfrm>
            <a:off x="12712675" y="1671638"/>
            <a:ext cx="5041925" cy="669057"/>
          </a:xfrm>
          <a:prstGeom prst="roundRect">
            <a:avLst>
              <a:gd name="adj" fmla="val 14236"/>
            </a:avLst>
          </a:prstGeom>
          <a:solidFill>
            <a:srgbClr val="EEF3FC"/>
          </a:solidFill>
          <a:ln/>
        </p:spPr>
      </p:sp>
      <p:sp>
        <p:nvSpPr>
          <p:cNvPr id="45" name="Text 41"/>
          <p:cNvSpPr/>
          <p:nvPr/>
        </p:nvSpPr>
        <p:spPr>
          <a:xfrm>
            <a:off x="12836500" y="1757363"/>
            <a:ext cx="4938103" cy="2133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-12" kern="0" dirty="0">
                <a:solidFill>
                  <a:srgbClr val="0A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Optimization</a:t>
            </a:r>
            <a:endParaRPr lang="en-US" sz="1200" dirty="0"/>
          </a:p>
        </p:txBody>
      </p:sp>
      <p:sp>
        <p:nvSpPr>
          <p:cNvPr id="46" name="Text 42"/>
          <p:cNvSpPr/>
          <p:nvPr/>
        </p:nvSpPr>
        <p:spPr>
          <a:xfrm>
            <a:off x="12836500" y="1961183"/>
            <a:ext cx="4938103" cy="1794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8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Iterate med chem to improve potency and drug-like properties.</a:t>
            </a:r>
            <a:endParaRPr lang="en-US" sz="825" dirty="0"/>
          </a:p>
        </p:txBody>
      </p:sp>
      <p:sp>
        <p:nvSpPr>
          <p:cNvPr id="47" name="Text 43"/>
          <p:cNvSpPr/>
          <p:nvPr/>
        </p:nvSpPr>
        <p:spPr>
          <a:xfrm>
            <a:off x="12836500" y="2159719"/>
            <a:ext cx="771153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spc="43" kern="0" dirty="0">
                <a:solidFill>
                  <a:srgbClr val="2A4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candidate</a:t>
            </a:r>
            <a:endParaRPr lang="en-US" sz="713" dirty="0"/>
          </a:p>
        </p:txBody>
      </p:sp>
      <p:sp>
        <p:nvSpPr>
          <p:cNvPr id="48" name="Text 44"/>
          <p:cNvSpPr/>
          <p:nvPr/>
        </p:nvSpPr>
        <p:spPr>
          <a:xfrm>
            <a:off x="17184812" y="2159719"/>
            <a:ext cx="522163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spc="43" kern="0" dirty="0">
                <a:solidFill>
                  <a:srgbClr val="0A1530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12–24 mo</a:t>
            </a:r>
            <a:endParaRPr lang="en-US" sz="713" dirty="0"/>
          </a:p>
        </p:txBody>
      </p:sp>
      <p:sp>
        <p:nvSpPr>
          <p:cNvPr id="49" name="Shape 45"/>
          <p:cNvSpPr/>
          <p:nvPr/>
        </p:nvSpPr>
        <p:spPr>
          <a:xfrm>
            <a:off x="12712675" y="2340694"/>
            <a:ext cx="5041925" cy="987103"/>
          </a:xfrm>
          <a:prstGeom prst="rect">
            <a:avLst/>
          </a:prstGeom>
          <a:solidFill>
            <a:srgbClr val="0F1D44"/>
          </a:solidFill>
          <a:ln/>
        </p:spPr>
      </p:sp>
      <p:sp>
        <p:nvSpPr>
          <p:cNvPr id="50" name="Shape 46"/>
          <p:cNvSpPr/>
          <p:nvPr/>
        </p:nvSpPr>
        <p:spPr>
          <a:xfrm>
            <a:off x="12836500" y="2416894"/>
            <a:ext cx="209550" cy="123825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/>
        </p:spPr>
      </p:sp>
      <p:sp>
        <p:nvSpPr>
          <p:cNvPr id="51" name="Text 47"/>
          <p:cNvSpPr/>
          <p:nvPr/>
        </p:nvSpPr>
        <p:spPr>
          <a:xfrm>
            <a:off x="12798400" y="2416894"/>
            <a:ext cx="2857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675" b="1" spc="41" kern="0" dirty="0">
                <a:solidFill>
                  <a:srgbClr val="0A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675" dirty="0"/>
          </a:p>
        </p:txBody>
      </p:sp>
      <p:sp>
        <p:nvSpPr>
          <p:cNvPr id="52" name="Text 48"/>
          <p:cNvSpPr/>
          <p:nvPr/>
        </p:nvSpPr>
        <p:spPr>
          <a:xfrm>
            <a:off x="13103200" y="2426419"/>
            <a:ext cx="1495276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b="1" spc="11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EXAMPLES</a:t>
            </a:r>
            <a:endParaRPr lang="en-US" sz="713" dirty="0"/>
          </a:p>
        </p:txBody>
      </p:sp>
      <p:sp>
        <p:nvSpPr>
          <p:cNvPr id="53" name="Text 49"/>
          <p:cNvSpPr/>
          <p:nvPr/>
        </p:nvSpPr>
        <p:spPr>
          <a:xfrm>
            <a:off x="12734900" y="2588344"/>
            <a:ext cx="4972075" cy="519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825" dirty="0">
                <a:solidFill>
                  <a:srgbClr val="EEF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Active-learning design–make–test loops</a:t>
            </a:r>
            <a:endParaRPr lang="en-US" sz="825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825" dirty="0">
                <a:solidFill>
                  <a:srgbClr val="EEF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Potency &amp; selectivity prediction</a:t>
            </a:r>
            <a:endParaRPr lang="en-US" sz="825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825" dirty="0">
                <a:solidFill>
                  <a:srgbClr val="EEF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ML-guided synthesis prioritisation</a:t>
            </a:r>
            <a:endParaRPr lang="en-US" sz="825" dirty="0"/>
          </a:p>
        </p:txBody>
      </p:sp>
      <p:sp>
        <p:nvSpPr>
          <p:cNvPr id="54" name="Shape 50"/>
          <p:cNvSpPr/>
          <p:nvPr/>
        </p:nvSpPr>
        <p:spPr>
          <a:xfrm>
            <a:off x="533400" y="3442097"/>
            <a:ext cx="1238250" cy="1656159"/>
          </a:xfrm>
          <a:prstGeom prst="roundRect">
            <a:avLst>
              <a:gd name="adj" fmla="val 9231"/>
            </a:avLst>
          </a:prstGeom>
          <a:solidFill>
            <a:srgbClr val="ECECEF"/>
          </a:solidFill>
          <a:ln/>
        </p:spPr>
      </p:sp>
      <p:sp>
        <p:nvSpPr>
          <p:cNvPr id="55" name="Text 51"/>
          <p:cNvSpPr/>
          <p:nvPr/>
        </p:nvSpPr>
        <p:spPr>
          <a:xfrm>
            <a:off x="685800" y="3903985"/>
            <a:ext cx="1009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32" kern="0" dirty="0">
                <a:solidFill>
                  <a:srgbClr val="3F6B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02</a:t>
            </a:r>
            <a:endParaRPr lang="en-US" sz="825" dirty="0"/>
          </a:p>
        </p:txBody>
      </p:sp>
      <p:sp>
        <p:nvSpPr>
          <p:cNvPr id="56" name="Text 52"/>
          <p:cNvSpPr/>
          <p:nvPr/>
        </p:nvSpPr>
        <p:spPr>
          <a:xfrm>
            <a:off x="685800" y="4065910"/>
            <a:ext cx="1009650" cy="268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50" b="1" spc="-16" kern="0" dirty="0">
                <a:solidFill>
                  <a:srgbClr val="0A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Preclinical</a:t>
            </a:r>
            <a:endParaRPr lang="en-US" sz="1650" dirty="0"/>
          </a:p>
        </p:txBody>
      </p:sp>
      <p:sp>
        <p:nvSpPr>
          <p:cNvPr id="57" name="Text 53"/>
          <p:cNvSpPr/>
          <p:nvPr/>
        </p:nvSpPr>
        <p:spPr>
          <a:xfrm>
            <a:off x="685800" y="4353520"/>
            <a:ext cx="1009650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8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attrition rate</a:t>
            </a:r>
            <a:endParaRPr lang="en-US" sz="825" dirty="0"/>
          </a:p>
        </p:txBody>
      </p:sp>
      <p:sp>
        <p:nvSpPr>
          <p:cNvPr id="58" name="Shape 54"/>
          <p:cNvSpPr/>
          <p:nvPr/>
        </p:nvSpPr>
        <p:spPr>
          <a:xfrm>
            <a:off x="1924050" y="3442097"/>
            <a:ext cx="209550" cy="1656159"/>
          </a:xfrm>
          <a:prstGeom prst="roundRect">
            <a:avLst>
              <a:gd name="adj" fmla="val 36364"/>
            </a:avLst>
          </a:prstGeom>
          <a:solidFill>
            <a:srgbClr val="3F6BD1"/>
          </a:solidFill>
          <a:ln/>
        </p:spPr>
      </p:sp>
      <p:sp>
        <p:nvSpPr>
          <p:cNvPr id="59" name="Shape 55"/>
          <p:cNvSpPr/>
          <p:nvPr/>
        </p:nvSpPr>
        <p:spPr>
          <a:xfrm>
            <a:off x="2286000" y="3442097"/>
            <a:ext cx="3738563" cy="669057"/>
          </a:xfrm>
          <a:prstGeom prst="roundRect">
            <a:avLst>
              <a:gd name="adj" fmla="val 14236"/>
            </a:avLst>
          </a:prstGeom>
          <a:solidFill>
            <a:srgbClr val="EEF3FC"/>
          </a:solidFill>
          <a:ln/>
        </p:spPr>
      </p:sp>
      <p:sp>
        <p:nvSpPr>
          <p:cNvPr id="60" name="Text 56"/>
          <p:cNvSpPr/>
          <p:nvPr/>
        </p:nvSpPr>
        <p:spPr>
          <a:xfrm>
            <a:off x="2409825" y="3527822"/>
            <a:ext cx="3595640" cy="2133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-12" kern="0" dirty="0">
                <a:solidFill>
                  <a:srgbClr val="0A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vitro / In vivo</a:t>
            </a:r>
            <a:endParaRPr lang="en-US" sz="1200" dirty="0"/>
          </a:p>
        </p:txBody>
      </p:sp>
      <p:sp>
        <p:nvSpPr>
          <p:cNvPr id="61" name="Text 57"/>
          <p:cNvSpPr/>
          <p:nvPr/>
        </p:nvSpPr>
        <p:spPr>
          <a:xfrm>
            <a:off x="2409825" y="3731642"/>
            <a:ext cx="3595640" cy="1794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8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in cells and organisms to confirm activity &amp; safety.</a:t>
            </a:r>
            <a:endParaRPr lang="en-US" sz="825" dirty="0"/>
          </a:p>
        </p:txBody>
      </p:sp>
      <p:sp>
        <p:nvSpPr>
          <p:cNvPr id="62" name="Text 58"/>
          <p:cNvSpPr/>
          <p:nvPr/>
        </p:nvSpPr>
        <p:spPr>
          <a:xfrm>
            <a:off x="2409825" y="3930179"/>
            <a:ext cx="754112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spc="43" kern="0" dirty="0">
                <a:solidFill>
                  <a:srgbClr val="2A4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Efficacy shown</a:t>
            </a:r>
            <a:endParaRPr lang="en-US" sz="713" dirty="0"/>
          </a:p>
        </p:txBody>
      </p:sp>
      <p:sp>
        <p:nvSpPr>
          <p:cNvPr id="63" name="Text 59"/>
          <p:cNvSpPr/>
          <p:nvPr/>
        </p:nvSpPr>
        <p:spPr>
          <a:xfrm>
            <a:off x="5510585" y="3930179"/>
            <a:ext cx="466353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spc="43" kern="0" dirty="0">
                <a:solidFill>
                  <a:srgbClr val="0A1530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6–12 mo</a:t>
            </a:r>
            <a:endParaRPr lang="en-US" sz="713" dirty="0"/>
          </a:p>
        </p:txBody>
      </p:sp>
      <p:sp>
        <p:nvSpPr>
          <p:cNvPr id="64" name="Shape 60"/>
          <p:cNvSpPr/>
          <p:nvPr/>
        </p:nvSpPr>
        <p:spPr>
          <a:xfrm>
            <a:off x="2286000" y="4111154"/>
            <a:ext cx="3738563" cy="987103"/>
          </a:xfrm>
          <a:prstGeom prst="rect">
            <a:avLst/>
          </a:prstGeom>
          <a:solidFill>
            <a:srgbClr val="0F1D44"/>
          </a:solidFill>
          <a:ln/>
        </p:spPr>
      </p:sp>
      <p:sp>
        <p:nvSpPr>
          <p:cNvPr id="65" name="Shape 61"/>
          <p:cNvSpPr/>
          <p:nvPr/>
        </p:nvSpPr>
        <p:spPr>
          <a:xfrm>
            <a:off x="2409825" y="4187354"/>
            <a:ext cx="209550" cy="123825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/>
        </p:spPr>
      </p:sp>
      <p:sp>
        <p:nvSpPr>
          <p:cNvPr id="66" name="Text 62"/>
          <p:cNvSpPr/>
          <p:nvPr/>
        </p:nvSpPr>
        <p:spPr>
          <a:xfrm>
            <a:off x="2371725" y="4187354"/>
            <a:ext cx="2857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675" b="1" spc="41" kern="0" dirty="0">
                <a:solidFill>
                  <a:srgbClr val="0A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675" dirty="0"/>
          </a:p>
        </p:txBody>
      </p:sp>
      <p:sp>
        <p:nvSpPr>
          <p:cNvPr id="67" name="Text 63"/>
          <p:cNvSpPr/>
          <p:nvPr/>
        </p:nvSpPr>
        <p:spPr>
          <a:xfrm>
            <a:off x="2676525" y="4196879"/>
            <a:ext cx="1495276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b="1" spc="11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EXAMPLES</a:t>
            </a:r>
            <a:endParaRPr lang="en-US" sz="713" dirty="0"/>
          </a:p>
        </p:txBody>
      </p:sp>
      <p:sp>
        <p:nvSpPr>
          <p:cNvPr id="68" name="Text 64"/>
          <p:cNvSpPr/>
          <p:nvPr/>
        </p:nvSpPr>
        <p:spPr>
          <a:xfrm>
            <a:off x="2308225" y="4358804"/>
            <a:ext cx="3668713" cy="519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825" dirty="0">
                <a:solidFill>
                  <a:srgbClr val="EEF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 phenotyping of cellular images</a:t>
            </a:r>
            <a:endParaRPr lang="en-US" sz="825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825" dirty="0">
                <a:solidFill>
                  <a:srgbClr val="EEF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Organoid &amp; spheroid scoring</a:t>
            </a:r>
            <a:endParaRPr lang="en-US" sz="825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825" dirty="0">
                <a:solidFill>
                  <a:srgbClr val="EEF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high-content readouts</a:t>
            </a:r>
            <a:endParaRPr lang="en-US" sz="825" dirty="0"/>
          </a:p>
        </p:txBody>
      </p:sp>
      <p:pic>
        <p:nvPicPr>
          <p:cNvPr id="6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4563" y="3708797"/>
            <a:ext cx="171450" cy="133350"/>
          </a:xfrm>
          <a:prstGeom prst="rect">
            <a:avLst/>
          </a:prstGeom>
        </p:spPr>
      </p:pic>
      <p:sp>
        <p:nvSpPr>
          <p:cNvPr id="70" name="Shape 65"/>
          <p:cNvSpPr/>
          <p:nvPr/>
        </p:nvSpPr>
        <p:spPr>
          <a:xfrm>
            <a:off x="6196013" y="3442097"/>
            <a:ext cx="3738563" cy="669057"/>
          </a:xfrm>
          <a:prstGeom prst="roundRect">
            <a:avLst>
              <a:gd name="adj" fmla="val 14236"/>
            </a:avLst>
          </a:prstGeom>
          <a:solidFill>
            <a:srgbClr val="EEF3FC"/>
          </a:solidFill>
          <a:ln/>
        </p:spPr>
      </p:sp>
      <p:sp>
        <p:nvSpPr>
          <p:cNvPr id="71" name="Text 66"/>
          <p:cNvSpPr/>
          <p:nvPr/>
        </p:nvSpPr>
        <p:spPr>
          <a:xfrm>
            <a:off x="6319838" y="3527822"/>
            <a:ext cx="3595640" cy="2133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-12" kern="0" dirty="0">
                <a:solidFill>
                  <a:srgbClr val="0A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ADMET</a:t>
            </a:r>
            <a:endParaRPr lang="en-US" sz="1200" dirty="0"/>
          </a:p>
        </p:txBody>
      </p:sp>
      <p:sp>
        <p:nvSpPr>
          <p:cNvPr id="72" name="Text 67"/>
          <p:cNvSpPr/>
          <p:nvPr/>
        </p:nvSpPr>
        <p:spPr>
          <a:xfrm>
            <a:off x="6319838" y="3731642"/>
            <a:ext cx="3595640" cy="1794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8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absorption, distribution, metabolism, excretion, toxicity.</a:t>
            </a:r>
            <a:endParaRPr lang="en-US" sz="825" dirty="0"/>
          </a:p>
        </p:txBody>
      </p:sp>
      <p:sp>
        <p:nvSpPr>
          <p:cNvPr id="73" name="Text 68"/>
          <p:cNvSpPr/>
          <p:nvPr/>
        </p:nvSpPr>
        <p:spPr>
          <a:xfrm>
            <a:off x="6319838" y="3930179"/>
            <a:ext cx="893266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spc="43" kern="0" dirty="0">
                <a:solidFill>
                  <a:srgbClr val="2A4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Acceptable profile</a:t>
            </a:r>
            <a:endParaRPr lang="en-US" sz="713" dirty="0"/>
          </a:p>
        </p:txBody>
      </p:sp>
      <p:sp>
        <p:nvSpPr>
          <p:cNvPr id="74" name="Text 69"/>
          <p:cNvSpPr/>
          <p:nvPr/>
        </p:nvSpPr>
        <p:spPr>
          <a:xfrm>
            <a:off x="9476333" y="3930179"/>
            <a:ext cx="410617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spc="43" kern="0" dirty="0">
                <a:solidFill>
                  <a:srgbClr val="0A1530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6–9 mo</a:t>
            </a:r>
            <a:endParaRPr lang="en-US" sz="713" dirty="0"/>
          </a:p>
        </p:txBody>
      </p:sp>
      <p:sp>
        <p:nvSpPr>
          <p:cNvPr id="75" name="Shape 70"/>
          <p:cNvSpPr/>
          <p:nvPr/>
        </p:nvSpPr>
        <p:spPr>
          <a:xfrm>
            <a:off x="6196013" y="4111154"/>
            <a:ext cx="3738563" cy="987103"/>
          </a:xfrm>
          <a:prstGeom prst="rect">
            <a:avLst/>
          </a:prstGeom>
          <a:solidFill>
            <a:srgbClr val="0F1D44"/>
          </a:solidFill>
          <a:ln/>
        </p:spPr>
      </p:sp>
      <p:sp>
        <p:nvSpPr>
          <p:cNvPr id="76" name="Shape 71"/>
          <p:cNvSpPr/>
          <p:nvPr/>
        </p:nvSpPr>
        <p:spPr>
          <a:xfrm>
            <a:off x="6319838" y="4187354"/>
            <a:ext cx="209550" cy="123825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/>
        </p:spPr>
      </p:sp>
      <p:sp>
        <p:nvSpPr>
          <p:cNvPr id="77" name="Text 72"/>
          <p:cNvSpPr/>
          <p:nvPr/>
        </p:nvSpPr>
        <p:spPr>
          <a:xfrm>
            <a:off x="6281737" y="4187354"/>
            <a:ext cx="2857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675" b="1" spc="41" kern="0" dirty="0">
                <a:solidFill>
                  <a:srgbClr val="0A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675" dirty="0"/>
          </a:p>
        </p:txBody>
      </p:sp>
      <p:sp>
        <p:nvSpPr>
          <p:cNvPr id="78" name="Text 73"/>
          <p:cNvSpPr/>
          <p:nvPr/>
        </p:nvSpPr>
        <p:spPr>
          <a:xfrm>
            <a:off x="6586538" y="4196879"/>
            <a:ext cx="1495276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b="1" spc="11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EXAMPLES</a:t>
            </a:r>
            <a:endParaRPr lang="en-US" sz="713" dirty="0"/>
          </a:p>
        </p:txBody>
      </p:sp>
      <p:sp>
        <p:nvSpPr>
          <p:cNvPr id="79" name="Text 74"/>
          <p:cNvSpPr/>
          <p:nvPr/>
        </p:nvSpPr>
        <p:spPr>
          <a:xfrm>
            <a:off x="6218238" y="4358804"/>
            <a:ext cx="3668713" cy="519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825" dirty="0">
                <a:solidFill>
                  <a:srgbClr val="EEF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In-silico hERG &amp; CYP prediction</a:t>
            </a:r>
            <a:endParaRPr lang="en-US" sz="825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825" dirty="0">
                <a:solidFill>
                  <a:srgbClr val="EEF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Tox liability flagging pre-synthesis</a:t>
            </a:r>
            <a:endParaRPr lang="en-US" sz="825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825" dirty="0">
                <a:solidFill>
                  <a:srgbClr val="EEF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Drug–drug interaction modelling</a:t>
            </a:r>
            <a:endParaRPr lang="en-US" sz="825" dirty="0"/>
          </a:p>
        </p:txBody>
      </p:sp>
      <p:pic>
        <p:nvPicPr>
          <p:cNvPr id="8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4575" y="3708797"/>
            <a:ext cx="171450" cy="133350"/>
          </a:xfrm>
          <a:prstGeom prst="rect">
            <a:avLst/>
          </a:prstGeom>
        </p:spPr>
      </p:pic>
      <p:sp>
        <p:nvSpPr>
          <p:cNvPr id="81" name="Shape 75"/>
          <p:cNvSpPr/>
          <p:nvPr/>
        </p:nvSpPr>
        <p:spPr>
          <a:xfrm>
            <a:off x="10106025" y="3442097"/>
            <a:ext cx="3738563" cy="669057"/>
          </a:xfrm>
          <a:prstGeom prst="roundRect">
            <a:avLst>
              <a:gd name="adj" fmla="val 14236"/>
            </a:avLst>
          </a:prstGeom>
          <a:solidFill>
            <a:srgbClr val="EEF3FC"/>
          </a:solidFill>
          <a:ln/>
        </p:spPr>
      </p:sp>
      <p:sp>
        <p:nvSpPr>
          <p:cNvPr id="82" name="Text 76"/>
          <p:cNvSpPr/>
          <p:nvPr/>
        </p:nvSpPr>
        <p:spPr>
          <a:xfrm>
            <a:off x="10229850" y="3527822"/>
            <a:ext cx="3595640" cy="2133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-12" kern="0" dirty="0">
                <a:solidFill>
                  <a:srgbClr val="0A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Animal Models</a:t>
            </a:r>
            <a:endParaRPr lang="en-US" sz="1200" dirty="0"/>
          </a:p>
        </p:txBody>
      </p:sp>
      <p:sp>
        <p:nvSpPr>
          <p:cNvPr id="83" name="Text 77"/>
          <p:cNvSpPr/>
          <p:nvPr/>
        </p:nvSpPr>
        <p:spPr>
          <a:xfrm>
            <a:off x="10229850" y="3731642"/>
            <a:ext cx="3595640" cy="1794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8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GLP toxicology in two species, including a non-rodent.</a:t>
            </a:r>
            <a:endParaRPr lang="en-US" sz="825" dirty="0"/>
          </a:p>
        </p:txBody>
      </p:sp>
      <p:sp>
        <p:nvSpPr>
          <p:cNvPr id="84" name="Text 78"/>
          <p:cNvSpPr/>
          <p:nvPr/>
        </p:nvSpPr>
        <p:spPr>
          <a:xfrm>
            <a:off x="10229850" y="3930179"/>
            <a:ext cx="574328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spc="43" kern="0" dirty="0">
                <a:solidFill>
                  <a:srgbClr val="2A4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NOAEL set</a:t>
            </a:r>
            <a:endParaRPr lang="en-US" sz="713" dirty="0"/>
          </a:p>
        </p:txBody>
      </p:sp>
      <p:sp>
        <p:nvSpPr>
          <p:cNvPr id="85" name="Text 79"/>
          <p:cNvSpPr/>
          <p:nvPr/>
        </p:nvSpPr>
        <p:spPr>
          <a:xfrm>
            <a:off x="13330610" y="3930179"/>
            <a:ext cx="466353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spc="43" kern="0" dirty="0">
                <a:solidFill>
                  <a:srgbClr val="0A1530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9–14 mo</a:t>
            </a:r>
            <a:endParaRPr lang="en-US" sz="713" dirty="0"/>
          </a:p>
        </p:txBody>
      </p:sp>
      <p:sp>
        <p:nvSpPr>
          <p:cNvPr id="86" name="Shape 80"/>
          <p:cNvSpPr/>
          <p:nvPr/>
        </p:nvSpPr>
        <p:spPr>
          <a:xfrm>
            <a:off x="10106025" y="4111154"/>
            <a:ext cx="3738563" cy="987103"/>
          </a:xfrm>
          <a:prstGeom prst="rect">
            <a:avLst/>
          </a:prstGeom>
          <a:solidFill>
            <a:srgbClr val="0F1D44"/>
          </a:solidFill>
          <a:ln/>
        </p:spPr>
      </p:sp>
      <p:sp>
        <p:nvSpPr>
          <p:cNvPr id="87" name="Shape 81"/>
          <p:cNvSpPr/>
          <p:nvPr/>
        </p:nvSpPr>
        <p:spPr>
          <a:xfrm>
            <a:off x="10229850" y="4187354"/>
            <a:ext cx="209550" cy="123825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/>
        </p:spPr>
      </p:sp>
      <p:sp>
        <p:nvSpPr>
          <p:cNvPr id="88" name="Text 82"/>
          <p:cNvSpPr/>
          <p:nvPr/>
        </p:nvSpPr>
        <p:spPr>
          <a:xfrm>
            <a:off x="10191750" y="4187354"/>
            <a:ext cx="2857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675" b="1" spc="41" kern="0" dirty="0">
                <a:solidFill>
                  <a:srgbClr val="0A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675" dirty="0"/>
          </a:p>
        </p:txBody>
      </p:sp>
      <p:sp>
        <p:nvSpPr>
          <p:cNvPr id="89" name="Text 83"/>
          <p:cNvSpPr/>
          <p:nvPr/>
        </p:nvSpPr>
        <p:spPr>
          <a:xfrm>
            <a:off x="10496550" y="4196879"/>
            <a:ext cx="1495276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b="1" spc="11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EXAMPLES</a:t>
            </a:r>
            <a:endParaRPr lang="en-US" sz="713" dirty="0"/>
          </a:p>
        </p:txBody>
      </p:sp>
      <p:sp>
        <p:nvSpPr>
          <p:cNvPr id="90" name="Text 84"/>
          <p:cNvSpPr/>
          <p:nvPr/>
        </p:nvSpPr>
        <p:spPr>
          <a:xfrm>
            <a:off x="10128250" y="4358804"/>
            <a:ext cx="3668713" cy="519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825" dirty="0">
                <a:solidFill>
                  <a:srgbClr val="EEF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twins for in-silico toxicology</a:t>
            </a:r>
            <a:endParaRPr lang="en-US" sz="825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825" dirty="0">
                <a:solidFill>
                  <a:srgbClr val="EEF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Organ-on-chip + ML alternatives</a:t>
            </a:r>
            <a:endParaRPr lang="en-US" sz="825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825" dirty="0">
                <a:solidFill>
                  <a:srgbClr val="EEF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 scoring of histopathology slides</a:t>
            </a:r>
            <a:endParaRPr lang="en-US" sz="825" dirty="0"/>
          </a:p>
        </p:txBody>
      </p:sp>
      <p:pic>
        <p:nvPicPr>
          <p:cNvPr id="9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44588" y="3708797"/>
            <a:ext cx="171450" cy="133350"/>
          </a:xfrm>
          <a:prstGeom prst="rect">
            <a:avLst/>
          </a:prstGeom>
        </p:spPr>
      </p:pic>
      <p:sp>
        <p:nvSpPr>
          <p:cNvPr id="92" name="Shape 85"/>
          <p:cNvSpPr/>
          <p:nvPr/>
        </p:nvSpPr>
        <p:spPr>
          <a:xfrm>
            <a:off x="14016038" y="3442097"/>
            <a:ext cx="3738563" cy="669057"/>
          </a:xfrm>
          <a:prstGeom prst="roundRect">
            <a:avLst>
              <a:gd name="adj" fmla="val 14236"/>
            </a:avLst>
          </a:prstGeom>
          <a:solidFill>
            <a:srgbClr val="EEF3FC"/>
          </a:solidFill>
          <a:ln/>
        </p:spPr>
      </p:sp>
      <p:sp>
        <p:nvSpPr>
          <p:cNvPr id="93" name="Text 86"/>
          <p:cNvSpPr/>
          <p:nvPr/>
        </p:nvSpPr>
        <p:spPr>
          <a:xfrm>
            <a:off x="14139863" y="3527822"/>
            <a:ext cx="3595640" cy="2133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-12" kern="0" dirty="0">
                <a:solidFill>
                  <a:srgbClr val="0A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PK / PD</a:t>
            </a:r>
            <a:endParaRPr lang="en-US" sz="1200" dirty="0"/>
          </a:p>
        </p:txBody>
      </p:sp>
      <p:sp>
        <p:nvSpPr>
          <p:cNvPr id="94" name="Text 87"/>
          <p:cNvSpPr/>
          <p:nvPr/>
        </p:nvSpPr>
        <p:spPr>
          <a:xfrm>
            <a:off x="14139863" y="3731642"/>
            <a:ext cx="3595640" cy="1794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8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drug concentration vs. effect to predict human dosing.</a:t>
            </a:r>
            <a:endParaRPr lang="en-US" sz="825" dirty="0"/>
          </a:p>
        </p:txBody>
      </p:sp>
      <p:sp>
        <p:nvSpPr>
          <p:cNvPr id="95" name="Text 88"/>
          <p:cNvSpPr/>
          <p:nvPr/>
        </p:nvSpPr>
        <p:spPr>
          <a:xfrm>
            <a:off x="14139863" y="3930179"/>
            <a:ext cx="1029891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spc="43" kern="0" dirty="0">
                <a:solidFill>
                  <a:srgbClr val="2A4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Dose model qualified</a:t>
            </a:r>
            <a:endParaRPr lang="en-US" sz="713" dirty="0"/>
          </a:p>
        </p:txBody>
      </p:sp>
      <p:sp>
        <p:nvSpPr>
          <p:cNvPr id="96" name="Text 89"/>
          <p:cNvSpPr/>
          <p:nvPr/>
        </p:nvSpPr>
        <p:spPr>
          <a:xfrm>
            <a:off x="17296358" y="3930179"/>
            <a:ext cx="410617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spc="43" kern="0" dirty="0">
                <a:solidFill>
                  <a:srgbClr val="0A1530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4–8 mo</a:t>
            </a:r>
            <a:endParaRPr lang="en-US" sz="713" dirty="0"/>
          </a:p>
        </p:txBody>
      </p:sp>
      <p:sp>
        <p:nvSpPr>
          <p:cNvPr id="97" name="Shape 90"/>
          <p:cNvSpPr/>
          <p:nvPr/>
        </p:nvSpPr>
        <p:spPr>
          <a:xfrm>
            <a:off x="14016038" y="4111154"/>
            <a:ext cx="3738563" cy="987103"/>
          </a:xfrm>
          <a:prstGeom prst="rect">
            <a:avLst/>
          </a:prstGeom>
          <a:solidFill>
            <a:srgbClr val="0F1D44"/>
          </a:solidFill>
          <a:ln/>
        </p:spPr>
      </p:sp>
      <p:sp>
        <p:nvSpPr>
          <p:cNvPr id="98" name="Shape 91"/>
          <p:cNvSpPr/>
          <p:nvPr/>
        </p:nvSpPr>
        <p:spPr>
          <a:xfrm>
            <a:off x="14139863" y="4187354"/>
            <a:ext cx="209550" cy="123825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/>
        </p:spPr>
      </p:sp>
      <p:sp>
        <p:nvSpPr>
          <p:cNvPr id="99" name="Text 92"/>
          <p:cNvSpPr/>
          <p:nvPr/>
        </p:nvSpPr>
        <p:spPr>
          <a:xfrm>
            <a:off x="14101763" y="4187354"/>
            <a:ext cx="2857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675" b="1" spc="41" kern="0" dirty="0">
                <a:solidFill>
                  <a:srgbClr val="0A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675" dirty="0"/>
          </a:p>
        </p:txBody>
      </p:sp>
      <p:sp>
        <p:nvSpPr>
          <p:cNvPr id="100" name="Text 93"/>
          <p:cNvSpPr/>
          <p:nvPr/>
        </p:nvSpPr>
        <p:spPr>
          <a:xfrm>
            <a:off x="14406563" y="4196879"/>
            <a:ext cx="1495276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b="1" spc="11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EXAMPLES</a:t>
            </a:r>
            <a:endParaRPr lang="en-US" sz="713" dirty="0"/>
          </a:p>
        </p:txBody>
      </p:sp>
      <p:sp>
        <p:nvSpPr>
          <p:cNvPr id="101" name="Text 94"/>
          <p:cNvSpPr/>
          <p:nvPr/>
        </p:nvSpPr>
        <p:spPr>
          <a:xfrm>
            <a:off x="14038263" y="4358804"/>
            <a:ext cx="3668713" cy="519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825" dirty="0">
                <a:solidFill>
                  <a:srgbClr val="EEF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PBPK + ML hybrid modelling</a:t>
            </a:r>
            <a:endParaRPr lang="en-US" sz="825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825" dirty="0">
                <a:solidFill>
                  <a:srgbClr val="EEF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Cross-species PK extrapolation</a:t>
            </a:r>
            <a:endParaRPr lang="en-US" sz="825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825" dirty="0">
                <a:solidFill>
                  <a:srgbClr val="EEF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Exposure–response curve fitting</a:t>
            </a:r>
            <a:endParaRPr lang="en-US" sz="825" dirty="0"/>
          </a:p>
        </p:txBody>
      </p:sp>
      <p:sp>
        <p:nvSpPr>
          <p:cNvPr id="102" name="Shape 95"/>
          <p:cNvSpPr/>
          <p:nvPr/>
        </p:nvSpPr>
        <p:spPr>
          <a:xfrm>
            <a:off x="533400" y="5212556"/>
            <a:ext cx="1238250" cy="1656159"/>
          </a:xfrm>
          <a:prstGeom prst="roundRect">
            <a:avLst>
              <a:gd name="adj" fmla="val 9231"/>
            </a:avLst>
          </a:prstGeom>
          <a:solidFill>
            <a:srgbClr val="ECECEF"/>
          </a:solidFill>
          <a:ln/>
        </p:spPr>
      </p:sp>
      <p:sp>
        <p:nvSpPr>
          <p:cNvPr id="103" name="Text 96"/>
          <p:cNvSpPr/>
          <p:nvPr/>
        </p:nvSpPr>
        <p:spPr>
          <a:xfrm>
            <a:off x="685800" y="5674444"/>
            <a:ext cx="1009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32" kern="0" dirty="0">
                <a:solidFill>
                  <a:srgbClr val="3F6B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03</a:t>
            </a:r>
            <a:endParaRPr lang="en-US" sz="825" dirty="0"/>
          </a:p>
        </p:txBody>
      </p:sp>
      <p:sp>
        <p:nvSpPr>
          <p:cNvPr id="104" name="Text 97"/>
          <p:cNvSpPr/>
          <p:nvPr/>
        </p:nvSpPr>
        <p:spPr>
          <a:xfrm>
            <a:off x="685800" y="5836369"/>
            <a:ext cx="1009650" cy="268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50" b="1" spc="-16" kern="0" dirty="0">
                <a:solidFill>
                  <a:srgbClr val="0A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</a:t>
            </a:r>
            <a:endParaRPr lang="en-US" sz="1650" dirty="0"/>
          </a:p>
        </p:txBody>
      </p:sp>
      <p:sp>
        <p:nvSpPr>
          <p:cNvPr id="105" name="Text 98"/>
          <p:cNvSpPr/>
          <p:nvPr/>
        </p:nvSpPr>
        <p:spPr>
          <a:xfrm>
            <a:off x="685800" y="6123980"/>
            <a:ext cx="1009650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8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Longest, costliest arc</a:t>
            </a:r>
            <a:endParaRPr lang="en-US" sz="825" dirty="0"/>
          </a:p>
        </p:txBody>
      </p:sp>
      <p:sp>
        <p:nvSpPr>
          <p:cNvPr id="106" name="Shape 99"/>
          <p:cNvSpPr/>
          <p:nvPr/>
        </p:nvSpPr>
        <p:spPr>
          <a:xfrm>
            <a:off x="1924050" y="5212556"/>
            <a:ext cx="209550" cy="1656159"/>
          </a:xfrm>
          <a:prstGeom prst="roundRect">
            <a:avLst>
              <a:gd name="adj" fmla="val 36364"/>
            </a:avLst>
          </a:prstGeom>
          <a:solidFill>
            <a:srgbClr val="1D3478"/>
          </a:solidFill>
          <a:ln/>
        </p:spPr>
      </p:sp>
      <p:sp>
        <p:nvSpPr>
          <p:cNvPr id="107" name="Shape 100"/>
          <p:cNvSpPr/>
          <p:nvPr/>
        </p:nvSpPr>
        <p:spPr>
          <a:xfrm>
            <a:off x="2286000" y="5212556"/>
            <a:ext cx="3738563" cy="669057"/>
          </a:xfrm>
          <a:prstGeom prst="roundRect">
            <a:avLst>
              <a:gd name="adj" fmla="val 14236"/>
            </a:avLst>
          </a:prstGeom>
          <a:solidFill>
            <a:srgbClr val="EEF3FC"/>
          </a:solidFill>
          <a:ln/>
        </p:spPr>
      </p:sp>
      <p:sp>
        <p:nvSpPr>
          <p:cNvPr id="108" name="Text 101"/>
          <p:cNvSpPr/>
          <p:nvPr/>
        </p:nvSpPr>
        <p:spPr>
          <a:xfrm>
            <a:off x="2409825" y="5298281"/>
            <a:ext cx="3595640" cy="2133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-12" kern="0" dirty="0">
                <a:solidFill>
                  <a:srgbClr val="0A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 Submission</a:t>
            </a:r>
            <a:endParaRPr lang="en-US" sz="1200" dirty="0"/>
          </a:p>
        </p:txBody>
      </p:sp>
      <p:sp>
        <p:nvSpPr>
          <p:cNvPr id="109" name="Text 102"/>
          <p:cNvSpPr/>
          <p:nvPr/>
        </p:nvSpPr>
        <p:spPr>
          <a:xfrm>
            <a:off x="2409825" y="5502101"/>
            <a:ext cx="3595640" cy="1794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8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the Investigational New Drug application with FDA.</a:t>
            </a:r>
            <a:endParaRPr lang="en-US" sz="825" dirty="0"/>
          </a:p>
        </p:txBody>
      </p:sp>
      <p:sp>
        <p:nvSpPr>
          <p:cNvPr id="110" name="Text 103"/>
          <p:cNvSpPr/>
          <p:nvPr/>
        </p:nvSpPr>
        <p:spPr>
          <a:xfrm>
            <a:off x="2409825" y="5700638"/>
            <a:ext cx="740271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spc="43" kern="0" dirty="0">
                <a:solidFill>
                  <a:srgbClr val="2A4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FDA clearance</a:t>
            </a:r>
            <a:endParaRPr lang="en-US" sz="713" dirty="0"/>
          </a:p>
        </p:txBody>
      </p:sp>
      <p:sp>
        <p:nvSpPr>
          <p:cNvPr id="111" name="Text 104"/>
          <p:cNvSpPr/>
          <p:nvPr/>
        </p:nvSpPr>
        <p:spPr>
          <a:xfrm>
            <a:off x="5545782" y="5700638"/>
            <a:ext cx="431155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spc="43" kern="0" dirty="0">
                <a:solidFill>
                  <a:srgbClr val="0A1530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days</a:t>
            </a:r>
            <a:endParaRPr lang="en-US" sz="713" dirty="0"/>
          </a:p>
        </p:txBody>
      </p:sp>
      <p:sp>
        <p:nvSpPr>
          <p:cNvPr id="112" name="Shape 105"/>
          <p:cNvSpPr/>
          <p:nvPr/>
        </p:nvSpPr>
        <p:spPr>
          <a:xfrm>
            <a:off x="2286000" y="5881613"/>
            <a:ext cx="3738563" cy="987103"/>
          </a:xfrm>
          <a:prstGeom prst="rect">
            <a:avLst/>
          </a:prstGeom>
          <a:solidFill>
            <a:srgbClr val="0F1D44"/>
          </a:solidFill>
          <a:ln/>
        </p:spPr>
      </p:sp>
      <p:sp>
        <p:nvSpPr>
          <p:cNvPr id="113" name="Shape 106"/>
          <p:cNvSpPr/>
          <p:nvPr/>
        </p:nvSpPr>
        <p:spPr>
          <a:xfrm>
            <a:off x="2409825" y="5957813"/>
            <a:ext cx="209550" cy="123825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/>
        </p:spPr>
      </p:sp>
      <p:sp>
        <p:nvSpPr>
          <p:cNvPr id="114" name="Text 107"/>
          <p:cNvSpPr/>
          <p:nvPr/>
        </p:nvSpPr>
        <p:spPr>
          <a:xfrm>
            <a:off x="2371725" y="5957813"/>
            <a:ext cx="2857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675" b="1" spc="41" kern="0" dirty="0">
                <a:solidFill>
                  <a:srgbClr val="0A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675" dirty="0"/>
          </a:p>
        </p:txBody>
      </p:sp>
      <p:sp>
        <p:nvSpPr>
          <p:cNvPr id="115" name="Text 108"/>
          <p:cNvSpPr/>
          <p:nvPr/>
        </p:nvSpPr>
        <p:spPr>
          <a:xfrm>
            <a:off x="2676525" y="5967338"/>
            <a:ext cx="1495276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b="1" spc="11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EXAMPLES</a:t>
            </a:r>
            <a:endParaRPr lang="en-US" sz="713" dirty="0"/>
          </a:p>
        </p:txBody>
      </p:sp>
      <p:sp>
        <p:nvSpPr>
          <p:cNvPr id="116" name="Text 109"/>
          <p:cNvSpPr/>
          <p:nvPr/>
        </p:nvSpPr>
        <p:spPr>
          <a:xfrm>
            <a:off x="2308225" y="6129263"/>
            <a:ext cx="3668713" cy="519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825" dirty="0">
                <a:solidFill>
                  <a:srgbClr val="EEF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LLM-drafted dossier modules</a:t>
            </a:r>
            <a:endParaRPr lang="en-US" sz="825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825" dirty="0">
                <a:solidFill>
                  <a:srgbClr val="EEF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eCTD assembly automation</a:t>
            </a:r>
            <a:endParaRPr lang="en-US" sz="825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825" dirty="0">
                <a:solidFill>
                  <a:srgbClr val="EEF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cross-check vs FDA guidance</a:t>
            </a:r>
            <a:endParaRPr lang="en-US" sz="825" dirty="0"/>
          </a:p>
        </p:txBody>
      </p:sp>
      <p:pic>
        <p:nvPicPr>
          <p:cNvPr id="1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24563" y="5479256"/>
            <a:ext cx="171450" cy="133350"/>
          </a:xfrm>
          <a:prstGeom prst="rect">
            <a:avLst/>
          </a:prstGeom>
        </p:spPr>
      </p:pic>
      <p:sp>
        <p:nvSpPr>
          <p:cNvPr id="118" name="Shape 110"/>
          <p:cNvSpPr/>
          <p:nvPr/>
        </p:nvSpPr>
        <p:spPr>
          <a:xfrm>
            <a:off x="6196013" y="5212556"/>
            <a:ext cx="3738563" cy="669057"/>
          </a:xfrm>
          <a:prstGeom prst="roundRect">
            <a:avLst>
              <a:gd name="adj" fmla="val 14236"/>
            </a:avLst>
          </a:prstGeom>
          <a:solidFill>
            <a:srgbClr val="EEF3FC"/>
          </a:solidFill>
          <a:ln/>
        </p:spPr>
      </p:sp>
      <p:sp>
        <p:nvSpPr>
          <p:cNvPr id="119" name="Text 111"/>
          <p:cNvSpPr/>
          <p:nvPr/>
        </p:nvSpPr>
        <p:spPr>
          <a:xfrm>
            <a:off x="6319838" y="5298281"/>
            <a:ext cx="3595640" cy="2133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-12" kern="0" dirty="0">
                <a:solidFill>
                  <a:srgbClr val="0A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200" dirty="0"/>
          </a:p>
        </p:txBody>
      </p:sp>
      <p:sp>
        <p:nvSpPr>
          <p:cNvPr id="120" name="Text 112"/>
          <p:cNvSpPr/>
          <p:nvPr/>
        </p:nvSpPr>
        <p:spPr>
          <a:xfrm>
            <a:off x="6319838" y="5502101"/>
            <a:ext cx="3595640" cy="1794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8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Safety, dose-finding, PK in 20–80 healthy volunteers.</a:t>
            </a:r>
            <a:endParaRPr lang="en-US" sz="825" dirty="0"/>
          </a:p>
        </p:txBody>
      </p:sp>
      <p:sp>
        <p:nvSpPr>
          <p:cNvPr id="121" name="Text 113"/>
          <p:cNvSpPr/>
          <p:nvPr/>
        </p:nvSpPr>
        <p:spPr>
          <a:xfrm>
            <a:off x="6319838" y="5700638"/>
            <a:ext cx="816769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spc="43" kern="0" dirty="0">
                <a:solidFill>
                  <a:srgbClr val="2A4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dose found</a:t>
            </a:r>
            <a:endParaRPr lang="en-US" sz="713" dirty="0"/>
          </a:p>
        </p:txBody>
      </p:sp>
      <p:sp>
        <p:nvSpPr>
          <p:cNvPr id="122" name="Text 114"/>
          <p:cNvSpPr/>
          <p:nvPr/>
        </p:nvSpPr>
        <p:spPr>
          <a:xfrm>
            <a:off x="9440317" y="5700638"/>
            <a:ext cx="446633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spc="43" kern="0" dirty="0">
                <a:solidFill>
                  <a:srgbClr val="0A1530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1–1.5 yr</a:t>
            </a:r>
            <a:endParaRPr lang="en-US" sz="713" dirty="0"/>
          </a:p>
        </p:txBody>
      </p:sp>
      <p:sp>
        <p:nvSpPr>
          <p:cNvPr id="123" name="Shape 115"/>
          <p:cNvSpPr/>
          <p:nvPr/>
        </p:nvSpPr>
        <p:spPr>
          <a:xfrm>
            <a:off x="6196013" y="5881613"/>
            <a:ext cx="3738563" cy="987103"/>
          </a:xfrm>
          <a:prstGeom prst="rect">
            <a:avLst/>
          </a:prstGeom>
          <a:solidFill>
            <a:srgbClr val="0F1D44"/>
          </a:solidFill>
          <a:ln/>
        </p:spPr>
      </p:sp>
      <p:sp>
        <p:nvSpPr>
          <p:cNvPr id="124" name="Shape 116"/>
          <p:cNvSpPr/>
          <p:nvPr/>
        </p:nvSpPr>
        <p:spPr>
          <a:xfrm>
            <a:off x="6319838" y="5957813"/>
            <a:ext cx="209550" cy="123825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/>
        </p:spPr>
      </p:sp>
      <p:sp>
        <p:nvSpPr>
          <p:cNvPr id="125" name="Text 117"/>
          <p:cNvSpPr/>
          <p:nvPr/>
        </p:nvSpPr>
        <p:spPr>
          <a:xfrm>
            <a:off x="6281737" y="5957813"/>
            <a:ext cx="2857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675" b="1" spc="41" kern="0" dirty="0">
                <a:solidFill>
                  <a:srgbClr val="0A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675" dirty="0"/>
          </a:p>
        </p:txBody>
      </p:sp>
      <p:sp>
        <p:nvSpPr>
          <p:cNvPr id="126" name="Text 118"/>
          <p:cNvSpPr/>
          <p:nvPr/>
        </p:nvSpPr>
        <p:spPr>
          <a:xfrm>
            <a:off x="6586538" y="5967338"/>
            <a:ext cx="1495276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b="1" spc="11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EXAMPLES</a:t>
            </a:r>
            <a:endParaRPr lang="en-US" sz="713" dirty="0"/>
          </a:p>
        </p:txBody>
      </p:sp>
      <p:sp>
        <p:nvSpPr>
          <p:cNvPr id="127" name="Text 119"/>
          <p:cNvSpPr/>
          <p:nvPr/>
        </p:nvSpPr>
        <p:spPr>
          <a:xfrm>
            <a:off x="6218238" y="6129263"/>
            <a:ext cx="3668713" cy="519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825" dirty="0">
                <a:solidFill>
                  <a:srgbClr val="EEF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Wearables + ML adverse-event detection</a:t>
            </a:r>
            <a:endParaRPr lang="en-US" sz="825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825" dirty="0">
                <a:solidFill>
                  <a:srgbClr val="EEF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dose-finding algorithms</a:t>
            </a:r>
            <a:endParaRPr lang="en-US" sz="825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825" dirty="0">
                <a:solidFill>
                  <a:srgbClr val="EEF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safety monitoring</a:t>
            </a:r>
            <a:endParaRPr lang="en-US" sz="825" dirty="0"/>
          </a:p>
        </p:txBody>
      </p:sp>
      <p:pic>
        <p:nvPicPr>
          <p:cNvPr id="1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4575" y="5479256"/>
            <a:ext cx="171450" cy="133350"/>
          </a:xfrm>
          <a:prstGeom prst="rect">
            <a:avLst/>
          </a:prstGeom>
        </p:spPr>
      </p:pic>
      <p:sp>
        <p:nvSpPr>
          <p:cNvPr id="129" name="Shape 120"/>
          <p:cNvSpPr/>
          <p:nvPr/>
        </p:nvSpPr>
        <p:spPr>
          <a:xfrm>
            <a:off x="10106025" y="5212556"/>
            <a:ext cx="3738563" cy="669057"/>
          </a:xfrm>
          <a:prstGeom prst="roundRect">
            <a:avLst>
              <a:gd name="adj" fmla="val 14236"/>
            </a:avLst>
          </a:prstGeom>
          <a:solidFill>
            <a:srgbClr val="EEF3FC"/>
          </a:solidFill>
          <a:ln/>
        </p:spPr>
      </p:sp>
      <p:sp>
        <p:nvSpPr>
          <p:cNvPr id="130" name="Text 121"/>
          <p:cNvSpPr/>
          <p:nvPr/>
        </p:nvSpPr>
        <p:spPr>
          <a:xfrm>
            <a:off x="10229850" y="5298281"/>
            <a:ext cx="3595640" cy="2133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-12" kern="0" dirty="0">
                <a:solidFill>
                  <a:srgbClr val="0A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200" dirty="0"/>
          </a:p>
        </p:txBody>
      </p:sp>
      <p:sp>
        <p:nvSpPr>
          <p:cNvPr id="131" name="Text 122"/>
          <p:cNvSpPr/>
          <p:nvPr/>
        </p:nvSpPr>
        <p:spPr>
          <a:xfrm>
            <a:off x="10229850" y="5502101"/>
            <a:ext cx="3595640" cy="1794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8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Efficacy signal &amp; dose in 100–300 patients with the disease.</a:t>
            </a:r>
            <a:endParaRPr lang="en-US" sz="825" dirty="0"/>
          </a:p>
        </p:txBody>
      </p:sp>
      <p:sp>
        <p:nvSpPr>
          <p:cNvPr id="132" name="Text 123"/>
          <p:cNvSpPr/>
          <p:nvPr/>
        </p:nvSpPr>
        <p:spPr>
          <a:xfrm>
            <a:off x="10229850" y="5700638"/>
            <a:ext cx="822052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spc="43" kern="0" dirty="0">
                <a:solidFill>
                  <a:srgbClr val="2A4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of concept</a:t>
            </a:r>
            <a:endParaRPr lang="en-US" sz="713" dirty="0"/>
          </a:p>
        </p:txBody>
      </p:sp>
      <p:sp>
        <p:nvSpPr>
          <p:cNvPr id="133" name="Text 124"/>
          <p:cNvSpPr/>
          <p:nvPr/>
        </p:nvSpPr>
        <p:spPr>
          <a:xfrm>
            <a:off x="13350329" y="5700638"/>
            <a:ext cx="446633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spc="43" kern="0" dirty="0">
                <a:solidFill>
                  <a:srgbClr val="0A1530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1.5–2 yr</a:t>
            </a:r>
            <a:endParaRPr lang="en-US" sz="713" dirty="0"/>
          </a:p>
        </p:txBody>
      </p:sp>
      <p:sp>
        <p:nvSpPr>
          <p:cNvPr id="134" name="Shape 125"/>
          <p:cNvSpPr/>
          <p:nvPr/>
        </p:nvSpPr>
        <p:spPr>
          <a:xfrm>
            <a:off x="10106025" y="5881613"/>
            <a:ext cx="3738563" cy="987103"/>
          </a:xfrm>
          <a:prstGeom prst="rect">
            <a:avLst/>
          </a:prstGeom>
          <a:solidFill>
            <a:srgbClr val="0F1D44"/>
          </a:solidFill>
          <a:ln/>
        </p:spPr>
      </p:sp>
      <p:sp>
        <p:nvSpPr>
          <p:cNvPr id="135" name="Shape 126"/>
          <p:cNvSpPr/>
          <p:nvPr/>
        </p:nvSpPr>
        <p:spPr>
          <a:xfrm>
            <a:off x="10229850" y="5957813"/>
            <a:ext cx="209550" cy="123825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/>
        </p:spPr>
      </p:sp>
      <p:sp>
        <p:nvSpPr>
          <p:cNvPr id="136" name="Text 127"/>
          <p:cNvSpPr/>
          <p:nvPr/>
        </p:nvSpPr>
        <p:spPr>
          <a:xfrm>
            <a:off x="10191750" y="5957813"/>
            <a:ext cx="2857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675" b="1" spc="41" kern="0" dirty="0">
                <a:solidFill>
                  <a:srgbClr val="0A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675" dirty="0"/>
          </a:p>
        </p:txBody>
      </p:sp>
      <p:sp>
        <p:nvSpPr>
          <p:cNvPr id="137" name="Text 128"/>
          <p:cNvSpPr/>
          <p:nvPr/>
        </p:nvSpPr>
        <p:spPr>
          <a:xfrm>
            <a:off x="10496550" y="5967338"/>
            <a:ext cx="1495276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b="1" spc="11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EXAMPLES</a:t>
            </a:r>
            <a:endParaRPr lang="en-US" sz="713" dirty="0"/>
          </a:p>
        </p:txBody>
      </p:sp>
      <p:sp>
        <p:nvSpPr>
          <p:cNvPr id="138" name="Text 129"/>
          <p:cNvSpPr/>
          <p:nvPr/>
        </p:nvSpPr>
        <p:spPr>
          <a:xfrm>
            <a:off x="10128250" y="6129263"/>
            <a:ext cx="3668713" cy="519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825" dirty="0">
                <a:solidFill>
                  <a:srgbClr val="EEF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Genomic patient stratification</a:t>
            </a:r>
            <a:endParaRPr lang="en-US" sz="825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825" dirty="0">
                <a:solidFill>
                  <a:srgbClr val="EEF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EHR-driven responder selection</a:t>
            </a:r>
            <a:endParaRPr lang="en-US" sz="825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825" dirty="0">
                <a:solidFill>
                  <a:srgbClr val="EEF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control arms</a:t>
            </a:r>
            <a:endParaRPr lang="en-US" sz="825" dirty="0"/>
          </a:p>
        </p:txBody>
      </p:sp>
      <p:pic>
        <p:nvPicPr>
          <p:cNvPr id="13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844588" y="5479256"/>
            <a:ext cx="171450" cy="133350"/>
          </a:xfrm>
          <a:prstGeom prst="rect">
            <a:avLst/>
          </a:prstGeom>
        </p:spPr>
      </p:pic>
      <p:sp>
        <p:nvSpPr>
          <p:cNvPr id="140" name="Shape 130"/>
          <p:cNvSpPr/>
          <p:nvPr/>
        </p:nvSpPr>
        <p:spPr>
          <a:xfrm>
            <a:off x="14016038" y="5212556"/>
            <a:ext cx="3738563" cy="669057"/>
          </a:xfrm>
          <a:prstGeom prst="roundRect">
            <a:avLst>
              <a:gd name="adj" fmla="val 14236"/>
            </a:avLst>
          </a:prstGeom>
          <a:solidFill>
            <a:srgbClr val="EEF3FC"/>
          </a:solidFill>
          <a:ln/>
        </p:spPr>
      </p:sp>
      <p:sp>
        <p:nvSpPr>
          <p:cNvPr id="141" name="Text 131"/>
          <p:cNvSpPr/>
          <p:nvPr/>
        </p:nvSpPr>
        <p:spPr>
          <a:xfrm>
            <a:off x="14139863" y="5298281"/>
            <a:ext cx="3595640" cy="2133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-12" kern="0" dirty="0">
                <a:solidFill>
                  <a:srgbClr val="0A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200" dirty="0"/>
          </a:p>
        </p:txBody>
      </p:sp>
      <p:sp>
        <p:nvSpPr>
          <p:cNvPr id="142" name="Text 132"/>
          <p:cNvSpPr/>
          <p:nvPr/>
        </p:nvSpPr>
        <p:spPr>
          <a:xfrm>
            <a:off x="14139863" y="5502101"/>
            <a:ext cx="3595640" cy="1794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8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Confirmatory efficacy &amp; safety in 1,000–3,000+ patients.</a:t>
            </a:r>
            <a:endParaRPr lang="en-US" sz="825" dirty="0"/>
          </a:p>
        </p:txBody>
      </p:sp>
      <p:sp>
        <p:nvSpPr>
          <p:cNvPr id="143" name="Text 133"/>
          <p:cNvSpPr/>
          <p:nvPr/>
        </p:nvSpPr>
        <p:spPr>
          <a:xfrm>
            <a:off x="14139863" y="5700638"/>
            <a:ext cx="726058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spc="43" kern="0" dirty="0">
                <a:solidFill>
                  <a:srgbClr val="2A4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Pivotal benefit</a:t>
            </a:r>
            <a:endParaRPr lang="en-US" sz="713" dirty="0"/>
          </a:p>
        </p:txBody>
      </p:sp>
      <p:sp>
        <p:nvSpPr>
          <p:cNvPr id="144" name="Text 134"/>
          <p:cNvSpPr/>
          <p:nvPr/>
        </p:nvSpPr>
        <p:spPr>
          <a:xfrm>
            <a:off x="17346662" y="5700638"/>
            <a:ext cx="360313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spc="43" kern="0" dirty="0">
                <a:solidFill>
                  <a:srgbClr val="0A1530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3–4 yr</a:t>
            </a:r>
            <a:endParaRPr lang="en-US" sz="713" dirty="0"/>
          </a:p>
        </p:txBody>
      </p:sp>
      <p:sp>
        <p:nvSpPr>
          <p:cNvPr id="145" name="Shape 135"/>
          <p:cNvSpPr/>
          <p:nvPr/>
        </p:nvSpPr>
        <p:spPr>
          <a:xfrm>
            <a:off x="14016038" y="5881613"/>
            <a:ext cx="3738563" cy="987103"/>
          </a:xfrm>
          <a:prstGeom prst="rect">
            <a:avLst/>
          </a:prstGeom>
          <a:solidFill>
            <a:srgbClr val="0F1D44"/>
          </a:solidFill>
          <a:ln/>
        </p:spPr>
      </p:sp>
      <p:sp>
        <p:nvSpPr>
          <p:cNvPr id="146" name="Shape 136"/>
          <p:cNvSpPr/>
          <p:nvPr/>
        </p:nvSpPr>
        <p:spPr>
          <a:xfrm>
            <a:off x="14139863" y="5957813"/>
            <a:ext cx="209550" cy="123825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/>
        </p:spPr>
      </p:sp>
      <p:sp>
        <p:nvSpPr>
          <p:cNvPr id="147" name="Text 137"/>
          <p:cNvSpPr/>
          <p:nvPr/>
        </p:nvSpPr>
        <p:spPr>
          <a:xfrm>
            <a:off x="14101763" y="5957813"/>
            <a:ext cx="2857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675" b="1" spc="41" kern="0" dirty="0">
                <a:solidFill>
                  <a:srgbClr val="0A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675" dirty="0"/>
          </a:p>
        </p:txBody>
      </p:sp>
      <p:sp>
        <p:nvSpPr>
          <p:cNvPr id="148" name="Text 138"/>
          <p:cNvSpPr/>
          <p:nvPr/>
        </p:nvSpPr>
        <p:spPr>
          <a:xfrm>
            <a:off x="14406563" y="5967338"/>
            <a:ext cx="1495276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b="1" spc="11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EXAMPLES</a:t>
            </a:r>
            <a:endParaRPr lang="en-US" sz="713" dirty="0"/>
          </a:p>
        </p:txBody>
      </p:sp>
      <p:sp>
        <p:nvSpPr>
          <p:cNvPr id="149" name="Text 139"/>
          <p:cNvSpPr/>
          <p:nvPr/>
        </p:nvSpPr>
        <p:spPr>
          <a:xfrm>
            <a:off x="14038263" y="6129263"/>
            <a:ext cx="3668713" cy="519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825" dirty="0">
                <a:solidFill>
                  <a:srgbClr val="EEF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ML-driven site selection</a:t>
            </a:r>
            <a:endParaRPr lang="en-US" sz="825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825" dirty="0">
                <a:solidFill>
                  <a:srgbClr val="EEF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EHR eligibility screening</a:t>
            </a:r>
            <a:endParaRPr lang="en-US" sz="825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825" dirty="0">
                <a:solidFill>
                  <a:srgbClr val="EEF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&amp; dropout prediction</a:t>
            </a:r>
            <a:endParaRPr lang="en-US" sz="825" dirty="0"/>
          </a:p>
        </p:txBody>
      </p:sp>
      <p:sp>
        <p:nvSpPr>
          <p:cNvPr id="150" name="Shape 140"/>
          <p:cNvSpPr/>
          <p:nvPr/>
        </p:nvSpPr>
        <p:spPr>
          <a:xfrm>
            <a:off x="533400" y="6983016"/>
            <a:ext cx="1238250" cy="1656159"/>
          </a:xfrm>
          <a:prstGeom prst="roundRect">
            <a:avLst>
              <a:gd name="adj" fmla="val 9231"/>
            </a:avLst>
          </a:prstGeom>
          <a:solidFill>
            <a:srgbClr val="ECECEF"/>
          </a:solidFill>
          <a:ln/>
        </p:spPr>
      </p:sp>
      <p:sp>
        <p:nvSpPr>
          <p:cNvPr id="151" name="Text 141"/>
          <p:cNvSpPr/>
          <p:nvPr/>
        </p:nvSpPr>
        <p:spPr>
          <a:xfrm>
            <a:off x="685800" y="7444904"/>
            <a:ext cx="1009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32" kern="0" dirty="0">
                <a:solidFill>
                  <a:srgbClr val="3F6B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04</a:t>
            </a:r>
            <a:endParaRPr lang="en-US" sz="825" dirty="0"/>
          </a:p>
        </p:txBody>
      </p:sp>
      <p:sp>
        <p:nvSpPr>
          <p:cNvPr id="152" name="Text 142"/>
          <p:cNvSpPr/>
          <p:nvPr/>
        </p:nvSpPr>
        <p:spPr>
          <a:xfrm>
            <a:off x="685800" y="7606829"/>
            <a:ext cx="1009650" cy="268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50" b="1" spc="-16" kern="0" dirty="0">
                <a:solidFill>
                  <a:srgbClr val="0A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</a:t>
            </a:r>
            <a:endParaRPr lang="en-US" sz="1650" dirty="0"/>
          </a:p>
        </p:txBody>
      </p:sp>
      <p:sp>
        <p:nvSpPr>
          <p:cNvPr id="153" name="Text 143"/>
          <p:cNvSpPr/>
          <p:nvPr/>
        </p:nvSpPr>
        <p:spPr>
          <a:xfrm>
            <a:off x="685800" y="7894439"/>
            <a:ext cx="1009650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8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decision</a:t>
            </a:r>
            <a:endParaRPr lang="en-US" sz="825" dirty="0"/>
          </a:p>
        </p:txBody>
      </p:sp>
      <p:sp>
        <p:nvSpPr>
          <p:cNvPr id="154" name="Shape 144"/>
          <p:cNvSpPr/>
          <p:nvPr/>
        </p:nvSpPr>
        <p:spPr>
          <a:xfrm>
            <a:off x="1924050" y="6983016"/>
            <a:ext cx="209550" cy="1656159"/>
          </a:xfrm>
          <a:prstGeom prst="roundRect">
            <a:avLst>
              <a:gd name="adj" fmla="val 36364"/>
            </a:avLst>
          </a:prstGeom>
          <a:solidFill>
            <a:srgbClr val="0A1530"/>
          </a:solidFill>
          <a:ln/>
        </p:spPr>
      </p:sp>
      <p:sp>
        <p:nvSpPr>
          <p:cNvPr id="155" name="Shape 145"/>
          <p:cNvSpPr/>
          <p:nvPr/>
        </p:nvSpPr>
        <p:spPr>
          <a:xfrm>
            <a:off x="2286000" y="6983016"/>
            <a:ext cx="15468600" cy="669057"/>
          </a:xfrm>
          <a:prstGeom prst="roundRect">
            <a:avLst>
              <a:gd name="adj" fmla="val 14236"/>
            </a:avLst>
          </a:prstGeom>
          <a:solidFill>
            <a:srgbClr val="EEF3FC"/>
          </a:solidFill>
          <a:ln/>
        </p:spPr>
      </p:sp>
      <p:sp>
        <p:nvSpPr>
          <p:cNvPr id="156" name="Text 146"/>
          <p:cNvSpPr/>
          <p:nvPr/>
        </p:nvSpPr>
        <p:spPr>
          <a:xfrm>
            <a:off x="2409825" y="7068741"/>
            <a:ext cx="15677579" cy="2133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-12" kern="0" dirty="0">
                <a:solidFill>
                  <a:srgbClr val="0A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FDA Review</a:t>
            </a:r>
            <a:endParaRPr lang="en-US" sz="1200" dirty="0"/>
          </a:p>
        </p:txBody>
      </p:sp>
      <p:sp>
        <p:nvSpPr>
          <p:cNvPr id="157" name="Text 147"/>
          <p:cNvSpPr/>
          <p:nvPr/>
        </p:nvSpPr>
        <p:spPr>
          <a:xfrm>
            <a:off x="2409825" y="7272561"/>
            <a:ext cx="15677579" cy="1794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8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NDA / BLA reviewed across efficacy, safety, manufacturing, and labeling.</a:t>
            </a:r>
            <a:endParaRPr lang="en-US" sz="825" dirty="0"/>
          </a:p>
        </p:txBody>
      </p:sp>
      <p:sp>
        <p:nvSpPr>
          <p:cNvPr id="158" name="Text 148"/>
          <p:cNvSpPr/>
          <p:nvPr/>
        </p:nvSpPr>
        <p:spPr>
          <a:xfrm>
            <a:off x="2409825" y="7471097"/>
            <a:ext cx="1141661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spc="43" kern="0" dirty="0">
                <a:solidFill>
                  <a:srgbClr val="2A4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authorization</a:t>
            </a:r>
            <a:endParaRPr lang="en-US" sz="713" dirty="0"/>
          </a:p>
        </p:txBody>
      </p:sp>
      <p:sp>
        <p:nvSpPr>
          <p:cNvPr id="159" name="Text 149"/>
          <p:cNvSpPr/>
          <p:nvPr/>
        </p:nvSpPr>
        <p:spPr>
          <a:xfrm>
            <a:off x="16639729" y="7471097"/>
            <a:ext cx="1067246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spc="43" kern="0" dirty="0">
                <a:solidFill>
                  <a:srgbClr val="0A1530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6–10 mo · ~85% odds</a:t>
            </a:r>
            <a:endParaRPr lang="en-US" sz="713" dirty="0"/>
          </a:p>
        </p:txBody>
      </p:sp>
      <p:sp>
        <p:nvSpPr>
          <p:cNvPr id="160" name="Shape 150"/>
          <p:cNvSpPr/>
          <p:nvPr/>
        </p:nvSpPr>
        <p:spPr>
          <a:xfrm>
            <a:off x="2286000" y="7652072"/>
            <a:ext cx="15468600" cy="987103"/>
          </a:xfrm>
          <a:prstGeom prst="rect">
            <a:avLst/>
          </a:prstGeom>
          <a:solidFill>
            <a:srgbClr val="0F1D44"/>
          </a:solidFill>
          <a:ln/>
        </p:spPr>
      </p:sp>
      <p:sp>
        <p:nvSpPr>
          <p:cNvPr id="161" name="Shape 151"/>
          <p:cNvSpPr/>
          <p:nvPr/>
        </p:nvSpPr>
        <p:spPr>
          <a:xfrm>
            <a:off x="2409825" y="7728272"/>
            <a:ext cx="209550" cy="123825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/>
        </p:spPr>
      </p:sp>
      <p:sp>
        <p:nvSpPr>
          <p:cNvPr id="162" name="Text 152"/>
          <p:cNvSpPr/>
          <p:nvPr/>
        </p:nvSpPr>
        <p:spPr>
          <a:xfrm>
            <a:off x="2371725" y="7728272"/>
            <a:ext cx="2857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675" b="1" spc="41" kern="0" dirty="0">
                <a:solidFill>
                  <a:srgbClr val="0A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675" dirty="0"/>
          </a:p>
        </p:txBody>
      </p:sp>
      <p:sp>
        <p:nvSpPr>
          <p:cNvPr id="163" name="Text 153"/>
          <p:cNvSpPr/>
          <p:nvPr/>
        </p:nvSpPr>
        <p:spPr>
          <a:xfrm>
            <a:off x="2676525" y="7737797"/>
            <a:ext cx="1495276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b="1" spc="11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EXAMPLES</a:t>
            </a:r>
            <a:endParaRPr lang="en-US" sz="713" dirty="0"/>
          </a:p>
        </p:txBody>
      </p:sp>
      <p:sp>
        <p:nvSpPr>
          <p:cNvPr id="164" name="Text 154"/>
          <p:cNvSpPr/>
          <p:nvPr/>
        </p:nvSpPr>
        <p:spPr>
          <a:xfrm>
            <a:off x="2308225" y="7899722"/>
            <a:ext cx="15398750" cy="519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825" dirty="0">
                <a:solidFill>
                  <a:srgbClr val="EEF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LLM-assisted regulatory writing</a:t>
            </a:r>
            <a:endParaRPr lang="en-US" sz="825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825" dirty="0">
                <a:solidFill>
                  <a:srgbClr val="EEF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Real-world-evidence pipelines</a:t>
            </a:r>
            <a:endParaRPr lang="en-US" sz="825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825" dirty="0">
                <a:solidFill>
                  <a:srgbClr val="EEF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CMC &amp; labelling cross-checks</a:t>
            </a:r>
            <a:endParaRPr lang="en-US" sz="825" dirty="0"/>
          </a:p>
        </p:txBody>
      </p:sp>
      <p:sp>
        <p:nvSpPr>
          <p:cNvPr id="165" name="Shape 155"/>
          <p:cNvSpPr/>
          <p:nvPr/>
        </p:nvSpPr>
        <p:spPr>
          <a:xfrm>
            <a:off x="533400" y="8791575"/>
            <a:ext cx="17221200" cy="14288"/>
          </a:xfrm>
          <a:prstGeom prst="rect">
            <a:avLst/>
          </a:prstGeom>
          <a:solidFill>
            <a:srgbClr val="0A1530"/>
          </a:solidFill>
          <a:ln/>
        </p:spPr>
      </p:sp>
      <p:sp>
        <p:nvSpPr>
          <p:cNvPr id="166" name="Text 156"/>
          <p:cNvSpPr/>
          <p:nvPr/>
        </p:nvSpPr>
        <p:spPr>
          <a:xfrm>
            <a:off x="533400" y="8939213"/>
            <a:ext cx="3168489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20" kern="0" dirty="0">
                <a:solidFill>
                  <a:srgbClr val="2A4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GATES</a:t>
            </a:r>
            <a:endParaRPr lang="en-US" sz="750" dirty="0"/>
          </a:p>
        </p:txBody>
      </p:sp>
      <p:sp>
        <p:nvSpPr>
          <p:cNvPr id="167" name="Text 157"/>
          <p:cNvSpPr/>
          <p:nvPr/>
        </p:nvSpPr>
        <p:spPr>
          <a:xfrm>
            <a:off x="533400" y="9077325"/>
            <a:ext cx="316848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50" b="1" spc="-49" kern="0" dirty="0">
                <a:solidFill>
                  <a:srgbClr val="0A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950" dirty="0"/>
          </a:p>
        </p:txBody>
      </p:sp>
      <p:sp>
        <p:nvSpPr>
          <p:cNvPr id="168" name="Text 158"/>
          <p:cNvSpPr/>
          <p:nvPr/>
        </p:nvSpPr>
        <p:spPr>
          <a:xfrm>
            <a:off x="533400" y="9353550"/>
            <a:ext cx="3168489" cy="1730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78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Sequential go/no-go decisions across four phases.</a:t>
            </a:r>
            <a:endParaRPr lang="en-US" sz="788" dirty="0"/>
          </a:p>
        </p:txBody>
      </p:sp>
      <p:sp>
        <p:nvSpPr>
          <p:cNvPr id="169" name="Text 159"/>
          <p:cNvSpPr/>
          <p:nvPr/>
        </p:nvSpPr>
        <p:spPr>
          <a:xfrm>
            <a:off x="3762003" y="8939213"/>
            <a:ext cx="3168489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20" kern="0" dirty="0">
                <a:solidFill>
                  <a:srgbClr val="2A4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SURVIVAL RATE</a:t>
            </a:r>
            <a:endParaRPr lang="en-US" sz="750" dirty="0"/>
          </a:p>
        </p:txBody>
      </p:sp>
      <p:sp>
        <p:nvSpPr>
          <p:cNvPr id="170" name="Text 160"/>
          <p:cNvSpPr/>
          <p:nvPr/>
        </p:nvSpPr>
        <p:spPr>
          <a:xfrm>
            <a:off x="3762003" y="9077325"/>
            <a:ext cx="316848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50" b="1" spc="-49" kern="0" dirty="0">
                <a:solidFill>
                  <a:srgbClr val="0A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~10%</a:t>
            </a:r>
            <a:endParaRPr lang="en-US" sz="1950" dirty="0"/>
          </a:p>
        </p:txBody>
      </p:sp>
      <p:sp>
        <p:nvSpPr>
          <p:cNvPr id="171" name="Text 161"/>
          <p:cNvSpPr/>
          <p:nvPr/>
        </p:nvSpPr>
        <p:spPr>
          <a:xfrm>
            <a:off x="3762003" y="9353550"/>
            <a:ext cx="3168489" cy="1730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78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molecules entering Phase 1 that reach FDA approval.</a:t>
            </a:r>
            <a:endParaRPr lang="en-US" sz="788" dirty="0"/>
          </a:p>
        </p:txBody>
      </p:sp>
      <p:sp>
        <p:nvSpPr>
          <p:cNvPr id="172" name="Text 162"/>
          <p:cNvSpPr/>
          <p:nvPr/>
        </p:nvSpPr>
        <p:spPr>
          <a:xfrm>
            <a:off x="6990606" y="8939213"/>
            <a:ext cx="3168489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20" kern="0" dirty="0">
                <a:solidFill>
                  <a:srgbClr val="2A4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COMPOUNDS SCREENED</a:t>
            </a:r>
            <a:endParaRPr lang="en-US" sz="750" dirty="0"/>
          </a:p>
        </p:txBody>
      </p:sp>
      <p:sp>
        <p:nvSpPr>
          <p:cNvPr id="173" name="Text 163"/>
          <p:cNvSpPr/>
          <p:nvPr/>
        </p:nvSpPr>
        <p:spPr>
          <a:xfrm>
            <a:off x="6990606" y="9077325"/>
            <a:ext cx="316848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50" b="1" spc="-49" kern="0" dirty="0">
                <a:solidFill>
                  <a:srgbClr val="0A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~10,000</a:t>
            </a:r>
            <a:endParaRPr lang="en-US" sz="1950" dirty="0"/>
          </a:p>
        </p:txBody>
      </p:sp>
      <p:sp>
        <p:nvSpPr>
          <p:cNvPr id="174" name="Text 164"/>
          <p:cNvSpPr/>
          <p:nvPr/>
        </p:nvSpPr>
        <p:spPr>
          <a:xfrm>
            <a:off x="6990606" y="9353550"/>
            <a:ext cx="3168489" cy="3080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78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program, narrowed through Discovery into a single development candidate.</a:t>
            </a:r>
            <a:endParaRPr lang="en-US" sz="788" dirty="0"/>
          </a:p>
        </p:txBody>
      </p:sp>
      <p:sp>
        <p:nvSpPr>
          <p:cNvPr id="175" name="Text 165"/>
          <p:cNvSpPr/>
          <p:nvPr/>
        </p:nvSpPr>
        <p:spPr>
          <a:xfrm>
            <a:off x="10219209" y="8939213"/>
            <a:ext cx="3168566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20" kern="0" dirty="0">
                <a:solidFill>
                  <a:srgbClr val="2A4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TRIAL ARC</a:t>
            </a:r>
            <a:endParaRPr lang="en-US" sz="750" dirty="0"/>
          </a:p>
        </p:txBody>
      </p:sp>
      <p:sp>
        <p:nvSpPr>
          <p:cNvPr id="176" name="Text 166"/>
          <p:cNvSpPr/>
          <p:nvPr/>
        </p:nvSpPr>
        <p:spPr>
          <a:xfrm>
            <a:off x="10219209" y="9077325"/>
            <a:ext cx="316856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50" b="1" spc="-49" kern="0" dirty="0">
                <a:solidFill>
                  <a:srgbClr val="0A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6–8 yrs</a:t>
            </a:r>
            <a:endParaRPr lang="en-US" sz="1950" dirty="0"/>
          </a:p>
        </p:txBody>
      </p:sp>
      <p:sp>
        <p:nvSpPr>
          <p:cNvPr id="177" name="Text 167"/>
          <p:cNvSpPr/>
          <p:nvPr/>
        </p:nvSpPr>
        <p:spPr>
          <a:xfrm>
            <a:off x="10219209" y="9353550"/>
            <a:ext cx="3168566" cy="3080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78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through Phase 3 — the longest and most expensive segment.</a:t>
            </a:r>
            <a:endParaRPr lang="en-US" sz="788" dirty="0"/>
          </a:p>
        </p:txBody>
      </p:sp>
      <p:sp>
        <p:nvSpPr>
          <p:cNvPr id="178" name="Shape 168"/>
          <p:cNvSpPr/>
          <p:nvPr/>
        </p:nvSpPr>
        <p:spPr>
          <a:xfrm>
            <a:off x="13447886" y="8939213"/>
            <a:ext cx="4306639" cy="742950"/>
          </a:xfrm>
          <a:prstGeom prst="roundRect">
            <a:avLst>
              <a:gd name="adj" fmla="val 12821"/>
            </a:avLst>
          </a:prstGeom>
          <a:solidFill>
            <a:srgbClr val="0A1530"/>
          </a:solidFill>
          <a:ln/>
        </p:spPr>
      </p:sp>
      <p:sp>
        <p:nvSpPr>
          <p:cNvPr id="179" name="Text 169"/>
          <p:cNvSpPr/>
          <p:nvPr/>
        </p:nvSpPr>
        <p:spPr>
          <a:xfrm>
            <a:off x="13600286" y="9053513"/>
            <a:ext cx="4121895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20" kern="0" dirty="0">
                <a:solidFill>
                  <a:srgbClr val="6A9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750" dirty="0"/>
          </a:p>
        </p:txBody>
      </p:sp>
      <p:sp>
        <p:nvSpPr>
          <p:cNvPr id="180" name="Text 170"/>
          <p:cNvSpPr/>
          <p:nvPr/>
        </p:nvSpPr>
        <p:spPr>
          <a:xfrm>
            <a:off x="13600286" y="9210675"/>
            <a:ext cx="4121895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25" b="1" spc="-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compresses both ends of the pipeline — broader discovery search, sharper clinical selection.</a:t>
            </a:r>
            <a:endParaRPr lang="en-US" sz="1125" dirty="0"/>
          </a:p>
        </p:txBody>
      </p:sp>
      <p:sp>
        <p:nvSpPr>
          <p:cNvPr id="181" name="Text 171"/>
          <p:cNvSpPr/>
          <p:nvPr/>
        </p:nvSpPr>
        <p:spPr>
          <a:xfrm>
            <a:off x="533400" y="9891713"/>
            <a:ext cx="4795694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90" kern="0" dirty="0">
                <a:solidFill>
                  <a:srgbClr val="0A1530">
                    <a:alpha val="3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FIG. 01 · DRUG DISCOVERY &amp; DEVELOPMENT FLOW · AI APPLICATIONS PER STAGE</a:t>
            </a:r>
            <a:endParaRPr lang="en-US" sz="750" dirty="0"/>
          </a:p>
        </p:txBody>
      </p:sp>
      <p:sp>
        <p:nvSpPr>
          <p:cNvPr id="182" name="Text 172"/>
          <p:cNvSpPr/>
          <p:nvPr/>
        </p:nvSpPr>
        <p:spPr>
          <a:xfrm>
            <a:off x="14116273" y="9891713"/>
            <a:ext cx="3747477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90" kern="0" dirty="0">
                <a:solidFill>
                  <a:srgbClr val="0A1530">
                    <a:alpha val="3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DIMASI ET AL.; TUFTS CSDD; FDA · 2026 · INDICATIVE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2026-05-12T22:50:31Z</dcterms:created>
  <dcterms:modified xsi:type="dcterms:W3CDTF">2026-05-12T22:50:31Z</dcterms:modified>
</cp:coreProperties>
</file>